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1.xml" ContentType="application/inkml+xml"/>
  <Override PartName="/ppt/notesSlides/notesSlide13.xml" ContentType="application/vnd.openxmlformats-officedocument.presentationml.notesSlide+xml"/>
  <Override PartName="/ppt/ink/ink2.xml" ContentType="application/inkml+xml"/>
  <Override PartName="/ppt/ink/ink3.xml" ContentType="application/inkml+xml"/>
  <Override PartName="/ppt/notesSlides/notesSlide14.xml" ContentType="application/vnd.openxmlformats-officedocument.presentationml.notesSlide+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1"/>
  </p:notesMasterIdLst>
  <p:handoutMasterIdLst>
    <p:handoutMasterId r:id="rId52"/>
  </p:handoutMasterIdLst>
  <p:sldIdLst>
    <p:sldId id="265" r:id="rId2"/>
    <p:sldId id="4552" r:id="rId3"/>
    <p:sldId id="353" r:id="rId4"/>
    <p:sldId id="358" r:id="rId5"/>
    <p:sldId id="365" r:id="rId6"/>
    <p:sldId id="359" r:id="rId7"/>
    <p:sldId id="362" r:id="rId8"/>
    <p:sldId id="361" r:id="rId9"/>
    <p:sldId id="363" r:id="rId10"/>
    <p:sldId id="354" r:id="rId11"/>
    <p:sldId id="389" r:id="rId12"/>
    <p:sldId id="388" r:id="rId13"/>
    <p:sldId id="381" r:id="rId14"/>
    <p:sldId id="392" r:id="rId15"/>
    <p:sldId id="393" r:id="rId16"/>
    <p:sldId id="391" r:id="rId17"/>
    <p:sldId id="380" r:id="rId18"/>
    <p:sldId id="378" r:id="rId19"/>
    <p:sldId id="383" r:id="rId20"/>
    <p:sldId id="384" r:id="rId21"/>
    <p:sldId id="385" r:id="rId22"/>
    <p:sldId id="386" r:id="rId23"/>
    <p:sldId id="387" r:id="rId24"/>
    <p:sldId id="369" r:id="rId25"/>
    <p:sldId id="395" r:id="rId26"/>
    <p:sldId id="367" r:id="rId27"/>
    <p:sldId id="417" r:id="rId28"/>
    <p:sldId id="371" r:id="rId29"/>
    <p:sldId id="373" r:id="rId30"/>
    <p:sldId id="377" r:id="rId31"/>
    <p:sldId id="376" r:id="rId32"/>
    <p:sldId id="356" r:id="rId33"/>
    <p:sldId id="397" r:id="rId34"/>
    <p:sldId id="398" r:id="rId35"/>
    <p:sldId id="400" r:id="rId36"/>
    <p:sldId id="402" r:id="rId37"/>
    <p:sldId id="401" r:id="rId38"/>
    <p:sldId id="406" r:id="rId39"/>
    <p:sldId id="409" r:id="rId40"/>
    <p:sldId id="407" r:id="rId41"/>
    <p:sldId id="410" r:id="rId42"/>
    <p:sldId id="405" r:id="rId43"/>
    <p:sldId id="411" r:id="rId44"/>
    <p:sldId id="412" r:id="rId45"/>
    <p:sldId id="413" r:id="rId46"/>
    <p:sldId id="419" r:id="rId47"/>
    <p:sldId id="352" r:id="rId48"/>
    <p:sldId id="11090442" r:id="rId49"/>
    <p:sldId id="399" r:id="rId50"/>
  </p:sldIdLst>
  <p:sldSz cx="12192000" cy="6858000"/>
  <p:notesSz cx="6797675" cy="9928225"/>
  <p:custDataLst>
    <p:tags r:id="rId5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72" userDrawn="1">
          <p15:clr>
            <a:srgbClr val="A4A3A4"/>
          </p15:clr>
        </p15:guide>
        <p15:guide id="2" pos="38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C4379"/>
    <a:srgbClr val="42556E"/>
    <a:srgbClr val="6A798D"/>
    <a:srgbClr val="B9B9B9"/>
    <a:srgbClr val="C00000"/>
    <a:srgbClr val="FFFFFF"/>
    <a:srgbClr val="F2F2F2"/>
    <a:srgbClr val="404040"/>
    <a:srgbClr val="434343"/>
    <a:srgbClr val="00609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14" autoAdjust="0"/>
    <p:restoredTop sz="87463" autoAdjust="0"/>
  </p:normalViewPr>
  <p:slideViewPr>
    <p:cSldViewPr snapToGrid="0" showGuides="1">
      <p:cViewPr varScale="1">
        <p:scale>
          <a:sx n="73" d="100"/>
          <a:sy n="73" d="100"/>
        </p:scale>
        <p:origin x="859" y="48"/>
      </p:cViewPr>
      <p:guideLst>
        <p:guide orient="horz" pos="1972"/>
        <p:guide pos="3808"/>
      </p:guideLst>
    </p:cSldViewPr>
  </p:slideViewPr>
  <p:notesTextViewPr>
    <p:cViewPr>
      <p:scale>
        <a:sx n="100" d="100"/>
        <a:sy n="100" d="100"/>
      </p:scale>
      <p:origin x="0" y="0"/>
    </p:cViewPr>
  </p:notesTextViewPr>
  <p:sorterViewPr>
    <p:cViewPr>
      <p:scale>
        <a:sx n="160" d="100"/>
        <a:sy n="160" d="100"/>
      </p:scale>
      <p:origin x="0" y="8574"/>
    </p:cViewPr>
  </p:sorterViewPr>
  <p:notesViewPr>
    <p:cSldViewPr snapToGrid="0">
      <p:cViewPr varScale="1">
        <p:scale>
          <a:sx n="68" d="100"/>
          <a:sy n="68" d="100"/>
        </p:scale>
        <p:origin x="3696" y="22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gs" Target="tags/tag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49688" y="0"/>
            <a:ext cx="2946400" cy="498475"/>
          </a:xfrm>
          <a:prstGeom prst="rect">
            <a:avLst/>
          </a:prstGeom>
        </p:spPr>
        <p:txBody>
          <a:bodyPr vert="horz" lIns="91440" tIns="45720" rIns="91440" bIns="45720" rtlCol="0"/>
          <a:lstStyle>
            <a:lvl1pPr algn="r">
              <a:defRPr sz="1200"/>
            </a:lvl1pPr>
          </a:lstStyle>
          <a:p>
            <a:fld id="{DAF3F327-32E1-4D00-A131-C26A39A88C12}" type="datetimeFigureOut">
              <a:rPr lang="zh-CN" altLang="en-US" smtClean="0"/>
              <a:t>2025/10/10</a:t>
            </a:fld>
            <a:endParaRPr lang="zh-CN" altLang="en-US"/>
          </a:p>
        </p:txBody>
      </p:sp>
      <p:sp>
        <p:nvSpPr>
          <p:cNvPr id="4" name="页脚占位符 3"/>
          <p:cNvSpPr>
            <a:spLocks noGrp="1"/>
          </p:cNvSpPr>
          <p:nvPr>
            <p:ph type="ftr" sz="quarter" idx="2"/>
          </p:nvPr>
        </p:nvSpPr>
        <p:spPr>
          <a:xfrm>
            <a:off x="0" y="9429750"/>
            <a:ext cx="2946400" cy="498475"/>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49688" y="9429750"/>
            <a:ext cx="2946400" cy="498475"/>
          </a:xfrm>
          <a:prstGeom prst="rect">
            <a:avLst/>
          </a:prstGeom>
        </p:spPr>
        <p:txBody>
          <a:bodyPr vert="horz" lIns="91440" tIns="45720" rIns="91440" bIns="45720" rtlCol="0" anchor="b"/>
          <a:lstStyle>
            <a:lvl1pPr algn="r">
              <a:defRPr sz="1200"/>
            </a:lvl1pPr>
          </a:lstStyle>
          <a:p>
            <a:fld id="{6FE82D1B-D068-4E10-BFEA-4FF4488B7016}"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3840" units="cm"/>
          <inkml:channel name="Y" type="integer" max="2160" units="cm"/>
          <inkml:channel name="T" type="integer" max="2.14748E9" units="dev"/>
        </inkml:traceFormat>
        <inkml:channelProperties>
          <inkml:channelProperty channel="X" name="resolution" value="131.05801" units="1/cm"/>
          <inkml:channelProperty channel="Y" name="resolution" value="130.90909" units="1/cm"/>
          <inkml:channelProperty channel="T" name="resolution" value="1" units="1/dev"/>
        </inkml:channelProperties>
      </inkml:inkSource>
      <inkml:timestamp xml:id="ts0" timeString="2022-04-22T02:16:02.873"/>
    </inkml:context>
    <inkml:brush xml:id="br0">
      <inkml:brushProperty name="width" value="0.05292" units="cm"/>
      <inkml:brushProperty name="height" value="0.05292" units="cm"/>
      <inkml:brushProperty name="color" value="#FF0000"/>
    </inkml:brush>
  </inkml:definitions>
  <inkml:trace contextRef="#ctx0" brushRef="#br0">20188 16528 0,'9'0'31,"114"-18"1,-44 18-32,512 0 47,-335-18-16,-177 18-31,63 0 31,-45 0-31,61 0 31,-96 0-15,79-26 0,-79 26-1,70 0 1,106 0 15,-132-18-31,229 18 31,-220 0-31,185 0 16,-177 0 0,-26 0-16,62 0 31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10T05:06:10.680"/>
    </inkml:context>
    <inkml:brush xml:id="br0">
      <inkml:brushProperty name="width" value="0.05" units="cm"/>
      <inkml:brushProperty name="height" value="0.05" units="cm"/>
      <inkml:brushProperty name="color" value="#E71224"/>
      <inkml:brushProperty name="ignorePressure" value="1"/>
    </inkml:brush>
  </inkml:definitions>
  <inkml:trace contextRef="#ctx0" brushRef="#br0">5492 1062,'-5'0,"-1"-1,1 0,0 0,0 0,-1-1,1 0,0 0,-5-3,-18-6,2 4,-38-5,1 0,13 3,34 7,0-1,1-1,-1 0,-19-9,14 3,0 0,-22-16,15 8,-34-16,2 1,45 25,-1 1,-30-11,34 13,1 0,-1-1,-12-9,12 8,-26-12,15 9,6 4,1 0,-1-2,1 0,1-1,-19-14,26 17,-27-23,-1 2,-43-26,67 46,-16-13,-7-5,-66-40,82 52,0 1,-1 2,-1 0,-22-8,-1 0,-50-19,4 2,60 23,14 6,-20-11,25 11,0 0,-1 1,1 1,-1-1,0 2,0 0,-16-2,12 3,-1 0,1-1,0-1,-23-9,16 3,-2 1,1 0,-1 2,0 1,-37-4,-152-15,85-6,59 17,15 2,-77-6,88 13,-50-12,-26-2,-134 14,168 6,61 0,0 2,-31 7,-23 2,44-7,-42 11,-9 1,-83 17,112-17,32-9,-29 6,-74 14,119-26,1 0,-1 1,1 0,0 1,0 0,-14 8,9-4,-10 4,-33 22,29-17,-49 23,58-30,0 1,-31 25,9-6,-3 3,-17 10,50-37,0-1,0 0,0 0,-17 5,-4-3,19-4,0 0,1 1,-1 0,1 0,-16 9,-129 71,155-83,-15 8,1 1,0 1,-24 21,3-1,20-18,-7 5,-26 16,25-19,0 1,2 0,0 2,-30 31,-19 24,65-67,-1-1,0 0,0 0,0 0,-1-1,1 0,-1 0,-9 2,-3 3,-1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10T05:06:13.385"/>
    </inkml:context>
    <inkml:brush xml:id="br0">
      <inkml:brushProperty name="width" value="0.05" units="cm"/>
      <inkml:brushProperty name="height" value="0.05" units="cm"/>
      <inkml:brushProperty name="color" value="#E71224"/>
      <inkml:brushProperty name="ignorePressure" value="1"/>
    </inkml:brush>
  </inkml:definitions>
  <inkml:trace contextRef="#ctx0" brushRef="#br0">93 0,'0'2,"-1"-1,1 0,0 0,-1 0,1 0,0 0,-1 0,1 0,-1 0,0 0,1 0,-2 1,-3 7,-14 27,12-23,-11 24,8-11,3-8,1-1,-7 30,13-45,0 0,-1 0,1 0,0 0,0 0,0 0,0 0,1 0,-1 0,0 0,1 0,-1 0,1-1,0 1,0 0,0 0,0 0,0-1,0 1,2 2,-1-2,1 0,0-1,-1 1,1 0,0-1,0 1,0-1,0 0,0 0,0 0,0-1,4 1,9 1,0-1,0 0,1-1,-1-1,31-7,78-25,-99 25,-7 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10T05:07:13.294"/>
    </inkml:context>
    <inkml:brush xml:id="br0">
      <inkml:brushProperty name="width" value="0.05" units="cm"/>
      <inkml:brushProperty name="height" value="0.05" units="cm"/>
      <inkml:brushProperty name="color" value="#E71224"/>
      <inkml:brushProperty name="ignorePressure" value="1"/>
    </inkml:brush>
  </inkml:definitions>
  <inkml:trace contextRef="#ctx0" brushRef="#br0">4509 1,'-3'0,"-1"0,1 1,0 0,0-1,0 1,-5 2,-6 2,2-1,0 0,0 0,0 1,-11 8,-42 29,19-12,-19 19,48-35,0-1,-1-1,-27 15,22-16,1 1,-26 18,33-20,-1-2,0 0,0-1,0 0,-21 4,16-5,-25 11,23-8,0-1,-38 7,35-9,-27 9,29-8,-31 6,-19 0,-41 6,75-13,-64 18,52-10,-255 67,164-48,85-21,-114 10,146-20,-70 10,-31 3,-207-12,188-4,119 2,1 2,-50 11,2 1,-16-6,-18 4,47-4,-73 0,-62-10,75 0,-283 1,382 1,-1 2,1 0,0 1,-23 8,33-9,-15 4,0-3,-51 4,-55-8,89-1,27 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10T05:07:14.831"/>
    </inkml:context>
    <inkml:brush xml:id="br0">
      <inkml:brushProperty name="width" value="0.05" units="cm"/>
      <inkml:brushProperty name="height" value="0.05" units="cm"/>
      <inkml:brushProperty name="color" value="#E71224"/>
      <inkml:brushProperty name="ignorePressure" value="1"/>
    </inkml:brush>
  </inkml:definitions>
  <inkml:trace contextRef="#ctx0" brushRef="#br0">348 1,'-27'0,"0"1,-36 6,52-4,1-1,0 1,-1 0,1 1,0 0,1 1,-1 0,-15 12,-2 4,-28 21,51-39,-1 0,1 0,0 0,1 1,-1-1,0 1,-3 5,6-8,0 1,0-1,0 1,1-1,-1 1,0 0,1-1,-1 1,1 0,0-1,-1 1,1 0,0-1,0 1,0 0,0 0,0-1,1 1,-1 0,0-1,1 1,0 0,-1-1,2 4,1-1,0 0,0 0,1 0,-1 0,1-1,-1 1,8 4,32 19,-15-11,-11-6,0-2,0 0,21 7,-6-3,-9-2</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10T05:09:35.620"/>
    </inkml:context>
    <inkml:brush xml:id="br0">
      <inkml:brushProperty name="width" value="0.05" units="cm"/>
      <inkml:brushProperty name="height" value="0.05" units="cm"/>
      <inkml:brushProperty name="color" value="#E71224"/>
      <inkml:brushProperty name="ignorePressure" value="1"/>
    </inkml:brush>
  </inkml:definitions>
  <inkml:trace contextRef="#ctx0" brushRef="#br0">9064 0,'-1'79,"3"90,0-150,6 24,-5-30,0 0,-1 0,-1 0,0 25,-5-3,-1-1,-17 61,15-71,2 0,1 1,-2 38,6 77,1-75,0-49,-1-4,0 1,0-1,-1 0,-1 0,-3 13,-10 30,-24 76,31-112,0-1,-1-1,-15 24,4-8,-22 36,32-50,-1-2,0 1,-1-1,0-1,-2 0,-21 19,27-26,0-1,1 1,-11 17,11-15,0-1,-13 14,4-9,-33 23,1-1,-34 41,72-68,0-2,0 0,0 0,-14 7,11-7,1 0,-15 13,-121 121,136-132,0-1,0 0,-16 8,5-3,-125 70,67-39,3-6,11-5,-30 15,85-45,-1 0,0-1,1 0,-22 1,18-2,1 0,-21 6,-84 23,75-22,-51 9,75-15,-1 2,-28 9,28-7,-1-1,-24 4,10-6,-52 9,56-7,-61 3,-33-8,111-1,1 1,0 0,1 1,-1 1,1 1,-15 5,8-3,-3 0,0-2,0 0,-31 1,-74-5,73-1,-381 0,405-1,-59-10,2 0,-124 8,167 5,23-3,1 0,-1-1,-37-11,-30-4,-48 12,1 1,83-2,-90-8,127 13,1 0,0-1,-30-10,20 5,-59-9,17 4,34 7,-1 2,0 1,-46 1,-25 0,82-2,-37-8,44 7,-1 1,0 1,1 1,-25-1,-65 13,-2-1,102-9,-204 0,88-18,101 13,-124-25,84 15,21 4,-65-8,-85-8,158 22,1-2,-49-16,43 11,-41-7,36 13,-50-1,-45 7,129 0,-12-1,-1-1,0-1,-37-10,1 0,-76-24,33 8,-38-7,121 31,-32-13,33 11,-35-9,38 14,-44-11,-116-9,146 20,1-2,-39-10,-33-4,-10 4,-72-6,165 19,-1-1,-17-3,31 4,0 0,0 1,1 0,-1-1,0 1,0 0,0 1,0-1,1 0,-6 2,6-1,1-1,-1 1,0 0,1 0,-1 0,1 0,-1 1,1-1,-1 0,1 1,0-1,0 0,0 1,0-1,0 1,0 0,-1 1,-1 5,0 0,1 0,0 0,-1 13,-5 16,-2-7,-1 0,-1-1,-2 0,-18 28,4-4,19-35,-1 0,0-1,-24 31,-67 55,45-46,-38 38,89-90,0 0,1 1,0-1,0 1,0 0,1 1,0-1,0 0,-2 9,-2 8,-4 33,7-33,-3 17,-1 67,7-92,0-1,-1 0,-1 0,0 0,-7 19,2-13,-1 0,-22 35,23-41,0 0,-5 16,2-1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10T05:09:37.276"/>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1,'1'0,"-1"0,1 1,0-1,-1 0,1 1,-1-1,1 0,0 1,-1-1,1 1,-1-1,1 1,-1-1,1 1,-1-1,0 1,1 0,8 14,-5-9,31 66,-28-61,-1 1,0 0,-1 0,-1 1,0 0,0-1,1 19,-3-20,-1 4,6 20,-6-34,-1 1,1-1,-1 1,1-1,0 1,0-1,0 1,0-1,0 0,0 1,0-1,1 0,-1 0,0 0,0 0,1 0,-1 0,1 0,-1 0,1-1,-1 1,1-1,0 1,-1-1,1 1,0-1,-1 0,1 0,0 0,-1 0,1 0,2-1,6 0,0-1,0 0,-1-1,13-4,-11 3,10-5,0 0,23-15,-30 16,1-1,0 2,1 0,-1 1,32-8,-17 10,-1 2</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10T05:11:06.491"/>
    </inkml:context>
    <inkml:brush xml:id="br0">
      <inkml:brushProperty name="width" value="0.05" units="cm"/>
      <inkml:brushProperty name="height" value="0.05" units="cm"/>
      <inkml:brushProperty name="color" value="#E71224"/>
      <inkml:brushProperty name="ignorePressure" value="1"/>
    </inkml:brush>
  </inkml:definitions>
  <inkml:trace contextRef="#ctx0" brushRef="#br0">2558 1,'-81'-1,"-93"3,153 1,-29 6,0 1,-48 12,67-14,-48 8,-14-1,56-8,-54 4,73-9,0 0,0 2,-26 8,20-5,-31 6,23-5,-55 19,4 7,-81 34,142-59,0-2,-1-1,-45 7,-5 2,42-8,-116 31,105-26,-39 12,-37 30,-1 0,76-40,31-11,0 0,0 2,-19 9,-73 52,98-63,-18 15,2 1,0 1,-22 26,34-36,1 1,0 0,1 1,0 0,1 0,1 0,0 1,0 0,-5 19,0 16,7-30,-1 0,0 0,-9 17,2-12</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10T05:11:07.97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0,'0'6,"0"5,0 10,0 5,0 6,0 2,0 4,0-1,6-6,8-9,7-7,7-7,4-5,4-2,1-2,-6-1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0443" y="0"/>
            <a:ext cx="2945659" cy="498135"/>
          </a:xfrm>
          <a:prstGeom prst="rect">
            <a:avLst/>
          </a:prstGeom>
        </p:spPr>
        <p:txBody>
          <a:bodyPr vert="horz" lIns="91440" tIns="45720" rIns="91440" bIns="45720" rtlCol="0"/>
          <a:lstStyle>
            <a:lvl1pPr algn="r">
              <a:defRPr sz="1200"/>
            </a:lvl1pPr>
          </a:lstStyle>
          <a:p>
            <a:fld id="{2BE00284-16BC-4382-8B36-24E400F691F1}" type="datetimeFigureOut">
              <a:rPr lang="zh-CN" altLang="en-US" smtClean="0"/>
              <a:t>2025/10/10</a:t>
            </a:fld>
            <a:endParaRPr lang="zh-CN" altLang="en-US"/>
          </a:p>
        </p:txBody>
      </p:sp>
      <p:sp>
        <p:nvSpPr>
          <p:cNvPr id="4" name="幻灯片图像占位符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a:defRPr sz="1200"/>
            </a:lvl1pPr>
          </a:lstStyle>
          <a:p>
            <a:fld id="{38F5CBD3-32D1-4BCD-A706-B0EA53B26FDB}"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8F5CBD3-32D1-4BCD-A706-B0EA53B26FDB}"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BB63919-0A8F-4BC9-87FE-C0ACD5E639DE}"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PRML</a:t>
            </a:r>
            <a:r>
              <a:rPr lang="zh-CN" altLang="en-US" dirty="0"/>
              <a:t>，多项式基函数的问题，</a:t>
            </a:r>
            <a:r>
              <a:rPr lang="en-US" altLang="zh-CN" dirty="0"/>
              <a:t>Page36 equation</a:t>
            </a:r>
            <a:r>
              <a:rPr lang="zh-CN" altLang="en-US" dirty="0"/>
              <a:t>（</a:t>
            </a:r>
            <a:r>
              <a:rPr lang="en-US" altLang="zh-CN" dirty="0"/>
              <a:t>1.74</a:t>
            </a:r>
            <a:r>
              <a:rPr lang="zh-CN" altLang="en-US" dirty="0"/>
              <a:t>），</a:t>
            </a:r>
            <a:r>
              <a:rPr lang="en-US" altLang="zh-CN" dirty="0"/>
              <a:t>D</a:t>
            </a:r>
            <a:r>
              <a:rPr lang="zh-CN" altLang="en-US" dirty="0"/>
              <a:t>维随机变量的</a:t>
            </a:r>
            <a:r>
              <a:rPr lang="en-US" altLang="zh-CN" dirty="0"/>
              <a:t>M</a:t>
            </a:r>
            <a:r>
              <a:rPr lang="zh-CN" altLang="en-US" dirty="0"/>
              <a:t>节多项式，参数正比于</a:t>
            </a:r>
            <a:r>
              <a:rPr lang="en-US" altLang="zh-CN" dirty="0"/>
              <a:t>D</a:t>
            </a:r>
            <a:r>
              <a:rPr lang="zh-CN" altLang="en-US" dirty="0"/>
              <a:t>的</a:t>
            </a:r>
            <a:r>
              <a:rPr lang="en-US" altLang="zh-CN" dirty="0"/>
              <a:t>M</a:t>
            </a:r>
            <a:r>
              <a:rPr lang="zh-CN" altLang="en-US" dirty="0"/>
              <a:t>次方，考虑</a:t>
            </a:r>
            <a:r>
              <a:rPr lang="en-US" altLang="zh-CN" dirty="0"/>
              <a:t>D=10</a:t>
            </a:r>
            <a:r>
              <a:rPr lang="zh-CN" altLang="en-US" dirty="0"/>
              <a:t>， </a:t>
            </a:r>
            <a:r>
              <a:rPr lang="en-US" altLang="zh-CN" dirty="0"/>
              <a:t>M=5</a:t>
            </a:r>
            <a:r>
              <a:rPr lang="zh-CN" altLang="en-US" dirty="0"/>
              <a:t>，参数数量已经爆炸，很难得到如此多的训练数据。一般要降维，数据不够。</a:t>
            </a:r>
          </a:p>
        </p:txBody>
      </p:sp>
      <p:sp>
        <p:nvSpPr>
          <p:cNvPr id="4" name="灯片编号占位符 3"/>
          <p:cNvSpPr>
            <a:spLocks noGrp="1"/>
          </p:cNvSpPr>
          <p:nvPr>
            <p:ph type="sldNum" sz="quarter" idx="5"/>
          </p:nvPr>
        </p:nvSpPr>
        <p:spPr/>
        <p:txBody>
          <a:bodyPr/>
          <a:lstStyle/>
          <a:p>
            <a:fld id="{99DB3ECE-272B-4396-8590-047A34B82A8F}" type="slidenum">
              <a:rPr lang="zh-CN" altLang="en-US" smtClean="0"/>
              <a:t>3</a:t>
            </a:fld>
            <a:endParaRPr lang="zh-CN" altLang="en-US"/>
          </a:p>
        </p:txBody>
      </p:sp>
    </p:spTree>
    <p:extLst>
      <p:ext uri="{BB962C8B-B14F-4D97-AF65-F5344CB8AC3E}">
        <p14:creationId xmlns:p14="http://schemas.microsoft.com/office/powerpoint/2010/main" val="32829433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9DB3ECE-272B-4396-8590-047A34B82A8F}" type="slidenum">
              <a:rPr lang="zh-CN" altLang="en-US" smtClean="0"/>
              <a:t>6</a:t>
            </a:fld>
            <a:endParaRPr lang="zh-CN" altLang="en-US"/>
          </a:p>
        </p:txBody>
      </p:sp>
    </p:spTree>
    <p:extLst>
      <p:ext uri="{BB962C8B-B14F-4D97-AF65-F5344CB8AC3E}">
        <p14:creationId xmlns:p14="http://schemas.microsoft.com/office/powerpoint/2010/main" val="14940180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因此神经网络训练的结果往往是局部极小值</a:t>
            </a:r>
          </a:p>
        </p:txBody>
      </p:sp>
      <p:sp>
        <p:nvSpPr>
          <p:cNvPr id="4" name="灯片编号占位符 3"/>
          <p:cNvSpPr>
            <a:spLocks noGrp="1"/>
          </p:cNvSpPr>
          <p:nvPr>
            <p:ph type="sldNum" sz="quarter" idx="5"/>
          </p:nvPr>
        </p:nvSpPr>
        <p:spPr/>
        <p:txBody>
          <a:bodyPr/>
          <a:lstStyle/>
          <a:p>
            <a:fld id="{99DB3ECE-272B-4396-8590-047A34B82A8F}" type="slidenum">
              <a:rPr lang="zh-CN" altLang="en-US" smtClean="0"/>
              <a:t>22</a:t>
            </a:fld>
            <a:endParaRPr lang="zh-CN" altLang="en-US"/>
          </a:p>
        </p:txBody>
      </p:sp>
    </p:spTree>
    <p:extLst>
      <p:ext uri="{BB962C8B-B14F-4D97-AF65-F5344CB8AC3E}">
        <p14:creationId xmlns:p14="http://schemas.microsoft.com/office/powerpoint/2010/main" val="23922209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凸优化包括线性规划，二次规划， 二次约束的二次规划，半正定规划</a:t>
            </a:r>
            <a:endParaRPr lang="zh-CN" altLang="en-US" dirty="0"/>
          </a:p>
        </p:txBody>
      </p:sp>
      <p:sp>
        <p:nvSpPr>
          <p:cNvPr id="4" name="灯片编号占位符 3"/>
          <p:cNvSpPr>
            <a:spLocks noGrp="1"/>
          </p:cNvSpPr>
          <p:nvPr>
            <p:ph type="sldNum" sz="quarter" idx="5"/>
          </p:nvPr>
        </p:nvSpPr>
        <p:spPr/>
        <p:txBody>
          <a:bodyPr/>
          <a:lstStyle/>
          <a:p>
            <a:fld id="{99DB3ECE-272B-4396-8590-047A34B82A8F}" type="slidenum">
              <a:rPr lang="zh-CN" altLang="en-US" smtClean="0"/>
              <a:t>23</a:t>
            </a:fld>
            <a:endParaRPr lang="zh-CN" altLang="en-US"/>
          </a:p>
        </p:txBody>
      </p:sp>
    </p:spTree>
    <p:extLst>
      <p:ext uri="{BB962C8B-B14F-4D97-AF65-F5344CB8AC3E}">
        <p14:creationId xmlns:p14="http://schemas.microsoft.com/office/powerpoint/2010/main" val="33187164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凸优化包括线性规划，二次规划， 二次约束的二次规划，半正定规划</a:t>
            </a:r>
            <a:endParaRPr lang="zh-CN" altLang="en-US" dirty="0"/>
          </a:p>
        </p:txBody>
      </p:sp>
      <p:sp>
        <p:nvSpPr>
          <p:cNvPr id="4" name="灯片编号占位符 3"/>
          <p:cNvSpPr>
            <a:spLocks noGrp="1"/>
          </p:cNvSpPr>
          <p:nvPr>
            <p:ph type="sldNum" sz="quarter" idx="5"/>
          </p:nvPr>
        </p:nvSpPr>
        <p:spPr/>
        <p:txBody>
          <a:bodyPr/>
          <a:lstStyle/>
          <a:p>
            <a:fld id="{99DB3ECE-272B-4396-8590-047A34B82A8F}" type="slidenum">
              <a:rPr lang="zh-CN" altLang="en-US" smtClean="0"/>
              <a:t>24</a:t>
            </a:fld>
            <a:endParaRPr lang="zh-CN" altLang="en-US"/>
          </a:p>
        </p:txBody>
      </p:sp>
    </p:spTree>
    <p:extLst>
      <p:ext uri="{BB962C8B-B14F-4D97-AF65-F5344CB8AC3E}">
        <p14:creationId xmlns:p14="http://schemas.microsoft.com/office/powerpoint/2010/main" val="10189673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凸优化包括线性规划，二次规划， 二次约束的二次规划，半正定规划</a:t>
            </a:r>
            <a:endParaRPr lang="zh-CN" altLang="en-US" dirty="0"/>
          </a:p>
        </p:txBody>
      </p:sp>
      <p:sp>
        <p:nvSpPr>
          <p:cNvPr id="4" name="灯片编号占位符 3"/>
          <p:cNvSpPr>
            <a:spLocks noGrp="1"/>
          </p:cNvSpPr>
          <p:nvPr>
            <p:ph type="sldNum" sz="quarter" idx="5"/>
          </p:nvPr>
        </p:nvSpPr>
        <p:spPr/>
        <p:txBody>
          <a:bodyPr/>
          <a:lstStyle/>
          <a:p>
            <a:fld id="{99DB3ECE-272B-4396-8590-047A34B82A8F}" type="slidenum">
              <a:rPr lang="zh-CN" altLang="en-US" smtClean="0"/>
              <a:t>28</a:t>
            </a:fld>
            <a:endParaRPr lang="zh-CN" altLang="en-US"/>
          </a:p>
        </p:txBody>
      </p:sp>
    </p:spTree>
    <p:extLst>
      <p:ext uri="{BB962C8B-B14F-4D97-AF65-F5344CB8AC3E}">
        <p14:creationId xmlns:p14="http://schemas.microsoft.com/office/powerpoint/2010/main" val="41286628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凸优化包括线性规划，二次规划， 二次约束的二次规划，半正定规划</a:t>
            </a:r>
            <a:endParaRPr lang="zh-CN" altLang="en-US" dirty="0"/>
          </a:p>
        </p:txBody>
      </p:sp>
      <p:sp>
        <p:nvSpPr>
          <p:cNvPr id="4" name="灯片编号占位符 3"/>
          <p:cNvSpPr>
            <a:spLocks noGrp="1"/>
          </p:cNvSpPr>
          <p:nvPr>
            <p:ph type="sldNum" sz="quarter" idx="5"/>
          </p:nvPr>
        </p:nvSpPr>
        <p:spPr/>
        <p:txBody>
          <a:bodyPr/>
          <a:lstStyle/>
          <a:p>
            <a:fld id="{99DB3ECE-272B-4396-8590-047A34B82A8F}" type="slidenum">
              <a:rPr lang="zh-CN" altLang="en-US" smtClean="0"/>
              <a:t>29</a:t>
            </a:fld>
            <a:endParaRPr lang="zh-CN" altLang="en-US"/>
          </a:p>
        </p:txBody>
      </p:sp>
    </p:spTree>
    <p:extLst>
      <p:ext uri="{BB962C8B-B14F-4D97-AF65-F5344CB8AC3E}">
        <p14:creationId xmlns:p14="http://schemas.microsoft.com/office/powerpoint/2010/main" val="13030806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凸优化包括线性规划，二次规划， 二次约束的二次规划，半正定规划</a:t>
            </a:r>
            <a:endParaRPr lang="zh-CN" altLang="en-US" dirty="0"/>
          </a:p>
        </p:txBody>
      </p:sp>
      <p:sp>
        <p:nvSpPr>
          <p:cNvPr id="4" name="灯片编号占位符 3"/>
          <p:cNvSpPr>
            <a:spLocks noGrp="1"/>
          </p:cNvSpPr>
          <p:nvPr>
            <p:ph type="sldNum" sz="quarter" idx="5"/>
          </p:nvPr>
        </p:nvSpPr>
        <p:spPr/>
        <p:txBody>
          <a:bodyPr/>
          <a:lstStyle/>
          <a:p>
            <a:fld id="{99DB3ECE-272B-4396-8590-047A34B82A8F}" type="slidenum">
              <a:rPr lang="zh-CN" altLang="en-US" smtClean="0"/>
              <a:t>30</a:t>
            </a:fld>
            <a:endParaRPr lang="zh-CN" altLang="en-US"/>
          </a:p>
        </p:txBody>
      </p:sp>
    </p:spTree>
    <p:extLst>
      <p:ext uri="{BB962C8B-B14F-4D97-AF65-F5344CB8AC3E}">
        <p14:creationId xmlns:p14="http://schemas.microsoft.com/office/powerpoint/2010/main" val="5883009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凸优化包括线性规划，二次规划， 二次约束的二次规划，半正定规划</a:t>
            </a:r>
            <a:endParaRPr lang="zh-CN" altLang="en-US" dirty="0"/>
          </a:p>
        </p:txBody>
      </p:sp>
      <p:sp>
        <p:nvSpPr>
          <p:cNvPr id="4" name="灯片编号占位符 3"/>
          <p:cNvSpPr>
            <a:spLocks noGrp="1"/>
          </p:cNvSpPr>
          <p:nvPr>
            <p:ph type="sldNum" sz="quarter" idx="5"/>
          </p:nvPr>
        </p:nvSpPr>
        <p:spPr/>
        <p:txBody>
          <a:bodyPr/>
          <a:lstStyle/>
          <a:p>
            <a:fld id="{99DB3ECE-272B-4396-8590-047A34B82A8F}" type="slidenum">
              <a:rPr lang="zh-CN" altLang="en-US" smtClean="0"/>
              <a:t>32</a:t>
            </a:fld>
            <a:endParaRPr lang="zh-CN" altLang="en-US"/>
          </a:p>
        </p:txBody>
      </p:sp>
    </p:spTree>
    <p:extLst>
      <p:ext uri="{BB962C8B-B14F-4D97-AF65-F5344CB8AC3E}">
        <p14:creationId xmlns:p14="http://schemas.microsoft.com/office/powerpoint/2010/main" val="16089572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凸优化包括线性规划，二次规划， 二次约束的二次规划，半正定规划</a:t>
            </a:r>
            <a:endParaRPr lang="zh-CN" altLang="en-US" dirty="0"/>
          </a:p>
        </p:txBody>
      </p:sp>
      <p:sp>
        <p:nvSpPr>
          <p:cNvPr id="4" name="灯片编号占位符 3"/>
          <p:cNvSpPr>
            <a:spLocks noGrp="1"/>
          </p:cNvSpPr>
          <p:nvPr>
            <p:ph type="sldNum" sz="quarter" idx="5"/>
          </p:nvPr>
        </p:nvSpPr>
        <p:spPr/>
        <p:txBody>
          <a:bodyPr/>
          <a:lstStyle/>
          <a:p>
            <a:fld id="{99DB3ECE-272B-4396-8590-047A34B82A8F}" type="slidenum">
              <a:rPr lang="zh-CN" altLang="en-US" smtClean="0"/>
              <a:t>33</a:t>
            </a:fld>
            <a:endParaRPr lang="zh-CN" altLang="en-US"/>
          </a:p>
        </p:txBody>
      </p:sp>
    </p:spTree>
    <p:extLst>
      <p:ext uri="{BB962C8B-B14F-4D97-AF65-F5344CB8AC3E}">
        <p14:creationId xmlns:p14="http://schemas.microsoft.com/office/powerpoint/2010/main" val="27822604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凸优化包括线性规划，二次规划， 二次约束的二次规划，半正定规划</a:t>
            </a:r>
            <a:endParaRPr lang="zh-CN" altLang="en-US" dirty="0"/>
          </a:p>
        </p:txBody>
      </p:sp>
      <p:sp>
        <p:nvSpPr>
          <p:cNvPr id="4" name="灯片编号占位符 3"/>
          <p:cNvSpPr>
            <a:spLocks noGrp="1"/>
          </p:cNvSpPr>
          <p:nvPr>
            <p:ph type="sldNum" sz="quarter" idx="5"/>
          </p:nvPr>
        </p:nvSpPr>
        <p:spPr/>
        <p:txBody>
          <a:bodyPr/>
          <a:lstStyle/>
          <a:p>
            <a:fld id="{99DB3ECE-272B-4396-8590-047A34B82A8F}" type="slidenum">
              <a:rPr lang="zh-CN" altLang="en-US" smtClean="0"/>
              <a:t>35</a:t>
            </a:fld>
            <a:endParaRPr lang="zh-CN" altLang="en-US"/>
          </a:p>
        </p:txBody>
      </p:sp>
    </p:spTree>
    <p:extLst>
      <p:ext uri="{BB962C8B-B14F-4D97-AF65-F5344CB8AC3E}">
        <p14:creationId xmlns:p14="http://schemas.microsoft.com/office/powerpoint/2010/main" val="27976511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凸优化包括线性规划，二次规划， 二次约束的二次规划，半正定规划</a:t>
            </a:r>
            <a:endParaRPr lang="zh-CN" altLang="en-US" dirty="0"/>
          </a:p>
        </p:txBody>
      </p:sp>
      <p:sp>
        <p:nvSpPr>
          <p:cNvPr id="4" name="灯片编号占位符 3"/>
          <p:cNvSpPr>
            <a:spLocks noGrp="1"/>
          </p:cNvSpPr>
          <p:nvPr>
            <p:ph type="sldNum" sz="quarter" idx="5"/>
          </p:nvPr>
        </p:nvSpPr>
        <p:spPr/>
        <p:txBody>
          <a:bodyPr/>
          <a:lstStyle/>
          <a:p>
            <a:fld id="{99DB3ECE-272B-4396-8590-047A34B82A8F}" type="slidenum">
              <a:rPr lang="zh-CN" altLang="en-US" smtClean="0"/>
              <a:t>37</a:t>
            </a:fld>
            <a:endParaRPr lang="zh-CN" altLang="en-US"/>
          </a:p>
        </p:txBody>
      </p:sp>
    </p:spTree>
    <p:extLst>
      <p:ext uri="{BB962C8B-B14F-4D97-AF65-F5344CB8AC3E}">
        <p14:creationId xmlns:p14="http://schemas.microsoft.com/office/powerpoint/2010/main" val="16482694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凸优化包括线性规划，二次规划， 二次约束的二次规划，半正定规划</a:t>
            </a:r>
            <a:endParaRPr lang="zh-CN" altLang="en-US" dirty="0"/>
          </a:p>
        </p:txBody>
      </p:sp>
      <p:sp>
        <p:nvSpPr>
          <p:cNvPr id="4" name="灯片编号占位符 3"/>
          <p:cNvSpPr>
            <a:spLocks noGrp="1"/>
          </p:cNvSpPr>
          <p:nvPr>
            <p:ph type="sldNum" sz="quarter" idx="5"/>
          </p:nvPr>
        </p:nvSpPr>
        <p:spPr/>
        <p:txBody>
          <a:bodyPr/>
          <a:lstStyle/>
          <a:p>
            <a:fld id="{99DB3ECE-272B-4396-8590-047A34B82A8F}" type="slidenum">
              <a:rPr lang="zh-CN" altLang="en-US" smtClean="0"/>
              <a:t>38</a:t>
            </a:fld>
            <a:endParaRPr lang="zh-CN" altLang="en-US"/>
          </a:p>
        </p:txBody>
      </p:sp>
    </p:spTree>
    <p:extLst>
      <p:ext uri="{BB962C8B-B14F-4D97-AF65-F5344CB8AC3E}">
        <p14:creationId xmlns:p14="http://schemas.microsoft.com/office/powerpoint/2010/main" val="22537215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凸优化包括线性规划，二次规划， 二次约束的二次规划，半正定规划</a:t>
            </a:r>
            <a:endParaRPr lang="zh-CN" altLang="en-US" dirty="0"/>
          </a:p>
        </p:txBody>
      </p:sp>
      <p:sp>
        <p:nvSpPr>
          <p:cNvPr id="4" name="灯片编号占位符 3"/>
          <p:cNvSpPr>
            <a:spLocks noGrp="1"/>
          </p:cNvSpPr>
          <p:nvPr>
            <p:ph type="sldNum" sz="quarter" idx="5"/>
          </p:nvPr>
        </p:nvSpPr>
        <p:spPr/>
        <p:txBody>
          <a:bodyPr/>
          <a:lstStyle/>
          <a:p>
            <a:fld id="{99DB3ECE-272B-4396-8590-047A34B82A8F}" type="slidenum">
              <a:rPr lang="zh-CN" altLang="en-US" smtClean="0"/>
              <a:t>39</a:t>
            </a:fld>
            <a:endParaRPr lang="zh-CN" altLang="en-US"/>
          </a:p>
        </p:txBody>
      </p:sp>
    </p:spTree>
    <p:extLst>
      <p:ext uri="{BB962C8B-B14F-4D97-AF65-F5344CB8AC3E}">
        <p14:creationId xmlns:p14="http://schemas.microsoft.com/office/powerpoint/2010/main" val="2930990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凸优化包括线性规划，二次规划， 二次约束的二次规划，半正定规划</a:t>
            </a:r>
            <a:endParaRPr lang="zh-CN" altLang="en-US" dirty="0"/>
          </a:p>
        </p:txBody>
      </p:sp>
      <p:sp>
        <p:nvSpPr>
          <p:cNvPr id="4" name="灯片编号占位符 3"/>
          <p:cNvSpPr>
            <a:spLocks noGrp="1"/>
          </p:cNvSpPr>
          <p:nvPr>
            <p:ph type="sldNum" sz="quarter" idx="5"/>
          </p:nvPr>
        </p:nvSpPr>
        <p:spPr/>
        <p:txBody>
          <a:bodyPr/>
          <a:lstStyle/>
          <a:p>
            <a:fld id="{99DB3ECE-272B-4396-8590-047A34B82A8F}" type="slidenum">
              <a:rPr lang="zh-CN" altLang="en-US" smtClean="0"/>
              <a:t>40</a:t>
            </a:fld>
            <a:endParaRPr lang="zh-CN" altLang="en-US"/>
          </a:p>
        </p:txBody>
      </p:sp>
    </p:spTree>
    <p:extLst>
      <p:ext uri="{BB962C8B-B14F-4D97-AF65-F5344CB8AC3E}">
        <p14:creationId xmlns:p14="http://schemas.microsoft.com/office/powerpoint/2010/main" val="2930990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9DB3ECE-272B-4396-8590-047A34B82A8F}" type="slidenum">
              <a:rPr lang="zh-CN" altLang="en-US" smtClean="0"/>
              <a:t>45</a:t>
            </a:fld>
            <a:endParaRPr lang="zh-CN" altLang="en-US"/>
          </a:p>
        </p:txBody>
      </p:sp>
    </p:spTree>
    <p:extLst>
      <p:ext uri="{BB962C8B-B14F-4D97-AF65-F5344CB8AC3E}">
        <p14:creationId xmlns:p14="http://schemas.microsoft.com/office/powerpoint/2010/main" val="11657883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en-US" altLang="zh-CN" dirty="0">
              <a:effectLst/>
              <a:latin typeface="Times New Roman" panose="02020603050405020304" pitchFamily="18" charset="0"/>
              <a:ea typeface="仿宋_GB2312" panose="02010609030101010101" pitchFamily="49" charset="-122"/>
              <a:cs typeface="Times New Roman" panose="02020603050405020304" pitchFamily="18" charset="0"/>
              <a:sym typeface="+mn-ea"/>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8F5CBD3-32D1-4BCD-A706-B0EA53B26FDB}"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80416878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文本框 42">
            <a:extLst>
              <a:ext uri="{FF2B5EF4-FFF2-40B4-BE49-F238E27FC236}">
                <a16:creationId xmlns:a16="http://schemas.microsoft.com/office/drawing/2014/main" id="{7E3516B0-F1EE-47A5-8B67-29E3E4A41CB8}"/>
              </a:ext>
            </a:extLst>
          </p:cNvPr>
          <p:cNvSpPr>
            <a:spLocks noChangeArrowheads="1"/>
          </p:cNvSpPr>
          <p:nvPr userDrawn="1"/>
        </p:nvSpPr>
        <p:spPr bwMode="auto">
          <a:xfrm>
            <a:off x="341092" y="74069"/>
            <a:ext cx="44274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defTabSz="912261" fontAlgn="base">
              <a:spcBef>
                <a:spcPct val="0"/>
              </a:spcBef>
              <a:spcAft>
                <a:spcPct val="0"/>
              </a:spcAft>
            </a:pPr>
            <a:r>
              <a:rPr lang="en-US" altLang="zh-CN" sz="4000" dirty="0">
                <a:solidFill>
                  <a:prstClr val="white"/>
                </a:solidFill>
                <a:latin typeface="Impact" panose="020B0806030902050204" pitchFamily="34" charset="0"/>
                <a:sym typeface="Impact" panose="020B0806030902050204" pitchFamily="34" charset="0"/>
              </a:rPr>
              <a:t>2</a:t>
            </a:r>
            <a:endParaRPr lang="zh-CN" altLang="en-US" sz="4000" dirty="0">
              <a:solidFill>
                <a:prstClr val="white"/>
              </a:solidFill>
              <a:latin typeface="Impact" panose="020B0806030902050204" pitchFamily="34" charset="0"/>
              <a:sym typeface="Impact" panose="020B0806030902050204" pitchFamily="34" charset="0"/>
            </a:endParaRPr>
          </a:p>
        </p:txBody>
      </p:sp>
      <p:sp>
        <p:nvSpPr>
          <p:cNvPr id="8" name="任意多边形 18">
            <a:extLst>
              <a:ext uri="{FF2B5EF4-FFF2-40B4-BE49-F238E27FC236}">
                <a16:creationId xmlns:a16="http://schemas.microsoft.com/office/drawing/2014/main" id="{375F30B0-36E1-4C95-8D05-A3CBCC52D587}"/>
              </a:ext>
            </a:extLst>
          </p:cNvPr>
          <p:cNvSpPr/>
          <p:nvPr userDrawn="1"/>
        </p:nvSpPr>
        <p:spPr>
          <a:xfrm flipH="1">
            <a:off x="-3" y="748316"/>
            <a:ext cx="9024000" cy="89885"/>
          </a:xfrm>
          <a:custGeom>
            <a:avLst/>
            <a:gdLst>
              <a:gd name="connsiteX0" fmla="*/ 6515627 w 6515627"/>
              <a:gd name="connsiteY0" fmla="*/ 0 h 67414"/>
              <a:gd name="connsiteX1" fmla="*/ 67507 w 6515627"/>
              <a:gd name="connsiteY1" fmla="*/ 0 h 67414"/>
              <a:gd name="connsiteX2" fmla="*/ 0 w 6515627"/>
              <a:gd name="connsiteY2" fmla="*/ 67414 h 67414"/>
              <a:gd name="connsiteX3" fmla="*/ 6515627 w 6515627"/>
              <a:gd name="connsiteY3" fmla="*/ 67414 h 67414"/>
            </a:gdLst>
            <a:ahLst/>
            <a:cxnLst>
              <a:cxn ang="0">
                <a:pos x="connsiteX0" y="connsiteY0"/>
              </a:cxn>
              <a:cxn ang="0">
                <a:pos x="connsiteX1" y="connsiteY1"/>
              </a:cxn>
              <a:cxn ang="0">
                <a:pos x="connsiteX2" y="connsiteY2"/>
              </a:cxn>
              <a:cxn ang="0">
                <a:pos x="connsiteX3" y="connsiteY3"/>
              </a:cxn>
            </a:cxnLst>
            <a:rect l="l" t="t" r="r" b="b"/>
            <a:pathLst>
              <a:path w="6515627" h="67414">
                <a:moveTo>
                  <a:pt x="6515627" y="0"/>
                </a:moveTo>
                <a:lnTo>
                  <a:pt x="67507" y="0"/>
                </a:lnTo>
                <a:lnTo>
                  <a:pt x="0" y="67414"/>
                </a:lnTo>
                <a:lnTo>
                  <a:pt x="6515627" y="67414"/>
                </a:lnTo>
                <a:close/>
              </a:path>
            </a:pathLst>
          </a:custGeom>
          <a:solidFill>
            <a:srgbClr val="376092"/>
          </a:solidFill>
          <a:ln w="12700" cap="flat" cmpd="sng" algn="ctr">
            <a:noFill/>
            <a:prstDash val="solid"/>
            <a:miter lim="800000"/>
          </a:ln>
          <a:effectLst/>
        </p:spPr>
        <p:txBody>
          <a:bodyPr rtlCol="0" anchor="ctr"/>
          <a:lstStyle/>
          <a:p>
            <a:pPr algn="ctr" defTabSz="1219170">
              <a:defRPr/>
            </a:pPr>
            <a:endParaRPr lang="zh-CN" altLang="en-US" sz="2400" kern="0">
              <a:solidFill>
                <a:prstClr val="white"/>
              </a:solidFill>
              <a:latin typeface="Arial"/>
              <a:ea typeface="微软雅黑"/>
            </a:endParaRPr>
          </a:p>
        </p:txBody>
      </p:sp>
      <p:sp>
        <p:nvSpPr>
          <p:cNvPr id="9" name="任意多边形 19">
            <a:extLst>
              <a:ext uri="{FF2B5EF4-FFF2-40B4-BE49-F238E27FC236}">
                <a16:creationId xmlns:a16="http://schemas.microsoft.com/office/drawing/2014/main" id="{3A07D465-FA3B-4E7A-9AA6-543161C10827}"/>
              </a:ext>
            </a:extLst>
          </p:cNvPr>
          <p:cNvSpPr/>
          <p:nvPr userDrawn="1"/>
        </p:nvSpPr>
        <p:spPr>
          <a:xfrm flipH="1">
            <a:off x="8589796" y="-9186"/>
            <a:ext cx="3602203" cy="847388"/>
          </a:xfrm>
          <a:custGeom>
            <a:avLst/>
            <a:gdLst>
              <a:gd name="connsiteX0" fmla="*/ 2701652 w 2701652"/>
              <a:gd name="connsiteY0" fmla="*/ 0 h 502825"/>
              <a:gd name="connsiteX1" fmla="*/ 0 w 2701652"/>
              <a:gd name="connsiteY1" fmla="*/ 0 h 502825"/>
              <a:gd name="connsiteX2" fmla="*/ 0 w 2701652"/>
              <a:gd name="connsiteY2" fmla="*/ 502825 h 502825"/>
              <a:gd name="connsiteX3" fmla="*/ 2198133 w 2701652"/>
              <a:gd name="connsiteY3" fmla="*/ 502825 h 502825"/>
            </a:gdLst>
            <a:ahLst/>
            <a:cxnLst>
              <a:cxn ang="0">
                <a:pos x="connsiteX0" y="connsiteY0"/>
              </a:cxn>
              <a:cxn ang="0">
                <a:pos x="connsiteX1" y="connsiteY1"/>
              </a:cxn>
              <a:cxn ang="0">
                <a:pos x="connsiteX2" y="connsiteY2"/>
              </a:cxn>
              <a:cxn ang="0">
                <a:pos x="connsiteX3" y="connsiteY3"/>
              </a:cxn>
            </a:cxnLst>
            <a:rect l="l" t="t" r="r" b="b"/>
            <a:pathLst>
              <a:path w="2701652" h="502825">
                <a:moveTo>
                  <a:pt x="2701652" y="0"/>
                </a:moveTo>
                <a:lnTo>
                  <a:pt x="0" y="0"/>
                </a:lnTo>
                <a:lnTo>
                  <a:pt x="0" y="502825"/>
                </a:lnTo>
                <a:lnTo>
                  <a:pt x="2198133" y="502825"/>
                </a:lnTo>
                <a:close/>
              </a:path>
            </a:pathLst>
          </a:custGeom>
          <a:solidFill>
            <a:srgbClr val="376092"/>
          </a:solidFill>
          <a:ln w="12700" cap="flat" cmpd="sng" algn="ctr">
            <a:noFill/>
            <a:prstDash val="solid"/>
            <a:miter lim="800000"/>
          </a:ln>
          <a:effectLst/>
        </p:spPr>
        <p:txBody>
          <a:bodyPr rtlCol="0" anchor="ctr"/>
          <a:lstStyle/>
          <a:p>
            <a:pPr algn="ctr" defTabSz="1219170">
              <a:defRPr/>
            </a:pPr>
            <a:endParaRPr lang="zh-CN" altLang="en-US" sz="2400" kern="0">
              <a:solidFill>
                <a:prstClr val="white"/>
              </a:solidFill>
              <a:latin typeface="Arial"/>
              <a:ea typeface="微软雅黑"/>
            </a:endParaRPr>
          </a:p>
        </p:txBody>
      </p:sp>
      <p:sp>
        <p:nvSpPr>
          <p:cNvPr id="10" name="任意多边形 20">
            <a:extLst>
              <a:ext uri="{FF2B5EF4-FFF2-40B4-BE49-F238E27FC236}">
                <a16:creationId xmlns:a16="http://schemas.microsoft.com/office/drawing/2014/main" id="{25750CE6-F2D7-492B-B549-84B1B3EBFEBB}"/>
              </a:ext>
            </a:extLst>
          </p:cNvPr>
          <p:cNvSpPr/>
          <p:nvPr userDrawn="1"/>
        </p:nvSpPr>
        <p:spPr>
          <a:xfrm>
            <a:off x="9145704" y="-2169"/>
            <a:ext cx="869552" cy="535569"/>
          </a:xfrm>
          <a:custGeom>
            <a:avLst/>
            <a:gdLst>
              <a:gd name="connsiteX0" fmla="*/ 15986 w 683098"/>
              <a:gd name="connsiteY0" fmla="*/ 0 h 420730"/>
              <a:gd name="connsiteX1" fmla="*/ 667112 w 683098"/>
              <a:gd name="connsiteY1" fmla="*/ 0 h 420730"/>
              <a:gd name="connsiteX2" fmla="*/ 683098 w 683098"/>
              <a:gd name="connsiteY2" fmla="*/ 79181 h 420730"/>
              <a:gd name="connsiteX3" fmla="*/ 341549 w 683098"/>
              <a:gd name="connsiteY3" fmla="*/ 420730 h 420730"/>
              <a:gd name="connsiteX4" fmla="*/ 0 w 683098"/>
              <a:gd name="connsiteY4" fmla="*/ 79181 h 420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098" h="420730">
                <a:moveTo>
                  <a:pt x="15986" y="0"/>
                </a:moveTo>
                <a:lnTo>
                  <a:pt x="667112" y="0"/>
                </a:lnTo>
                <a:lnTo>
                  <a:pt x="683098" y="79181"/>
                </a:lnTo>
                <a:cubicBezTo>
                  <a:pt x="683098" y="267813"/>
                  <a:pt x="530181" y="420730"/>
                  <a:pt x="341549" y="420730"/>
                </a:cubicBezTo>
                <a:cubicBezTo>
                  <a:pt x="152917" y="420730"/>
                  <a:pt x="0" y="267813"/>
                  <a:pt x="0" y="79181"/>
                </a:cubicBezTo>
                <a:close/>
              </a:path>
            </a:pathLst>
          </a:custGeom>
          <a:solidFill>
            <a:srgbClr val="FFFFFF">
              <a:alpha val="5098"/>
            </a:srgbClr>
          </a:solidFill>
          <a:ln w="12700" cap="flat" cmpd="sng" algn="ctr">
            <a:noFill/>
            <a:prstDash val="solid"/>
            <a:miter lim="800000"/>
          </a:ln>
          <a:effectLst/>
        </p:spPr>
        <p:txBody>
          <a:bodyPr rtlCol="0" anchor="ctr"/>
          <a:lstStyle/>
          <a:p>
            <a:pPr algn="ctr" defTabSz="1219170">
              <a:defRPr/>
            </a:pPr>
            <a:endParaRPr lang="zh-CN" altLang="en-US" sz="2400" kern="0">
              <a:solidFill>
                <a:prstClr val="white"/>
              </a:solidFill>
              <a:latin typeface="Arial"/>
              <a:ea typeface="微软雅黑"/>
            </a:endParaRPr>
          </a:p>
        </p:txBody>
      </p:sp>
      <p:sp>
        <p:nvSpPr>
          <p:cNvPr id="11" name="任意多边形 21">
            <a:extLst>
              <a:ext uri="{FF2B5EF4-FFF2-40B4-BE49-F238E27FC236}">
                <a16:creationId xmlns:a16="http://schemas.microsoft.com/office/drawing/2014/main" id="{9584CBAE-D0ED-429E-9B0A-142F6AFCC5EA}"/>
              </a:ext>
            </a:extLst>
          </p:cNvPr>
          <p:cNvSpPr/>
          <p:nvPr userDrawn="1"/>
        </p:nvSpPr>
        <p:spPr>
          <a:xfrm>
            <a:off x="9711555" y="-2169"/>
            <a:ext cx="741135" cy="192229"/>
          </a:xfrm>
          <a:custGeom>
            <a:avLst/>
            <a:gdLst>
              <a:gd name="connsiteX0" fmla="*/ 0 w 555851"/>
              <a:gd name="connsiteY0" fmla="*/ 0 h 144172"/>
              <a:gd name="connsiteX1" fmla="*/ 555851 w 555851"/>
              <a:gd name="connsiteY1" fmla="*/ 0 h 144172"/>
              <a:gd name="connsiteX2" fmla="*/ 519437 w 555851"/>
              <a:gd name="connsiteY2" fmla="*/ 44135 h 144172"/>
              <a:gd name="connsiteX3" fmla="*/ 277925 w 555851"/>
              <a:gd name="connsiteY3" fmla="*/ 144172 h 144172"/>
              <a:gd name="connsiteX4" fmla="*/ 36414 w 555851"/>
              <a:gd name="connsiteY4" fmla="*/ 44135 h 1441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5851" h="144172">
                <a:moveTo>
                  <a:pt x="0" y="0"/>
                </a:moveTo>
                <a:lnTo>
                  <a:pt x="555851" y="0"/>
                </a:lnTo>
                <a:lnTo>
                  <a:pt x="519437" y="44135"/>
                </a:lnTo>
                <a:cubicBezTo>
                  <a:pt x="457629" y="105943"/>
                  <a:pt x="372241" y="144172"/>
                  <a:pt x="277925" y="144172"/>
                </a:cubicBezTo>
                <a:cubicBezTo>
                  <a:pt x="183609" y="144172"/>
                  <a:pt x="98222" y="105943"/>
                  <a:pt x="36414" y="44135"/>
                </a:cubicBezTo>
                <a:close/>
              </a:path>
            </a:pathLst>
          </a:custGeom>
          <a:solidFill>
            <a:srgbClr val="FFFFFF">
              <a:alpha val="5098"/>
            </a:srgbClr>
          </a:solidFill>
          <a:ln w="12700" cap="flat" cmpd="sng" algn="ctr">
            <a:noFill/>
            <a:prstDash val="solid"/>
            <a:miter lim="800000"/>
          </a:ln>
          <a:effectLst/>
        </p:spPr>
        <p:txBody>
          <a:bodyPr rtlCol="0" anchor="ctr"/>
          <a:lstStyle/>
          <a:p>
            <a:pPr algn="ctr" defTabSz="1219170">
              <a:defRPr/>
            </a:pPr>
            <a:endParaRPr lang="zh-CN" altLang="en-US" sz="2400" kern="0">
              <a:solidFill>
                <a:prstClr val="white"/>
              </a:solidFill>
              <a:latin typeface="Arial"/>
              <a:ea typeface="微软雅黑"/>
            </a:endParaRPr>
          </a:p>
        </p:txBody>
      </p:sp>
      <p:pic>
        <p:nvPicPr>
          <p:cNvPr id="12" name="图片 11">
            <a:extLst>
              <a:ext uri="{FF2B5EF4-FFF2-40B4-BE49-F238E27FC236}">
                <a16:creationId xmlns:a16="http://schemas.microsoft.com/office/drawing/2014/main" id="{29EF1F67-B5DC-4270-9AF4-D2E73E9AB71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63102" y="17786"/>
            <a:ext cx="2279965" cy="813013"/>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7" name="文本框 42">
            <a:extLst>
              <a:ext uri="{FF2B5EF4-FFF2-40B4-BE49-F238E27FC236}">
                <a16:creationId xmlns:a16="http://schemas.microsoft.com/office/drawing/2014/main" id="{ADCF74C8-7D05-4343-A240-8E7E4518B4DC}"/>
              </a:ext>
            </a:extLst>
          </p:cNvPr>
          <p:cNvSpPr>
            <a:spLocks noChangeArrowheads="1"/>
          </p:cNvSpPr>
          <p:nvPr userDrawn="1"/>
        </p:nvSpPr>
        <p:spPr bwMode="auto">
          <a:xfrm>
            <a:off x="341092" y="74069"/>
            <a:ext cx="44274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defTabSz="912261" fontAlgn="base">
              <a:spcBef>
                <a:spcPct val="0"/>
              </a:spcBef>
              <a:spcAft>
                <a:spcPct val="0"/>
              </a:spcAft>
            </a:pPr>
            <a:r>
              <a:rPr lang="en-US" altLang="zh-CN" sz="4000" dirty="0">
                <a:solidFill>
                  <a:prstClr val="white"/>
                </a:solidFill>
                <a:latin typeface="Impact" panose="020B0806030902050204" pitchFamily="34" charset="0"/>
                <a:sym typeface="Impact" panose="020B0806030902050204" pitchFamily="34" charset="0"/>
              </a:rPr>
              <a:t>2</a:t>
            </a:r>
            <a:endParaRPr lang="zh-CN" altLang="en-US" sz="4000" dirty="0">
              <a:solidFill>
                <a:prstClr val="white"/>
              </a:solidFill>
              <a:latin typeface="Impact" panose="020B0806030902050204" pitchFamily="34" charset="0"/>
              <a:sym typeface="Impact" panose="020B0806030902050204" pitchFamily="34" charset="0"/>
            </a:endParaRPr>
          </a:p>
        </p:txBody>
      </p:sp>
      <p:sp>
        <p:nvSpPr>
          <p:cNvPr id="8" name="任意多边形 18">
            <a:extLst>
              <a:ext uri="{FF2B5EF4-FFF2-40B4-BE49-F238E27FC236}">
                <a16:creationId xmlns:a16="http://schemas.microsoft.com/office/drawing/2014/main" id="{147FA2B4-8679-4E48-A65C-3551B3575A2F}"/>
              </a:ext>
            </a:extLst>
          </p:cNvPr>
          <p:cNvSpPr/>
          <p:nvPr userDrawn="1"/>
        </p:nvSpPr>
        <p:spPr>
          <a:xfrm flipH="1">
            <a:off x="-3" y="748316"/>
            <a:ext cx="9024000" cy="89885"/>
          </a:xfrm>
          <a:custGeom>
            <a:avLst/>
            <a:gdLst>
              <a:gd name="connsiteX0" fmla="*/ 6515627 w 6515627"/>
              <a:gd name="connsiteY0" fmla="*/ 0 h 67414"/>
              <a:gd name="connsiteX1" fmla="*/ 67507 w 6515627"/>
              <a:gd name="connsiteY1" fmla="*/ 0 h 67414"/>
              <a:gd name="connsiteX2" fmla="*/ 0 w 6515627"/>
              <a:gd name="connsiteY2" fmla="*/ 67414 h 67414"/>
              <a:gd name="connsiteX3" fmla="*/ 6515627 w 6515627"/>
              <a:gd name="connsiteY3" fmla="*/ 67414 h 67414"/>
            </a:gdLst>
            <a:ahLst/>
            <a:cxnLst>
              <a:cxn ang="0">
                <a:pos x="connsiteX0" y="connsiteY0"/>
              </a:cxn>
              <a:cxn ang="0">
                <a:pos x="connsiteX1" y="connsiteY1"/>
              </a:cxn>
              <a:cxn ang="0">
                <a:pos x="connsiteX2" y="connsiteY2"/>
              </a:cxn>
              <a:cxn ang="0">
                <a:pos x="connsiteX3" y="connsiteY3"/>
              </a:cxn>
            </a:cxnLst>
            <a:rect l="l" t="t" r="r" b="b"/>
            <a:pathLst>
              <a:path w="6515627" h="67414">
                <a:moveTo>
                  <a:pt x="6515627" y="0"/>
                </a:moveTo>
                <a:lnTo>
                  <a:pt x="67507" y="0"/>
                </a:lnTo>
                <a:lnTo>
                  <a:pt x="0" y="67414"/>
                </a:lnTo>
                <a:lnTo>
                  <a:pt x="6515627" y="67414"/>
                </a:lnTo>
                <a:close/>
              </a:path>
            </a:pathLst>
          </a:custGeom>
          <a:solidFill>
            <a:srgbClr val="376092"/>
          </a:solidFill>
          <a:ln w="12700" cap="flat" cmpd="sng" algn="ctr">
            <a:noFill/>
            <a:prstDash val="solid"/>
            <a:miter lim="800000"/>
          </a:ln>
          <a:effectLst/>
        </p:spPr>
        <p:txBody>
          <a:bodyPr rtlCol="0" anchor="ctr"/>
          <a:lstStyle/>
          <a:p>
            <a:pPr algn="ctr" defTabSz="1219170">
              <a:defRPr/>
            </a:pPr>
            <a:endParaRPr lang="zh-CN" altLang="en-US" sz="2400" kern="0">
              <a:solidFill>
                <a:prstClr val="white"/>
              </a:solidFill>
              <a:latin typeface="Arial"/>
              <a:ea typeface="微软雅黑"/>
            </a:endParaRPr>
          </a:p>
        </p:txBody>
      </p:sp>
      <p:sp>
        <p:nvSpPr>
          <p:cNvPr id="9" name="任意多边形 19">
            <a:extLst>
              <a:ext uri="{FF2B5EF4-FFF2-40B4-BE49-F238E27FC236}">
                <a16:creationId xmlns:a16="http://schemas.microsoft.com/office/drawing/2014/main" id="{D1559B3D-C98C-4C27-BFA4-F16EE816C436}"/>
              </a:ext>
            </a:extLst>
          </p:cNvPr>
          <p:cNvSpPr/>
          <p:nvPr userDrawn="1"/>
        </p:nvSpPr>
        <p:spPr>
          <a:xfrm flipH="1">
            <a:off x="8589796" y="-9186"/>
            <a:ext cx="3602203" cy="847388"/>
          </a:xfrm>
          <a:custGeom>
            <a:avLst/>
            <a:gdLst>
              <a:gd name="connsiteX0" fmla="*/ 2701652 w 2701652"/>
              <a:gd name="connsiteY0" fmla="*/ 0 h 502825"/>
              <a:gd name="connsiteX1" fmla="*/ 0 w 2701652"/>
              <a:gd name="connsiteY1" fmla="*/ 0 h 502825"/>
              <a:gd name="connsiteX2" fmla="*/ 0 w 2701652"/>
              <a:gd name="connsiteY2" fmla="*/ 502825 h 502825"/>
              <a:gd name="connsiteX3" fmla="*/ 2198133 w 2701652"/>
              <a:gd name="connsiteY3" fmla="*/ 502825 h 502825"/>
            </a:gdLst>
            <a:ahLst/>
            <a:cxnLst>
              <a:cxn ang="0">
                <a:pos x="connsiteX0" y="connsiteY0"/>
              </a:cxn>
              <a:cxn ang="0">
                <a:pos x="connsiteX1" y="connsiteY1"/>
              </a:cxn>
              <a:cxn ang="0">
                <a:pos x="connsiteX2" y="connsiteY2"/>
              </a:cxn>
              <a:cxn ang="0">
                <a:pos x="connsiteX3" y="connsiteY3"/>
              </a:cxn>
            </a:cxnLst>
            <a:rect l="l" t="t" r="r" b="b"/>
            <a:pathLst>
              <a:path w="2701652" h="502825">
                <a:moveTo>
                  <a:pt x="2701652" y="0"/>
                </a:moveTo>
                <a:lnTo>
                  <a:pt x="0" y="0"/>
                </a:lnTo>
                <a:lnTo>
                  <a:pt x="0" y="502825"/>
                </a:lnTo>
                <a:lnTo>
                  <a:pt x="2198133" y="502825"/>
                </a:lnTo>
                <a:close/>
              </a:path>
            </a:pathLst>
          </a:custGeom>
          <a:solidFill>
            <a:srgbClr val="376092"/>
          </a:solidFill>
          <a:ln w="12700" cap="flat" cmpd="sng" algn="ctr">
            <a:noFill/>
            <a:prstDash val="solid"/>
            <a:miter lim="800000"/>
          </a:ln>
          <a:effectLst/>
        </p:spPr>
        <p:txBody>
          <a:bodyPr rtlCol="0" anchor="ctr"/>
          <a:lstStyle/>
          <a:p>
            <a:pPr algn="ctr" defTabSz="1219170">
              <a:defRPr/>
            </a:pPr>
            <a:endParaRPr lang="zh-CN" altLang="en-US" sz="2400" kern="0">
              <a:solidFill>
                <a:prstClr val="white"/>
              </a:solidFill>
              <a:latin typeface="Arial"/>
              <a:ea typeface="微软雅黑"/>
            </a:endParaRPr>
          </a:p>
        </p:txBody>
      </p:sp>
      <p:sp>
        <p:nvSpPr>
          <p:cNvPr id="10" name="任意多边形 20">
            <a:extLst>
              <a:ext uri="{FF2B5EF4-FFF2-40B4-BE49-F238E27FC236}">
                <a16:creationId xmlns:a16="http://schemas.microsoft.com/office/drawing/2014/main" id="{5525A05D-ED18-4B42-A7D9-AEFFC715A3FD}"/>
              </a:ext>
            </a:extLst>
          </p:cNvPr>
          <p:cNvSpPr/>
          <p:nvPr userDrawn="1"/>
        </p:nvSpPr>
        <p:spPr>
          <a:xfrm>
            <a:off x="9145704" y="-2169"/>
            <a:ext cx="869552" cy="535569"/>
          </a:xfrm>
          <a:custGeom>
            <a:avLst/>
            <a:gdLst>
              <a:gd name="connsiteX0" fmla="*/ 15986 w 683098"/>
              <a:gd name="connsiteY0" fmla="*/ 0 h 420730"/>
              <a:gd name="connsiteX1" fmla="*/ 667112 w 683098"/>
              <a:gd name="connsiteY1" fmla="*/ 0 h 420730"/>
              <a:gd name="connsiteX2" fmla="*/ 683098 w 683098"/>
              <a:gd name="connsiteY2" fmla="*/ 79181 h 420730"/>
              <a:gd name="connsiteX3" fmla="*/ 341549 w 683098"/>
              <a:gd name="connsiteY3" fmla="*/ 420730 h 420730"/>
              <a:gd name="connsiteX4" fmla="*/ 0 w 683098"/>
              <a:gd name="connsiteY4" fmla="*/ 79181 h 420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098" h="420730">
                <a:moveTo>
                  <a:pt x="15986" y="0"/>
                </a:moveTo>
                <a:lnTo>
                  <a:pt x="667112" y="0"/>
                </a:lnTo>
                <a:lnTo>
                  <a:pt x="683098" y="79181"/>
                </a:lnTo>
                <a:cubicBezTo>
                  <a:pt x="683098" y="267813"/>
                  <a:pt x="530181" y="420730"/>
                  <a:pt x="341549" y="420730"/>
                </a:cubicBezTo>
                <a:cubicBezTo>
                  <a:pt x="152917" y="420730"/>
                  <a:pt x="0" y="267813"/>
                  <a:pt x="0" y="79181"/>
                </a:cubicBezTo>
                <a:close/>
              </a:path>
            </a:pathLst>
          </a:custGeom>
          <a:solidFill>
            <a:srgbClr val="FFFFFF">
              <a:alpha val="5098"/>
            </a:srgbClr>
          </a:solidFill>
          <a:ln w="12700" cap="flat" cmpd="sng" algn="ctr">
            <a:noFill/>
            <a:prstDash val="solid"/>
            <a:miter lim="800000"/>
          </a:ln>
          <a:effectLst/>
        </p:spPr>
        <p:txBody>
          <a:bodyPr rtlCol="0" anchor="ctr"/>
          <a:lstStyle/>
          <a:p>
            <a:pPr algn="ctr" defTabSz="1219170">
              <a:defRPr/>
            </a:pPr>
            <a:endParaRPr lang="zh-CN" altLang="en-US" sz="2400" kern="0">
              <a:solidFill>
                <a:prstClr val="white"/>
              </a:solidFill>
              <a:latin typeface="Arial"/>
              <a:ea typeface="微软雅黑"/>
            </a:endParaRPr>
          </a:p>
        </p:txBody>
      </p:sp>
      <p:sp>
        <p:nvSpPr>
          <p:cNvPr id="11" name="任意多边形 21">
            <a:extLst>
              <a:ext uri="{FF2B5EF4-FFF2-40B4-BE49-F238E27FC236}">
                <a16:creationId xmlns:a16="http://schemas.microsoft.com/office/drawing/2014/main" id="{6C725643-EC0C-4241-A71D-227FB563270B}"/>
              </a:ext>
            </a:extLst>
          </p:cNvPr>
          <p:cNvSpPr/>
          <p:nvPr userDrawn="1"/>
        </p:nvSpPr>
        <p:spPr>
          <a:xfrm>
            <a:off x="9711555" y="-2169"/>
            <a:ext cx="741135" cy="192229"/>
          </a:xfrm>
          <a:custGeom>
            <a:avLst/>
            <a:gdLst>
              <a:gd name="connsiteX0" fmla="*/ 0 w 555851"/>
              <a:gd name="connsiteY0" fmla="*/ 0 h 144172"/>
              <a:gd name="connsiteX1" fmla="*/ 555851 w 555851"/>
              <a:gd name="connsiteY1" fmla="*/ 0 h 144172"/>
              <a:gd name="connsiteX2" fmla="*/ 519437 w 555851"/>
              <a:gd name="connsiteY2" fmla="*/ 44135 h 144172"/>
              <a:gd name="connsiteX3" fmla="*/ 277925 w 555851"/>
              <a:gd name="connsiteY3" fmla="*/ 144172 h 144172"/>
              <a:gd name="connsiteX4" fmla="*/ 36414 w 555851"/>
              <a:gd name="connsiteY4" fmla="*/ 44135 h 1441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5851" h="144172">
                <a:moveTo>
                  <a:pt x="0" y="0"/>
                </a:moveTo>
                <a:lnTo>
                  <a:pt x="555851" y="0"/>
                </a:lnTo>
                <a:lnTo>
                  <a:pt x="519437" y="44135"/>
                </a:lnTo>
                <a:cubicBezTo>
                  <a:pt x="457629" y="105943"/>
                  <a:pt x="372241" y="144172"/>
                  <a:pt x="277925" y="144172"/>
                </a:cubicBezTo>
                <a:cubicBezTo>
                  <a:pt x="183609" y="144172"/>
                  <a:pt x="98222" y="105943"/>
                  <a:pt x="36414" y="44135"/>
                </a:cubicBezTo>
                <a:close/>
              </a:path>
            </a:pathLst>
          </a:custGeom>
          <a:solidFill>
            <a:srgbClr val="FFFFFF">
              <a:alpha val="5098"/>
            </a:srgbClr>
          </a:solidFill>
          <a:ln w="12700" cap="flat" cmpd="sng" algn="ctr">
            <a:noFill/>
            <a:prstDash val="solid"/>
            <a:miter lim="800000"/>
          </a:ln>
          <a:effectLst/>
        </p:spPr>
        <p:txBody>
          <a:bodyPr rtlCol="0" anchor="ctr"/>
          <a:lstStyle/>
          <a:p>
            <a:pPr algn="ctr" defTabSz="1219170">
              <a:defRPr/>
            </a:pPr>
            <a:endParaRPr lang="zh-CN" altLang="en-US" sz="2400" kern="0">
              <a:solidFill>
                <a:prstClr val="white"/>
              </a:solidFill>
              <a:latin typeface="Arial"/>
              <a:ea typeface="微软雅黑"/>
            </a:endParaRPr>
          </a:p>
        </p:txBody>
      </p:sp>
      <p:pic>
        <p:nvPicPr>
          <p:cNvPr id="12" name="图片 11">
            <a:extLst>
              <a:ext uri="{FF2B5EF4-FFF2-40B4-BE49-F238E27FC236}">
                <a16:creationId xmlns:a16="http://schemas.microsoft.com/office/drawing/2014/main" id="{3911F69E-4E1D-4284-A7D9-EFEDEBC34927}"/>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63102" y="17786"/>
            <a:ext cx="2279965" cy="813013"/>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文本框 42">
            <a:extLst>
              <a:ext uri="{FF2B5EF4-FFF2-40B4-BE49-F238E27FC236}">
                <a16:creationId xmlns:a16="http://schemas.microsoft.com/office/drawing/2014/main" id="{81403C7A-8DCD-4428-A1D3-8BF76E7FF503}"/>
              </a:ext>
            </a:extLst>
          </p:cNvPr>
          <p:cNvSpPr>
            <a:spLocks noChangeArrowheads="1"/>
          </p:cNvSpPr>
          <p:nvPr userDrawn="1"/>
        </p:nvSpPr>
        <p:spPr bwMode="auto">
          <a:xfrm>
            <a:off x="341092" y="74069"/>
            <a:ext cx="44274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defTabSz="912261" fontAlgn="base">
              <a:spcBef>
                <a:spcPct val="0"/>
              </a:spcBef>
              <a:spcAft>
                <a:spcPct val="0"/>
              </a:spcAft>
            </a:pPr>
            <a:r>
              <a:rPr lang="en-US" altLang="zh-CN" sz="4000" dirty="0">
                <a:solidFill>
                  <a:prstClr val="white"/>
                </a:solidFill>
                <a:latin typeface="Impact" panose="020B0806030902050204" pitchFamily="34" charset="0"/>
                <a:sym typeface="Impact" panose="020B0806030902050204" pitchFamily="34" charset="0"/>
              </a:rPr>
              <a:t>2</a:t>
            </a:r>
            <a:endParaRPr lang="zh-CN" altLang="en-US" sz="4000" dirty="0">
              <a:solidFill>
                <a:prstClr val="white"/>
              </a:solidFill>
              <a:latin typeface="Impact" panose="020B0806030902050204" pitchFamily="34" charset="0"/>
              <a:sym typeface="Impact" panose="020B0806030902050204" pitchFamily="34" charset="0"/>
            </a:endParaRPr>
          </a:p>
        </p:txBody>
      </p:sp>
      <p:sp>
        <p:nvSpPr>
          <p:cNvPr id="4" name="任意多边形 18">
            <a:extLst>
              <a:ext uri="{FF2B5EF4-FFF2-40B4-BE49-F238E27FC236}">
                <a16:creationId xmlns:a16="http://schemas.microsoft.com/office/drawing/2014/main" id="{1B260C3F-9D59-421A-9C72-29FE51777CE1}"/>
              </a:ext>
            </a:extLst>
          </p:cNvPr>
          <p:cNvSpPr/>
          <p:nvPr userDrawn="1"/>
        </p:nvSpPr>
        <p:spPr>
          <a:xfrm flipH="1">
            <a:off x="-3" y="748316"/>
            <a:ext cx="9024000" cy="89885"/>
          </a:xfrm>
          <a:custGeom>
            <a:avLst/>
            <a:gdLst>
              <a:gd name="connsiteX0" fmla="*/ 6515627 w 6515627"/>
              <a:gd name="connsiteY0" fmla="*/ 0 h 67414"/>
              <a:gd name="connsiteX1" fmla="*/ 67507 w 6515627"/>
              <a:gd name="connsiteY1" fmla="*/ 0 h 67414"/>
              <a:gd name="connsiteX2" fmla="*/ 0 w 6515627"/>
              <a:gd name="connsiteY2" fmla="*/ 67414 h 67414"/>
              <a:gd name="connsiteX3" fmla="*/ 6515627 w 6515627"/>
              <a:gd name="connsiteY3" fmla="*/ 67414 h 67414"/>
            </a:gdLst>
            <a:ahLst/>
            <a:cxnLst>
              <a:cxn ang="0">
                <a:pos x="connsiteX0" y="connsiteY0"/>
              </a:cxn>
              <a:cxn ang="0">
                <a:pos x="connsiteX1" y="connsiteY1"/>
              </a:cxn>
              <a:cxn ang="0">
                <a:pos x="connsiteX2" y="connsiteY2"/>
              </a:cxn>
              <a:cxn ang="0">
                <a:pos x="connsiteX3" y="connsiteY3"/>
              </a:cxn>
            </a:cxnLst>
            <a:rect l="l" t="t" r="r" b="b"/>
            <a:pathLst>
              <a:path w="6515627" h="67414">
                <a:moveTo>
                  <a:pt x="6515627" y="0"/>
                </a:moveTo>
                <a:lnTo>
                  <a:pt x="67507" y="0"/>
                </a:lnTo>
                <a:lnTo>
                  <a:pt x="0" y="67414"/>
                </a:lnTo>
                <a:lnTo>
                  <a:pt x="6515627" y="67414"/>
                </a:lnTo>
                <a:close/>
              </a:path>
            </a:pathLst>
          </a:custGeom>
          <a:solidFill>
            <a:srgbClr val="376092"/>
          </a:solidFill>
          <a:ln w="12700" cap="flat" cmpd="sng" algn="ctr">
            <a:noFill/>
            <a:prstDash val="solid"/>
            <a:miter lim="800000"/>
          </a:ln>
          <a:effectLst/>
        </p:spPr>
        <p:txBody>
          <a:bodyPr rtlCol="0" anchor="ctr"/>
          <a:lstStyle/>
          <a:p>
            <a:pPr algn="ctr" defTabSz="1219170">
              <a:defRPr/>
            </a:pPr>
            <a:endParaRPr lang="zh-CN" altLang="en-US" sz="2400" kern="0">
              <a:solidFill>
                <a:prstClr val="white"/>
              </a:solidFill>
              <a:latin typeface="Arial"/>
              <a:ea typeface="微软雅黑"/>
            </a:endParaRPr>
          </a:p>
        </p:txBody>
      </p:sp>
      <p:sp>
        <p:nvSpPr>
          <p:cNvPr id="5" name="任意多边形 19">
            <a:extLst>
              <a:ext uri="{FF2B5EF4-FFF2-40B4-BE49-F238E27FC236}">
                <a16:creationId xmlns:a16="http://schemas.microsoft.com/office/drawing/2014/main" id="{20BD29F3-AB7B-4C06-9CCD-F65F882E0A70}"/>
              </a:ext>
            </a:extLst>
          </p:cNvPr>
          <p:cNvSpPr/>
          <p:nvPr userDrawn="1"/>
        </p:nvSpPr>
        <p:spPr>
          <a:xfrm flipH="1">
            <a:off x="8589796" y="-9186"/>
            <a:ext cx="3602203" cy="847388"/>
          </a:xfrm>
          <a:custGeom>
            <a:avLst/>
            <a:gdLst>
              <a:gd name="connsiteX0" fmla="*/ 2701652 w 2701652"/>
              <a:gd name="connsiteY0" fmla="*/ 0 h 502825"/>
              <a:gd name="connsiteX1" fmla="*/ 0 w 2701652"/>
              <a:gd name="connsiteY1" fmla="*/ 0 h 502825"/>
              <a:gd name="connsiteX2" fmla="*/ 0 w 2701652"/>
              <a:gd name="connsiteY2" fmla="*/ 502825 h 502825"/>
              <a:gd name="connsiteX3" fmla="*/ 2198133 w 2701652"/>
              <a:gd name="connsiteY3" fmla="*/ 502825 h 502825"/>
            </a:gdLst>
            <a:ahLst/>
            <a:cxnLst>
              <a:cxn ang="0">
                <a:pos x="connsiteX0" y="connsiteY0"/>
              </a:cxn>
              <a:cxn ang="0">
                <a:pos x="connsiteX1" y="connsiteY1"/>
              </a:cxn>
              <a:cxn ang="0">
                <a:pos x="connsiteX2" y="connsiteY2"/>
              </a:cxn>
              <a:cxn ang="0">
                <a:pos x="connsiteX3" y="connsiteY3"/>
              </a:cxn>
            </a:cxnLst>
            <a:rect l="l" t="t" r="r" b="b"/>
            <a:pathLst>
              <a:path w="2701652" h="502825">
                <a:moveTo>
                  <a:pt x="2701652" y="0"/>
                </a:moveTo>
                <a:lnTo>
                  <a:pt x="0" y="0"/>
                </a:lnTo>
                <a:lnTo>
                  <a:pt x="0" y="502825"/>
                </a:lnTo>
                <a:lnTo>
                  <a:pt x="2198133" y="502825"/>
                </a:lnTo>
                <a:close/>
              </a:path>
            </a:pathLst>
          </a:custGeom>
          <a:solidFill>
            <a:srgbClr val="376092"/>
          </a:solidFill>
          <a:ln w="12700" cap="flat" cmpd="sng" algn="ctr">
            <a:noFill/>
            <a:prstDash val="solid"/>
            <a:miter lim="800000"/>
          </a:ln>
          <a:effectLst/>
        </p:spPr>
        <p:txBody>
          <a:bodyPr rtlCol="0" anchor="ctr"/>
          <a:lstStyle/>
          <a:p>
            <a:pPr algn="ctr" defTabSz="1219170">
              <a:defRPr/>
            </a:pPr>
            <a:endParaRPr lang="zh-CN" altLang="en-US" sz="2400" kern="0">
              <a:solidFill>
                <a:prstClr val="white"/>
              </a:solidFill>
              <a:latin typeface="Arial"/>
              <a:ea typeface="微软雅黑"/>
            </a:endParaRPr>
          </a:p>
        </p:txBody>
      </p:sp>
      <p:sp>
        <p:nvSpPr>
          <p:cNvPr id="6" name="任意多边形 20">
            <a:extLst>
              <a:ext uri="{FF2B5EF4-FFF2-40B4-BE49-F238E27FC236}">
                <a16:creationId xmlns:a16="http://schemas.microsoft.com/office/drawing/2014/main" id="{33FA6ABB-FA9A-4922-B3B3-64D74697CA17}"/>
              </a:ext>
            </a:extLst>
          </p:cNvPr>
          <p:cNvSpPr/>
          <p:nvPr userDrawn="1"/>
        </p:nvSpPr>
        <p:spPr>
          <a:xfrm>
            <a:off x="9145704" y="-2169"/>
            <a:ext cx="869552" cy="535569"/>
          </a:xfrm>
          <a:custGeom>
            <a:avLst/>
            <a:gdLst>
              <a:gd name="connsiteX0" fmla="*/ 15986 w 683098"/>
              <a:gd name="connsiteY0" fmla="*/ 0 h 420730"/>
              <a:gd name="connsiteX1" fmla="*/ 667112 w 683098"/>
              <a:gd name="connsiteY1" fmla="*/ 0 h 420730"/>
              <a:gd name="connsiteX2" fmla="*/ 683098 w 683098"/>
              <a:gd name="connsiteY2" fmla="*/ 79181 h 420730"/>
              <a:gd name="connsiteX3" fmla="*/ 341549 w 683098"/>
              <a:gd name="connsiteY3" fmla="*/ 420730 h 420730"/>
              <a:gd name="connsiteX4" fmla="*/ 0 w 683098"/>
              <a:gd name="connsiteY4" fmla="*/ 79181 h 420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098" h="420730">
                <a:moveTo>
                  <a:pt x="15986" y="0"/>
                </a:moveTo>
                <a:lnTo>
                  <a:pt x="667112" y="0"/>
                </a:lnTo>
                <a:lnTo>
                  <a:pt x="683098" y="79181"/>
                </a:lnTo>
                <a:cubicBezTo>
                  <a:pt x="683098" y="267813"/>
                  <a:pt x="530181" y="420730"/>
                  <a:pt x="341549" y="420730"/>
                </a:cubicBezTo>
                <a:cubicBezTo>
                  <a:pt x="152917" y="420730"/>
                  <a:pt x="0" y="267813"/>
                  <a:pt x="0" y="79181"/>
                </a:cubicBezTo>
                <a:close/>
              </a:path>
            </a:pathLst>
          </a:custGeom>
          <a:solidFill>
            <a:srgbClr val="FFFFFF">
              <a:alpha val="5098"/>
            </a:srgbClr>
          </a:solidFill>
          <a:ln w="12700" cap="flat" cmpd="sng" algn="ctr">
            <a:noFill/>
            <a:prstDash val="solid"/>
            <a:miter lim="800000"/>
          </a:ln>
          <a:effectLst/>
        </p:spPr>
        <p:txBody>
          <a:bodyPr rtlCol="0" anchor="ctr"/>
          <a:lstStyle/>
          <a:p>
            <a:pPr algn="ctr" defTabSz="1219170">
              <a:defRPr/>
            </a:pPr>
            <a:endParaRPr lang="zh-CN" altLang="en-US" sz="2400" kern="0">
              <a:solidFill>
                <a:prstClr val="white"/>
              </a:solidFill>
              <a:latin typeface="Arial"/>
              <a:ea typeface="微软雅黑"/>
            </a:endParaRPr>
          </a:p>
        </p:txBody>
      </p:sp>
      <p:sp>
        <p:nvSpPr>
          <p:cNvPr id="7" name="任意多边形 21">
            <a:extLst>
              <a:ext uri="{FF2B5EF4-FFF2-40B4-BE49-F238E27FC236}">
                <a16:creationId xmlns:a16="http://schemas.microsoft.com/office/drawing/2014/main" id="{E09C2194-5739-4436-86DF-91E633A25648}"/>
              </a:ext>
            </a:extLst>
          </p:cNvPr>
          <p:cNvSpPr/>
          <p:nvPr userDrawn="1"/>
        </p:nvSpPr>
        <p:spPr>
          <a:xfrm>
            <a:off x="9711555" y="-2169"/>
            <a:ext cx="741135" cy="192229"/>
          </a:xfrm>
          <a:custGeom>
            <a:avLst/>
            <a:gdLst>
              <a:gd name="connsiteX0" fmla="*/ 0 w 555851"/>
              <a:gd name="connsiteY0" fmla="*/ 0 h 144172"/>
              <a:gd name="connsiteX1" fmla="*/ 555851 w 555851"/>
              <a:gd name="connsiteY1" fmla="*/ 0 h 144172"/>
              <a:gd name="connsiteX2" fmla="*/ 519437 w 555851"/>
              <a:gd name="connsiteY2" fmla="*/ 44135 h 144172"/>
              <a:gd name="connsiteX3" fmla="*/ 277925 w 555851"/>
              <a:gd name="connsiteY3" fmla="*/ 144172 h 144172"/>
              <a:gd name="connsiteX4" fmla="*/ 36414 w 555851"/>
              <a:gd name="connsiteY4" fmla="*/ 44135 h 1441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5851" h="144172">
                <a:moveTo>
                  <a:pt x="0" y="0"/>
                </a:moveTo>
                <a:lnTo>
                  <a:pt x="555851" y="0"/>
                </a:lnTo>
                <a:lnTo>
                  <a:pt x="519437" y="44135"/>
                </a:lnTo>
                <a:cubicBezTo>
                  <a:pt x="457629" y="105943"/>
                  <a:pt x="372241" y="144172"/>
                  <a:pt x="277925" y="144172"/>
                </a:cubicBezTo>
                <a:cubicBezTo>
                  <a:pt x="183609" y="144172"/>
                  <a:pt x="98222" y="105943"/>
                  <a:pt x="36414" y="44135"/>
                </a:cubicBezTo>
                <a:close/>
              </a:path>
            </a:pathLst>
          </a:custGeom>
          <a:solidFill>
            <a:srgbClr val="FFFFFF">
              <a:alpha val="5098"/>
            </a:srgbClr>
          </a:solidFill>
          <a:ln w="12700" cap="flat" cmpd="sng" algn="ctr">
            <a:noFill/>
            <a:prstDash val="solid"/>
            <a:miter lim="800000"/>
          </a:ln>
          <a:effectLst/>
        </p:spPr>
        <p:txBody>
          <a:bodyPr rtlCol="0" anchor="ctr"/>
          <a:lstStyle/>
          <a:p>
            <a:pPr algn="ctr" defTabSz="1219170">
              <a:defRPr/>
            </a:pPr>
            <a:endParaRPr lang="zh-CN" altLang="en-US" sz="2400" kern="0">
              <a:solidFill>
                <a:prstClr val="white"/>
              </a:solidFill>
              <a:latin typeface="Arial"/>
              <a:ea typeface="微软雅黑"/>
            </a:endParaRPr>
          </a:p>
        </p:txBody>
      </p:sp>
      <p:pic>
        <p:nvPicPr>
          <p:cNvPr id="9" name="图片 8">
            <a:extLst>
              <a:ext uri="{FF2B5EF4-FFF2-40B4-BE49-F238E27FC236}">
                <a16:creationId xmlns:a16="http://schemas.microsoft.com/office/drawing/2014/main" id="{73623EA4-78E4-496E-BCD0-6BA0F5A8C6C5}"/>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63102" y="17786"/>
            <a:ext cx="2279965" cy="813013"/>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9620558-5325-4CFD-AFD0-B6863C016BE7}" type="datetimeFigureOut">
              <a:rPr lang="zh-CN" altLang="en-US" smtClean="0"/>
              <a:t>2025/10/10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C4A6431-AF6F-4770-94EC-EB1259D505DA}" type="slidenum">
              <a:rPr lang="zh-CN" altLang="en-US" smtClean="0"/>
              <a:t>‹#›</a:t>
            </a:fld>
            <a:endParaRPr lang="zh-CN" altLang="en-US"/>
          </a:p>
        </p:txBody>
      </p:sp>
    </p:spTree>
    <p:extLst>
      <p:ext uri="{BB962C8B-B14F-4D97-AF65-F5344CB8AC3E}">
        <p14:creationId xmlns:p14="http://schemas.microsoft.com/office/powerpoint/2010/main" val="216470688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620558-5325-4CFD-AFD0-B6863C016BE7}" type="datetimeFigureOut">
              <a:rPr lang="zh-CN" altLang="en-US" smtClean="0"/>
              <a:t>2025/10/10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4A6431-AF6F-4770-94EC-EB1259D505DA}"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7"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notesSlide" Target="../notesSlides/notesSlide1.xml"/><Relationship Id="rId7" Type="http://schemas.openxmlformats.org/officeDocument/2006/relationships/image" Target="../media/image5.jpeg"/><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9.jpg"/><Relationship Id="rId1" Type="http://schemas.openxmlformats.org/officeDocument/2006/relationships/slideLayout" Target="../slideLayouts/slideLayout1.xml"/><Relationship Id="rId4" Type="http://schemas.openxmlformats.org/officeDocument/2006/relationships/image" Target="../media/image10.jp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jpg"/><Relationship Id="rId5" Type="http://schemas.openxmlformats.org/officeDocument/2006/relationships/image" Target="../media/image11.jpeg"/><Relationship Id="rId4" Type="http://schemas.openxmlformats.org/officeDocument/2006/relationships/image" Target="../media/image10.jpg"/></Relationships>
</file>

<file path=ppt/slides/_rels/slide7.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14.png"/><Relationship Id="rId7" Type="http://schemas.openxmlformats.org/officeDocument/2006/relationships/image" Target="../media/image14.jpeg"/><Relationship Id="rId2" Type="http://schemas.openxmlformats.org/officeDocument/2006/relationships/image" Target="../media/image12.jpeg"/><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3.png"/><Relationship Id="rId10" Type="http://schemas.openxmlformats.org/officeDocument/2006/relationships/image" Target="../media/image15.jpeg"/><Relationship Id="rId4" Type="http://schemas.openxmlformats.org/officeDocument/2006/relationships/image" Target="../media/image15.png"/><Relationship Id="rId9" Type="http://schemas.openxmlformats.org/officeDocument/2006/relationships/image" Target="NUL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6.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0.jpg"/><Relationship Id="rId7"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1.xml"/><Relationship Id="rId6" Type="http://schemas.openxmlformats.org/officeDocument/2006/relationships/image" Target="../media/image23.jpeg"/><Relationship Id="rId5" Type="http://schemas.openxmlformats.org/officeDocument/2006/relationships/image" Target="../media/image22.jpeg"/><Relationship Id="rId4" Type="http://schemas.openxmlformats.org/officeDocument/2006/relationships/image" Target="../media/image21.jpeg"/></Relationships>
</file>

<file path=ppt/slides/_rels/slide12.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7.svg"/><Relationship Id="rId18" Type="http://schemas.openxmlformats.org/officeDocument/2006/relationships/image" Target="../media/image45.png"/><Relationship Id="rId3" Type="http://schemas.openxmlformats.org/officeDocument/2006/relationships/image" Target="../media/image26.svg"/><Relationship Id="rId7" Type="http://schemas.openxmlformats.org/officeDocument/2006/relationships/image" Target="../media/image31.svg"/><Relationship Id="rId12" Type="http://schemas.openxmlformats.org/officeDocument/2006/relationships/image" Target="../media/image36.png"/><Relationship Id="rId17" Type="http://schemas.openxmlformats.org/officeDocument/2006/relationships/image" Target="../media/image44.png"/><Relationship Id="rId2" Type="http://schemas.openxmlformats.org/officeDocument/2006/relationships/image" Target="../media/image25.png"/><Relationship Id="rId16" Type="http://schemas.openxmlformats.org/officeDocument/2006/relationships/image" Target="../media/image43.png"/><Relationship Id="rId1" Type="http://schemas.openxmlformats.org/officeDocument/2006/relationships/slideLayout" Target="../slideLayouts/slideLayout1.xml"/><Relationship Id="rId6" Type="http://schemas.openxmlformats.org/officeDocument/2006/relationships/image" Target="../media/image30.png"/><Relationship Id="rId11" Type="http://schemas.openxmlformats.org/officeDocument/2006/relationships/image" Target="../media/image35.svg"/><Relationship Id="rId5" Type="http://schemas.openxmlformats.org/officeDocument/2006/relationships/image" Target="../media/image28.svg"/><Relationship Id="rId15" Type="http://schemas.openxmlformats.org/officeDocument/2006/relationships/image" Target="../media/image42.png"/><Relationship Id="rId10" Type="http://schemas.openxmlformats.org/officeDocument/2006/relationships/image" Target="../media/image34.png"/><Relationship Id="rId19" Type="http://schemas.openxmlformats.org/officeDocument/2006/relationships/image" Target="../media/image46.png"/><Relationship Id="rId4" Type="http://schemas.openxmlformats.org/officeDocument/2006/relationships/image" Target="../media/image27.png"/><Relationship Id="rId9" Type="http://schemas.openxmlformats.org/officeDocument/2006/relationships/image" Target="../media/image33.svg"/><Relationship Id="rId14" Type="http://schemas.openxmlformats.org/officeDocument/2006/relationships/image" Target="../media/image41.png"/></Relationships>
</file>

<file path=ppt/slides/_rels/slide14.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image" Target="../media/image32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image" Target="../media/image34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40.emf"/><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NUL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1.xml"/><Relationship Id="rId5" Type="http://schemas.openxmlformats.org/officeDocument/2006/relationships/image" Target="../media/image41.jpeg"/><Relationship Id="rId4" Type="http://schemas.openxmlformats.org/officeDocument/2006/relationships/image" Target="NULL"/></Relationships>
</file>

<file path=ppt/slides/_rels/slide19.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openxmlformats.org/officeDocument/2006/relationships/image" Target="../media/image49.jpeg"/><Relationship Id="rId3" Type="http://schemas.openxmlformats.org/officeDocument/2006/relationships/image" Target="../media/image44.jpg"/><Relationship Id="rId7" Type="http://schemas.openxmlformats.org/officeDocument/2006/relationships/image" Target="../media/image48.jpeg"/><Relationship Id="rId2" Type="http://schemas.openxmlformats.org/officeDocument/2006/relationships/image" Target="../media/image43.jpg"/><Relationship Id="rId1" Type="http://schemas.openxmlformats.org/officeDocument/2006/relationships/slideLayout" Target="../slideLayouts/slideLayout1.xml"/><Relationship Id="rId6" Type="http://schemas.openxmlformats.org/officeDocument/2006/relationships/image" Target="../media/image47.jpeg"/><Relationship Id="rId5" Type="http://schemas.openxmlformats.org/officeDocument/2006/relationships/image" Target="../media/image46.jpg"/><Relationship Id="rId4" Type="http://schemas.openxmlformats.org/officeDocument/2006/relationships/image" Target="../media/image45.jpg"/><Relationship Id="rId9" Type="http://schemas.openxmlformats.org/officeDocument/2006/relationships/image" Target="../media/image50.jpeg"/></Relationships>
</file>

<file path=ppt/slides/_rels/slide21.xml.rels><?xml version="1.0" encoding="UTF-8" standalone="yes"?>
<Relationships xmlns="http://schemas.openxmlformats.org/package/2006/relationships"><Relationship Id="rId2" Type="http://schemas.openxmlformats.org/officeDocument/2006/relationships/image" Target="../media/image51.jp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0.jp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53.emf"/><Relationship Id="rId5" Type="http://schemas.openxmlformats.org/officeDocument/2006/relationships/image" Target="../media/image52.png"/><Relationship Id="rId4" Type="http://schemas.openxmlformats.org/officeDocument/2006/relationships/image" Target="../media/image52.jpg"/></Relationships>
</file>

<file path=ppt/slides/_rels/slide2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1.xml"/><Relationship Id="rId4" Type="http://schemas.openxmlformats.org/officeDocument/2006/relationships/image" Target="../media/image56.png"/></Relationships>
</file>

<file path=ppt/slides/_rels/slide26.xml.rels><?xml version="1.0" encoding="UTF-8" standalone="yes"?>
<Relationships xmlns="http://schemas.openxmlformats.org/package/2006/relationships"><Relationship Id="rId8" Type="http://schemas.openxmlformats.org/officeDocument/2006/relationships/image" Target="../media/image450.png"/><Relationship Id="rId7" Type="http://schemas.openxmlformats.org/officeDocument/2006/relationships/image" Target="../media/image440.png"/><Relationship Id="rId2" Type="http://schemas.openxmlformats.org/officeDocument/2006/relationships/image" Target="../media/image14.jpeg"/><Relationship Id="rId1" Type="http://schemas.openxmlformats.org/officeDocument/2006/relationships/slideLayout" Target="../slideLayouts/slideLayout1.xml"/><Relationship Id="rId6" Type="http://schemas.openxmlformats.org/officeDocument/2006/relationships/image" Target="../media/image54.jpeg"/><Relationship Id="rId5" Type="http://schemas.openxmlformats.org/officeDocument/2006/relationships/image" Target="../media/image420.png"/><Relationship Id="rId4" Type="http://schemas.openxmlformats.org/officeDocument/2006/relationships/image" Target="../media/image410.png"/><Relationship Id="rId9" Type="http://schemas.openxmlformats.org/officeDocument/2006/relationships/image" Target="../media/image55.emf"/></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8" Type="http://schemas.openxmlformats.org/officeDocument/2006/relationships/image" Target="../media/image61.jpeg"/><Relationship Id="rId3" Type="http://schemas.openxmlformats.org/officeDocument/2006/relationships/image" Target="../media/image56.jpeg"/><Relationship Id="rId7" Type="http://schemas.openxmlformats.org/officeDocument/2006/relationships/image" Target="../media/image60.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59.png"/><Relationship Id="rId5" Type="http://schemas.openxmlformats.org/officeDocument/2006/relationships/image" Target="../media/image58.jpeg"/><Relationship Id="rId4" Type="http://schemas.openxmlformats.org/officeDocument/2006/relationships/image" Target="../media/image57.jpeg"/><Relationship Id="rId9" Type="http://schemas.openxmlformats.org/officeDocument/2006/relationships/image" Target="../media/image62.jpeg"/></Relationships>
</file>

<file path=ppt/slides/_rels/slide31.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8" Type="http://schemas.openxmlformats.org/officeDocument/2006/relationships/customXml" Target="../ink/ink1.xml"/><Relationship Id="rId3" Type="http://schemas.openxmlformats.org/officeDocument/2006/relationships/image" Target="../media/image190.png"/><Relationship Id="rId7" Type="http://schemas.openxmlformats.org/officeDocument/2006/relationships/image" Target="../media/image240.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20.png"/><Relationship Id="rId5" Type="http://schemas.openxmlformats.org/officeDocument/2006/relationships/image" Target="../media/image210.png"/><Relationship Id="rId4" Type="http://schemas.openxmlformats.org/officeDocument/2006/relationships/image" Target="../media/image20.jpg"/><Relationship Id="rId9" Type="http://schemas.openxmlformats.org/officeDocument/2006/relationships/image" Target="../media/image262.png"/></Relationships>
</file>

<file path=ppt/slides/_rels/slide34.xml.rels><?xml version="1.0" encoding="UTF-8" standalone="yes"?>
<Relationships xmlns="http://schemas.openxmlformats.org/package/2006/relationships"><Relationship Id="rId8" Type="http://schemas.openxmlformats.org/officeDocument/2006/relationships/image" Target="../media/image331.png"/><Relationship Id="rId3" Type="http://schemas.openxmlformats.org/officeDocument/2006/relationships/image" Target="../media/image261.png"/><Relationship Id="rId2" Type="http://schemas.openxmlformats.org/officeDocument/2006/relationships/image" Target="../media/image280.png"/><Relationship Id="rId1" Type="http://schemas.openxmlformats.org/officeDocument/2006/relationships/slideLayout" Target="../slideLayouts/slideLayout1.xml"/><Relationship Id="rId5" Type="http://schemas.openxmlformats.org/officeDocument/2006/relationships/image" Target="../media/image300.png"/><Relationship Id="rId4" Type="http://schemas.openxmlformats.org/officeDocument/2006/relationships/image" Target="../media/image290.png"/></Relationships>
</file>

<file path=ppt/slides/_rels/slide35.xml.rels><?xml version="1.0" encoding="UTF-8" standalone="yes"?>
<Relationships xmlns="http://schemas.openxmlformats.org/package/2006/relationships"><Relationship Id="rId8" Type="http://schemas.openxmlformats.org/officeDocument/2006/relationships/image" Target="../media/image350.png"/><Relationship Id="rId13" Type="http://schemas.openxmlformats.org/officeDocument/2006/relationships/image" Target="../media/image310.png"/><Relationship Id="rId3" Type="http://schemas.openxmlformats.org/officeDocument/2006/relationships/image" Target="../media/image201.png"/><Relationship Id="rId7" Type="http://schemas.openxmlformats.org/officeDocument/2006/relationships/image" Target="../media/image330.png"/><Relationship Id="rId12" Type="http://schemas.openxmlformats.org/officeDocument/2006/relationships/image" Target="../media/image390.png"/><Relationship Id="rId17" Type="http://schemas.openxmlformats.org/officeDocument/2006/relationships/image" Target="../media/image64.png"/><Relationship Id="rId2" Type="http://schemas.openxmlformats.org/officeDocument/2006/relationships/notesSlide" Target="../notesSlides/notesSlide13.xml"/><Relationship Id="rId16" Type="http://schemas.openxmlformats.org/officeDocument/2006/relationships/customXml" Target="../ink/ink3.xml"/><Relationship Id="rId1" Type="http://schemas.openxmlformats.org/officeDocument/2006/relationships/slideLayout" Target="../slideLayouts/slideLayout1.xml"/><Relationship Id="rId6" Type="http://schemas.openxmlformats.org/officeDocument/2006/relationships/image" Target="../media/image320.png"/><Relationship Id="rId11" Type="http://schemas.openxmlformats.org/officeDocument/2006/relationships/image" Target="../media/image38.png"/><Relationship Id="rId5" Type="http://schemas.openxmlformats.org/officeDocument/2006/relationships/image" Target="../media/image200.png"/><Relationship Id="rId15" Type="http://schemas.openxmlformats.org/officeDocument/2006/relationships/image" Target="../media/image63.png"/><Relationship Id="rId10" Type="http://schemas.openxmlformats.org/officeDocument/2006/relationships/image" Target="../media/image370.png"/><Relationship Id="rId4" Type="http://schemas.openxmlformats.org/officeDocument/2006/relationships/image" Target="../media/image20.jpg"/><Relationship Id="rId9" Type="http://schemas.openxmlformats.org/officeDocument/2006/relationships/image" Target="../media/image340.png"/><Relationship Id="rId14" Type="http://schemas.openxmlformats.org/officeDocument/2006/relationships/customXml" Target="../ink/ink2.xml"/></Relationships>
</file>

<file path=ppt/slides/_rels/slide36.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8" Type="http://schemas.openxmlformats.org/officeDocument/2006/relationships/image" Target="../media/image490.png"/><Relationship Id="rId13" Type="http://schemas.openxmlformats.org/officeDocument/2006/relationships/image" Target="../media/image51.png"/><Relationship Id="rId18" Type="http://schemas.openxmlformats.org/officeDocument/2006/relationships/image" Target="../media/image66.png"/><Relationship Id="rId26" Type="http://schemas.openxmlformats.org/officeDocument/2006/relationships/image" Target="../media/image71.png"/><Relationship Id="rId3" Type="http://schemas.openxmlformats.org/officeDocument/2006/relationships/image" Target="../media/image430.png"/><Relationship Id="rId21" Type="http://schemas.openxmlformats.org/officeDocument/2006/relationships/customXml" Target="../ink/ink7.xml"/><Relationship Id="rId12" Type="http://schemas.openxmlformats.org/officeDocument/2006/relationships/image" Target="../media/image20.jpg"/><Relationship Id="rId7" Type="http://schemas.openxmlformats.org/officeDocument/2006/relationships/image" Target="../media/image48.png"/><Relationship Id="rId17" Type="http://schemas.openxmlformats.org/officeDocument/2006/relationships/customXml" Target="../ink/ink5.xml"/><Relationship Id="rId25" Type="http://schemas.openxmlformats.org/officeDocument/2006/relationships/customXml" Target="../ink/ink9.xml"/><Relationship Id="rId2" Type="http://schemas.openxmlformats.org/officeDocument/2006/relationships/notesSlide" Target="../notesSlides/notesSlide14.xml"/><Relationship Id="rId16" Type="http://schemas.openxmlformats.org/officeDocument/2006/relationships/image" Target="../media/image65.png"/><Relationship Id="rId20" Type="http://schemas.openxmlformats.org/officeDocument/2006/relationships/image" Target="../media/image67.png"/><Relationship Id="rId1" Type="http://schemas.openxmlformats.org/officeDocument/2006/relationships/slideLayout" Target="../slideLayouts/slideLayout1.xml"/><Relationship Id="rId11" Type="http://schemas.openxmlformats.org/officeDocument/2006/relationships/image" Target="../media/image520.png"/><Relationship Id="rId6" Type="http://schemas.openxmlformats.org/officeDocument/2006/relationships/image" Target="../media/image470.png"/><Relationship Id="rId24" Type="http://schemas.openxmlformats.org/officeDocument/2006/relationships/image" Target="../media/image70.png"/><Relationship Id="rId5" Type="http://schemas.openxmlformats.org/officeDocument/2006/relationships/image" Target="../media/image47.png"/><Relationship Id="rId15" Type="http://schemas.openxmlformats.org/officeDocument/2006/relationships/customXml" Target="../ink/ink4.xml"/><Relationship Id="rId23" Type="http://schemas.openxmlformats.org/officeDocument/2006/relationships/customXml" Target="../ink/ink8.xml"/><Relationship Id="rId19" Type="http://schemas.openxmlformats.org/officeDocument/2006/relationships/customXml" Target="../ink/ink6.xml"/><Relationship Id="rId4" Type="http://schemas.openxmlformats.org/officeDocument/2006/relationships/image" Target="../media/image460.png"/><Relationship Id="rId9" Type="http://schemas.openxmlformats.org/officeDocument/2006/relationships/image" Target="../media/image500.png"/><Relationship Id="rId14" Type="http://schemas.openxmlformats.org/officeDocument/2006/relationships/image" Target="../media/image53.png"/><Relationship Id="rId22" Type="http://schemas.openxmlformats.org/officeDocument/2006/relationships/image" Target="../media/image69.png"/></Relationships>
</file>

<file path=ppt/slides/_rels/slide38.xml.rels><?xml version="1.0" encoding="UTF-8" standalone="yes"?>
<Relationships xmlns="http://schemas.openxmlformats.org/package/2006/relationships"><Relationship Id="rId13" Type="http://schemas.openxmlformats.org/officeDocument/2006/relationships/image" Target="../media/image590.png"/><Relationship Id="rId8" Type="http://schemas.openxmlformats.org/officeDocument/2006/relationships/image" Target="../media/image490.png"/><Relationship Id="rId18" Type="http://schemas.openxmlformats.org/officeDocument/2006/relationships/image" Target="../media/image620.png"/><Relationship Id="rId26" Type="http://schemas.openxmlformats.org/officeDocument/2006/relationships/image" Target="../media/image700.png"/><Relationship Id="rId3" Type="http://schemas.openxmlformats.org/officeDocument/2006/relationships/image" Target="../media/image540.png"/><Relationship Id="rId21" Type="http://schemas.openxmlformats.org/officeDocument/2006/relationships/image" Target="../media/image650.png"/><Relationship Id="rId7" Type="http://schemas.openxmlformats.org/officeDocument/2006/relationships/image" Target="../media/image48.png"/><Relationship Id="rId17" Type="http://schemas.openxmlformats.org/officeDocument/2006/relationships/image" Target="../media/image58.png"/><Relationship Id="rId25" Type="http://schemas.openxmlformats.org/officeDocument/2006/relationships/image" Target="../media/image690.png"/><Relationship Id="rId2" Type="http://schemas.openxmlformats.org/officeDocument/2006/relationships/notesSlide" Target="../notesSlides/notesSlide15.xml"/><Relationship Id="rId16" Type="http://schemas.openxmlformats.org/officeDocument/2006/relationships/image" Target="../media/image20.jpg"/><Relationship Id="rId20" Type="http://schemas.openxmlformats.org/officeDocument/2006/relationships/image" Target="../media/image640.png"/><Relationship Id="rId1" Type="http://schemas.openxmlformats.org/officeDocument/2006/relationships/slideLayout" Target="../slideLayouts/slideLayout1.xml"/><Relationship Id="rId11" Type="http://schemas.openxmlformats.org/officeDocument/2006/relationships/image" Target="../media/image570.png"/><Relationship Id="rId6" Type="http://schemas.openxmlformats.org/officeDocument/2006/relationships/image" Target="../media/image470.png"/><Relationship Id="rId24" Type="http://schemas.openxmlformats.org/officeDocument/2006/relationships/image" Target="../media/image680.png"/><Relationship Id="rId15" Type="http://schemas.openxmlformats.org/officeDocument/2006/relationships/image" Target="../media/image61.png"/><Relationship Id="rId23" Type="http://schemas.openxmlformats.org/officeDocument/2006/relationships/image" Target="../media/image670.png"/><Relationship Id="rId10" Type="http://schemas.openxmlformats.org/officeDocument/2006/relationships/image" Target="../media/image560.png"/><Relationship Id="rId19" Type="http://schemas.openxmlformats.org/officeDocument/2006/relationships/image" Target="../media/image630.png"/><Relationship Id="rId4" Type="http://schemas.openxmlformats.org/officeDocument/2006/relationships/image" Target="../media/image550.png"/><Relationship Id="rId14" Type="http://schemas.openxmlformats.org/officeDocument/2006/relationships/image" Target="../media/image600.png"/><Relationship Id="rId9" Type="http://schemas.openxmlformats.org/officeDocument/2006/relationships/image" Target="../media/image500.png"/><Relationship Id="rId22" Type="http://schemas.openxmlformats.org/officeDocument/2006/relationships/image" Target="../media/image660.png"/><Relationship Id="rId27" Type="http://schemas.openxmlformats.org/officeDocument/2006/relationships/image" Target="../media/image710.png"/></Relationships>
</file>

<file path=ppt/slides/_rels/slide39.xml.rels><?xml version="1.0" encoding="UTF-8" standalone="yes"?>
<Relationships xmlns="http://schemas.openxmlformats.org/package/2006/relationships"><Relationship Id="rId3" Type="http://schemas.openxmlformats.org/officeDocument/2006/relationships/image" Target="../media/image72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8" Type="http://schemas.openxmlformats.org/officeDocument/2006/relationships/image" Target="../media/image73.png"/><Relationship Id="rId13" Type="http://schemas.openxmlformats.org/officeDocument/2006/relationships/image" Target="../media/image770.png"/><Relationship Id="rId18" Type="http://schemas.openxmlformats.org/officeDocument/2006/relationships/image" Target="../media/image81.png"/><Relationship Id="rId3" Type="http://schemas.openxmlformats.org/officeDocument/2006/relationships/image" Target="../media/image72.png"/><Relationship Id="rId21" Type="http://schemas.openxmlformats.org/officeDocument/2006/relationships/image" Target="../media/image85.png"/><Relationship Id="rId7" Type="http://schemas.openxmlformats.org/officeDocument/2006/relationships/image" Target="../media/image48.png"/><Relationship Id="rId12" Type="http://schemas.openxmlformats.org/officeDocument/2006/relationships/image" Target="../media/image760.png"/><Relationship Id="rId17" Type="http://schemas.openxmlformats.org/officeDocument/2006/relationships/image" Target="../media/image80.png"/><Relationship Id="rId25" Type="http://schemas.openxmlformats.org/officeDocument/2006/relationships/image" Target="../media/image88.png"/><Relationship Id="rId2" Type="http://schemas.openxmlformats.org/officeDocument/2006/relationships/notesSlide" Target="../notesSlides/notesSlide17.xml"/><Relationship Id="rId16" Type="http://schemas.openxmlformats.org/officeDocument/2006/relationships/image" Target="../media/image79.png"/><Relationship Id="rId20" Type="http://schemas.openxmlformats.org/officeDocument/2006/relationships/image" Target="../media/image84.png"/><Relationship Id="rId1" Type="http://schemas.openxmlformats.org/officeDocument/2006/relationships/slideLayout" Target="../slideLayouts/slideLayout1.xml"/><Relationship Id="rId6" Type="http://schemas.openxmlformats.org/officeDocument/2006/relationships/image" Target="../media/image470.png"/><Relationship Id="rId11" Type="http://schemas.openxmlformats.org/officeDocument/2006/relationships/image" Target="../media/image75.png"/><Relationship Id="rId24" Type="http://schemas.openxmlformats.org/officeDocument/2006/relationships/image" Target="../media/image87.png"/><Relationship Id="rId15" Type="http://schemas.openxmlformats.org/officeDocument/2006/relationships/image" Target="../media/image790.png"/><Relationship Id="rId23" Type="http://schemas.openxmlformats.org/officeDocument/2006/relationships/image" Target="../media/image82.png"/><Relationship Id="rId10" Type="http://schemas.openxmlformats.org/officeDocument/2006/relationships/image" Target="../media/image740.png"/><Relationship Id="rId19" Type="http://schemas.openxmlformats.org/officeDocument/2006/relationships/image" Target="../media/image83.png"/><Relationship Id="rId4" Type="http://schemas.openxmlformats.org/officeDocument/2006/relationships/image" Target="../media/image20.jpg"/><Relationship Id="rId9" Type="http://schemas.openxmlformats.org/officeDocument/2006/relationships/image" Target="../media/image74.png"/><Relationship Id="rId14" Type="http://schemas.openxmlformats.org/officeDocument/2006/relationships/image" Target="../media/image780.png"/><Relationship Id="rId22" Type="http://schemas.openxmlformats.org/officeDocument/2006/relationships/image" Target="../media/image86.png"/></Relationships>
</file>

<file path=ppt/slides/_rels/slide41.xml.rels><?xml version="1.0" encoding="UTF-8" standalone="yes"?>
<Relationships xmlns="http://schemas.openxmlformats.org/package/2006/relationships"><Relationship Id="rId8" Type="http://schemas.openxmlformats.org/officeDocument/2006/relationships/image" Target="../media/image93.png"/><Relationship Id="rId3" Type="http://schemas.openxmlformats.org/officeDocument/2006/relationships/image" Target="../media/image880.png"/><Relationship Id="rId7" Type="http://schemas.openxmlformats.org/officeDocument/2006/relationships/image" Target="../media/image92.png"/><Relationship Id="rId2" Type="http://schemas.openxmlformats.org/officeDocument/2006/relationships/image" Target="../media/image870.png"/><Relationship Id="rId1" Type="http://schemas.openxmlformats.org/officeDocument/2006/relationships/slideLayout" Target="../slideLayouts/slideLayout1.xml"/><Relationship Id="rId6" Type="http://schemas.openxmlformats.org/officeDocument/2006/relationships/image" Target="../media/image91.png"/><Relationship Id="rId11" Type="http://schemas.openxmlformats.org/officeDocument/2006/relationships/image" Target="../media/image96.png"/><Relationship Id="rId5" Type="http://schemas.openxmlformats.org/officeDocument/2006/relationships/image" Target="../media/image90.png"/><Relationship Id="rId10" Type="http://schemas.openxmlformats.org/officeDocument/2006/relationships/image" Target="../media/image95.png"/><Relationship Id="rId4" Type="http://schemas.openxmlformats.org/officeDocument/2006/relationships/image" Target="../media/image890.png"/><Relationship Id="rId9" Type="http://schemas.openxmlformats.org/officeDocument/2006/relationships/image" Target="../media/image94.png"/></Relationships>
</file>

<file path=ppt/slides/_rels/slide42.xml.rels><?xml version="1.0" encoding="UTF-8" standalone="yes"?>
<Relationships xmlns="http://schemas.openxmlformats.org/package/2006/relationships"><Relationship Id="rId8" Type="http://schemas.openxmlformats.org/officeDocument/2006/relationships/image" Target="../media/image103.png"/><Relationship Id="rId3" Type="http://schemas.openxmlformats.org/officeDocument/2006/relationships/image" Target="../media/image98.png"/><Relationship Id="rId7" Type="http://schemas.openxmlformats.org/officeDocument/2006/relationships/image" Target="../media/image102.png"/><Relationship Id="rId2" Type="http://schemas.openxmlformats.org/officeDocument/2006/relationships/image" Target="../media/image97.png"/><Relationship Id="rId1" Type="http://schemas.openxmlformats.org/officeDocument/2006/relationships/slideLayout" Target="../slideLayouts/slideLayout1.xml"/><Relationship Id="rId6" Type="http://schemas.openxmlformats.org/officeDocument/2006/relationships/image" Target="../media/image101.png"/><Relationship Id="rId11" Type="http://schemas.openxmlformats.org/officeDocument/2006/relationships/image" Target="../media/image106.png"/><Relationship Id="rId5" Type="http://schemas.openxmlformats.org/officeDocument/2006/relationships/image" Target="../media/image100.png"/><Relationship Id="rId10" Type="http://schemas.openxmlformats.org/officeDocument/2006/relationships/image" Target="../media/image105.png"/><Relationship Id="rId4" Type="http://schemas.openxmlformats.org/officeDocument/2006/relationships/image" Target="../media/image99.png"/><Relationship Id="rId9" Type="http://schemas.openxmlformats.org/officeDocument/2006/relationships/image" Target="../media/image104.png"/></Relationships>
</file>

<file path=ppt/slides/_rels/slide43.xml.rels><?xml version="1.0" encoding="UTF-8" standalone="yes"?>
<Relationships xmlns="http://schemas.openxmlformats.org/package/2006/relationships"><Relationship Id="rId8" Type="http://schemas.openxmlformats.org/officeDocument/2006/relationships/image" Target="../media/image113.png"/><Relationship Id="rId13" Type="http://schemas.openxmlformats.org/officeDocument/2006/relationships/image" Target="../media/image118.png"/><Relationship Id="rId18" Type="http://schemas.openxmlformats.org/officeDocument/2006/relationships/image" Target="../media/image20.jpg"/><Relationship Id="rId3" Type="http://schemas.openxmlformats.org/officeDocument/2006/relationships/image" Target="../media/image108.png"/><Relationship Id="rId21" Type="http://schemas.openxmlformats.org/officeDocument/2006/relationships/image" Target="../media/image125.png"/><Relationship Id="rId7" Type="http://schemas.openxmlformats.org/officeDocument/2006/relationships/image" Target="../media/image112.png"/><Relationship Id="rId12" Type="http://schemas.openxmlformats.org/officeDocument/2006/relationships/image" Target="../media/image117.png"/><Relationship Id="rId17" Type="http://schemas.openxmlformats.org/officeDocument/2006/relationships/image" Target="../media/image122.png"/><Relationship Id="rId2" Type="http://schemas.openxmlformats.org/officeDocument/2006/relationships/image" Target="../media/image1070.png"/><Relationship Id="rId16" Type="http://schemas.openxmlformats.org/officeDocument/2006/relationships/image" Target="../media/image121.png"/><Relationship Id="rId20" Type="http://schemas.openxmlformats.org/officeDocument/2006/relationships/image" Target="../media/image124.png"/><Relationship Id="rId1" Type="http://schemas.openxmlformats.org/officeDocument/2006/relationships/slideLayout" Target="../slideLayouts/slideLayout1.xml"/><Relationship Id="rId6" Type="http://schemas.openxmlformats.org/officeDocument/2006/relationships/image" Target="../media/image111.png"/><Relationship Id="rId11" Type="http://schemas.openxmlformats.org/officeDocument/2006/relationships/image" Target="../media/image116.png"/><Relationship Id="rId5" Type="http://schemas.openxmlformats.org/officeDocument/2006/relationships/image" Target="../media/image110.png"/><Relationship Id="rId15" Type="http://schemas.openxmlformats.org/officeDocument/2006/relationships/image" Target="../media/image120.png"/><Relationship Id="rId10" Type="http://schemas.openxmlformats.org/officeDocument/2006/relationships/image" Target="../media/image115.png"/><Relationship Id="rId19" Type="http://schemas.openxmlformats.org/officeDocument/2006/relationships/image" Target="../media/image123.png"/><Relationship Id="rId4" Type="http://schemas.openxmlformats.org/officeDocument/2006/relationships/image" Target="../media/image109.png"/><Relationship Id="rId9" Type="http://schemas.openxmlformats.org/officeDocument/2006/relationships/image" Target="../media/image114.png"/><Relationship Id="rId14" Type="http://schemas.openxmlformats.org/officeDocument/2006/relationships/image" Target="../media/image119.png"/><Relationship Id="rId22" Type="http://schemas.openxmlformats.org/officeDocument/2006/relationships/image" Target="../media/image126.png"/></Relationships>
</file>

<file path=ppt/slides/_rels/slide44.xml.rels><?xml version="1.0" encoding="UTF-8" standalone="yes"?>
<Relationships xmlns="http://schemas.openxmlformats.org/package/2006/relationships"><Relationship Id="rId8" Type="http://schemas.openxmlformats.org/officeDocument/2006/relationships/image" Target="../media/image132.png"/><Relationship Id="rId13" Type="http://schemas.openxmlformats.org/officeDocument/2006/relationships/image" Target="../media/image137.png"/><Relationship Id="rId18" Type="http://schemas.openxmlformats.org/officeDocument/2006/relationships/image" Target="../media/image142.png"/><Relationship Id="rId3" Type="http://schemas.openxmlformats.org/officeDocument/2006/relationships/image" Target="../media/image127.png"/><Relationship Id="rId21" Type="http://schemas.openxmlformats.org/officeDocument/2006/relationships/image" Target="../media/image145.png"/><Relationship Id="rId7" Type="http://schemas.openxmlformats.org/officeDocument/2006/relationships/image" Target="../media/image131.png"/><Relationship Id="rId12" Type="http://schemas.openxmlformats.org/officeDocument/2006/relationships/image" Target="../media/image136.png"/><Relationship Id="rId17" Type="http://schemas.openxmlformats.org/officeDocument/2006/relationships/image" Target="../media/image141.png"/><Relationship Id="rId25" Type="http://schemas.openxmlformats.org/officeDocument/2006/relationships/image" Target="../media/image149.png"/><Relationship Id="rId2" Type="http://schemas.openxmlformats.org/officeDocument/2006/relationships/image" Target="../media/image20.jpg"/><Relationship Id="rId16" Type="http://schemas.openxmlformats.org/officeDocument/2006/relationships/image" Target="../media/image140.png"/><Relationship Id="rId20" Type="http://schemas.openxmlformats.org/officeDocument/2006/relationships/image" Target="../media/image144.png"/><Relationship Id="rId1" Type="http://schemas.openxmlformats.org/officeDocument/2006/relationships/slideLayout" Target="../slideLayouts/slideLayout1.xml"/><Relationship Id="rId6" Type="http://schemas.openxmlformats.org/officeDocument/2006/relationships/image" Target="../media/image130.png"/><Relationship Id="rId11" Type="http://schemas.openxmlformats.org/officeDocument/2006/relationships/image" Target="../media/image135.png"/><Relationship Id="rId24" Type="http://schemas.openxmlformats.org/officeDocument/2006/relationships/image" Target="../media/image148.png"/><Relationship Id="rId5" Type="http://schemas.openxmlformats.org/officeDocument/2006/relationships/image" Target="../media/image129.png"/><Relationship Id="rId15" Type="http://schemas.openxmlformats.org/officeDocument/2006/relationships/image" Target="../media/image139.png"/><Relationship Id="rId23" Type="http://schemas.openxmlformats.org/officeDocument/2006/relationships/image" Target="../media/image147.png"/><Relationship Id="rId10" Type="http://schemas.openxmlformats.org/officeDocument/2006/relationships/image" Target="../media/image134.png"/><Relationship Id="rId19" Type="http://schemas.openxmlformats.org/officeDocument/2006/relationships/image" Target="../media/image143.png"/><Relationship Id="rId4" Type="http://schemas.openxmlformats.org/officeDocument/2006/relationships/image" Target="../media/image128.png"/><Relationship Id="rId9" Type="http://schemas.openxmlformats.org/officeDocument/2006/relationships/image" Target="../media/image133.png"/><Relationship Id="rId14" Type="http://schemas.openxmlformats.org/officeDocument/2006/relationships/image" Target="../media/image138.png"/><Relationship Id="rId22" Type="http://schemas.openxmlformats.org/officeDocument/2006/relationships/image" Target="../media/image146.png"/></Relationships>
</file>

<file path=ppt/slides/_rels/slide45.xml.rels><?xml version="1.0" encoding="UTF-8" standalone="yes"?>
<Relationships xmlns="http://schemas.openxmlformats.org/package/2006/relationships"><Relationship Id="rId8" Type="http://schemas.openxmlformats.org/officeDocument/2006/relationships/image" Target="../media/image263.png"/><Relationship Id="rId13" Type="http://schemas.openxmlformats.org/officeDocument/2006/relationships/image" Target="../media/image160.png"/><Relationship Id="rId18" Type="http://schemas.openxmlformats.org/officeDocument/2006/relationships/image" Target="../media/image165.png"/><Relationship Id="rId26" Type="http://schemas.openxmlformats.org/officeDocument/2006/relationships/image" Target="../media/image172.png"/><Relationship Id="rId3" Type="http://schemas.openxmlformats.org/officeDocument/2006/relationships/image" Target="../media/image150.png"/><Relationship Id="rId21" Type="http://schemas.openxmlformats.org/officeDocument/2006/relationships/image" Target="../media/image168.png"/><Relationship Id="rId7" Type="http://schemas.openxmlformats.org/officeDocument/2006/relationships/image" Target="../media/image154.png"/><Relationship Id="rId12" Type="http://schemas.openxmlformats.org/officeDocument/2006/relationships/image" Target="../media/image159.png"/><Relationship Id="rId17" Type="http://schemas.openxmlformats.org/officeDocument/2006/relationships/image" Target="../media/image155.png"/><Relationship Id="rId25" Type="http://schemas.openxmlformats.org/officeDocument/2006/relationships/image" Target="../media/image164.png"/><Relationship Id="rId2" Type="http://schemas.openxmlformats.org/officeDocument/2006/relationships/notesSlide" Target="../notesSlides/notesSlide18.xml"/><Relationship Id="rId16" Type="http://schemas.openxmlformats.org/officeDocument/2006/relationships/image" Target="../media/image360.png"/><Relationship Id="rId1" Type="http://schemas.openxmlformats.org/officeDocument/2006/relationships/slideLayout" Target="../slideLayouts/slideLayout1.xml"/><Relationship Id="rId6" Type="http://schemas.openxmlformats.org/officeDocument/2006/relationships/image" Target="../media/image153.png"/><Relationship Id="rId11" Type="http://schemas.openxmlformats.org/officeDocument/2006/relationships/image" Target="../media/image158.png"/><Relationship Id="rId24" Type="http://schemas.openxmlformats.org/officeDocument/2006/relationships/image" Target="../media/image163.png"/><Relationship Id="rId5" Type="http://schemas.openxmlformats.org/officeDocument/2006/relationships/image" Target="../media/image152.png"/><Relationship Id="rId15" Type="http://schemas.openxmlformats.org/officeDocument/2006/relationships/image" Target="../media/image321.png"/><Relationship Id="rId23" Type="http://schemas.openxmlformats.org/officeDocument/2006/relationships/image" Target="../media/image162.png"/><Relationship Id="rId28" Type="http://schemas.openxmlformats.org/officeDocument/2006/relationships/image" Target="../media/image166.png"/><Relationship Id="rId10" Type="http://schemas.openxmlformats.org/officeDocument/2006/relationships/image" Target="../media/image157.png"/><Relationship Id="rId19" Type="http://schemas.openxmlformats.org/officeDocument/2006/relationships/image" Target="../media/image161.png"/><Relationship Id="rId4" Type="http://schemas.openxmlformats.org/officeDocument/2006/relationships/image" Target="../media/image151.png"/><Relationship Id="rId9" Type="http://schemas.openxmlformats.org/officeDocument/2006/relationships/image" Target="../media/image156.png"/><Relationship Id="rId14" Type="http://schemas.openxmlformats.org/officeDocument/2006/relationships/image" Target="../media/image270.png"/><Relationship Id="rId22" Type="http://schemas.openxmlformats.org/officeDocument/2006/relationships/image" Target="../media/image167.png"/><Relationship Id="rId27" Type="http://schemas.openxmlformats.org/officeDocument/2006/relationships/image" Target="../media/image173.png"/></Relationships>
</file>

<file path=ppt/slides/_rels/slide46.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image" Target="../media/image89.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169.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C4379"/>
        </a:solidFill>
        <a:effectLst/>
      </p:bgPr>
    </p:bg>
    <p:spTree>
      <p:nvGrpSpPr>
        <p:cNvPr id="1" name=""/>
        <p:cNvGrpSpPr/>
        <p:nvPr/>
      </p:nvGrpSpPr>
      <p:grpSpPr>
        <a:xfrm>
          <a:off x="0" y="0"/>
          <a:ext cx="0" cy="0"/>
          <a:chOff x="0" y="0"/>
          <a:chExt cx="0" cy="0"/>
        </a:xfrm>
      </p:grpSpPr>
      <p:grpSp>
        <p:nvGrpSpPr>
          <p:cNvPr id="17" name="组合 16">
            <a:extLst>
              <a:ext uri="{FF2B5EF4-FFF2-40B4-BE49-F238E27FC236}">
                <a16:creationId xmlns:a16="http://schemas.microsoft.com/office/drawing/2014/main" id="{79F6E4A5-BAFC-485F-A3E7-99F59C8EF55D}"/>
              </a:ext>
            </a:extLst>
          </p:cNvPr>
          <p:cNvGrpSpPr/>
          <p:nvPr/>
        </p:nvGrpSpPr>
        <p:grpSpPr>
          <a:xfrm>
            <a:off x="-34399" y="3910649"/>
            <a:ext cx="12260797" cy="1721472"/>
            <a:chOff x="-34399" y="3445614"/>
            <a:chExt cx="12260797" cy="1721472"/>
          </a:xfrm>
        </p:grpSpPr>
        <p:sp>
          <p:nvSpPr>
            <p:cNvPr id="23" name="矩形 22">
              <a:extLst>
                <a:ext uri="{FF2B5EF4-FFF2-40B4-BE49-F238E27FC236}">
                  <a16:creationId xmlns:a16="http://schemas.microsoft.com/office/drawing/2014/main" id="{E9CCC4C9-3E0F-4B0C-BF2E-896D0B49A710}"/>
                </a:ext>
              </a:extLst>
            </p:cNvPr>
            <p:cNvSpPr/>
            <p:nvPr/>
          </p:nvSpPr>
          <p:spPr>
            <a:xfrm>
              <a:off x="-34399" y="3744687"/>
              <a:ext cx="12260797" cy="14223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a:extLst>
                <a:ext uri="{FF2B5EF4-FFF2-40B4-BE49-F238E27FC236}">
                  <a16:creationId xmlns:a16="http://schemas.microsoft.com/office/drawing/2014/main" id="{FF54B489-E55A-474A-80E3-E6FEEE5FFBAD}"/>
                </a:ext>
              </a:extLst>
            </p:cNvPr>
            <p:cNvSpPr/>
            <p:nvPr/>
          </p:nvSpPr>
          <p:spPr>
            <a:xfrm>
              <a:off x="1031942" y="3445614"/>
              <a:ext cx="10521603" cy="1632634"/>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5" name="组合 24">
            <a:extLst>
              <a:ext uri="{FF2B5EF4-FFF2-40B4-BE49-F238E27FC236}">
                <a16:creationId xmlns:a16="http://schemas.microsoft.com/office/drawing/2014/main" id="{DC067350-9166-4993-8B84-EE4C28CAA983}"/>
              </a:ext>
            </a:extLst>
          </p:cNvPr>
          <p:cNvGrpSpPr/>
          <p:nvPr/>
        </p:nvGrpSpPr>
        <p:grpSpPr>
          <a:xfrm>
            <a:off x="796798" y="3614406"/>
            <a:ext cx="10598396" cy="1811507"/>
            <a:chOff x="-4502396" y="-1334515"/>
            <a:chExt cx="13794115" cy="2357728"/>
          </a:xfrm>
        </p:grpSpPr>
        <p:pic>
          <p:nvPicPr>
            <p:cNvPr id="26" name="图片 25">
              <a:extLst>
                <a:ext uri="{FF2B5EF4-FFF2-40B4-BE49-F238E27FC236}">
                  <a16:creationId xmlns:a16="http://schemas.microsoft.com/office/drawing/2014/main" id="{4199EA73-01A8-4AC0-BD33-A7FD7416DA2B}"/>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733753" y="-1334515"/>
              <a:ext cx="3557966" cy="2355763"/>
            </a:xfrm>
            <a:prstGeom prst="rect">
              <a:avLst/>
            </a:prstGeom>
            <a:ln>
              <a:noFill/>
            </a:ln>
            <a:effectLst>
              <a:outerShdw blurRad="292100" dist="139700" dir="2700000" algn="tl" rotWithShape="0">
                <a:srgbClr val="333333">
                  <a:alpha val="65000"/>
                </a:srgbClr>
              </a:outerShdw>
            </a:effectLst>
          </p:spPr>
        </p:pic>
        <p:pic>
          <p:nvPicPr>
            <p:cNvPr id="27" name="图片 26">
              <a:extLst>
                <a:ext uri="{FF2B5EF4-FFF2-40B4-BE49-F238E27FC236}">
                  <a16:creationId xmlns:a16="http://schemas.microsoft.com/office/drawing/2014/main" id="{BE9E5DC9-F2A8-4FEA-B7C2-04D3ADD42447}"/>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4502396" y="-1334515"/>
              <a:ext cx="3534259" cy="2356408"/>
            </a:xfrm>
            <a:prstGeom prst="rect">
              <a:avLst/>
            </a:prstGeom>
            <a:ln>
              <a:noFill/>
            </a:ln>
            <a:effectLst>
              <a:outerShdw blurRad="292100" dist="139700" dir="2700000" algn="tl" rotWithShape="0">
                <a:srgbClr val="333333">
                  <a:alpha val="65000"/>
                </a:srgbClr>
              </a:outerShdw>
            </a:effectLst>
          </p:spPr>
        </p:pic>
        <p:pic>
          <p:nvPicPr>
            <p:cNvPr id="28" name="图片 27">
              <a:extLst>
                <a:ext uri="{FF2B5EF4-FFF2-40B4-BE49-F238E27FC236}">
                  <a16:creationId xmlns:a16="http://schemas.microsoft.com/office/drawing/2014/main" id="{82E11AA5-C9B2-49C5-9CAA-B9488D716EE2}"/>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2175787" y="-1334515"/>
              <a:ext cx="3557966" cy="2356409"/>
            </a:xfrm>
            <a:prstGeom prst="rect">
              <a:avLst/>
            </a:prstGeom>
            <a:ln>
              <a:noFill/>
            </a:ln>
            <a:effectLst>
              <a:outerShdw blurRad="292100" dist="139700" dir="2700000" algn="tl" rotWithShape="0">
                <a:srgbClr val="333333">
                  <a:alpha val="65000"/>
                </a:srgbClr>
              </a:outerShdw>
            </a:effectLst>
          </p:spPr>
        </p:pic>
        <p:pic>
          <p:nvPicPr>
            <p:cNvPr id="29" name="图片 28">
              <a:extLst>
                <a:ext uri="{FF2B5EF4-FFF2-40B4-BE49-F238E27FC236}">
                  <a16:creationId xmlns:a16="http://schemas.microsoft.com/office/drawing/2014/main" id="{1B58477C-89EC-4EE7-970B-4FCA7319E271}"/>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968137" y="-1333195"/>
              <a:ext cx="3143924" cy="2356408"/>
            </a:xfrm>
            <a:prstGeom prst="rect">
              <a:avLst/>
            </a:prstGeom>
            <a:ln>
              <a:noFill/>
            </a:ln>
            <a:effectLst>
              <a:outerShdw blurRad="292100" dist="139700" dir="2700000" algn="tl" rotWithShape="0">
                <a:srgbClr val="333333">
                  <a:alpha val="65000"/>
                </a:srgbClr>
              </a:outerShdw>
            </a:effectLst>
          </p:spPr>
        </p:pic>
      </p:grpSp>
      <p:pic>
        <p:nvPicPr>
          <p:cNvPr id="30" name="图片 7" descr="tjlogo">
            <a:extLst>
              <a:ext uri="{FF2B5EF4-FFF2-40B4-BE49-F238E27FC236}">
                <a16:creationId xmlns:a16="http://schemas.microsoft.com/office/drawing/2014/main" id="{F3FCE06D-D7A1-47C6-92AA-1BDFCC09E7BC}"/>
              </a:ext>
            </a:extLst>
          </p:cNvPr>
          <p:cNvPicPr>
            <a:picLocks noChangeAspect="1" noChangeArrowheads="1"/>
          </p:cNvPicPr>
          <p:nvPr>
            <p:custDataLst>
              <p:tags r:id="rId1"/>
            </p:custDataLst>
          </p:nvPr>
        </p:nvPicPr>
        <p:blipFill>
          <a:blip r:embed="rId8" cstate="print">
            <a:clrChange>
              <a:clrFrom>
                <a:srgbClr val="FFFFFF">
                  <a:alpha val="100000"/>
                </a:srgbClr>
              </a:clrFrom>
              <a:clrTo>
                <a:srgbClr val="FFFFFF">
                  <a:alpha val="100000"/>
                  <a:alpha val="0"/>
                </a:srgbClr>
              </a:clrTo>
            </a:clrChange>
            <a:lum bright="100000"/>
            <a:extLst>
              <a:ext uri="{28A0092B-C50C-407E-A947-70E740481C1C}">
                <a14:useLocalDpi xmlns:a14="http://schemas.microsoft.com/office/drawing/2010/main"/>
              </a:ext>
            </a:extLst>
          </a:blip>
          <a:srcRect/>
          <a:stretch>
            <a:fillRect/>
          </a:stretch>
        </p:blipFill>
        <p:spPr>
          <a:xfrm>
            <a:off x="38590" y="53129"/>
            <a:ext cx="3136356" cy="813011"/>
          </a:xfrm>
          <a:prstGeom prst="rect">
            <a:avLst/>
          </a:prstGeom>
          <a:noFill/>
          <a:ln w="9525">
            <a:noFill/>
            <a:miter lim="800000"/>
            <a:headEnd/>
            <a:tailEnd/>
          </a:ln>
          <a:effectLst>
            <a:outerShdw blurRad="50800" dist="38100" dir="2700000" algn="tl" rotWithShape="0">
              <a:prstClr val="black">
                <a:alpha val="40000"/>
              </a:prstClr>
            </a:outerShdw>
          </a:effectLst>
        </p:spPr>
      </p:pic>
      <p:sp>
        <p:nvSpPr>
          <p:cNvPr id="31" name="TextBox 12">
            <a:extLst>
              <a:ext uri="{FF2B5EF4-FFF2-40B4-BE49-F238E27FC236}">
                <a16:creationId xmlns:a16="http://schemas.microsoft.com/office/drawing/2014/main" id="{034D90E9-DBDB-468F-A7DD-BE08D378FF23}"/>
              </a:ext>
            </a:extLst>
          </p:cNvPr>
          <p:cNvSpPr txBox="1"/>
          <p:nvPr/>
        </p:nvSpPr>
        <p:spPr>
          <a:xfrm>
            <a:off x="494947" y="1099135"/>
            <a:ext cx="11193087" cy="1677506"/>
          </a:xfrm>
          <a:prstGeom prst="rect">
            <a:avLst/>
          </a:prstGeom>
          <a:ln w="12700">
            <a:miter lim="400000"/>
          </a:ln>
        </p:spPr>
        <p:txBody>
          <a:bodyPr wrap="square" lIns="45718" tIns="45718" rIns="45718" bIns="45718">
            <a:spAutoFit/>
          </a:bodyPr>
          <a:lstStyle/>
          <a:p>
            <a:pPr marL="0" marR="0" lvl="0" indent="0" algn="ctr" defTabSz="1219200" rtl="0" eaLnBrk="1" fontAlgn="auto" latinLnBrk="0" hangingPunct="0">
              <a:lnSpc>
                <a:spcPct val="150000"/>
              </a:lnSpc>
              <a:spcBef>
                <a:spcPts val="0"/>
              </a:spcBef>
              <a:spcAft>
                <a:spcPts val="0"/>
              </a:spcAft>
              <a:buClrTx/>
              <a:buSzTx/>
              <a:buFontTx/>
              <a:buNone/>
              <a:defRPr sz="7200"/>
            </a:pPr>
            <a:r>
              <a:rPr kumimoji="0" lang="zh-CN" altLang="en-US" sz="4400" b="1" i="0" u="none" strike="noStrike" kern="0" cap="none" spc="0" normalizeH="0" baseline="0" noProof="0" dirty="0">
                <a:ln>
                  <a:noFill/>
                </a:ln>
                <a:solidFill>
                  <a:srgbClr val="FFFFFF"/>
                </a:solidFill>
                <a:effectLst/>
                <a:uLnTx/>
                <a:uFillTx/>
                <a:latin typeface="Arial" panose="020B0604020202090204"/>
                <a:ea typeface="微软雅黑" panose="020B0503020204020204" pitchFamily="34" charset="-122"/>
                <a:cs typeface="+mn-cs"/>
                <a:sym typeface="+mn-lt"/>
              </a:rPr>
              <a:t>图像分析与机器学习</a:t>
            </a:r>
            <a:endParaRPr kumimoji="0" lang="en-US" altLang="zh-CN" sz="4400" b="1" i="0" u="none" strike="noStrike" kern="0" cap="none" spc="0" normalizeH="0" baseline="0" noProof="0" dirty="0">
              <a:ln>
                <a:noFill/>
              </a:ln>
              <a:solidFill>
                <a:srgbClr val="FFFFFF"/>
              </a:solidFill>
              <a:effectLst/>
              <a:uLnTx/>
              <a:uFillTx/>
              <a:latin typeface="Arial" panose="020B0604020202090204"/>
              <a:ea typeface="微软雅黑" panose="020B0503020204020204" pitchFamily="34" charset="-122"/>
              <a:cs typeface="+mn-cs"/>
              <a:sym typeface="+mn-lt"/>
            </a:endParaRPr>
          </a:p>
          <a:p>
            <a:pPr marL="0" marR="0" lvl="0" indent="0" algn="ctr" defTabSz="1219200" rtl="0" eaLnBrk="1" fontAlgn="auto" latinLnBrk="0" hangingPunct="0">
              <a:lnSpc>
                <a:spcPct val="150000"/>
              </a:lnSpc>
              <a:spcBef>
                <a:spcPts val="0"/>
              </a:spcBef>
              <a:spcAft>
                <a:spcPts val="0"/>
              </a:spcAft>
              <a:buClrTx/>
              <a:buSzTx/>
              <a:buFontTx/>
              <a:buNone/>
              <a:defRPr sz="7200"/>
            </a:pPr>
            <a:r>
              <a:rPr lang="en-US" altLang="zh-CN" sz="2800" kern="0" dirty="0">
                <a:solidFill>
                  <a:srgbClr val="FFFFFF"/>
                </a:solidFill>
                <a:latin typeface="Arial" panose="020B0604020202090204"/>
                <a:ea typeface="微软雅黑" panose="020B0503020204020204" pitchFamily="34" charset="-122"/>
                <a:sym typeface="+mn-lt"/>
              </a:rPr>
              <a:t>3 </a:t>
            </a:r>
            <a:r>
              <a:rPr lang="zh-CN" altLang="en-US" sz="2800" kern="0" dirty="0">
                <a:solidFill>
                  <a:srgbClr val="FFFFFF"/>
                </a:solidFill>
                <a:latin typeface="Arial" panose="020B0604020202090204"/>
                <a:ea typeface="微软雅黑" panose="020B0503020204020204" pitchFamily="34" charset="-122"/>
                <a:sym typeface="+mn-lt"/>
              </a:rPr>
              <a:t>非线性分类</a:t>
            </a:r>
            <a:r>
              <a:rPr lang="en-US" altLang="zh-CN" sz="2800" kern="0" dirty="0">
                <a:solidFill>
                  <a:srgbClr val="FFFFFF"/>
                </a:solidFill>
                <a:latin typeface="Arial" panose="020B0604020202090204"/>
                <a:ea typeface="微软雅黑" panose="020B0503020204020204" pitchFamily="34" charset="-122"/>
                <a:sym typeface="+mn-lt"/>
              </a:rPr>
              <a:t>/</a:t>
            </a:r>
            <a:r>
              <a:rPr lang="zh-CN" altLang="en-US" sz="2800" kern="0" dirty="0">
                <a:solidFill>
                  <a:srgbClr val="FFFFFF"/>
                </a:solidFill>
                <a:latin typeface="Arial" panose="020B0604020202090204"/>
                <a:ea typeface="微软雅黑" panose="020B0503020204020204" pitchFamily="34" charset="-122"/>
                <a:sym typeface="+mn-lt"/>
              </a:rPr>
              <a:t>回归与多层感知机</a:t>
            </a:r>
            <a:endParaRPr kumimoji="0" lang="zh-CN" altLang="en-US" sz="2800" i="0" u="none" strike="noStrike" kern="0" cap="none" spc="0" normalizeH="0" baseline="0" noProof="0" dirty="0">
              <a:ln>
                <a:noFill/>
              </a:ln>
              <a:solidFill>
                <a:srgbClr val="FFFFFF"/>
              </a:solidFill>
              <a:effectLst/>
              <a:uLnTx/>
              <a:uFillTx/>
              <a:latin typeface="Arial" panose="020B0604020202090204"/>
              <a:ea typeface="微软雅黑" panose="020B0503020204020204" pitchFamily="34" charset="-122"/>
              <a:cs typeface="+mn-cs"/>
              <a:sym typeface="+mn-lt"/>
            </a:endParaRPr>
          </a:p>
        </p:txBody>
      </p:sp>
      <p:sp>
        <p:nvSpPr>
          <p:cNvPr id="32" name="TextBox 12">
            <a:extLst>
              <a:ext uri="{FF2B5EF4-FFF2-40B4-BE49-F238E27FC236}">
                <a16:creationId xmlns:a16="http://schemas.microsoft.com/office/drawing/2014/main" id="{DB6B6878-E264-4EE5-B0B0-0FFD1AAC4913}"/>
              </a:ext>
            </a:extLst>
          </p:cNvPr>
          <p:cNvSpPr txBox="1"/>
          <p:nvPr/>
        </p:nvSpPr>
        <p:spPr>
          <a:xfrm>
            <a:off x="796798" y="6070598"/>
            <a:ext cx="10598396" cy="387794"/>
          </a:xfrm>
          <a:prstGeom prst="rect">
            <a:avLst/>
          </a:prstGeom>
          <a:ln w="12700">
            <a:miter lim="400000"/>
          </a:ln>
        </p:spPr>
        <p:txBody>
          <a:bodyPr wrap="square" lIns="45718" tIns="45718" rIns="45718" bIns="45718">
            <a:spAutoFit/>
          </a:bodyPr>
          <a:lstStyle/>
          <a:p>
            <a:pPr marL="0" marR="0" lvl="0" indent="0" algn="ctr" defTabSz="1219200" rtl="0" eaLnBrk="1" fontAlgn="auto" latinLnBrk="0" hangingPunct="0">
              <a:lnSpc>
                <a:spcPct val="80000"/>
              </a:lnSpc>
              <a:spcBef>
                <a:spcPts val="0"/>
              </a:spcBef>
              <a:spcAft>
                <a:spcPts val="0"/>
              </a:spcAft>
              <a:buClrTx/>
              <a:buSzTx/>
              <a:buFontTx/>
              <a:buNone/>
              <a:defRPr sz="7200"/>
            </a:pPr>
            <a:r>
              <a:rPr kumimoji="0" lang="zh-CN" altLang="en-US" sz="2400" b="1" i="0" u="none" strike="noStrike" kern="0" cap="none" spc="0" normalizeH="0" baseline="0" noProof="0" dirty="0">
                <a:ln>
                  <a:noFill/>
                </a:ln>
                <a:solidFill>
                  <a:srgbClr val="FFFFFF"/>
                </a:solidFill>
                <a:effectLst/>
                <a:uLnTx/>
                <a:uFillTx/>
                <a:latin typeface="Arial" panose="020B0604020202090204"/>
                <a:ea typeface="微软雅黑" panose="020B0503020204020204" pitchFamily="34" charset="-122"/>
                <a:cs typeface="+mn-cs"/>
                <a:sym typeface="+mn-lt"/>
              </a:rPr>
              <a:t>张绍明</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3" cstate="hqprint">
            <a:extLst>
              <a:ext uri="{28A0092B-C50C-407E-A947-70E740481C1C}">
                <a14:useLocalDpi xmlns:a14="http://schemas.microsoft.com/office/drawing/2010/main"/>
              </a:ext>
            </a:extLst>
          </a:blip>
          <a:srcRect/>
          <a:stretch>
            <a:fillRect/>
          </a:stretch>
        </p:blipFill>
        <p:spPr>
          <a:xfrm>
            <a:off x="-34413" y="0"/>
            <a:ext cx="5857698" cy="6858000"/>
          </a:xfrm>
          <a:prstGeom prst="rect">
            <a:avLst/>
          </a:prstGeom>
        </p:spPr>
      </p:pic>
      <p:sp>
        <p:nvSpPr>
          <p:cNvPr id="7" name="Rectangle 47"/>
          <p:cNvSpPr/>
          <p:nvPr/>
        </p:nvSpPr>
        <p:spPr>
          <a:xfrm>
            <a:off x="-34414" y="0"/>
            <a:ext cx="5857698" cy="6858000"/>
          </a:xfrm>
          <a:prstGeom prst="rect">
            <a:avLst/>
          </a:prstGeom>
          <a:solidFill>
            <a:srgbClr val="0A499A">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阿里巴巴和七个小矮人" panose="00000500000000000000" charset="-122"/>
              <a:ea typeface="阿里巴巴和七个小矮人" panose="00000500000000000000" charset="-122"/>
              <a:cs typeface="阿里巴巴和七个小矮人" panose="00000500000000000000" charset="-122"/>
            </a:endParaRPr>
          </a:p>
        </p:txBody>
      </p:sp>
      <p:sp>
        <p:nvSpPr>
          <p:cNvPr id="5" name="任意多边形: 形状 4"/>
          <p:cNvSpPr/>
          <p:nvPr/>
        </p:nvSpPr>
        <p:spPr>
          <a:xfrm>
            <a:off x="1979234" y="1677952"/>
            <a:ext cx="974558" cy="3392905"/>
          </a:xfrm>
          <a:custGeom>
            <a:avLst/>
            <a:gdLst>
              <a:gd name="connsiteX0" fmla="*/ 962526 w 974558"/>
              <a:gd name="connsiteY0" fmla="*/ 0 h 3392905"/>
              <a:gd name="connsiteX1" fmla="*/ 0 w 974558"/>
              <a:gd name="connsiteY1" fmla="*/ 0 h 3392905"/>
              <a:gd name="connsiteX2" fmla="*/ 0 w 974558"/>
              <a:gd name="connsiteY2" fmla="*/ 3392905 h 3392905"/>
              <a:gd name="connsiteX3" fmla="*/ 974558 w 974558"/>
              <a:gd name="connsiteY3" fmla="*/ 3380874 h 3392905"/>
            </a:gdLst>
            <a:ahLst/>
            <a:cxnLst>
              <a:cxn ang="0">
                <a:pos x="connsiteX0" y="connsiteY0"/>
              </a:cxn>
              <a:cxn ang="0">
                <a:pos x="connsiteX1" y="connsiteY1"/>
              </a:cxn>
              <a:cxn ang="0">
                <a:pos x="connsiteX2" y="connsiteY2"/>
              </a:cxn>
              <a:cxn ang="0">
                <a:pos x="connsiteX3" y="connsiteY3"/>
              </a:cxn>
            </a:cxnLst>
            <a:rect l="l" t="t" r="r" b="b"/>
            <a:pathLst>
              <a:path w="974558" h="3392905">
                <a:moveTo>
                  <a:pt x="962526" y="0"/>
                </a:moveTo>
                <a:lnTo>
                  <a:pt x="0" y="0"/>
                </a:lnTo>
                <a:lnTo>
                  <a:pt x="0" y="3392905"/>
                </a:lnTo>
                <a:lnTo>
                  <a:pt x="974558" y="3380874"/>
                </a:lnTo>
              </a:path>
            </a:pathLst>
          </a:custGeom>
          <a:no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阿里巴巴和七个小矮人" panose="00000500000000000000" charset="-122"/>
              <a:ea typeface="阿里巴巴和七个小矮人" panose="00000500000000000000" charset="-122"/>
              <a:cs typeface="阿里巴巴和七个小矮人" panose="00000500000000000000" charset="-122"/>
            </a:endParaRPr>
          </a:p>
        </p:txBody>
      </p:sp>
      <p:sp>
        <p:nvSpPr>
          <p:cNvPr id="16" name="任意多边形: 形状 15"/>
          <p:cNvSpPr/>
          <p:nvPr/>
        </p:nvSpPr>
        <p:spPr>
          <a:xfrm rot="10800000">
            <a:off x="2994016" y="1665919"/>
            <a:ext cx="974558" cy="3392905"/>
          </a:xfrm>
          <a:custGeom>
            <a:avLst/>
            <a:gdLst>
              <a:gd name="connsiteX0" fmla="*/ 962526 w 974558"/>
              <a:gd name="connsiteY0" fmla="*/ 0 h 3392905"/>
              <a:gd name="connsiteX1" fmla="*/ 0 w 974558"/>
              <a:gd name="connsiteY1" fmla="*/ 0 h 3392905"/>
              <a:gd name="connsiteX2" fmla="*/ 0 w 974558"/>
              <a:gd name="connsiteY2" fmla="*/ 3392905 h 3392905"/>
              <a:gd name="connsiteX3" fmla="*/ 974558 w 974558"/>
              <a:gd name="connsiteY3" fmla="*/ 3380874 h 3392905"/>
            </a:gdLst>
            <a:ahLst/>
            <a:cxnLst>
              <a:cxn ang="0">
                <a:pos x="connsiteX0" y="connsiteY0"/>
              </a:cxn>
              <a:cxn ang="0">
                <a:pos x="connsiteX1" y="connsiteY1"/>
              </a:cxn>
              <a:cxn ang="0">
                <a:pos x="connsiteX2" y="connsiteY2"/>
              </a:cxn>
              <a:cxn ang="0">
                <a:pos x="connsiteX3" y="connsiteY3"/>
              </a:cxn>
            </a:cxnLst>
            <a:rect l="l" t="t" r="r" b="b"/>
            <a:pathLst>
              <a:path w="974558" h="3392905">
                <a:moveTo>
                  <a:pt x="962526" y="0"/>
                </a:moveTo>
                <a:lnTo>
                  <a:pt x="0" y="0"/>
                </a:lnTo>
                <a:lnTo>
                  <a:pt x="0" y="3392905"/>
                </a:lnTo>
                <a:lnTo>
                  <a:pt x="974558" y="3380874"/>
                </a:lnTo>
              </a:path>
            </a:pathLst>
          </a:cu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阿里巴巴和七个小矮人" panose="00000500000000000000" charset="-122"/>
              <a:ea typeface="阿里巴巴和七个小矮人" panose="00000500000000000000" charset="-122"/>
              <a:cs typeface="阿里巴巴和七个小矮人" panose="00000500000000000000" charset="-122"/>
            </a:endParaRPr>
          </a:p>
        </p:txBody>
      </p:sp>
      <p:sp>
        <p:nvSpPr>
          <p:cNvPr id="8" name="文本框 7"/>
          <p:cNvSpPr txBox="1"/>
          <p:nvPr/>
        </p:nvSpPr>
        <p:spPr>
          <a:xfrm>
            <a:off x="1476464" y="2932479"/>
            <a:ext cx="1569660" cy="92333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5400" b="1" i="0" u="none" strike="noStrike" kern="120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cs typeface="阿里巴巴和七个小矮人" panose="00000500000000000000" charset="-122"/>
              </a:rPr>
              <a:t>目录</a:t>
            </a:r>
          </a:p>
        </p:txBody>
      </p:sp>
      <p:sp>
        <p:nvSpPr>
          <p:cNvPr id="20" name="文本框 19">
            <a:extLst>
              <a:ext uri="{FF2B5EF4-FFF2-40B4-BE49-F238E27FC236}">
                <a16:creationId xmlns:a16="http://schemas.microsoft.com/office/drawing/2014/main" id="{82A5EE3A-8A92-4E50-B858-4B8B15C0DCA2}"/>
              </a:ext>
            </a:extLst>
          </p:cNvPr>
          <p:cNvSpPr txBox="1"/>
          <p:nvPr/>
        </p:nvSpPr>
        <p:spPr>
          <a:xfrm>
            <a:off x="6672509" y="1961226"/>
            <a:ext cx="4833257" cy="2935547"/>
          </a:xfrm>
          <a:prstGeom prst="rect">
            <a:avLst/>
          </a:prstGeom>
          <a:noFill/>
        </p:spPr>
        <p:txBody>
          <a:bodyPr wrap="square">
            <a:spAutoFit/>
          </a:bodyPr>
          <a:lstStyle/>
          <a:p>
            <a:pPr marL="457200" indent="-457200">
              <a:lnSpc>
                <a:spcPct val="200000"/>
              </a:lnSpc>
              <a:buFont typeface="+mj-lt"/>
              <a:buAutoNum type="arabicPeriod"/>
            </a:pPr>
            <a:r>
              <a:rPr lang="zh-CN" altLang="en-US" sz="2400" b="1" dirty="0">
                <a:solidFill>
                  <a:srgbClr val="0C4379"/>
                </a:solidFill>
                <a:latin typeface="微软雅黑" panose="020B0503020204020204" pitchFamily="34" charset="-122"/>
                <a:ea typeface="微软雅黑" panose="020B0503020204020204" pitchFamily="34" charset="-122"/>
              </a:rPr>
              <a:t>神经网络的出发点</a:t>
            </a:r>
          </a:p>
          <a:p>
            <a:pPr marL="457200" indent="-457200">
              <a:lnSpc>
                <a:spcPct val="200000"/>
              </a:lnSpc>
              <a:buFont typeface="+mj-lt"/>
              <a:buAutoNum type="arabicPeriod"/>
            </a:pPr>
            <a:r>
              <a:rPr lang="zh-CN" altLang="en-US" sz="2400" b="1" dirty="0">
                <a:solidFill>
                  <a:srgbClr val="0C4379"/>
                </a:solidFill>
                <a:latin typeface="微软雅黑" panose="020B0503020204020204" pitchFamily="34" charset="-122"/>
                <a:ea typeface="微软雅黑" panose="020B0503020204020204" pitchFamily="34" charset="-122"/>
              </a:rPr>
              <a:t>前馈神经网络函数</a:t>
            </a:r>
          </a:p>
          <a:p>
            <a:pPr marL="457200" indent="-457200">
              <a:lnSpc>
                <a:spcPct val="200000"/>
              </a:lnSpc>
              <a:buFont typeface="+mj-lt"/>
              <a:buAutoNum type="arabicPeriod"/>
            </a:pPr>
            <a:r>
              <a:rPr lang="zh-CN" altLang="en-US" sz="2400" b="1" dirty="0">
                <a:solidFill>
                  <a:srgbClr val="0C4379"/>
                </a:solidFill>
                <a:latin typeface="微软雅黑" panose="020B0503020204020204" pitchFamily="34" charset="-122"/>
                <a:ea typeface="微软雅黑" panose="020B0503020204020204" pitchFamily="34" charset="-122"/>
              </a:rPr>
              <a:t>神经网络的训练</a:t>
            </a:r>
          </a:p>
          <a:p>
            <a:pPr marL="457200" indent="-457200">
              <a:lnSpc>
                <a:spcPct val="200000"/>
              </a:lnSpc>
              <a:buFont typeface="+mj-lt"/>
              <a:buAutoNum type="arabicPeriod"/>
            </a:pPr>
            <a:r>
              <a:rPr lang="zh-CN" altLang="en-US" sz="2400" b="1" dirty="0">
                <a:solidFill>
                  <a:srgbClr val="0C4379"/>
                </a:solidFill>
                <a:latin typeface="微软雅黑" panose="020B0503020204020204" pitchFamily="34" charset="-122"/>
                <a:ea typeface="微软雅黑" panose="020B0503020204020204" pitchFamily="34" charset="-122"/>
              </a:rPr>
              <a:t>后向传播算法</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41D635A-A631-4413-8BFE-3224E46C9876}"/>
              </a:ext>
            </a:extLst>
          </p:cNvPr>
          <p:cNvSpPr>
            <a:spLocks noGrp="1"/>
          </p:cNvSpPr>
          <p:nvPr>
            <p:ph idx="4294967295"/>
          </p:nvPr>
        </p:nvSpPr>
        <p:spPr>
          <a:xfrm>
            <a:off x="838200" y="965173"/>
            <a:ext cx="10515600" cy="4927653"/>
          </a:xfrm>
        </p:spPr>
        <p:txBody>
          <a:bodyPr>
            <a:normAutofit/>
          </a:bodyPr>
          <a:lstStyle/>
          <a:p>
            <a:pPr marL="457200" indent="-457200">
              <a:lnSpc>
                <a:spcPct val="150000"/>
              </a:lnSpc>
              <a:buFont typeface="+mj-lt"/>
              <a:buAutoNum type="arabicPeriod"/>
            </a:pPr>
            <a:r>
              <a:rPr lang="zh-CN" altLang="en-US" sz="1900" dirty="0">
                <a:latin typeface="思源黑体 CN Bold" panose="020B0800000000000000" pitchFamily="34" charset="-122"/>
                <a:ea typeface="思源黑体 CN Bold" panose="020B0800000000000000" pitchFamily="34" charset="-122"/>
              </a:rPr>
              <a:t>玄学？生物学？</a:t>
            </a:r>
            <a:r>
              <a:rPr lang="zh-CN" altLang="en-US" sz="1900" dirty="0">
                <a:solidFill>
                  <a:srgbClr val="FF0000"/>
                </a:solidFill>
                <a:latin typeface="思源黑体 CN Bold" panose="020B0800000000000000" pitchFamily="34" charset="-122"/>
                <a:ea typeface="思源黑体 CN Bold" panose="020B0800000000000000" pitchFamily="34" charset="-122"/>
              </a:rPr>
              <a:t>很多介绍都有博人眼球和言过其实之嫌！工程数学而已！</a:t>
            </a:r>
            <a:endParaRPr lang="en-US" altLang="zh-CN" sz="1900" dirty="0">
              <a:solidFill>
                <a:srgbClr val="FF0000"/>
              </a:solidFill>
              <a:latin typeface="思源黑体 CN Bold" panose="020B0800000000000000" pitchFamily="34" charset="-122"/>
              <a:ea typeface="思源黑体 CN Bold" panose="020B0800000000000000" pitchFamily="34" charset="-122"/>
            </a:endParaRPr>
          </a:p>
          <a:p>
            <a:pPr marL="457200" indent="-457200">
              <a:lnSpc>
                <a:spcPct val="150000"/>
              </a:lnSpc>
              <a:buFont typeface="+mj-lt"/>
              <a:buAutoNum type="arabicPeriod"/>
            </a:pPr>
            <a:r>
              <a:rPr lang="zh-CN" altLang="en-US" sz="1900" dirty="0">
                <a:latin typeface="思源黑体 CN Bold" panose="020B0800000000000000" pitchFamily="34" charset="-122"/>
                <a:ea typeface="思源黑体 CN Bold" panose="020B0800000000000000" pitchFamily="34" charset="-122"/>
              </a:rPr>
              <a:t>对于低维空间的线性模型不可解问题，是否可以特征升维，转换为高维空间的线性可解问题。</a:t>
            </a:r>
            <a:endParaRPr lang="en-US" altLang="zh-CN" sz="1900" dirty="0">
              <a:latin typeface="思源黑体 CN Bold" panose="020B0800000000000000" pitchFamily="34" charset="-122"/>
              <a:ea typeface="思源黑体 CN Bold" panose="020B0800000000000000" pitchFamily="34" charset="-122"/>
            </a:endParaRPr>
          </a:p>
          <a:p>
            <a:pPr marL="457200" indent="-457200">
              <a:lnSpc>
                <a:spcPct val="150000"/>
              </a:lnSpc>
              <a:buFont typeface="+mj-lt"/>
              <a:buAutoNum type="arabicPeriod"/>
            </a:pPr>
            <a:r>
              <a:rPr lang="zh-CN" altLang="en-US" sz="1900" dirty="0">
                <a:latin typeface="思源黑体 CN Bold" panose="020B0800000000000000" pitchFamily="34" charset="-122"/>
                <a:ea typeface="思源黑体 CN Bold" panose="020B0800000000000000" pitchFamily="34" charset="-122"/>
              </a:rPr>
              <a:t>如果</a:t>
            </a:r>
            <a:r>
              <a:rPr lang="en-US" altLang="zh-CN" sz="1900" dirty="0">
                <a:latin typeface="思源黑体 CN Bold" panose="020B0800000000000000" pitchFamily="34" charset="-122"/>
                <a:ea typeface="思源黑体 CN Bold" panose="020B0800000000000000" pitchFamily="34" charset="-122"/>
              </a:rPr>
              <a:t>2</a:t>
            </a:r>
            <a:r>
              <a:rPr lang="zh-CN" altLang="en-US" sz="1900" dirty="0">
                <a:latin typeface="思源黑体 CN Bold" panose="020B0800000000000000" pitchFamily="34" charset="-122"/>
                <a:ea typeface="思源黑体 CN Bold" panose="020B0800000000000000" pitchFamily="34" charset="-122"/>
              </a:rPr>
              <a:t>成立，为什么还要研究非线性方法？</a:t>
            </a:r>
            <a:r>
              <a:rPr lang="zh-CN" altLang="en-US" sz="1900" dirty="0">
                <a:solidFill>
                  <a:srgbClr val="FF0000"/>
                </a:solidFill>
                <a:latin typeface="思源黑体 CN Bold" panose="020B0800000000000000" pitchFamily="34" charset="-122"/>
                <a:ea typeface="思源黑体 CN Bold" panose="020B0800000000000000" pitchFamily="34" charset="-122"/>
              </a:rPr>
              <a:t>成立，但只有理论意义！</a:t>
            </a:r>
            <a:endParaRPr lang="en-US" altLang="zh-CN" sz="1900" dirty="0">
              <a:solidFill>
                <a:srgbClr val="FF0000"/>
              </a:solidFill>
              <a:latin typeface="思源黑体 CN Bold" panose="020B0800000000000000" pitchFamily="34" charset="-122"/>
              <a:ea typeface="思源黑体 CN Bold" panose="020B0800000000000000" pitchFamily="34" charset="-122"/>
            </a:endParaRPr>
          </a:p>
          <a:p>
            <a:pPr marL="457200" indent="-457200">
              <a:lnSpc>
                <a:spcPct val="150000"/>
              </a:lnSpc>
              <a:buFont typeface="+mj-lt"/>
              <a:buAutoNum type="arabicPeriod"/>
            </a:pPr>
            <a:r>
              <a:rPr lang="zh-CN" altLang="en-US" sz="1900" dirty="0">
                <a:latin typeface="思源黑体 CN Bold" panose="020B0800000000000000" pitchFamily="34" charset="-122"/>
                <a:ea typeface="思源黑体 CN Bold" panose="020B0800000000000000" pitchFamily="34" charset="-122"/>
              </a:rPr>
              <a:t>线性模型，使用固定基函数</a:t>
            </a:r>
            <a:endParaRPr lang="en-US" altLang="zh-CN" sz="1900" dirty="0">
              <a:latin typeface="思源黑体 CN Bold" panose="020B0800000000000000" pitchFamily="34" charset="-122"/>
              <a:ea typeface="思源黑体 CN Bold" panose="020B0800000000000000" pitchFamily="34" charset="-122"/>
            </a:endParaRPr>
          </a:p>
          <a:p>
            <a:pPr marL="914400" lvl="1" indent="-457200">
              <a:lnSpc>
                <a:spcPct val="150000"/>
              </a:lnSpc>
              <a:buFont typeface="+mj-lt"/>
              <a:buAutoNum type="arabicPeriod"/>
            </a:pPr>
            <a:r>
              <a:rPr lang="zh-CN" altLang="en-US" sz="1600" dirty="0">
                <a:latin typeface="思源黑体 CN Bold" panose="020B0800000000000000" pitchFamily="34" charset="-122"/>
                <a:ea typeface="思源黑体 CN Bold" panose="020B0800000000000000" pitchFamily="34" charset="-122"/>
              </a:rPr>
              <a:t>全局的固定基函数不够灵活（例如多项式），维度太高后，无法解算，也很难获取足够训练数据；</a:t>
            </a:r>
            <a:endParaRPr lang="en-US" altLang="zh-CN" sz="1600" dirty="0">
              <a:latin typeface="思源黑体 CN Bold" panose="020B0800000000000000" pitchFamily="34" charset="-122"/>
              <a:ea typeface="思源黑体 CN Bold" panose="020B0800000000000000" pitchFamily="34" charset="-122"/>
            </a:endParaRPr>
          </a:p>
          <a:p>
            <a:pPr marL="914400" lvl="1" indent="-457200">
              <a:lnSpc>
                <a:spcPct val="150000"/>
              </a:lnSpc>
              <a:buFont typeface="+mj-lt"/>
              <a:buAutoNum type="arabicPeriod"/>
            </a:pPr>
            <a:r>
              <a:rPr lang="zh-CN" altLang="en-US" sz="1600" dirty="0">
                <a:latin typeface="思源黑体 CN Bold" panose="020B0800000000000000" pitchFamily="34" charset="-122"/>
                <a:ea typeface="思源黑体 CN Bold" panose="020B0800000000000000" pitchFamily="34" charset="-122"/>
              </a:rPr>
              <a:t>局部的固定基函数，在没有见到训练数据之前，不知道中心点等信息，无从下手，思考</a:t>
            </a:r>
            <a:r>
              <a:rPr lang="en-US" altLang="zh-CN" sz="1600" dirty="0">
                <a:latin typeface="思源黑体 CN Bold" panose="020B0800000000000000" pitchFamily="34" charset="-122"/>
                <a:ea typeface="思源黑体 CN Bold" panose="020B0800000000000000" pitchFamily="34" charset="-122"/>
              </a:rPr>
              <a:t>RBF</a:t>
            </a:r>
            <a:r>
              <a:rPr lang="zh-CN" altLang="en-US" sz="1600" dirty="0">
                <a:latin typeface="思源黑体 CN Bold" panose="020B0800000000000000" pitchFamily="34" charset="-122"/>
                <a:ea typeface="思源黑体 CN Bold" panose="020B0800000000000000" pitchFamily="34" charset="-122"/>
              </a:rPr>
              <a:t>和</a:t>
            </a:r>
            <a:r>
              <a:rPr lang="en-US" altLang="zh-CN" sz="1600" dirty="0">
                <a:latin typeface="思源黑体 CN Bold" panose="020B0800000000000000" pitchFamily="34" charset="-122"/>
                <a:ea typeface="思源黑体 CN Bold" panose="020B0800000000000000" pitchFamily="34" charset="-122"/>
              </a:rPr>
              <a:t>Sigmoidal</a:t>
            </a:r>
          </a:p>
          <a:p>
            <a:pPr marL="457200" indent="-457200">
              <a:lnSpc>
                <a:spcPct val="150000"/>
              </a:lnSpc>
              <a:buFont typeface="+mj-lt"/>
              <a:buAutoNum type="arabicPeriod"/>
            </a:pPr>
            <a:r>
              <a:rPr lang="zh-CN" altLang="en-US" sz="1900" dirty="0">
                <a:latin typeface="思源黑体 CN Bold" panose="020B0800000000000000" pitchFamily="34" charset="-122"/>
                <a:ea typeface="思源黑体 CN Bold" panose="020B0800000000000000" pitchFamily="34" charset="-122"/>
              </a:rPr>
              <a:t>以神经网络为代表的的非线性方法，使用数据自适应关联的基函数</a:t>
            </a:r>
            <a:endParaRPr lang="en-US" altLang="zh-CN" sz="1900" dirty="0">
              <a:latin typeface="思源黑体 CN Bold" panose="020B0800000000000000" pitchFamily="34" charset="-122"/>
              <a:ea typeface="思源黑体 CN Bold" panose="020B0800000000000000" pitchFamily="34" charset="-122"/>
            </a:endParaRPr>
          </a:p>
          <a:p>
            <a:pPr marL="914400" lvl="1" indent="-457200">
              <a:lnSpc>
                <a:spcPct val="150000"/>
              </a:lnSpc>
              <a:buFont typeface="+mj-lt"/>
              <a:buAutoNum type="arabicPeriod"/>
            </a:pPr>
            <a:r>
              <a:rPr lang="zh-CN" altLang="en-US" sz="1600" dirty="0">
                <a:latin typeface="思源黑体 CN Bold" panose="020B0800000000000000" pitchFamily="34" charset="-122"/>
                <a:ea typeface="思源黑体 CN Bold" panose="020B0800000000000000" pitchFamily="34" charset="-122"/>
              </a:rPr>
              <a:t>神经网络用数据的加权组合作为基函数，基函数数量固定，学习权值来获取最适合对当前数据的基函数。</a:t>
            </a:r>
            <a:endParaRPr lang="en-US" altLang="zh-CN" sz="1600" dirty="0">
              <a:latin typeface="思源黑体 CN Bold" panose="020B0800000000000000" pitchFamily="34" charset="-122"/>
              <a:ea typeface="思源黑体 CN Bold" panose="020B0800000000000000" pitchFamily="34" charset="-122"/>
            </a:endParaRPr>
          </a:p>
          <a:p>
            <a:pPr marL="914400" lvl="1" indent="-457200">
              <a:lnSpc>
                <a:spcPct val="150000"/>
              </a:lnSpc>
              <a:buFont typeface="+mj-lt"/>
              <a:buAutoNum type="arabicPeriod"/>
            </a:pPr>
            <a:r>
              <a:rPr lang="zh-CN" altLang="en-US" sz="1600" dirty="0">
                <a:latin typeface="思源黑体 CN Bold" panose="020B0800000000000000" pitchFamily="34" charset="-122"/>
                <a:ea typeface="思源黑体 CN Bold" panose="020B0800000000000000" pitchFamily="34" charset="-122"/>
              </a:rPr>
              <a:t>支持向量机针对所有训练样本构建基于核函数的基函数，并学习得到一小部分作为最适合的基函数</a:t>
            </a:r>
            <a:endParaRPr lang="en-US" altLang="zh-CN" sz="1600" dirty="0">
              <a:latin typeface="思源黑体 CN Bold" panose="020B0800000000000000" pitchFamily="34" charset="-122"/>
              <a:ea typeface="思源黑体 CN Bold" panose="020B0800000000000000" pitchFamily="34" charset="-122"/>
            </a:endParaRPr>
          </a:p>
          <a:p>
            <a:pPr marL="914400" lvl="1" indent="-457200">
              <a:lnSpc>
                <a:spcPct val="150000"/>
              </a:lnSpc>
              <a:buFont typeface="+mj-lt"/>
              <a:buAutoNum type="arabicPeriod"/>
            </a:pPr>
            <a:endParaRPr lang="en-US" altLang="zh-CN" sz="1400" dirty="0">
              <a:latin typeface="思源黑体 CN Bold" panose="020B0800000000000000" pitchFamily="34" charset="-122"/>
              <a:ea typeface="思源黑体 CN Bold" panose="020B0800000000000000" pitchFamily="34" charset="-122"/>
            </a:endParaRPr>
          </a:p>
          <a:p>
            <a:pPr marL="457200" indent="-457200">
              <a:lnSpc>
                <a:spcPct val="140000"/>
              </a:lnSpc>
              <a:buFont typeface="+mj-lt"/>
              <a:buAutoNum type="arabicPeriod"/>
            </a:pPr>
            <a:endParaRPr lang="en-US" altLang="zh-CN" sz="1800" dirty="0">
              <a:latin typeface="思源黑体 CN Bold" panose="020B0800000000000000" pitchFamily="34" charset="-122"/>
              <a:ea typeface="思源黑体 CN Bold" panose="020B0800000000000000" pitchFamily="34" charset="-122"/>
            </a:endParaRPr>
          </a:p>
        </p:txBody>
      </p:sp>
      <p:sp>
        <p:nvSpPr>
          <p:cNvPr id="4" name="标题 1">
            <a:extLst>
              <a:ext uri="{FF2B5EF4-FFF2-40B4-BE49-F238E27FC236}">
                <a16:creationId xmlns:a16="http://schemas.microsoft.com/office/drawing/2014/main" id="{AF4899A1-62C6-40EE-B056-3ECC6F4FD093}"/>
              </a:ext>
            </a:extLst>
          </p:cNvPr>
          <p:cNvSpPr txBox="1">
            <a:spLocks/>
          </p:cNvSpPr>
          <p:nvPr/>
        </p:nvSpPr>
        <p:spPr>
          <a:xfrm>
            <a:off x="341811" y="99838"/>
            <a:ext cx="10515600" cy="63810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altLang="zh-CN" sz="4000">
                <a:latin typeface="思源黑体 CN Bold" panose="020B0800000000000000" pitchFamily="34" charset="-122"/>
                <a:ea typeface="思源黑体 CN Bold" panose="020B0800000000000000" pitchFamily="34" charset="-122"/>
              </a:rPr>
              <a:t>1 </a:t>
            </a:r>
            <a:r>
              <a:rPr lang="zh-CN" altLang="en-US" sz="4000">
                <a:latin typeface="思源黑体 CN Bold" panose="020B0800000000000000" pitchFamily="34" charset="-122"/>
                <a:ea typeface="思源黑体 CN Bold" panose="020B0800000000000000" pitchFamily="34" charset="-122"/>
              </a:rPr>
              <a:t>神经网络的出发点：</a:t>
            </a:r>
            <a:r>
              <a:rPr lang="zh-CN" altLang="en-US" sz="2800">
                <a:latin typeface="思源黑体 CN Bold" panose="020B0800000000000000" pitchFamily="34" charset="-122"/>
                <a:ea typeface="思源黑体 CN Bold" panose="020B0800000000000000" pitchFamily="34" charset="-122"/>
              </a:rPr>
              <a:t>维数灾难</a:t>
            </a:r>
            <a:endParaRPr lang="zh-CN" altLang="en-US" sz="4000" dirty="0">
              <a:latin typeface="思源黑体 CN Bold" panose="020B0800000000000000" pitchFamily="34" charset="-122"/>
              <a:ea typeface="思源黑体 CN Bold" panose="020B0800000000000000" pitchFamily="34" charset="-122"/>
            </a:endParaRPr>
          </a:p>
        </p:txBody>
      </p:sp>
    </p:spTree>
    <p:extLst>
      <p:ext uri="{BB962C8B-B14F-4D97-AF65-F5344CB8AC3E}">
        <p14:creationId xmlns:p14="http://schemas.microsoft.com/office/powerpoint/2010/main" val="769230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0F7529-D435-49BF-8C4C-72F4173D5FF0}"/>
              </a:ext>
            </a:extLst>
          </p:cNvPr>
          <p:cNvSpPr>
            <a:spLocks noGrp="1"/>
          </p:cNvSpPr>
          <p:nvPr>
            <p:ph type="title" idx="4294967295"/>
          </p:nvPr>
        </p:nvSpPr>
        <p:spPr>
          <a:xfrm>
            <a:off x="394063" y="124838"/>
            <a:ext cx="7710134" cy="732155"/>
          </a:xfrm>
        </p:spPr>
        <p:txBody>
          <a:bodyPr>
            <a:noAutofit/>
          </a:bodyPr>
          <a:lstStyle/>
          <a:p>
            <a:r>
              <a:rPr lang="en-US" altLang="zh-CN" sz="3200" dirty="0">
                <a:latin typeface="思源黑体 CN Bold" panose="020B0800000000000000" pitchFamily="34" charset="-122"/>
                <a:ea typeface="思源黑体 CN Bold" panose="020B0800000000000000" pitchFamily="34" charset="-122"/>
              </a:rPr>
              <a:t>1 </a:t>
            </a:r>
            <a:r>
              <a:rPr lang="zh-CN" altLang="en-US" sz="3200" dirty="0">
                <a:latin typeface="思源黑体 CN Bold" panose="020B0800000000000000" pitchFamily="34" charset="-122"/>
                <a:ea typeface="思源黑体 CN Bold" panose="020B0800000000000000" pitchFamily="34" charset="-122"/>
              </a:rPr>
              <a:t>神经网络的出发点：</a:t>
            </a:r>
            <a:r>
              <a:rPr lang="zh-CN" altLang="en-US" sz="2400" dirty="0">
                <a:latin typeface="Broadway" panose="04040905080B02020502" pitchFamily="82" charset="0"/>
                <a:ea typeface="思源黑体 CN Bold" panose="020B0800000000000000" pitchFamily="34" charset="-122"/>
              </a:rPr>
              <a:t>高维空间与线性可分</a:t>
            </a:r>
            <a:endParaRPr lang="zh-CN" altLang="en-US" sz="3200" dirty="0"/>
          </a:p>
        </p:txBody>
      </p:sp>
      <p:pic>
        <p:nvPicPr>
          <p:cNvPr id="11" name="内容占位符 10">
            <a:extLst>
              <a:ext uri="{FF2B5EF4-FFF2-40B4-BE49-F238E27FC236}">
                <a16:creationId xmlns:a16="http://schemas.microsoft.com/office/drawing/2014/main" id="{44076CFE-E7EA-4F6C-8A51-4067A15FB192}"/>
              </a:ext>
            </a:extLst>
          </p:cNvPr>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642647" y="1093105"/>
            <a:ext cx="10658902" cy="4172170"/>
          </a:xfrm>
        </p:spPr>
      </p:pic>
      <p:sp>
        <p:nvSpPr>
          <p:cNvPr id="12" name="矩形 11">
            <a:extLst>
              <a:ext uri="{FF2B5EF4-FFF2-40B4-BE49-F238E27FC236}">
                <a16:creationId xmlns:a16="http://schemas.microsoft.com/office/drawing/2014/main" id="{5019A037-889D-4989-A608-783913DA3176}"/>
              </a:ext>
            </a:extLst>
          </p:cNvPr>
          <p:cNvSpPr/>
          <p:nvPr/>
        </p:nvSpPr>
        <p:spPr>
          <a:xfrm>
            <a:off x="3339321" y="5308033"/>
            <a:ext cx="6186309" cy="369332"/>
          </a:xfrm>
          <a:prstGeom prst="rect">
            <a:avLst/>
          </a:prstGeom>
        </p:spPr>
        <p:txBody>
          <a:bodyPr wrap="none">
            <a:spAutoFit/>
          </a:bodyPr>
          <a:lstStyle/>
          <a:p>
            <a:r>
              <a:rPr lang="zh-CN" altLang="en-US" dirty="0">
                <a:latin typeface="思源黑体 CN Bold" panose="020B0800000000000000" pitchFamily="34" charset="-122"/>
                <a:ea typeface="思源黑体 CN Bold" panose="020B0800000000000000" pitchFamily="34" charset="-122"/>
              </a:rPr>
              <a:t>一维空间线性不可分，多项式函数升维后二维空间线性可分</a:t>
            </a:r>
          </a:p>
        </p:txBody>
      </p:sp>
    </p:spTree>
    <p:extLst>
      <p:ext uri="{BB962C8B-B14F-4D97-AF65-F5344CB8AC3E}">
        <p14:creationId xmlns:p14="http://schemas.microsoft.com/office/powerpoint/2010/main" val="32913954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a:extLst>
              <a:ext uri="{FF2B5EF4-FFF2-40B4-BE49-F238E27FC236}">
                <a16:creationId xmlns:a16="http://schemas.microsoft.com/office/drawing/2014/main" id="{D21A92D9-E5BD-45AC-981B-93C79C238269}"/>
              </a:ext>
            </a:extLst>
          </p:cNvPr>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52404" y="3400632"/>
            <a:ext cx="5841500" cy="2602830"/>
          </a:xfrm>
        </p:spPr>
      </p:pic>
      <p:pic>
        <p:nvPicPr>
          <p:cNvPr id="6" name="内容占位符 10">
            <a:extLst>
              <a:ext uri="{FF2B5EF4-FFF2-40B4-BE49-F238E27FC236}">
                <a16:creationId xmlns:a16="http://schemas.microsoft.com/office/drawing/2014/main" id="{B4CD3029-3969-4CB3-BDB4-5CF9AB3DC2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404" y="1053220"/>
            <a:ext cx="5841500" cy="2286514"/>
          </a:xfrm>
          <a:prstGeom prst="rect">
            <a:avLst/>
          </a:prstGeom>
        </p:spPr>
      </p:pic>
      <p:pic>
        <p:nvPicPr>
          <p:cNvPr id="10" name="图片 9">
            <a:extLst>
              <a:ext uri="{FF2B5EF4-FFF2-40B4-BE49-F238E27FC236}">
                <a16:creationId xmlns:a16="http://schemas.microsoft.com/office/drawing/2014/main" id="{68D87DFD-0962-449D-9549-7CAA7FAC657B}"/>
              </a:ext>
            </a:extLst>
          </p:cNvPr>
          <p:cNvPicPr>
            <a:picLocks noChangeAspect="1"/>
          </p:cNvPicPr>
          <p:nvPr/>
        </p:nvPicPr>
        <p:blipFill rotWithShape="1">
          <a:blip r:embed="rId4">
            <a:extLst>
              <a:ext uri="{28A0092B-C50C-407E-A947-70E740481C1C}">
                <a14:useLocalDpi xmlns:a14="http://schemas.microsoft.com/office/drawing/2010/main" val="0"/>
              </a:ext>
            </a:extLst>
          </a:blip>
          <a:srcRect l="2082" r="5594"/>
          <a:stretch/>
        </p:blipFill>
        <p:spPr>
          <a:xfrm>
            <a:off x="5972232" y="1053220"/>
            <a:ext cx="6093579" cy="4950242"/>
          </a:xfrm>
          <a:prstGeom prst="rect">
            <a:avLst/>
          </a:prstGeom>
        </p:spPr>
      </p:pic>
      <p:sp>
        <p:nvSpPr>
          <p:cNvPr id="11" name="矩形 10">
            <a:extLst>
              <a:ext uri="{FF2B5EF4-FFF2-40B4-BE49-F238E27FC236}">
                <a16:creationId xmlns:a16="http://schemas.microsoft.com/office/drawing/2014/main" id="{4918C44B-72C6-47A3-A23B-0DC1C1E8E20B}"/>
              </a:ext>
            </a:extLst>
          </p:cNvPr>
          <p:cNvSpPr/>
          <p:nvPr/>
        </p:nvSpPr>
        <p:spPr>
          <a:xfrm>
            <a:off x="989467" y="3155068"/>
            <a:ext cx="4339650" cy="369332"/>
          </a:xfrm>
          <a:prstGeom prst="rect">
            <a:avLst/>
          </a:prstGeom>
        </p:spPr>
        <p:txBody>
          <a:bodyPr wrap="none">
            <a:spAutoFit/>
          </a:bodyPr>
          <a:lstStyle/>
          <a:p>
            <a:r>
              <a:rPr lang="zh-CN" altLang="en-US" dirty="0">
                <a:latin typeface="思源黑体 CN Bold" panose="020B0800000000000000" pitchFamily="34" charset="-122"/>
                <a:ea typeface="思源黑体 CN Bold" panose="020B0800000000000000" pitchFamily="34" charset="-122"/>
              </a:rPr>
              <a:t>一维空间线性不可分，二维空间线性可分</a:t>
            </a:r>
          </a:p>
        </p:txBody>
      </p:sp>
      <p:sp>
        <p:nvSpPr>
          <p:cNvPr id="12" name="矩形 11">
            <a:extLst>
              <a:ext uri="{FF2B5EF4-FFF2-40B4-BE49-F238E27FC236}">
                <a16:creationId xmlns:a16="http://schemas.microsoft.com/office/drawing/2014/main" id="{6BA7E029-3ACC-4BCC-820A-E3BF7C5F36E3}"/>
              </a:ext>
            </a:extLst>
          </p:cNvPr>
          <p:cNvSpPr/>
          <p:nvPr/>
        </p:nvSpPr>
        <p:spPr>
          <a:xfrm>
            <a:off x="906882" y="5810574"/>
            <a:ext cx="4570482" cy="369332"/>
          </a:xfrm>
          <a:prstGeom prst="rect">
            <a:avLst/>
          </a:prstGeom>
        </p:spPr>
        <p:txBody>
          <a:bodyPr wrap="none">
            <a:spAutoFit/>
          </a:bodyPr>
          <a:lstStyle/>
          <a:p>
            <a:r>
              <a:rPr lang="zh-CN" altLang="en-US" dirty="0">
                <a:latin typeface="思源黑体 CN Bold" panose="020B0800000000000000" pitchFamily="34" charset="-122"/>
                <a:ea typeface="思源黑体 CN Bold" panose="020B0800000000000000" pitchFamily="34" charset="-122"/>
              </a:rPr>
              <a:t>一维空间线性不可分，二维空间线性不可分</a:t>
            </a:r>
          </a:p>
        </p:txBody>
      </p:sp>
      <p:sp>
        <p:nvSpPr>
          <p:cNvPr id="13" name="矩形 12">
            <a:extLst>
              <a:ext uri="{FF2B5EF4-FFF2-40B4-BE49-F238E27FC236}">
                <a16:creationId xmlns:a16="http://schemas.microsoft.com/office/drawing/2014/main" id="{D0245674-750B-4835-BF72-EA43F0FD3E33}"/>
              </a:ext>
            </a:extLst>
          </p:cNvPr>
          <p:cNvSpPr/>
          <p:nvPr/>
        </p:nvSpPr>
        <p:spPr>
          <a:xfrm>
            <a:off x="7280534" y="5995240"/>
            <a:ext cx="4339650" cy="369332"/>
          </a:xfrm>
          <a:prstGeom prst="rect">
            <a:avLst/>
          </a:prstGeom>
        </p:spPr>
        <p:txBody>
          <a:bodyPr wrap="none">
            <a:spAutoFit/>
          </a:bodyPr>
          <a:lstStyle/>
          <a:p>
            <a:r>
              <a:rPr lang="zh-CN" altLang="en-US" dirty="0">
                <a:latin typeface="思源黑体 CN Bold" panose="020B0800000000000000" pitchFamily="34" charset="-122"/>
                <a:ea typeface="思源黑体 CN Bold" panose="020B0800000000000000" pitchFamily="34" charset="-122"/>
              </a:rPr>
              <a:t>二维空间线性不可分，三维空间线性可分</a:t>
            </a:r>
          </a:p>
        </p:txBody>
      </p:sp>
      <p:sp>
        <p:nvSpPr>
          <p:cNvPr id="9" name="标题 1">
            <a:extLst>
              <a:ext uri="{FF2B5EF4-FFF2-40B4-BE49-F238E27FC236}">
                <a16:creationId xmlns:a16="http://schemas.microsoft.com/office/drawing/2014/main" id="{C1BC0BBE-3EB9-4044-AFC4-BB2B0BFC1077}"/>
              </a:ext>
            </a:extLst>
          </p:cNvPr>
          <p:cNvSpPr txBox="1">
            <a:spLocks/>
          </p:cNvSpPr>
          <p:nvPr/>
        </p:nvSpPr>
        <p:spPr>
          <a:xfrm>
            <a:off x="394063" y="124838"/>
            <a:ext cx="7710134" cy="73215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200">
                <a:latin typeface="思源黑体 CN Bold" panose="020B0800000000000000" pitchFamily="34" charset="-122"/>
                <a:ea typeface="思源黑体 CN Bold" panose="020B0800000000000000" pitchFamily="34" charset="-122"/>
              </a:rPr>
              <a:t>1 </a:t>
            </a:r>
            <a:r>
              <a:rPr lang="zh-CN" altLang="en-US" sz="3200">
                <a:latin typeface="思源黑体 CN Bold" panose="020B0800000000000000" pitchFamily="34" charset="-122"/>
                <a:ea typeface="思源黑体 CN Bold" panose="020B0800000000000000" pitchFamily="34" charset="-122"/>
              </a:rPr>
              <a:t>神经网络的出发点：</a:t>
            </a:r>
            <a:r>
              <a:rPr lang="zh-CN" altLang="en-US" sz="2400">
                <a:latin typeface="Broadway" panose="04040905080B02020502" pitchFamily="82" charset="0"/>
                <a:ea typeface="思源黑体 CN Bold" panose="020B0800000000000000" pitchFamily="34" charset="-122"/>
              </a:rPr>
              <a:t>高维空间与线性可分</a:t>
            </a:r>
            <a:endParaRPr lang="zh-CN" altLang="en-US" sz="3200" dirty="0"/>
          </a:p>
        </p:txBody>
      </p:sp>
    </p:spTree>
    <p:extLst>
      <p:ext uri="{BB962C8B-B14F-4D97-AF65-F5344CB8AC3E}">
        <p14:creationId xmlns:p14="http://schemas.microsoft.com/office/powerpoint/2010/main" val="1419120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0F7529-D435-49BF-8C4C-72F4173D5FF0}"/>
              </a:ext>
            </a:extLst>
          </p:cNvPr>
          <p:cNvSpPr>
            <a:spLocks noGrp="1"/>
          </p:cNvSpPr>
          <p:nvPr>
            <p:ph type="title" idx="4294967295"/>
          </p:nvPr>
        </p:nvSpPr>
        <p:spPr>
          <a:xfrm>
            <a:off x="341811" y="99838"/>
            <a:ext cx="10515600" cy="638102"/>
          </a:xfrm>
        </p:spPr>
        <p:txBody>
          <a:bodyPr>
            <a:normAutofit fontScale="90000"/>
          </a:bodyPr>
          <a:lstStyle/>
          <a:p>
            <a:pPr>
              <a:lnSpc>
                <a:spcPct val="100000"/>
              </a:lnSpc>
            </a:pPr>
            <a:r>
              <a:rPr lang="en-US" altLang="zh-CN" sz="4000" dirty="0">
                <a:latin typeface="思源黑体 CN Bold" panose="020B0800000000000000" pitchFamily="34" charset="-122"/>
                <a:ea typeface="思源黑体 CN Bold" panose="020B0800000000000000" pitchFamily="34" charset="-122"/>
              </a:rPr>
              <a:t>1 </a:t>
            </a:r>
            <a:r>
              <a:rPr lang="zh-CN" altLang="en-US" sz="4000" dirty="0">
                <a:latin typeface="思源黑体 CN Bold" panose="020B0800000000000000" pitchFamily="34" charset="-122"/>
                <a:ea typeface="思源黑体 CN Bold" panose="020B0800000000000000" pitchFamily="34" charset="-122"/>
              </a:rPr>
              <a:t>神经网络的出发点：</a:t>
            </a:r>
            <a:r>
              <a:rPr lang="zh-CN" altLang="en-US" sz="2800" dirty="0">
                <a:latin typeface="思源黑体 CN Bold" panose="020B0800000000000000" pitchFamily="34" charset="-122"/>
                <a:ea typeface="思源黑体 CN Bold" panose="020B0800000000000000" pitchFamily="34" charset="-122"/>
              </a:rPr>
              <a:t>维数灾难</a:t>
            </a:r>
            <a:endParaRPr lang="zh-CN" altLang="en-US" sz="4000" dirty="0">
              <a:latin typeface="思源黑体 CN Bold" panose="020B0800000000000000" pitchFamily="34" charset="-122"/>
              <a:ea typeface="思源黑体 CN Bold" panose="020B0800000000000000" pitchFamily="34" charset="-122"/>
            </a:endParaRPr>
          </a:p>
        </p:txBody>
      </p:sp>
      <mc:AlternateContent xmlns:mc="http://schemas.openxmlformats.org/markup-compatibility/2006" xmlns:a14="http://schemas.microsoft.com/office/drawing/2010/main">
        <mc:Choice Requires="a14">
          <p:sp>
            <p:nvSpPr>
              <p:cNvPr id="18" name="内容占位符 2">
                <a:extLst>
                  <a:ext uri="{FF2B5EF4-FFF2-40B4-BE49-F238E27FC236}">
                    <a16:creationId xmlns:a16="http://schemas.microsoft.com/office/drawing/2014/main" id="{DD30DF44-2D9A-4FFC-8BA2-655B125265E6}"/>
                  </a:ext>
                </a:extLst>
              </p:cNvPr>
              <p:cNvSpPr txBox="1">
                <a:spLocks/>
              </p:cNvSpPr>
              <p:nvPr/>
            </p:nvSpPr>
            <p:spPr>
              <a:xfrm>
                <a:off x="706872" y="1120231"/>
                <a:ext cx="10778256"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nSpc>
                    <a:spcPct val="150000"/>
                  </a:lnSpc>
                  <a:buFont typeface="+mj-lt"/>
                  <a:buAutoNum type="arabicPeriod"/>
                </a:pPr>
                <a:r>
                  <a:rPr lang="zh-CN" altLang="en-US" sz="1800" dirty="0">
                    <a:latin typeface="思源黑体 CN Bold" panose="020B0800000000000000" pitchFamily="34" charset="-122"/>
                    <a:ea typeface="思源黑体 CN Bold" panose="020B0800000000000000" pitchFamily="34" charset="-122"/>
                  </a:rPr>
                  <a:t>数据特征维数过高的情况下，模型复杂度非常高，训练样本数量不变的情况下很容易过拟合。</a:t>
                </a:r>
                <a:endParaRPr lang="en-US" altLang="zh-CN" sz="1800" dirty="0">
                  <a:latin typeface="思源黑体 CN Bold" panose="020B0800000000000000" pitchFamily="34" charset="-122"/>
                  <a:ea typeface="思源黑体 CN Bold" panose="020B0800000000000000" pitchFamily="34" charset="-122"/>
                </a:endParaRPr>
              </a:p>
              <a:p>
                <a:pPr lvl="1">
                  <a:lnSpc>
                    <a:spcPct val="15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以多项式回归为例，数据维度</a:t>
                </a:r>
                <a:r>
                  <a:rPr lang="en-US" altLang="zh-CN" sz="1600" dirty="0">
                    <a:latin typeface="思源黑体 CN Bold" panose="020B0800000000000000" pitchFamily="34" charset="-122"/>
                    <a:ea typeface="思源黑体 CN Bold" panose="020B0800000000000000" pitchFamily="34" charset="-122"/>
                  </a:rPr>
                  <a:t>D</a:t>
                </a:r>
                <a:r>
                  <a:rPr lang="zh-CN" altLang="en-US" sz="1600" dirty="0">
                    <a:latin typeface="思源黑体 CN Bold" panose="020B0800000000000000" pitchFamily="34" charset="-122"/>
                    <a:ea typeface="思源黑体 CN Bold" panose="020B0800000000000000" pitchFamily="34" charset="-122"/>
                  </a:rPr>
                  <a:t>，多项式阶数</a:t>
                </a:r>
                <a:r>
                  <a:rPr lang="en-US" altLang="zh-CN" sz="1600" dirty="0">
                    <a:latin typeface="思源黑体 CN Bold" panose="020B0800000000000000" pitchFamily="34" charset="-122"/>
                    <a:ea typeface="思源黑体 CN Bold" panose="020B0800000000000000" pitchFamily="34" charset="-122"/>
                  </a:rPr>
                  <a:t>M</a:t>
                </a:r>
                <a:r>
                  <a:rPr lang="zh-CN" altLang="en-US" sz="1600" dirty="0">
                    <a:latin typeface="思源黑体 CN Bold" panose="020B0800000000000000" pitchFamily="34" charset="-122"/>
                    <a:ea typeface="思源黑体 CN Bold" panose="020B0800000000000000" pitchFamily="34" charset="-122"/>
                  </a:rPr>
                  <a:t>，独立参数量是</a:t>
                </a:r>
                <a14:m>
                  <m:oMath xmlns:m="http://schemas.openxmlformats.org/officeDocument/2006/math">
                    <m:sSup>
                      <m:sSupPr>
                        <m:ctrlPr>
                          <a:rPr lang="en-US" altLang="zh-CN" sz="1600" b="1" i="1">
                            <a:latin typeface="Cambria Math" panose="02040503050406030204" pitchFamily="18" charset="0"/>
                          </a:rPr>
                        </m:ctrlPr>
                      </m:sSupPr>
                      <m:e>
                        <m:r>
                          <a:rPr lang="en-US" altLang="zh-CN" sz="1600" b="1" i="1" smtClean="0">
                            <a:latin typeface="Cambria Math" panose="02040503050406030204" pitchFamily="18" charset="0"/>
                          </a:rPr>
                          <m:t>𝑫</m:t>
                        </m:r>
                      </m:e>
                      <m:sup>
                        <m:r>
                          <a:rPr lang="en-US" altLang="zh-CN" sz="1600" b="1" i="1" smtClean="0">
                            <a:latin typeface="Cambria Math" panose="02040503050406030204" pitchFamily="18" charset="0"/>
                          </a:rPr>
                          <m:t>𝑴</m:t>
                        </m:r>
                      </m:sup>
                    </m:sSup>
                    <m:r>
                      <a:rPr lang="en-US" altLang="zh-CN" sz="1600" b="1" i="1">
                        <a:latin typeface="Cambria Math" panose="02040503050406030204" pitchFamily="18" charset="0"/>
                      </a:rPr>
                      <m:t> </m:t>
                    </m:r>
                  </m:oMath>
                </a14:m>
                <a:endParaRPr lang="en-US" altLang="zh-CN" sz="1600" dirty="0">
                  <a:latin typeface="思源黑体 CN Bold" panose="020B0800000000000000" pitchFamily="34" charset="-122"/>
                  <a:ea typeface="思源黑体 CN Bold" panose="020B0800000000000000" pitchFamily="34" charset="-122"/>
                </a:endParaRPr>
              </a:p>
              <a:p>
                <a:pPr lvl="1">
                  <a:lnSpc>
                    <a:spcPct val="150000"/>
                  </a:lnSpc>
                  <a:buFont typeface="Wingdings" panose="05000000000000000000" pitchFamily="2" charset="2"/>
                  <a:buChar char="ü"/>
                </a:pPr>
                <a:r>
                  <a:rPr lang="en-US" altLang="zh-CN" sz="1600" dirty="0">
                    <a:latin typeface="思源黑体 CN Bold" panose="020B0800000000000000" pitchFamily="34" charset="-122"/>
                    <a:ea typeface="思源黑体 CN Bold" panose="020B0800000000000000" pitchFamily="34" charset="-122"/>
                  </a:rPr>
                  <a:t>D=100</a:t>
                </a:r>
                <a:r>
                  <a:rPr lang="zh-CN" altLang="en-US" sz="1600" dirty="0">
                    <a:latin typeface="思源黑体 CN Bold" panose="020B0800000000000000" pitchFamily="34" charset="-122"/>
                    <a:ea typeface="思源黑体 CN Bold" panose="020B0800000000000000" pitchFamily="34" charset="-122"/>
                  </a:rPr>
                  <a:t>，</a:t>
                </a:r>
                <a:r>
                  <a:rPr lang="en-US" altLang="zh-CN" sz="1600" dirty="0">
                    <a:latin typeface="思源黑体 CN Bold" panose="020B0800000000000000" pitchFamily="34" charset="-122"/>
                    <a:ea typeface="思源黑体 CN Bold" panose="020B0800000000000000" pitchFamily="34" charset="-122"/>
                  </a:rPr>
                  <a:t>M=3</a:t>
                </a:r>
                <a:r>
                  <a:rPr lang="zh-CN" altLang="en-US" sz="1600" dirty="0">
                    <a:latin typeface="思源黑体 CN Bold" panose="020B0800000000000000" pitchFamily="34" charset="-122"/>
                    <a:ea typeface="思源黑体 CN Bold" panose="020B0800000000000000" pitchFamily="34" charset="-122"/>
                  </a:rPr>
                  <a:t>，参数数量</a:t>
                </a:r>
                <a14:m>
                  <m:oMath xmlns:m="http://schemas.openxmlformats.org/officeDocument/2006/math">
                    <m:sSup>
                      <m:sSupPr>
                        <m:ctrlPr>
                          <a:rPr lang="en-US" altLang="zh-CN" sz="1600" b="1" i="1">
                            <a:latin typeface="Cambria Math" panose="02040503050406030204" pitchFamily="18" charset="0"/>
                          </a:rPr>
                        </m:ctrlPr>
                      </m:sSupPr>
                      <m:e>
                        <m:r>
                          <a:rPr lang="en-US" altLang="zh-CN" sz="1600" b="1" i="0" smtClean="0">
                            <a:latin typeface="Cambria Math" panose="02040503050406030204" pitchFamily="18" charset="0"/>
                          </a:rPr>
                          <m:t>𝟏𝟎</m:t>
                        </m:r>
                      </m:e>
                      <m:sup>
                        <m:r>
                          <a:rPr lang="en-US" altLang="zh-CN" sz="1600" b="1" i="0" smtClean="0">
                            <a:latin typeface="Cambria Math" panose="02040503050406030204" pitchFamily="18" charset="0"/>
                          </a:rPr>
                          <m:t>𝟔</m:t>
                        </m:r>
                      </m:sup>
                    </m:sSup>
                    <m:r>
                      <a:rPr lang="en-US" altLang="zh-CN" sz="1600" b="1" i="1">
                        <a:latin typeface="Cambria Math" panose="02040503050406030204" pitchFamily="18" charset="0"/>
                      </a:rPr>
                      <m:t> </m:t>
                    </m:r>
                  </m:oMath>
                </a14:m>
                <a:r>
                  <a:rPr lang="zh-CN" altLang="en-US" sz="1600" dirty="0">
                    <a:latin typeface="思源黑体 CN Bold" panose="020B0800000000000000" pitchFamily="34" charset="-122"/>
                    <a:ea typeface="思源黑体 CN Bold" panose="020B0800000000000000" pitchFamily="34" charset="-122"/>
                  </a:rPr>
                  <a:t>，需要的训练数据量非常巨大，数量有限的样本很容易过拟合</a:t>
                </a:r>
                <a:endParaRPr lang="en-US" altLang="zh-CN" sz="1600" dirty="0">
                  <a:latin typeface="思源黑体 CN Bold" panose="020B0800000000000000" pitchFamily="34" charset="-122"/>
                  <a:ea typeface="思源黑体 CN Bold" panose="020B0800000000000000" pitchFamily="34" charset="-122"/>
                </a:endParaRPr>
              </a:p>
              <a:p>
                <a:pPr lvl="1">
                  <a:lnSpc>
                    <a:spcPct val="15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更普遍的问题是“维度灾难”：数据稀疏（空心）、距离失效（样本间距离相似）等</a:t>
                </a:r>
                <a:endParaRPr lang="en-US" altLang="zh-CN" sz="1600" dirty="0">
                  <a:latin typeface="思源黑体 CN Bold" panose="020B0800000000000000" pitchFamily="34" charset="-122"/>
                  <a:ea typeface="思源黑体 CN Bold" panose="020B0800000000000000" pitchFamily="34" charset="-122"/>
                </a:endParaRPr>
              </a:p>
              <a:p>
                <a:pPr marL="342900" indent="-342900">
                  <a:lnSpc>
                    <a:spcPct val="150000"/>
                  </a:lnSpc>
                  <a:buFont typeface="+mj-lt"/>
                  <a:buAutoNum type="arabicPeriod"/>
                </a:pPr>
                <a:r>
                  <a:rPr lang="zh-CN" altLang="en-US" sz="1800" dirty="0">
                    <a:latin typeface="思源黑体 CN Bold" panose="020B0800000000000000" pitchFamily="34" charset="-122"/>
                    <a:ea typeface="思源黑体 CN Bold" panose="020B0800000000000000" pitchFamily="34" charset="-122"/>
                  </a:rPr>
                  <a:t>大部分实际问题要处理的数据集是高维空间中的一个非线性局部空间</a:t>
                </a:r>
                <a:endParaRPr lang="en-US" altLang="zh-CN" sz="1800" dirty="0">
                  <a:latin typeface="思源黑体 CN Bold" panose="020B0800000000000000" pitchFamily="34" charset="-122"/>
                  <a:ea typeface="思源黑体 CN Bold" panose="020B0800000000000000" pitchFamily="34" charset="-122"/>
                </a:endParaRPr>
              </a:p>
              <a:p>
                <a:pPr marL="800100" lvl="2" indent="-342900">
                  <a:lnSpc>
                    <a:spcPct val="150000"/>
                  </a:lnSpc>
                  <a:spcBef>
                    <a:spcPts val="1000"/>
                  </a:spcBef>
                  <a:buFont typeface="Wingdings" panose="05000000000000000000" pitchFamily="2" charset="2"/>
                  <a:buChar char="ü"/>
                </a:pPr>
                <a:r>
                  <a:rPr lang="zh-CN" altLang="en-US" sz="1800" dirty="0">
                    <a:latin typeface="思源黑体 CN Bold" panose="020B0800000000000000" pitchFamily="34" charset="-122"/>
                    <a:ea typeface="思源黑体 CN Bold" panose="020B0800000000000000" pitchFamily="34" charset="-122"/>
                  </a:rPr>
                  <a:t>不需要很高的维度，但是要找到精简的有效维度（基函数）。</a:t>
                </a:r>
              </a:p>
              <a:p>
                <a:pPr marL="457200" lvl="1" indent="-457200">
                  <a:lnSpc>
                    <a:spcPct val="150000"/>
                  </a:lnSpc>
                  <a:spcBef>
                    <a:spcPts val="1000"/>
                  </a:spcBef>
                  <a:buFont typeface="+mj-lt"/>
                  <a:buAutoNum type="arabicPeriod" startAt="3"/>
                </a:pPr>
                <a:r>
                  <a:rPr lang="zh-CN" altLang="en-US" sz="1800" dirty="0">
                    <a:latin typeface="思源黑体 CN Bold" panose="020B0800000000000000" pitchFamily="34" charset="-122"/>
                    <a:ea typeface="思源黑体 CN Bold" panose="020B0800000000000000" pitchFamily="34" charset="-122"/>
                  </a:rPr>
                  <a:t>因此要寻找更为精巧的方法</a:t>
                </a:r>
                <a:endParaRPr lang="en-US" altLang="zh-CN" sz="1800" dirty="0">
                  <a:latin typeface="思源黑体 CN Bold" panose="020B0800000000000000" pitchFamily="34" charset="-122"/>
                  <a:ea typeface="思源黑体 CN Bold" panose="020B0800000000000000" pitchFamily="34" charset="-122"/>
                </a:endParaRPr>
              </a:p>
            </p:txBody>
          </p:sp>
        </mc:Choice>
        <mc:Fallback xmlns="">
          <p:sp>
            <p:nvSpPr>
              <p:cNvPr id="18" name="内容占位符 2">
                <a:extLst>
                  <a:ext uri="{FF2B5EF4-FFF2-40B4-BE49-F238E27FC236}">
                    <a16:creationId xmlns:a16="http://schemas.microsoft.com/office/drawing/2014/main" id="{DD30DF44-2D9A-4FFC-8BA2-655B125265E6}"/>
                  </a:ext>
                </a:extLst>
              </p:cNvPr>
              <p:cNvSpPr txBox="1">
                <a:spLocks noRot="1" noChangeAspect="1" noMove="1" noResize="1" noEditPoints="1" noAdjustHandles="1" noChangeArrowheads="1" noChangeShapeType="1" noTextEdit="1"/>
              </p:cNvSpPr>
              <p:nvPr/>
            </p:nvSpPr>
            <p:spPr>
              <a:xfrm>
                <a:off x="706872" y="1120231"/>
                <a:ext cx="10778256" cy="4351338"/>
              </a:xfrm>
              <a:prstGeom prst="rect">
                <a:avLst/>
              </a:prstGeom>
              <a:blipFill>
                <a:blip r:embed="rId3"/>
                <a:stretch>
                  <a:fillRect l="-792" t="-1120"/>
                </a:stretch>
              </a:blipFill>
            </p:spPr>
            <p:txBody>
              <a:bodyPr/>
              <a:lstStyle/>
              <a:p>
                <a:r>
                  <a:rPr lang="zh-CN" altLang="en-US">
                    <a:noFill/>
                  </a:rPr>
                  <a:t> </a:t>
                </a:r>
              </a:p>
            </p:txBody>
          </p:sp>
        </mc:Fallback>
      </mc:AlternateContent>
      <p:pic>
        <p:nvPicPr>
          <p:cNvPr id="7" name="图片 6">
            <a:extLst>
              <a:ext uri="{FF2B5EF4-FFF2-40B4-BE49-F238E27FC236}">
                <a16:creationId xmlns:a16="http://schemas.microsoft.com/office/drawing/2014/main" id="{3ED4F3DB-E40C-4B78-A235-5E29A1EB21C8}"/>
              </a:ext>
            </a:extLst>
          </p:cNvPr>
          <p:cNvPicPr>
            <a:picLocks noChangeAspect="1"/>
          </p:cNvPicPr>
          <p:nvPr/>
        </p:nvPicPr>
        <p:blipFill rotWithShape="1">
          <a:blip r:embed="rId4">
            <a:extLst>
              <a:ext uri="{28A0092B-C50C-407E-A947-70E740481C1C}">
                <a14:useLocalDpi xmlns:a14="http://schemas.microsoft.com/office/drawing/2010/main" val="0"/>
              </a:ext>
            </a:extLst>
          </a:blip>
          <a:srcRect l="2082" r="5594"/>
          <a:stretch/>
        </p:blipFill>
        <p:spPr>
          <a:xfrm>
            <a:off x="8137929" y="3796928"/>
            <a:ext cx="2726877" cy="2215234"/>
          </a:xfrm>
          <a:prstGeom prst="rect">
            <a:avLst/>
          </a:prstGeom>
        </p:spPr>
      </p:pic>
      <p:pic>
        <p:nvPicPr>
          <p:cNvPr id="8" name="内容占位符 4">
            <a:extLst>
              <a:ext uri="{FF2B5EF4-FFF2-40B4-BE49-F238E27FC236}">
                <a16:creationId xmlns:a16="http://schemas.microsoft.com/office/drawing/2014/main" id="{F88B62EA-BFBA-45FC-8E1F-63A39F5984F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22468" y="4518398"/>
            <a:ext cx="3231775" cy="1440000"/>
          </a:xfrm>
          <a:prstGeom prst="rect">
            <a:avLst/>
          </a:prstGeom>
        </p:spPr>
      </p:pic>
      <p:pic>
        <p:nvPicPr>
          <p:cNvPr id="9" name="内容占位符 10">
            <a:extLst>
              <a:ext uri="{FF2B5EF4-FFF2-40B4-BE49-F238E27FC236}">
                <a16:creationId xmlns:a16="http://schemas.microsoft.com/office/drawing/2014/main" id="{01C9F084-C529-4134-9B85-786220C51AC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59924" y="4518398"/>
            <a:ext cx="3678858" cy="1440000"/>
          </a:xfrm>
          <a:prstGeom prst="rect">
            <a:avLst/>
          </a:prstGeom>
        </p:spPr>
      </p:pic>
    </p:spTree>
    <p:extLst>
      <p:ext uri="{BB962C8B-B14F-4D97-AF65-F5344CB8AC3E}">
        <p14:creationId xmlns:p14="http://schemas.microsoft.com/office/powerpoint/2010/main" val="30285501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A1842CE1-3D6A-40AD-926D-30DD74251ED4}"/>
              </a:ext>
            </a:extLst>
          </p:cNvPr>
          <p:cNvGrpSpPr/>
          <p:nvPr/>
        </p:nvGrpSpPr>
        <p:grpSpPr>
          <a:xfrm>
            <a:off x="7399185" y="4191339"/>
            <a:ext cx="4573211" cy="1898885"/>
            <a:chOff x="7425311" y="3344352"/>
            <a:chExt cx="4573211" cy="1898885"/>
          </a:xfrm>
        </p:grpSpPr>
        <p:pic>
          <p:nvPicPr>
            <p:cNvPr id="12" name="图片 11">
              <a:extLst>
                <a:ext uri="{FF2B5EF4-FFF2-40B4-BE49-F238E27FC236}">
                  <a16:creationId xmlns:a16="http://schemas.microsoft.com/office/drawing/2014/main" id="{39A230C0-E596-4DBE-85CC-67EB17E8D54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0859"/>
            <a:stretch/>
          </p:blipFill>
          <p:spPr>
            <a:xfrm>
              <a:off x="7527176" y="3344352"/>
              <a:ext cx="3734414" cy="1898885"/>
            </a:xfrm>
            <a:prstGeom prst="rect">
              <a:avLst/>
            </a:prstGeom>
          </p:spPr>
        </p:pic>
        <p:cxnSp>
          <p:nvCxnSpPr>
            <p:cNvPr id="15" name="直接箭头连接符 14">
              <a:extLst>
                <a:ext uri="{FF2B5EF4-FFF2-40B4-BE49-F238E27FC236}">
                  <a16:creationId xmlns:a16="http://schemas.microsoft.com/office/drawing/2014/main" id="{31614C94-127B-49DC-8290-76BDC1C89633}"/>
                </a:ext>
              </a:extLst>
            </p:cNvPr>
            <p:cNvCxnSpPr>
              <a:cxnSpLocks/>
            </p:cNvCxnSpPr>
            <p:nvPr/>
          </p:nvCxnSpPr>
          <p:spPr>
            <a:xfrm>
              <a:off x="7622715" y="4160262"/>
              <a:ext cx="3816000" cy="0"/>
            </a:xfrm>
            <a:prstGeom prst="straightConnector1">
              <a:avLst/>
            </a:prstGeom>
            <a:ln w="19050">
              <a:solidFill>
                <a:srgbClr val="7030A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矩形 19">
                  <a:extLst>
                    <a:ext uri="{FF2B5EF4-FFF2-40B4-BE49-F238E27FC236}">
                      <a16:creationId xmlns:a16="http://schemas.microsoft.com/office/drawing/2014/main" id="{33B1BD9D-6713-4D8C-B40B-F47757B2810F}"/>
                    </a:ext>
                  </a:extLst>
                </p:cNvPr>
                <p:cNvSpPr/>
                <p:nvPr/>
              </p:nvSpPr>
              <p:spPr>
                <a:xfrm>
                  <a:off x="11261590" y="4079128"/>
                  <a:ext cx="73693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b="1" i="1">
                            <a:solidFill>
                              <a:srgbClr val="7030A0"/>
                            </a:solidFill>
                            <a:latin typeface="Cambria Math" panose="02040503050406030204" pitchFamily="18" charset="0"/>
                            <a:ea typeface="思源黑体 CN Bold" panose="020B0800000000000000" pitchFamily="34" charset="-122"/>
                          </a:rPr>
                          <m:t>𝝓</m:t>
                        </m:r>
                        <m:d>
                          <m:dPr>
                            <m:ctrlPr>
                              <a:rPr lang="en-US" altLang="zh-CN" i="1">
                                <a:solidFill>
                                  <a:srgbClr val="7030A0"/>
                                </a:solidFill>
                                <a:latin typeface="Cambria Math" panose="02040503050406030204" pitchFamily="18" charset="0"/>
                                <a:ea typeface="思源黑体 CN Bold" panose="020B0800000000000000" pitchFamily="34" charset="-122"/>
                              </a:rPr>
                            </m:ctrlPr>
                          </m:dPr>
                          <m:e>
                            <m:r>
                              <a:rPr lang="en-US" altLang="zh-CN" b="1">
                                <a:solidFill>
                                  <a:srgbClr val="7030A0"/>
                                </a:solidFill>
                                <a:latin typeface="Cambria Math" panose="02040503050406030204" pitchFamily="18" charset="0"/>
                                <a:ea typeface="思源黑体 CN Bold" panose="020B0800000000000000" pitchFamily="34" charset="-122"/>
                              </a:rPr>
                              <m:t>𝐱</m:t>
                            </m:r>
                          </m:e>
                        </m:d>
                      </m:oMath>
                    </m:oMathPara>
                  </a14:m>
                  <a:endParaRPr lang="zh-CN" altLang="en-US" dirty="0">
                    <a:solidFill>
                      <a:srgbClr val="7030A0"/>
                    </a:solidFill>
                  </a:endParaRPr>
                </a:p>
              </p:txBody>
            </p:sp>
          </mc:Choice>
          <mc:Fallback xmlns="">
            <p:sp>
              <p:nvSpPr>
                <p:cNvPr id="20" name="矩形 19">
                  <a:extLst>
                    <a:ext uri="{FF2B5EF4-FFF2-40B4-BE49-F238E27FC236}">
                      <a16:creationId xmlns:a16="http://schemas.microsoft.com/office/drawing/2014/main" id="{33B1BD9D-6713-4D8C-B40B-F47757B2810F}"/>
                    </a:ext>
                  </a:extLst>
                </p:cNvPr>
                <p:cNvSpPr>
                  <a:spLocks noRot="1" noChangeAspect="1" noMove="1" noResize="1" noEditPoints="1" noAdjustHandles="1" noChangeArrowheads="1" noChangeShapeType="1" noTextEdit="1"/>
                </p:cNvSpPr>
                <p:nvPr/>
              </p:nvSpPr>
              <p:spPr>
                <a:xfrm>
                  <a:off x="11261590" y="4079128"/>
                  <a:ext cx="736932" cy="369332"/>
                </a:xfrm>
                <a:prstGeom prst="rect">
                  <a:avLst/>
                </a:prstGeom>
                <a:blipFill>
                  <a:blip r:embed="rId3"/>
                  <a:stretch>
                    <a:fillRect b="-131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矩形 20">
                  <a:extLst>
                    <a:ext uri="{FF2B5EF4-FFF2-40B4-BE49-F238E27FC236}">
                      <a16:creationId xmlns:a16="http://schemas.microsoft.com/office/drawing/2014/main" id="{C4D93B41-6F02-4CA8-B8DD-2C921A64C359}"/>
                    </a:ext>
                  </a:extLst>
                </p:cNvPr>
                <p:cNvSpPr/>
                <p:nvPr/>
              </p:nvSpPr>
              <p:spPr>
                <a:xfrm>
                  <a:off x="7425311" y="4125730"/>
                  <a:ext cx="38504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1" i="1" smtClean="0">
                            <a:solidFill>
                              <a:srgbClr val="7030A0"/>
                            </a:solidFill>
                            <a:latin typeface="Cambria Math" panose="02040503050406030204" pitchFamily="18" charset="0"/>
                            <a:ea typeface="思源黑体 CN Bold" panose="020B0800000000000000" pitchFamily="34" charset="-122"/>
                          </a:rPr>
                          <m:t>𝟎</m:t>
                        </m:r>
                      </m:oMath>
                    </m:oMathPara>
                  </a14:m>
                  <a:endParaRPr lang="zh-CN" altLang="en-US" dirty="0">
                    <a:solidFill>
                      <a:srgbClr val="7030A0"/>
                    </a:solidFill>
                  </a:endParaRPr>
                </a:p>
              </p:txBody>
            </p:sp>
          </mc:Choice>
          <mc:Fallback xmlns="">
            <p:sp>
              <p:nvSpPr>
                <p:cNvPr id="21" name="矩形 20">
                  <a:extLst>
                    <a:ext uri="{FF2B5EF4-FFF2-40B4-BE49-F238E27FC236}">
                      <a16:creationId xmlns:a16="http://schemas.microsoft.com/office/drawing/2014/main" id="{C4D93B41-6F02-4CA8-B8DD-2C921A64C359}"/>
                    </a:ext>
                  </a:extLst>
                </p:cNvPr>
                <p:cNvSpPr>
                  <a:spLocks noRot="1" noChangeAspect="1" noMove="1" noResize="1" noEditPoints="1" noAdjustHandles="1" noChangeArrowheads="1" noChangeShapeType="1" noTextEdit="1"/>
                </p:cNvSpPr>
                <p:nvPr/>
              </p:nvSpPr>
              <p:spPr>
                <a:xfrm>
                  <a:off x="7425311" y="4125730"/>
                  <a:ext cx="385041" cy="369332"/>
                </a:xfrm>
                <a:prstGeom prst="rect">
                  <a:avLst/>
                </a:prstGeom>
                <a:blipFill>
                  <a:blip r:embed="rId4"/>
                  <a:stretch>
                    <a:fillRect/>
                  </a:stretch>
                </a:blipFill>
              </p:spPr>
              <p:txBody>
                <a:bodyPr/>
                <a:lstStyle/>
                <a:p>
                  <a:r>
                    <a:rPr lang="zh-CN" altLang="en-US">
                      <a:noFill/>
                    </a:rPr>
                    <a:t> </a:t>
                  </a:r>
                </a:p>
              </p:txBody>
            </p:sp>
          </mc:Fallback>
        </mc:AlternateContent>
      </p:grpSp>
      <p:sp>
        <p:nvSpPr>
          <p:cNvPr id="2" name="标题 1">
            <a:extLst>
              <a:ext uri="{FF2B5EF4-FFF2-40B4-BE49-F238E27FC236}">
                <a16:creationId xmlns:a16="http://schemas.microsoft.com/office/drawing/2014/main" id="{45FF62DE-4BB3-4348-B1D5-29EFB6D16ADB}"/>
              </a:ext>
            </a:extLst>
          </p:cNvPr>
          <p:cNvSpPr>
            <a:spLocks noGrp="1"/>
          </p:cNvSpPr>
          <p:nvPr>
            <p:ph type="title" idx="4294967295"/>
          </p:nvPr>
        </p:nvSpPr>
        <p:spPr>
          <a:xfrm>
            <a:off x="318476" y="-20567"/>
            <a:ext cx="10515600" cy="795045"/>
          </a:xfrm>
        </p:spPr>
        <p:txBody>
          <a:bodyPr>
            <a:normAutofit/>
          </a:bodyPr>
          <a:lstStyle/>
          <a:p>
            <a:r>
              <a:rPr lang="en-US" altLang="zh-CN" sz="3600" dirty="0">
                <a:latin typeface="思源黑体 CN Bold" panose="020B0800000000000000" pitchFamily="34" charset="-122"/>
                <a:ea typeface="思源黑体 CN Bold" panose="020B0800000000000000" pitchFamily="34" charset="-122"/>
              </a:rPr>
              <a:t>1 </a:t>
            </a:r>
            <a:r>
              <a:rPr lang="zh-CN" altLang="en-US" sz="3600" dirty="0">
                <a:latin typeface="思源黑体 CN Bold" panose="020B0800000000000000" pitchFamily="34" charset="-122"/>
                <a:ea typeface="思源黑体 CN Bold" panose="020B0800000000000000" pitchFamily="34" charset="-122"/>
              </a:rPr>
              <a:t>神经网络的出发点：</a:t>
            </a:r>
            <a:r>
              <a:rPr lang="zh-CN" altLang="en-US" sz="2400" dirty="0">
                <a:latin typeface="思源黑体 CN Bold" panose="020B0800000000000000" pitchFamily="34" charset="-122"/>
                <a:ea typeface="思源黑体 CN Bold" panose="020B0800000000000000" pitchFamily="34" charset="-122"/>
              </a:rPr>
              <a:t>高维空间中数据的分布</a:t>
            </a:r>
            <a:endParaRPr lang="zh-CN" altLang="en-US" sz="3600" dirty="0">
              <a:latin typeface="思源黑体 CN Bold" panose="020B0800000000000000" pitchFamily="34" charset="-122"/>
              <a:ea typeface="思源黑体 CN Bold" panose="020B0800000000000000" pitchFamily="34" charset="-122"/>
            </a:endParaRPr>
          </a:p>
        </p:txBody>
      </p:sp>
      <p:sp>
        <p:nvSpPr>
          <p:cNvPr id="3" name="内容占位符 2">
            <a:extLst>
              <a:ext uri="{FF2B5EF4-FFF2-40B4-BE49-F238E27FC236}">
                <a16:creationId xmlns:a16="http://schemas.microsoft.com/office/drawing/2014/main" id="{A744DC08-F132-4EA6-9FE5-B85095CE09B0}"/>
              </a:ext>
            </a:extLst>
          </p:cNvPr>
          <p:cNvSpPr>
            <a:spLocks noGrp="1"/>
          </p:cNvSpPr>
          <p:nvPr>
            <p:ph idx="4294967295"/>
          </p:nvPr>
        </p:nvSpPr>
        <p:spPr>
          <a:xfrm>
            <a:off x="592544" y="1075609"/>
            <a:ext cx="7005414" cy="4706781"/>
          </a:xfrm>
        </p:spPr>
        <p:txBody>
          <a:bodyPr>
            <a:normAutofit/>
          </a:bodyPr>
          <a:lstStyle/>
          <a:p>
            <a:pPr marL="342900" indent="-342900">
              <a:lnSpc>
                <a:spcPct val="130000"/>
              </a:lnSpc>
              <a:buFont typeface="+mj-lt"/>
              <a:buAutoNum type="arabicPeriod"/>
            </a:pPr>
            <a:r>
              <a:rPr lang="zh-CN" altLang="en-US" sz="1800" dirty="0">
                <a:latin typeface="思源黑体 CN Bold" panose="020B0800000000000000" pitchFamily="34" charset="-122"/>
                <a:ea typeface="思源黑体 CN Bold" panose="020B0800000000000000" pitchFamily="34" charset="-122"/>
              </a:rPr>
              <a:t>数据的局部性</a:t>
            </a:r>
            <a:endParaRPr lang="en-US" altLang="zh-CN" sz="1800" dirty="0">
              <a:latin typeface="思源黑体 CN Bold" panose="020B0800000000000000" pitchFamily="34" charset="-122"/>
              <a:ea typeface="思源黑体 CN Bold" panose="020B0800000000000000" pitchFamily="34" charset="-122"/>
            </a:endParaRPr>
          </a:p>
          <a:p>
            <a:pPr lvl="1">
              <a:lnSpc>
                <a:spcPct val="130000"/>
              </a:lnSpc>
              <a:spcBef>
                <a:spcPts val="1000"/>
              </a:spcBef>
            </a:pPr>
            <a:r>
              <a:rPr lang="zh-CN" altLang="en-US" sz="1600" dirty="0">
                <a:latin typeface="思源黑体 CN Bold" panose="020B0800000000000000" pitchFamily="34" charset="-122"/>
                <a:ea typeface="思源黑体 CN Bold" panose="020B0800000000000000" pitchFamily="34" charset="-122"/>
              </a:rPr>
              <a:t>很多应用中，数据不分布在整个空间，局限在一个低维局部空间</a:t>
            </a:r>
            <a:endParaRPr lang="en-US" altLang="zh-CN" sz="1600" dirty="0">
              <a:latin typeface="思源黑体 CN Bold" panose="020B0800000000000000" pitchFamily="34" charset="-122"/>
              <a:ea typeface="思源黑体 CN Bold" panose="020B0800000000000000" pitchFamily="34" charset="-122"/>
            </a:endParaRPr>
          </a:p>
          <a:p>
            <a:pPr lvl="2">
              <a:lnSpc>
                <a:spcPct val="100000"/>
              </a:lnSpc>
              <a:spcBef>
                <a:spcPts val="200"/>
              </a:spcBef>
              <a:buFont typeface="Wingdings" panose="05000000000000000000" pitchFamily="2" charset="2"/>
              <a:buChar char="ü"/>
            </a:pPr>
            <a:r>
              <a:rPr lang="zh-CN" altLang="en-US" sz="1400" dirty="0">
                <a:latin typeface="思源黑体 CN Bold" panose="020B0800000000000000" pitchFamily="34" charset="-122"/>
                <a:ea typeface="思源黑体 CN Bold" panose="020B0800000000000000" pitchFamily="34" charset="-122"/>
              </a:rPr>
              <a:t>低维流形</a:t>
            </a:r>
            <a:r>
              <a:rPr lang="en-US" altLang="zh-CN" sz="1400" dirty="0">
                <a:latin typeface="思源黑体 CN Bold" panose="020B0800000000000000" pitchFamily="34" charset="-122"/>
                <a:ea typeface="思源黑体 CN Bold" panose="020B0800000000000000" pitchFamily="34" charset="-122"/>
              </a:rPr>
              <a:t> Manifold</a:t>
            </a:r>
            <a:r>
              <a:rPr lang="zh-CN" altLang="en-US" sz="1400" dirty="0">
                <a:latin typeface="思源黑体 CN Bold" panose="020B0800000000000000" pitchFamily="34" charset="-122"/>
                <a:ea typeface="思源黑体 CN Bold" panose="020B0800000000000000" pitchFamily="34" charset="-122"/>
              </a:rPr>
              <a:t>。</a:t>
            </a:r>
            <a:endParaRPr lang="en-US" altLang="zh-CN" sz="1400" dirty="0">
              <a:latin typeface="思源黑体 CN Bold" panose="020B0800000000000000" pitchFamily="34" charset="-122"/>
              <a:ea typeface="思源黑体 CN Bold" panose="020B0800000000000000" pitchFamily="34" charset="-122"/>
            </a:endParaRPr>
          </a:p>
          <a:p>
            <a:pPr lvl="1">
              <a:lnSpc>
                <a:spcPct val="130000"/>
              </a:lnSpc>
              <a:spcBef>
                <a:spcPts val="1000"/>
              </a:spcBef>
            </a:pPr>
            <a:r>
              <a:rPr lang="zh-CN" altLang="en-US" sz="1600" dirty="0">
                <a:latin typeface="思源黑体 CN Bold" panose="020B0800000000000000" pitchFamily="34" charset="-122"/>
                <a:ea typeface="思源黑体 CN Bold" panose="020B0800000000000000" pitchFamily="34" charset="-122"/>
              </a:rPr>
              <a:t>用线性方法在高维空间建立模型计算困难、效率低、笨重。</a:t>
            </a:r>
            <a:endParaRPr lang="en-US" altLang="zh-CN" sz="1600" dirty="0">
              <a:latin typeface="思源黑体 CN Bold" panose="020B0800000000000000" pitchFamily="34" charset="-122"/>
              <a:ea typeface="思源黑体 CN Bold" panose="020B0800000000000000" pitchFamily="34" charset="-122"/>
            </a:endParaRPr>
          </a:p>
          <a:p>
            <a:pPr marL="342900" indent="-342900">
              <a:lnSpc>
                <a:spcPct val="130000"/>
              </a:lnSpc>
              <a:buFont typeface="+mj-lt"/>
              <a:buAutoNum type="arabicPeriod"/>
            </a:pPr>
            <a:r>
              <a:rPr lang="zh-CN" altLang="en-US" sz="1800" dirty="0">
                <a:latin typeface="思源黑体 CN Bold" panose="020B0800000000000000" pitchFamily="34" charset="-122"/>
                <a:ea typeface="思源黑体 CN Bold" panose="020B0800000000000000" pitchFamily="34" charset="-122"/>
              </a:rPr>
              <a:t>应直接学习（描述）嵌入在高维空间的低维流形</a:t>
            </a:r>
            <a:endParaRPr lang="en-US" altLang="zh-CN" sz="1800" dirty="0">
              <a:latin typeface="思源黑体 CN Bold" panose="020B0800000000000000" pitchFamily="34" charset="-122"/>
              <a:ea typeface="思源黑体 CN Bold" panose="020B0800000000000000" pitchFamily="34" charset="-122"/>
            </a:endParaRPr>
          </a:p>
          <a:p>
            <a:pPr lvl="1">
              <a:lnSpc>
                <a:spcPct val="130000"/>
              </a:lnSpc>
              <a:spcBef>
                <a:spcPts val="1000"/>
              </a:spcBef>
            </a:pPr>
            <a:r>
              <a:rPr lang="zh-CN" altLang="en-US" sz="1600" dirty="0">
                <a:latin typeface="思源黑体 CN Bold" panose="020B0800000000000000" pitchFamily="34" charset="-122"/>
                <a:ea typeface="思源黑体 CN Bold" panose="020B0800000000000000" pitchFamily="34" charset="-122"/>
              </a:rPr>
              <a:t>找到一组最精简的基函数，能够重建这个流形中所有数据。</a:t>
            </a:r>
            <a:endParaRPr lang="en-US" altLang="zh-CN" sz="1600" dirty="0">
              <a:latin typeface="思源黑体 CN Bold" panose="020B0800000000000000" pitchFamily="34" charset="-122"/>
              <a:ea typeface="思源黑体 CN Bold" panose="020B0800000000000000" pitchFamily="34" charset="-122"/>
            </a:endParaRPr>
          </a:p>
          <a:p>
            <a:pPr lvl="1">
              <a:lnSpc>
                <a:spcPct val="130000"/>
              </a:lnSpc>
              <a:spcBef>
                <a:spcPts val="1000"/>
              </a:spcBef>
            </a:pPr>
            <a:r>
              <a:rPr lang="zh-CN" altLang="en-US" sz="1600" dirty="0">
                <a:latin typeface="思源黑体 CN Bold" panose="020B0800000000000000" pitchFamily="34" charset="-122"/>
                <a:ea typeface="思源黑体 CN Bold" panose="020B0800000000000000" pitchFamily="34" charset="-122"/>
              </a:rPr>
              <a:t>流形中的数据在基函数上的系数就是其在流形中的坐标。</a:t>
            </a:r>
            <a:endParaRPr lang="en-US" altLang="zh-CN" sz="1600" dirty="0">
              <a:latin typeface="思源黑体 CN Bold" panose="020B0800000000000000" pitchFamily="34" charset="-122"/>
              <a:ea typeface="思源黑体 CN Bold" panose="020B0800000000000000" pitchFamily="34" charset="-122"/>
            </a:endParaRPr>
          </a:p>
          <a:p>
            <a:pPr lvl="1">
              <a:lnSpc>
                <a:spcPct val="130000"/>
              </a:lnSpc>
              <a:spcBef>
                <a:spcPts val="1000"/>
              </a:spcBef>
            </a:pPr>
            <a:r>
              <a:rPr lang="zh-CN" altLang="en-US" sz="1600" dirty="0">
                <a:latin typeface="思源黑体 CN Bold" panose="020B0800000000000000" pitchFamily="34" charset="-122"/>
                <a:ea typeface="思源黑体 CN Bold" panose="020B0800000000000000" pitchFamily="34" charset="-122"/>
              </a:rPr>
              <a:t>用流形内的坐标计算欧式距离，实现回归和分类。</a:t>
            </a:r>
            <a:endParaRPr lang="en-US" altLang="zh-CN" sz="1600" dirty="0">
              <a:latin typeface="思源黑体 CN Bold" panose="020B0800000000000000" pitchFamily="34" charset="-122"/>
              <a:ea typeface="思源黑体 CN Bold" panose="020B0800000000000000" pitchFamily="34" charset="-122"/>
            </a:endParaRPr>
          </a:p>
          <a:p>
            <a:pPr lvl="1">
              <a:lnSpc>
                <a:spcPct val="130000"/>
              </a:lnSpc>
              <a:spcBef>
                <a:spcPts val="1000"/>
              </a:spcBef>
            </a:pPr>
            <a:r>
              <a:rPr lang="zh-CN" altLang="en-US" sz="1600" dirty="0">
                <a:latin typeface="思源黑体 CN Bold" panose="020B0800000000000000" pitchFamily="34" charset="-122"/>
                <a:ea typeface="思源黑体 CN Bold" panose="020B0800000000000000" pitchFamily="34" charset="-122"/>
              </a:rPr>
              <a:t>不用原始空间内的欧式距离计算回归和分类。</a:t>
            </a:r>
            <a:endParaRPr lang="en-US" altLang="zh-CN" sz="1600" dirty="0">
              <a:latin typeface="思源黑体 CN Bold" panose="020B0800000000000000" pitchFamily="34" charset="-122"/>
              <a:ea typeface="思源黑体 CN Bold" panose="020B0800000000000000" pitchFamily="34" charset="-122"/>
            </a:endParaRPr>
          </a:p>
          <a:p>
            <a:endParaRPr lang="zh-CN" altLang="en-US" sz="1200" dirty="0"/>
          </a:p>
        </p:txBody>
      </p:sp>
      <p:pic>
        <p:nvPicPr>
          <p:cNvPr id="7" name="图片 6">
            <a:extLst>
              <a:ext uri="{FF2B5EF4-FFF2-40B4-BE49-F238E27FC236}">
                <a16:creationId xmlns:a16="http://schemas.microsoft.com/office/drawing/2014/main" id="{0A6B8C24-AC35-4F86-9350-152C085A1A4A}"/>
              </a:ext>
            </a:extLst>
          </p:cNvPr>
          <p:cNvPicPr>
            <a:picLocks noChangeAspect="1"/>
          </p:cNvPicPr>
          <p:nvPr/>
        </p:nvPicPr>
        <p:blipFill rotWithShape="1">
          <a:blip r:embed="rId5"/>
          <a:srcRect l="5495" t="3648" r="5304" b="4885"/>
          <a:stretch/>
        </p:blipFill>
        <p:spPr>
          <a:xfrm>
            <a:off x="7448799" y="2062572"/>
            <a:ext cx="1963120" cy="1728000"/>
          </a:xfrm>
          <a:prstGeom prst="rect">
            <a:avLst/>
          </a:prstGeom>
        </p:spPr>
      </p:pic>
      <p:sp>
        <p:nvSpPr>
          <p:cNvPr id="9" name="矩形 8">
            <a:extLst>
              <a:ext uri="{FF2B5EF4-FFF2-40B4-BE49-F238E27FC236}">
                <a16:creationId xmlns:a16="http://schemas.microsoft.com/office/drawing/2014/main" id="{2C6D4E83-3D65-496F-8981-136ACD0FAF34}"/>
              </a:ext>
            </a:extLst>
          </p:cNvPr>
          <p:cNvSpPr/>
          <p:nvPr/>
        </p:nvSpPr>
        <p:spPr>
          <a:xfrm>
            <a:off x="7566982" y="3846107"/>
            <a:ext cx="1726755" cy="307777"/>
          </a:xfrm>
          <a:prstGeom prst="rect">
            <a:avLst/>
          </a:prstGeom>
        </p:spPr>
        <p:txBody>
          <a:bodyPr wrap="none">
            <a:spAutoFit/>
          </a:bodyPr>
          <a:lstStyle/>
          <a:p>
            <a:r>
              <a:rPr lang="en-US" altLang="zh-CN" sz="1400" dirty="0">
                <a:latin typeface="思源黑体 CN Bold" panose="020B0800000000000000" pitchFamily="34" charset="-122"/>
                <a:ea typeface="思源黑体 CN Bold" panose="020B0800000000000000" pitchFamily="34" charset="-122"/>
              </a:rPr>
              <a:t>2</a:t>
            </a:r>
            <a:r>
              <a:rPr lang="zh-CN" altLang="en-US" sz="1400" dirty="0">
                <a:latin typeface="思源黑体 CN Bold" panose="020B0800000000000000" pitchFamily="34" charset="-122"/>
                <a:ea typeface="思源黑体 CN Bold" panose="020B0800000000000000" pitchFamily="34" charset="-122"/>
              </a:rPr>
              <a:t>维空间不可分数据</a:t>
            </a:r>
          </a:p>
        </p:txBody>
      </p:sp>
      <p:sp>
        <p:nvSpPr>
          <p:cNvPr id="10" name="矩形 9">
            <a:extLst>
              <a:ext uri="{FF2B5EF4-FFF2-40B4-BE49-F238E27FC236}">
                <a16:creationId xmlns:a16="http://schemas.microsoft.com/office/drawing/2014/main" id="{9FCF8744-1463-4865-A043-A8EAA9A1547F}"/>
              </a:ext>
            </a:extLst>
          </p:cNvPr>
          <p:cNvSpPr/>
          <p:nvPr/>
        </p:nvSpPr>
        <p:spPr>
          <a:xfrm>
            <a:off x="9492484" y="3752924"/>
            <a:ext cx="1985997" cy="523220"/>
          </a:xfrm>
          <a:prstGeom prst="rect">
            <a:avLst/>
          </a:prstGeom>
        </p:spPr>
        <p:txBody>
          <a:bodyPr wrap="square">
            <a:spAutoFit/>
          </a:bodyPr>
          <a:lstStyle/>
          <a:p>
            <a:pPr algn="ctr"/>
            <a:r>
              <a:rPr lang="zh-CN" altLang="en-US" sz="1400" dirty="0">
                <a:latin typeface="思源黑体 CN Bold" panose="020B0800000000000000" pitchFamily="34" charset="-122"/>
                <a:ea typeface="思源黑体 CN Bold" panose="020B0800000000000000" pitchFamily="34" charset="-122"/>
              </a:rPr>
              <a:t>嵌入在</a:t>
            </a:r>
            <a:r>
              <a:rPr lang="en-US" altLang="zh-CN" sz="1400" dirty="0">
                <a:latin typeface="思源黑体 CN Bold" panose="020B0800000000000000" pitchFamily="34" charset="-122"/>
                <a:ea typeface="思源黑体 CN Bold" panose="020B0800000000000000" pitchFamily="34" charset="-122"/>
              </a:rPr>
              <a:t>2</a:t>
            </a:r>
            <a:r>
              <a:rPr lang="zh-CN" altLang="en-US" sz="1400" dirty="0">
                <a:latin typeface="思源黑体 CN Bold" panose="020B0800000000000000" pitchFamily="34" charset="-122"/>
                <a:ea typeface="思源黑体 CN Bold" panose="020B0800000000000000" pitchFamily="34" charset="-122"/>
              </a:rPr>
              <a:t>维空间中的</a:t>
            </a:r>
            <a:endParaRPr lang="en-US" altLang="zh-CN" sz="1400" dirty="0">
              <a:latin typeface="思源黑体 CN Bold" panose="020B0800000000000000" pitchFamily="34" charset="-122"/>
              <a:ea typeface="思源黑体 CN Bold" panose="020B0800000000000000" pitchFamily="34" charset="-122"/>
            </a:endParaRPr>
          </a:p>
          <a:p>
            <a:pPr algn="ctr"/>
            <a:r>
              <a:rPr lang="en-US" altLang="zh-CN" sz="1400" dirty="0">
                <a:latin typeface="思源黑体 CN Bold" panose="020B0800000000000000" pitchFamily="34" charset="-122"/>
                <a:ea typeface="思源黑体 CN Bold" panose="020B0800000000000000" pitchFamily="34" charset="-122"/>
              </a:rPr>
              <a:t>1</a:t>
            </a:r>
            <a:r>
              <a:rPr lang="zh-CN" altLang="en-US" sz="1400" dirty="0">
                <a:latin typeface="思源黑体 CN Bold" panose="020B0800000000000000" pitchFamily="34" charset="-122"/>
                <a:ea typeface="思源黑体 CN Bold" panose="020B0800000000000000" pitchFamily="34" charset="-122"/>
              </a:rPr>
              <a:t>维可分流形</a:t>
            </a:r>
            <a:endParaRPr lang="en-US" altLang="zh-CN" sz="1400" dirty="0">
              <a:latin typeface="思源黑体 CN Bold" panose="020B0800000000000000" pitchFamily="34" charset="-122"/>
              <a:ea typeface="思源黑体 CN Bold" panose="020B0800000000000000" pitchFamily="34" charset="-122"/>
            </a:endParaRPr>
          </a:p>
        </p:txBody>
      </p:sp>
      <p:sp>
        <p:nvSpPr>
          <p:cNvPr id="13" name="矩形 12">
            <a:extLst>
              <a:ext uri="{FF2B5EF4-FFF2-40B4-BE49-F238E27FC236}">
                <a16:creationId xmlns:a16="http://schemas.microsoft.com/office/drawing/2014/main" id="{4ABAE4AD-F496-416B-9144-0BCB772D9DA6}"/>
              </a:ext>
            </a:extLst>
          </p:cNvPr>
          <p:cNvSpPr/>
          <p:nvPr/>
        </p:nvSpPr>
        <p:spPr>
          <a:xfrm>
            <a:off x="8439230" y="5308609"/>
            <a:ext cx="2098503" cy="307777"/>
          </a:xfrm>
          <a:prstGeom prst="rect">
            <a:avLst/>
          </a:prstGeom>
        </p:spPr>
        <p:txBody>
          <a:bodyPr wrap="square">
            <a:spAutoFit/>
          </a:bodyPr>
          <a:lstStyle/>
          <a:p>
            <a:pPr algn="ctr"/>
            <a:r>
              <a:rPr lang="en-US" altLang="zh-CN" sz="1400" dirty="0">
                <a:latin typeface="思源黑体 CN Bold" panose="020B0800000000000000" pitchFamily="34" charset="-122"/>
                <a:ea typeface="思源黑体 CN Bold" panose="020B0800000000000000" pitchFamily="34" charset="-122"/>
              </a:rPr>
              <a:t>1</a:t>
            </a:r>
            <a:r>
              <a:rPr lang="zh-CN" altLang="en-US" sz="1400" dirty="0">
                <a:latin typeface="思源黑体 CN Bold" panose="020B0800000000000000" pitchFamily="34" charset="-122"/>
                <a:ea typeface="思源黑体 CN Bold" panose="020B0800000000000000" pitchFamily="34" charset="-122"/>
              </a:rPr>
              <a:t>维空间可分数据</a:t>
            </a:r>
            <a:endParaRPr lang="en-US" altLang="zh-CN" sz="1400" dirty="0">
              <a:latin typeface="思源黑体 CN Bold" panose="020B0800000000000000" pitchFamily="34" charset="-122"/>
              <a:ea typeface="思源黑体 CN Bold" panose="020B0800000000000000" pitchFamily="34" charset="-122"/>
            </a:endParaRP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624B3D88-96EE-4483-B7A8-54FB9ED96F25}"/>
                  </a:ext>
                </a:extLst>
              </p:cNvPr>
              <p:cNvSpPr/>
              <p:nvPr/>
            </p:nvSpPr>
            <p:spPr>
              <a:xfrm>
                <a:off x="860258" y="5839762"/>
                <a:ext cx="10829340" cy="410562"/>
              </a:xfrm>
              <a:prstGeom prst="rect">
                <a:avLst/>
              </a:prstGeom>
            </p:spPr>
            <p:txBody>
              <a:bodyPr wrap="square">
                <a:spAutoFit/>
              </a:bodyPr>
              <a:lstStyle/>
              <a:p>
                <a:pPr algn="ctr">
                  <a:lnSpc>
                    <a:spcPct val="150000"/>
                  </a:lnSpc>
                </a:pPr>
                <a:r>
                  <a:rPr lang="zh-CN" altLang="en-US" sz="1600" dirty="0">
                    <a:latin typeface="思源黑体 CN Bold" panose="020B0800000000000000" pitchFamily="34" charset="-122"/>
                    <a:ea typeface="思源黑体 CN Bold" panose="020B0800000000000000" pitchFamily="34" charset="-122"/>
                  </a:rPr>
                  <a:t>流形内部的距离用欧氏距离度量，有点像重新排列了原来的数据，</a:t>
                </a:r>
                <a:r>
                  <a:rPr lang="zh-CN" altLang="en-US" sz="1600" dirty="0">
                    <a:solidFill>
                      <a:srgbClr val="FF0000"/>
                    </a:solidFill>
                    <a:latin typeface="思源黑体 CN Bold" panose="020B0800000000000000" pitchFamily="34" charset="-122"/>
                    <a:ea typeface="思源黑体 CN Bold" panose="020B0800000000000000" pitchFamily="34" charset="-122"/>
                  </a:rPr>
                  <a:t>让</a:t>
                </a:r>
                <a:r>
                  <a:rPr lang="en-US" altLang="zh-CN" sz="1600" dirty="0">
                    <a:solidFill>
                      <a:srgbClr val="FF0000"/>
                    </a:solidFill>
                    <a:latin typeface="思源黑体 CN Bold" panose="020B0800000000000000" pitchFamily="34" charset="-122"/>
                    <a:ea typeface="思源黑体 CN Bold" panose="020B0800000000000000" pitchFamily="34" charset="-122"/>
                  </a:rPr>
                  <a:t>t</a:t>
                </a:r>
                <a:r>
                  <a:rPr lang="zh-CN" altLang="en-US" sz="1600" dirty="0">
                    <a:solidFill>
                      <a:srgbClr val="FF0000"/>
                    </a:solidFill>
                    <a:latin typeface="思源黑体 CN Bold" panose="020B0800000000000000" pitchFamily="34" charset="-122"/>
                    <a:ea typeface="思源黑体 CN Bold" panose="020B0800000000000000" pitchFamily="34" charset="-122"/>
                  </a:rPr>
                  <a:t>值接近的数据在</a:t>
                </a:r>
                <a14:m>
                  <m:oMath xmlns:m="http://schemas.openxmlformats.org/officeDocument/2006/math">
                    <m:r>
                      <a:rPr lang="zh-CN" altLang="en-US" sz="1600" b="1" i="1">
                        <a:solidFill>
                          <a:srgbClr val="FF0000"/>
                        </a:solidFill>
                        <a:latin typeface="Cambria Math" panose="02040503050406030204" pitchFamily="18" charset="0"/>
                        <a:ea typeface="思源黑体 CN Bold" panose="020B0800000000000000" pitchFamily="34" charset="-122"/>
                      </a:rPr>
                      <m:t>𝝓</m:t>
                    </m:r>
                    <m:d>
                      <m:dPr>
                        <m:ctrlPr>
                          <a:rPr lang="en-US" altLang="zh-CN" sz="1600" i="1">
                            <a:solidFill>
                              <a:srgbClr val="FF0000"/>
                            </a:solidFill>
                            <a:latin typeface="Cambria Math" panose="02040503050406030204" pitchFamily="18" charset="0"/>
                            <a:ea typeface="思源黑体 CN Bold" panose="020B0800000000000000" pitchFamily="34" charset="-122"/>
                          </a:rPr>
                        </m:ctrlPr>
                      </m:dPr>
                      <m:e>
                        <m:r>
                          <a:rPr lang="en-US" altLang="zh-CN" sz="1600" b="1">
                            <a:solidFill>
                              <a:srgbClr val="FF0000"/>
                            </a:solidFill>
                            <a:latin typeface="Cambria Math" panose="02040503050406030204" pitchFamily="18" charset="0"/>
                            <a:ea typeface="思源黑体 CN Bold" panose="020B0800000000000000" pitchFamily="34" charset="-122"/>
                          </a:rPr>
                          <m:t>𝐱</m:t>
                        </m:r>
                      </m:e>
                    </m:d>
                  </m:oMath>
                </a14:m>
                <a:r>
                  <a:rPr lang="zh-CN" altLang="en-US" sz="1600" dirty="0">
                    <a:solidFill>
                      <a:srgbClr val="FF0000"/>
                    </a:solidFill>
                    <a:latin typeface="思源黑体 CN Bold" panose="020B0800000000000000" pitchFamily="34" charset="-122"/>
                    <a:ea typeface="思源黑体 CN Bold" panose="020B0800000000000000" pitchFamily="34" charset="-122"/>
                  </a:rPr>
                  <a:t>空间上也接近或可分</a:t>
                </a:r>
                <a:r>
                  <a:rPr lang="zh-CN" altLang="en-US" sz="1600" dirty="0">
                    <a:latin typeface="思源黑体 CN Bold" panose="020B0800000000000000" pitchFamily="34" charset="-122"/>
                    <a:ea typeface="思源黑体 CN Bold" panose="020B0800000000000000" pitchFamily="34" charset="-122"/>
                  </a:rPr>
                  <a:t>。</a:t>
                </a:r>
                <a:endParaRPr lang="en-US" altLang="zh-CN" sz="1600" dirty="0">
                  <a:latin typeface="思源黑体 CN Bold" panose="020B0800000000000000" pitchFamily="34" charset="-122"/>
                  <a:ea typeface="思源黑体 CN Bold" panose="020B0800000000000000" pitchFamily="34" charset="-122"/>
                </a:endParaRPr>
              </a:p>
            </p:txBody>
          </p:sp>
        </mc:Choice>
        <mc:Fallback xmlns="">
          <p:sp>
            <p:nvSpPr>
              <p:cNvPr id="5" name="矩形 4">
                <a:extLst>
                  <a:ext uri="{FF2B5EF4-FFF2-40B4-BE49-F238E27FC236}">
                    <a16:creationId xmlns:a16="http://schemas.microsoft.com/office/drawing/2014/main" id="{624B3D88-96EE-4483-B7A8-54FB9ED96F25}"/>
                  </a:ext>
                </a:extLst>
              </p:cNvPr>
              <p:cNvSpPr>
                <a:spLocks noRot="1" noChangeAspect="1" noMove="1" noResize="1" noEditPoints="1" noAdjustHandles="1" noChangeArrowheads="1" noChangeShapeType="1" noTextEdit="1"/>
              </p:cNvSpPr>
              <p:nvPr/>
            </p:nvSpPr>
            <p:spPr>
              <a:xfrm>
                <a:off x="860258" y="5839762"/>
                <a:ext cx="10829340" cy="410562"/>
              </a:xfrm>
              <a:prstGeom prst="rect">
                <a:avLst/>
              </a:prstGeom>
              <a:blipFill>
                <a:blip r:embed="rId6"/>
                <a:stretch>
                  <a:fillRect b="-13433"/>
                </a:stretch>
              </a:blipFill>
            </p:spPr>
            <p:txBody>
              <a:bodyPr/>
              <a:lstStyle/>
              <a:p>
                <a:r>
                  <a:rPr lang="zh-CN" altLang="en-US">
                    <a:noFill/>
                  </a:rPr>
                  <a:t> </a:t>
                </a:r>
              </a:p>
            </p:txBody>
          </p:sp>
        </mc:Fallback>
      </mc:AlternateContent>
      <p:grpSp>
        <p:nvGrpSpPr>
          <p:cNvPr id="4" name="组合 3">
            <a:extLst>
              <a:ext uri="{FF2B5EF4-FFF2-40B4-BE49-F238E27FC236}">
                <a16:creationId xmlns:a16="http://schemas.microsoft.com/office/drawing/2014/main" id="{708BFB45-381D-40E9-98EA-DC5091ABCF63}"/>
              </a:ext>
            </a:extLst>
          </p:cNvPr>
          <p:cNvGrpSpPr/>
          <p:nvPr/>
        </p:nvGrpSpPr>
        <p:grpSpPr>
          <a:xfrm>
            <a:off x="9492484" y="1802026"/>
            <a:ext cx="1985997" cy="1981103"/>
            <a:chOff x="10459719" y="1230144"/>
            <a:chExt cx="1985997" cy="1981103"/>
          </a:xfrm>
        </p:grpSpPr>
        <p:pic>
          <p:nvPicPr>
            <p:cNvPr id="18" name="图片 17">
              <a:extLst>
                <a:ext uri="{FF2B5EF4-FFF2-40B4-BE49-F238E27FC236}">
                  <a16:creationId xmlns:a16="http://schemas.microsoft.com/office/drawing/2014/main" id="{3BE5498C-94C5-43DC-B2F9-230492A00D39}"/>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227" t="2717" r="3244" b="2556"/>
            <a:stretch/>
          </p:blipFill>
          <p:spPr>
            <a:xfrm>
              <a:off x="10472542" y="1484942"/>
              <a:ext cx="1973174" cy="1726305"/>
            </a:xfrm>
            <a:prstGeom prst="rect">
              <a:avLst/>
            </a:prstGeom>
          </p:spPr>
        </p:pic>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2E07E3B3-F6AA-4D8B-9B44-9B88B6EC22F1}"/>
                    </a:ext>
                  </a:extLst>
                </p:cNvPr>
                <p:cNvSpPr/>
                <p:nvPr/>
              </p:nvSpPr>
              <p:spPr>
                <a:xfrm>
                  <a:off x="10854628" y="1230144"/>
                  <a:ext cx="73693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b="1" i="1">
                            <a:solidFill>
                              <a:srgbClr val="7030A0"/>
                            </a:solidFill>
                            <a:latin typeface="Cambria Math" panose="02040503050406030204" pitchFamily="18" charset="0"/>
                            <a:ea typeface="思源黑体 CN Bold" panose="020B0800000000000000" pitchFamily="34" charset="-122"/>
                          </a:rPr>
                          <m:t>𝝓</m:t>
                        </m:r>
                        <m:d>
                          <m:dPr>
                            <m:ctrlPr>
                              <a:rPr lang="en-US" altLang="zh-CN" i="1">
                                <a:solidFill>
                                  <a:srgbClr val="7030A0"/>
                                </a:solidFill>
                                <a:latin typeface="Cambria Math" panose="02040503050406030204" pitchFamily="18" charset="0"/>
                                <a:ea typeface="思源黑体 CN Bold" panose="020B0800000000000000" pitchFamily="34" charset="-122"/>
                              </a:rPr>
                            </m:ctrlPr>
                          </m:dPr>
                          <m:e>
                            <m:r>
                              <a:rPr lang="en-US" altLang="zh-CN" b="1">
                                <a:solidFill>
                                  <a:srgbClr val="7030A0"/>
                                </a:solidFill>
                                <a:latin typeface="Cambria Math" panose="02040503050406030204" pitchFamily="18" charset="0"/>
                                <a:ea typeface="思源黑体 CN Bold" panose="020B0800000000000000" pitchFamily="34" charset="-122"/>
                              </a:rPr>
                              <m:t>𝐱</m:t>
                            </m:r>
                          </m:e>
                        </m:d>
                      </m:oMath>
                    </m:oMathPara>
                  </a14:m>
                  <a:endParaRPr lang="zh-CN" altLang="en-US" dirty="0">
                    <a:solidFill>
                      <a:srgbClr val="7030A0"/>
                    </a:solidFill>
                  </a:endParaRPr>
                </a:p>
              </p:txBody>
            </p:sp>
          </mc:Choice>
          <mc:Fallback xmlns="">
            <p:sp>
              <p:nvSpPr>
                <p:cNvPr id="14" name="矩形 13">
                  <a:extLst>
                    <a:ext uri="{FF2B5EF4-FFF2-40B4-BE49-F238E27FC236}">
                      <a16:creationId xmlns:a16="http://schemas.microsoft.com/office/drawing/2014/main" id="{2E07E3B3-F6AA-4D8B-9B44-9B88B6EC22F1}"/>
                    </a:ext>
                  </a:extLst>
                </p:cNvPr>
                <p:cNvSpPr>
                  <a:spLocks noRot="1" noChangeAspect="1" noMove="1" noResize="1" noEditPoints="1" noAdjustHandles="1" noChangeArrowheads="1" noChangeShapeType="1" noTextEdit="1"/>
                </p:cNvSpPr>
                <p:nvPr/>
              </p:nvSpPr>
              <p:spPr>
                <a:xfrm>
                  <a:off x="10854628" y="1230144"/>
                  <a:ext cx="736932" cy="369332"/>
                </a:xfrm>
                <a:prstGeom prst="rect">
                  <a:avLst/>
                </a:prstGeom>
                <a:blipFill>
                  <a:blip r:embed="rId8"/>
                  <a:stretch>
                    <a:fillRect b="-1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矩形 18">
                  <a:extLst>
                    <a:ext uri="{FF2B5EF4-FFF2-40B4-BE49-F238E27FC236}">
                      <a16:creationId xmlns:a16="http://schemas.microsoft.com/office/drawing/2014/main" id="{BB21A3BA-0FDA-493B-899C-81ED5B3AFC56}"/>
                    </a:ext>
                  </a:extLst>
                </p:cNvPr>
                <p:cNvSpPr/>
                <p:nvPr/>
              </p:nvSpPr>
              <p:spPr>
                <a:xfrm>
                  <a:off x="10459719" y="1606101"/>
                  <a:ext cx="38504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1" i="1" smtClean="0">
                            <a:solidFill>
                              <a:srgbClr val="7030A0"/>
                            </a:solidFill>
                            <a:latin typeface="Cambria Math" panose="02040503050406030204" pitchFamily="18" charset="0"/>
                            <a:ea typeface="思源黑体 CN Bold" panose="020B0800000000000000" pitchFamily="34" charset="-122"/>
                          </a:rPr>
                          <m:t>𝟎</m:t>
                        </m:r>
                      </m:oMath>
                    </m:oMathPara>
                  </a14:m>
                  <a:endParaRPr lang="zh-CN" altLang="en-US" dirty="0">
                    <a:solidFill>
                      <a:srgbClr val="7030A0"/>
                    </a:solidFill>
                  </a:endParaRPr>
                </a:p>
              </p:txBody>
            </p:sp>
          </mc:Choice>
          <mc:Fallback xmlns="">
            <p:sp>
              <p:nvSpPr>
                <p:cNvPr id="19" name="矩形 18">
                  <a:extLst>
                    <a:ext uri="{FF2B5EF4-FFF2-40B4-BE49-F238E27FC236}">
                      <a16:creationId xmlns:a16="http://schemas.microsoft.com/office/drawing/2014/main" id="{BB21A3BA-0FDA-493B-899C-81ED5B3AFC56}"/>
                    </a:ext>
                  </a:extLst>
                </p:cNvPr>
                <p:cNvSpPr>
                  <a:spLocks noRot="1" noChangeAspect="1" noMove="1" noResize="1" noEditPoints="1" noAdjustHandles="1" noChangeArrowheads="1" noChangeShapeType="1" noTextEdit="1"/>
                </p:cNvSpPr>
                <p:nvPr/>
              </p:nvSpPr>
              <p:spPr>
                <a:xfrm>
                  <a:off x="10459719" y="1606101"/>
                  <a:ext cx="385041" cy="369332"/>
                </a:xfrm>
                <a:prstGeom prst="rect">
                  <a:avLst/>
                </a:prstGeom>
                <a:blipFill>
                  <a:blip r:embed="rId9"/>
                  <a:stretch>
                    <a:fillRect/>
                  </a:stretch>
                </a:blipFill>
              </p:spPr>
              <p:txBody>
                <a:bodyPr/>
                <a:lstStyle/>
                <a:p>
                  <a:r>
                    <a:rPr lang="zh-CN" altLang="en-US">
                      <a:noFill/>
                    </a:rPr>
                    <a:t> </a:t>
                  </a:r>
                </a:p>
              </p:txBody>
            </p:sp>
          </mc:Fallback>
        </mc:AlternateContent>
      </p:grpSp>
      <p:grpSp>
        <p:nvGrpSpPr>
          <p:cNvPr id="33" name="组合 32">
            <a:extLst>
              <a:ext uri="{FF2B5EF4-FFF2-40B4-BE49-F238E27FC236}">
                <a16:creationId xmlns:a16="http://schemas.microsoft.com/office/drawing/2014/main" id="{F956A3C9-EFF7-4A1D-B40D-1B0104983C5D}"/>
              </a:ext>
            </a:extLst>
          </p:cNvPr>
          <p:cNvGrpSpPr/>
          <p:nvPr/>
        </p:nvGrpSpPr>
        <p:grpSpPr>
          <a:xfrm>
            <a:off x="8340689" y="648315"/>
            <a:ext cx="1536836" cy="1325563"/>
            <a:chOff x="8903719" y="856251"/>
            <a:chExt cx="2854985" cy="2160000"/>
          </a:xfrm>
        </p:grpSpPr>
        <p:pic>
          <p:nvPicPr>
            <p:cNvPr id="34" name="图片 33">
              <a:extLst>
                <a:ext uri="{FF2B5EF4-FFF2-40B4-BE49-F238E27FC236}">
                  <a16:creationId xmlns:a16="http://schemas.microsoft.com/office/drawing/2014/main" id="{232B510A-988A-442B-A4D1-A4E0B346E584}"/>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8903719" y="856251"/>
              <a:ext cx="2854985" cy="2160000"/>
            </a:xfrm>
            <a:prstGeom prst="rect">
              <a:avLst/>
            </a:prstGeom>
            <a:ln w="28575">
              <a:noFill/>
            </a:ln>
          </p:spPr>
        </p:pic>
        <p:cxnSp>
          <p:nvCxnSpPr>
            <p:cNvPr id="35" name="直接连接符 34">
              <a:extLst>
                <a:ext uri="{FF2B5EF4-FFF2-40B4-BE49-F238E27FC236}">
                  <a16:creationId xmlns:a16="http://schemas.microsoft.com/office/drawing/2014/main" id="{D93534BE-913F-4091-BF8A-7800C47B7ED1}"/>
                </a:ext>
              </a:extLst>
            </p:cNvPr>
            <p:cNvCxnSpPr/>
            <p:nvPr/>
          </p:nvCxnSpPr>
          <p:spPr>
            <a:xfrm>
              <a:off x="9685017" y="1424882"/>
              <a:ext cx="194118" cy="490405"/>
            </a:xfrm>
            <a:prstGeom prst="line">
              <a:avLst/>
            </a:prstGeom>
            <a:ln w="28575">
              <a:solidFill>
                <a:srgbClr val="06E713"/>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4D75E4A9-35C0-46A9-9FE7-EDB065F2F9AD}"/>
                </a:ext>
              </a:extLst>
            </p:cNvPr>
            <p:cNvCxnSpPr>
              <a:cxnSpLocks/>
            </p:cNvCxnSpPr>
            <p:nvPr/>
          </p:nvCxnSpPr>
          <p:spPr>
            <a:xfrm flipH="1">
              <a:off x="9557639" y="1388272"/>
              <a:ext cx="224437" cy="80504"/>
            </a:xfrm>
            <a:prstGeom prst="line">
              <a:avLst/>
            </a:prstGeom>
            <a:ln w="28575">
              <a:solidFill>
                <a:srgbClr val="06E713"/>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78719E34-8C21-45DF-A978-5A3C3E121C99}"/>
                </a:ext>
              </a:extLst>
            </p:cNvPr>
            <p:cNvCxnSpPr>
              <a:cxnSpLocks/>
            </p:cNvCxnSpPr>
            <p:nvPr/>
          </p:nvCxnSpPr>
          <p:spPr>
            <a:xfrm flipH="1">
              <a:off x="9782076" y="1870803"/>
              <a:ext cx="224437" cy="81094"/>
            </a:xfrm>
            <a:prstGeom prst="line">
              <a:avLst/>
            </a:prstGeom>
            <a:ln w="28575">
              <a:solidFill>
                <a:srgbClr val="06E713"/>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08F09192-3F2D-48E7-991A-F39B91606287}"/>
                </a:ext>
              </a:extLst>
            </p:cNvPr>
            <p:cNvCxnSpPr/>
            <p:nvPr/>
          </p:nvCxnSpPr>
          <p:spPr>
            <a:xfrm>
              <a:off x="9280113" y="1976453"/>
              <a:ext cx="194118" cy="490405"/>
            </a:xfrm>
            <a:prstGeom prst="line">
              <a:avLst/>
            </a:prstGeom>
            <a:ln w="28575">
              <a:solidFill>
                <a:srgbClr val="F50300"/>
              </a:solidFill>
              <a:prstDash val="sysDot"/>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A4B4D16C-DB7E-4811-8E15-29CC0E675714}"/>
                </a:ext>
              </a:extLst>
            </p:cNvPr>
            <p:cNvCxnSpPr>
              <a:cxnSpLocks/>
            </p:cNvCxnSpPr>
            <p:nvPr/>
          </p:nvCxnSpPr>
          <p:spPr>
            <a:xfrm flipH="1">
              <a:off x="9198378" y="1939843"/>
              <a:ext cx="178794" cy="72369"/>
            </a:xfrm>
            <a:prstGeom prst="line">
              <a:avLst/>
            </a:prstGeom>
            <a:ln w="28575">
              <a:solidFill>
                <a:srgbClr val="F50300"/>
              </a:solidFill>
              <a:prstDash val="sysDot"/>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5129AF68-C76D-4F66-AA23-D545973822B6}"/>
                </a:ext>
              </a:extLst>
            </p:cNvPr>
            <p:cNvCxnSpPr>
              <a:cxnSpLocks/>
            </p:cNvCxnSpPr>
            <p:nvPr/>
          </p:nvCxnSpPr>
          <p:spPr>
            <a:xfrm flipH="1">
              <a:off x="9377172" y="2422374"/>
              <a:ext cx="224437" cy="81094"/>
            </a:xfrm>
            <a:prstGeom prst="line">
              <a:avLst/>
            </a:prstGeom>
            <a:ln w="28575">
              <a:solidFill>
                <a:srgbClr val="F50300"/>
              </a:solidFill>
              <a:prstDash val="sysDot"/>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59A4BADF-9667-4686-BF75-27BA42ADD102}"/>
                </a:ext>
              </a:extLst>
            </p:cNvPr>
            <p:cNvCxnSpPr>
              <a:cxnSpLocks/>
            </p:cNvCxnSpPr>
            <p:nvPr/>
          </p:nvCxnSpPr>
          <p:spPr>
            <a:xfrm>
              <a:off x="9073679" y="1406435"/>
              <a:ext cx="164662" cy="445069"/>
            </a:xfrm>
            <a:prstGeom prst="line">
              <a:avLst/>
            </a:prstGeom>
            <a:ln w="28575">
              <a:solidFill>
                <a:srgbClr val="0000FB"/>
              </a:solidFill>
              <a:prstDash val="sysDot"/>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7CD3EF92-F75D-4DA3-980B-F932A03BD333}"/>
                </a:ext>
              </a:extLst>
            </p:cNvPr>
            <p:cNvCxnSpPr>
              <a:cxnSpLocks/>
            </p:cNvCxnSpPr>
            <p:nvPr/>
          </p:nvCxnSpPr>
          <p:spPr>
            <a:xfrm flipH="1">
              <a:off x="8977812" y="1370463"/>
              <a:ext cx="178794" cy="72369"/>
            </a:xfrm>
            <a:prstGeom prst="line">
              <a:avLst/>
            </a:prstGeom>
            <a:ln w="28575">
              <a:solidFill>
                <a:srgbClr val="0000FB"/>
              </a:solidFill>
              <a:prstDash val="sysDot"/>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934461CC-A1E5-45AF-8EFD-28350017CC54}"/>
                </a:ext>
              </a:extLst>
            </p:cNvPr>
            <p:cNvCxnSpPr>
              <a:cxnSpLocks/>
            </p:cNvCxnSpPr>
            <p:nvPr/>
          </p:nvCxnSpPr>
          <p:spPr>
            <a:xfrm flipH="1">
              <a:off x="9141282" y="1807020"/>
              <a:ext cx="224437" cy="81094"/>
            </a:xfrm>
            <a:prstGeom prst="line">
              <a:avLst/>
            </a:prstGeom>
            <a:ln w="28575">
              <a:solidFill>
                <a:srgbClr val="0000FB"/>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639878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0F7529-D435-49BF-8C4C-72F4173D5FF0}"/>
              </a:ext>
            </a:extLst>
          </p:cNvPr>
          <p:cNvSpPr>
            <a:spLocks noGrp="1"/>
          </p:cNvSpPr>
          <p:nvPr>
            <p:ph type="title" idx="4294967295"/>
          </p:nvPr>
        </p:nvSpPr>
        <p:spPr>
          <a:xfrm>
            <a:off x="394063" y="44376"/>
            <a:ext cx="7736259" cy="653778"/>
          </a:xfrm>
        </p:spPr>
        <p:txBody>
          <a:bodyPr>
            <a:noAutofit/>
          </a:bodyPr>
          <a:lstStyle/>
          <a:p>
            <a:pPr>
              <a:lnSpc>
                <a:spcPct val="100000"/>
              </a:lnSpc>
            </a:pPr>
            <a:r>
              <a:rPr lang="en-US" altLang="zh-CN" sz="3200" dirty="0">
                <a:latin typeface="思源黑体 CN Bold" panose="020B0800000000000000" pitchFamily="34" charset="-122"/>
                <a:ea typeface="思源黑体 CN Bold" panose="020B0800000000000000" pitchFamily="34" charset="-122"/>
              </a:rPr>
              <a:t>1 </a:t>
            </a:r>
            <a:r>
              <a:rPr lang="zh-CN" altLang="en-US" sz="3200" dirty="0">
                <a:latin typeface="思源黑体 CN Bold" panose="020B0800000000000000" pitchFamily="34" charset="-122"/>
                <a:ea typeface="思源黑体 CN Bold" panose="020B0800000000000000" pitchFamily="34" charset="-122"/>
              </a:rPr>
              <a:t>神经网络的出发点：</a:t>
            </a:r>
            <a:r>
              <a:rPr lang="zh-CN" altLang="en-US" sz="2400" dirty="0">
                <a:latin typeface="思源黑体 CN Bold" panose="020B0800000000000000" pitchFamily="34" charset="-122"/>
                <a:ea typeface="思源黑体 CN Bold" panose="020B0800000000000000" pitchFamily="34" charset="-122"/>
              </a:rPr>
              <a:t>高维空间中的低维流形</a:t>
            </a:r>
            <a:endParaRPr lang="zh-CN" altLang="en-US" sz="3200" dirty="0"/>
          </a:p>
        </p:txBody>
      </p:sp>
      <p:sp>
        <p:nvSpPr>
          <p:cNvPr id="18" name="内容占位符 2">
            <a:extLst>
              <a:ext uri="{FF2B5EF4-FFF2-40B4-BE49-F238E27FC236}">
                <a16:creationId xmlns:a16="http://schemas.microsoft.com/office/drawing/2014/main" id="{DD30DF44-2D9A-4FFC-8BA2-655B125265E6}"/>
              </a:ext>
            </a:extLst>
          </p:cNvPr>
          <p:cNvSpPr txBox="1">
            <a:spLocks/>
          </p:cNvSpPr>
          <p:nvPr/>
        </p:nvSpPr>
        <p:spPr>
          <a:xfrm>
            <a:off x="785948" y="1047692"/>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sz="2000" dirty="0">
                <a:latin typeface="思源黑体 CN Bold" panose="020B0800000000000000" pitchFamily="34" charset="-122"/>
                <a:ea typeface="思源黑体 CN Bold" panose="020B0800000000000000" pitchFamily="34" charset="-122"/>
              </a:rPr>
              <a:t>关键问题：如何定义距离，或如何定义子空间。即在哪些基函数张成的空间内计算欧式距离！</a:t>
            </a:r>
            <a:endParaRPr lang="en-US" altLang="zh-CN" sz="2000" dirty="0">
              <a:latin typeface="思源黑体 CN Bold" panose="020B0800000000000000" pitchFamily="34" charset="-122"/>
              <a:ea typeface="思源黑体 CN Bold" panose="020B0800000000000000" pitchFamily="34" charset="-122"/>
            </a:endParaRPr>
          </a:p>
          <a:p>
            <a:pPr marL="514350" indent="-514350">
              <a:lnSpc>
                <a:spcPct val="150000"/>
              </a:lnSpc>
              <a:buFont typeface="+mj-lt"/>
              <a:buAutoNum type="arabicPeriod"/>
            </a:pPr>
            <a:r>
              <a:rPr lang="zh-CN" altLang="en-US" sz="1800" dirty="0">
                <a:latin typeface="思源黑体 CN Bold" panose="020B0800000000000000" pitchFamily="34" charset="-122"/>
                <a:ea typeface="思源黑体 CN Bold" panose="020B0800000000000000" pitchFamily="34" charset="-122"/>
              </a:rPr>
              <a:t>二维平面的圆，如果数据都分布在圆上，则应该在一维空间定义直线距离</a:t>
            </a:r>
            <a:endParaRPr lang="en-US" altLang="zh-CN" sz="1800" dirty="0">
              <a:latin typeface="思源黑体 CN Bold" panose="020B0800000000000000" pitchFamily="34" charset="-122"/>
              <a:ea typeface="思源黑体 CN Bold" panose="020B0800000000000000" pitchFamily="34" charset="-122"/>
            </a:endParaRPr>
          </a:p>
          <a:p>
            <a:pPr marL="514350" indent="-514350">
              <a:lnSpc>
                <a:spcPct val="150000"/>
              </a:lnSpc>
              <a:buFont typeface="+mj-lt"/>
              <a:buAutoNum type="arabicPeriod"/>
            </a:pPr>
            <a:r>
              <a:rPr lang="zh-CN" altLang="en-US" sz="1800" dirty="0">
                <a:latin typeface="思源黑体 CN Bold" panose="020B0800000000000000" pitchFamily="34" charset="-122"/>
                <a:ea typeface="思源黑体 CN Bold" panose="020B0800000000000000" pitchFamily="34" charset="-122"/>
              </a:rPr>
              <a:t>三维平面，例如计算北京到上海的距离，三维欧式距离？球面距离？</a:t>
            </a:r>
            <a:endParaRPr lang="en-US" altLang="zh-CN" sz="1800" dirty="0">
              <a:latin typeface="思源黑体 CN Bold" panose="020B0800000000000000" pitchFamily="34" charset="-122"/>
              <a:ea typeface="思源黑体 CN Bold" panose="020B0800000000000000" pitchFamily="34" charset="-122"/>
            </a:endParaRPr>
          </a:p>
          <a:p>
            <a:pPr lvl="1">
              <a:lnSpc>
                <a:spcPct val="150000"/>
              </a:lnSpc>
              <a:buFont typeface="Wingdings" panose="05000000000000000000" pitchFamily="2" charset="2"/>
              <a:buChar char="ü"/>
            </a:pPr>
            <a:r>
              <a:rPr lang="zh-CN" altLang="en-US" sz="1400" dirty="0">
                <a:latin typeface="思源黑体 CN Bold" panose="020B0800000000000000" pitchFamily="34" charset="-122"/>
                <a:ea typeface="思源黑体 CN Bold" panose="020B0800000000000000" pitchFamily="34" charset="-122"/>
              </a:rPr>
              <a:t>应该在二维空间（经纬为基函数）距离。经纬度就是低维流形上的坐标。</a:t>
            </a:r>
            <a:endParaRPr lang="en-US" altLang="zh-CN" sz="1400" dirty="0">
              <a:latin typeface="思源黑体 CN Bold" panose="020B0800000000000000" pitchFamily="34" charset="-122"/>
              <a:ea typeface="思源黑体 CN Bold" panose="020B0800000000000000" pitchFamily="34" charset="-122"/>
            </a:endParaRPr>
          </a:p>
          <a:p>
            <a:pPr marL="514350" indent="-514350">
              <a:lnSpc>
                <a:spcPct val="150000"/>
              </a:lnSpc>
              <a:buFont typeface="+mj-lt"/>
              <a:buAutoNum type="arabicPeriod"/>
            </a:pPr>
            <a:r>
              <a:rPr lang="zh-CN" altLang="en-US" sz="1800" dirty="0">
                <a:latin typeface="思源黑体 CN Bold" panose="020B0800000000000000" pitchFamily="34" charset="-122"/>
                <a:ea typeface="思源黑体 CN Bold" panose="020B0800000000000000" pitchFamily="34" charset="-122"/>
              </a:rPr>
              <a:t>数据的“瑞士卷”分布，典型的需要学习低维流形的问题。</a:t>
            </a:r>
          </a:p>
        </p:txBody>
      </p:sp>
      <p:pic>
        <p:nvPicPr>
          <p:cNvPr id="12" name="图片 11" descr="https://pic3.zhimg.com/80/v2-66367b326c102c15b07a8d40f4b861db_1440w.jpg?source=1940ef5c">
            <a:extLst>
              <a:ext uri="{FF2B5EF4-FFF2-40B4-BE49-F238E27FC236}">
                <a16:creationId xmlns:a16="http://schemas.microsoft.com/office/drawing/2014/main" id="{93E5C346-A507-4DFF-A60D-FA3932AB9621}"/>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31193" y="3827242"/>
            <a:ext cx="2405796" cy="1990675"/>
          </a:xfrm>
          <a:prstGeom prst="rect">
            <a:avLst/>
          </a:prstGeom>
          <a:noFill/>
          <a:ln>
            <a:noFill/>
          </a:ln>
        </p:spPr>
      </p:pic>
      <p:pic>
        <p:nvPicPr>
          <p:cNvPr id="1028" name="Picture 4" descr="https://static001.geekbang.org/resource/image/53/86/53a1b1dfe765e972d49f89f2c459a886.png">
            <a:extLst>
              <a:ext uri="{FF2B5EF4-FFF2-40B4-BE49-F238E27FC236}">
                <a16:creationId xmlns:a16="http://schemas.microsoft.com/office/drawing/2014/main" id="{56DF0838-5D6A-4C96-97D7-634DC10FB7B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44365" y="3902436"/>
            <a:ext cx="4658335" cy="18402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45105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1EEC38-52B4-4EE6-A8B6-A94859DA22DB}"/>
              </a:ext>
            </a:extLst>
          </p:cNvPr>
          <p:cNvSpPr>
            <a:spLocks noGrp="1"/>
          </p:cNvSpPr>
          <p:nvPr>
            <p:ph type="title" idx="4294967295"/>
          </p:nvPr>
        </p:nvSpPr>
        <p:spPr>
          <a:xfrm>
            <a:off x="435864" y="92616"/>
            <a:ext cx="10515600" cy="673330"/>
          </a:xfrm>
        </p:spPr>
        <p:txBody>
          <a:bodyPr>
            <a:normAutofit/>
          </a:bodyPr>
          <a:lstStyle/>
          <a:p>
            <a:r>
              <a:rPr lang="en-US" altLang="zh-CN" sz="3600" dirty="0">
                <a:latin typeface="思源黑体 CN Bold" panose="020B0800000000000000" pitchFamily="34" charset="-122"/>
                <a:ea typeface="思源黑体 CN Bold" panose="020B0800000000000000" pitchFamily="34" charset="-122"/>
              </a:rPr>
              <a:t>1 </a:t>
            </a:r>
            <a:r>
              <a:rPr lang="zh-CN" altLang="en-US" sz="3600" dirty="0">
                <a:latin typeface="思源黑体 CN Bold" panose="020B0800000000000000" pitchFamily="34" charset="-122"/>
                <a:ea typeface="思源黑体 CN Bold" panose="020B0800000000000000" pitchFamily="34" charset="-122"/>
              </a:rPr>
              <a:t>神经网络的出发点：</a:t>
            </a:r>
            <a:r>
              <a:rPr lang="zh-CN" altLang="en-US" sz="2800" dirty="0">
                <a:latin typeface="思源黑体 CN Bold" panose="020B0800000000000000" pitchFamily="34" charset="-122"/>
                <a:ea typeface="思源黑体 CN Bold" panose="020B0800000000000000" pitchFamily="34" charset="-122"/>
              </a:rPr>
              <a:t>数据自适应基函数</a:t>
            </a:r>
            <a:endParaRPr lang="zh-CN" altLang="en-US" sz="2800" dirty="0"/>
          </a:p>
        </p:txBody>
      </p:sp>
      <p:sp>
        <p:nvSpPr>
          <p:cNvPr id="3" name="内容占位符 2">
            <a:extLst>
              <a:ext uri="{FF2B5EF4-FFF2-40B4-BE49-F238E27FC236}">
                <a16:creationId xmlns:a16="http://schemas.microsoft.com/office/drawing/2014/main" id="{01F9EA45-2CB4-49B5-BC68-E1F973F7C5C3}"/>
              </a:ext>
            </a:extLst>
          </p:cNvPr>
          <p:cNvSpPr>
            <a:spLocks noGrp="1"/>
          </p:cNvSpPr>
          <p:nvPr>
            <p:ph idx="4294967295"/>
          </p:nvPr>
        </p:nvSpPr>
        <p:spPr>
          <a:xfrm>
            <a:off x="733697" y="1253331"/>
            <a:ext cx="7478243" cy="4351338"/>
          </a:xfrm>
        </p:spPr>
        <p:txBody>
          <a:bodyPr>
            <a:normAutofit/>
          </a:bodyPr>
          <a:lstStyle/>
          <a:p>
            <a:pPr marL="342900" indent="-342900">
              <a:lnSpc>
                <a:spcPct val="150000"/>
              </a:lnSpc>
              <a:buFont typeface="+mj-lt"/>
              <a:buAutoNum type="arabicPeriod"/>
            </a:pPr>
            <a:r>
              <a:rPr lang="zh-CN" altLang="en-US" sz="2000" dirty="0">
                <a:latin typeface="思源黑体 CN Bold" panose="020B0800000000000000" pitchFamily="34" charset="-122"/>
                <a:ea typeface="思源黑体 CN Bold" panose="020B0800000000000000" pitchFamily="34" charset="-122"/>
              </a:rPr>
              <a:t>数据的局部性</a:t>
            </a:r>
            <a:endParaRPr lang="en-US" altLang="zh-CN" sz="2000" dirty="0">
              <a:latin typeface="思源黑体 CN Bold" panose="020B0800000000000000" pitchFamily="34" charset="-122"/>
              <a:ea typeface="思源黑体 CN Bold" panose="020B0800000000000000" pitchFamily="34" charset="-122"/>
            </a:endParaRPr>
          </a:p>
          <a:p>
            <a:pPr marL="342900" indent="-342900">
              <a:lnSpc>
                <a:spcPct val="150000"/>
              </a:lnSpc>
              <a:buFont typeface="+mj-lt"/>
              <a:buAutoNum type="arabicPeriod"/>
            </a:pPr>
            <a:r>
              <a:rPr lang="zh-CN" altLang="en-US" sz="2000" dirty="0">
                <a:latin typeface="思源黑体 CN Bold" panose="020B0800000000000000" pitchFamily="34" charset="-122"/>
                <a:ea typeface="思源黑体 CN Bold" panose="020B0800000000000000" pitchFamily="34" charset="-122"/>
              </a:rPr>
              <a:t>应直接学习（描述）嵌入在高维空间的低维流形</a:t>
            </a:r>
            <a:endParaRPr lang="en-US" altLang="zh-CN" sz="2000" dirty="0">
              <a:latin typeface="思源黑体 CN Bold" panose="020B0800000000000000" pitchFamily="34" charset="-122"/>
              <a:ea typeface="思源黑体 CN Bold" panose="020B0800000000000000" pitchFamily="34" charset="-122"/>
            </a:endParaRPr>
          </a:p>
          <a:p>
            <a:pPr marL="342900" indent="-342900">
              <a:lnSpc>
                <a:spcPct val="150000"/>
              </a:lnSpc>
              <a:buFont typeface="+mj-lt"/>
              <a:buAutoNum type="arabicPeriod"/>
            </a:pPr>
            <a:r>
              <a:rPr lang="zh-CN" altLang="en-US" sz="2000" dirty="0">
                <a:latin typeface="思源黑体 CN Bold" panose="020B0800000000000000" pitchFamily="34" charset="-122"/>
                <a:ea typeface="思源黑体 CN Bold" panose="020B0800000000000000" pitchFamily="34" charset="-122"/>
              </a:rPr>
              <a:t>典型的非线性方法通过构建自适应关联数据的基函数，实现低维流形的描述</a:t>
            </a:r>
            <a:endParaRPr lang="en-US" altLang="zh-CN" sz="2000" dirty="0">
              <a:latin typeface="思源黑体 CN Bold" panose="020B0800000000000000" pitchFamily="34" charset="-122"/>
              <a:ea typeface="思源黑体 CN Bold" panose="020B0800000000000000" pitchFamily="34" charset="-122"/>
            </a:endParaRPr>
          </a:p>
          <a:p>
            <a:pPr lvl="1">
              <a:lnSpc>
                <a:spcPct val="150000"/>
              </a:lnSpc>
            </a:pPr>
            <a:r>
              <a:rPr lang="zh-CN" altLang="en-US" sz="2000" dirty="0">
                <a:latin typeface="思源黑体 CN Bold" panose="020B0800000000000000" pitchFamily="34" charset="-122"/>
                <a:ea typeface="思源黑体 CN Bold" panose="020B0800000000000000" pitchFamily="34" charset="-122"/>
              </a:rPr>
              <a:t>神经网络：固定个数的基函数，每个基函数为数据的加权组合，权值可学习调整，基于参数的方法。</a:t>
            </a:r>
            <a:endParaRPr lang="en-US" altLang="zh-CN" sz="2000" dirty="0">
              <a:latin typeface="思源黑体 CN Bold" panose="020B0800000000000000" pitchFamily="34" charset="-122"/>
              <a:ea typeface="思源黑体 CN Bold" panose="020B0800000000000000" pitchFamily="34" charset="-122"/>
            </a:endParaRPr>
          </a:p>
          <a:p>
            <a:pPr lvl="1">
              <a:lnSpc>
                <a:spcPct val="150000"/>
              </a:lnSpc>
            </a:pPr>
            <a:r>
              <a:rPr lang="zh-CN" altLang="en-US" sz="2000" dirty="0">
                <a:latin typeface="思源黑体 CN Bold" panose="020B0800000000000000" pitchFamily="34" charset="-122"/>
                <a:ea typeface="思源黑体 CN Bold" panose="020B0800000000000000" pitchFamily="34" charset="-122"/>
              </a:rPr>
              <a:t>支持向量机：可变个数的基函数，从所有训练数据的核函数中选择（学习），</a:t>
            </a:r>
            <a:r>
              <a:rPr lang="en-US" altLang="zh-CN" sz="2000" dirty="0">
                <a:latin typeface="思源黑体 CN Bold" panose="020B0800000000000000" pitchFamily="34" charset="-122"/>
                <a:ea typeface="思源黑体 CN Bold" panose="020B0800000000000000" pitchFamily="34" charset="-122"/>
              </a:rPr>
              <a:t>Memory -Based</a:t>
            </a:r>
            <a:r>
              <a:rPr lang="zh-CN" altLang="en-US" sz="2000" dirty="0">
                <a:latin typeface="思源黑体 CN Bold" panose="020B0800000000000000" pitchFamily="34" charset="-122"/>
                <a:ea typeface="思源黑体 CN Bold" panose="020B0800000000000000" pitchFamily="34" charset="-122"/>
              </a:rPr>
              <a:t>。</a:t>
            </a:r>
            <a:endParaRPr lang="en-US" altLang="zh-CN" sz="2000" dirty="0">
              <a:latin typeface="思源黑体 CN Bold" panose="020B0800000000000000" pitchFamily="34" charset="-122"/>
              <a:ea typeface="思源黑体 CN Bold" panose="020B0800000000000000" pitchFamily="34" charset="-122"/>
            </a:endParaRPr>
          </a:p>
        </p:txBody>
      </p:sp>
      <p:pic>
        <p:nvPicPr>
          <p:cNvPr id="1026" name="Picture 2">
            <a:extLst>
              <a:ext uri="{FF2B5EF4-FFF2-40B4-BE49-F238E27FC236}">
                <a16:creationId xmlns:a16="http://schemas.microsoft.com/office/drawing/2014/main" id="{F8E82F8E-161E-4D06-9A78-59608C6492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27420" y="1253331"/>
            <a:ext cx="3048000" cy="2400300"/>
          </a:xfrm>
          <a:prstGeom prst="rect">
            <a:avLst/>
          </a:prstGeom>
          <a:noFill/>
          <a:extLst>
            <a:ext uri="{909E8E84-426E-40DD-AFC4-6F175D3DCCD1}">
              <a14:hiddenFill xmlns:a14="http://schemas.microsoft.com/office/drawing/2010/main">
                <a:solidFill>
                  <a:srgbClr val="FFFFFF"/>
                </a:solidFill>
              </a14:hiddenFill>
            </a:ext>
          </a:extLst>
        </p:spPr>
      </p:pic>
      <p:sp>
        <p:nvSpPr>
          <p:cNvPr id="4" name="椭圆 3">
            <a:extLst>
              <a:ext uri="{FF2B5EF4-FFF2-40B4-BE49-F238E27FC236}">
                <a16:creationId xmlns:a16="http://schemas.microsoft.com/office/drawing/2014/main" id="{0AF2E53E-7C9B-4122-853E-55EA3BBFBE24}"/>
              </a:ext>
            </a:extLst>
          </p:cNvPr>
          <p:cNvSpPr/>
          <p:nvPr/>
        </p:nvSpPr>
        <p:spPr>
          <a:xfrm>
            <a:off x="9335784" y="4203198"/>
            <a:ext cx="216000" cy="216000"/>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a:extLst>
              <a:ext uri="{FF2B5EF4-FFF2-40B4-BE49-F238E27FC236}">
                <a16:creationId xmlns:a16="http://schemas.microsoft.com/office/drawing/2014/main" id="{3AA54C6C-604E-4F45-865C-B8BFC60CE76A}"/>
              </a:ext>
            </a:extLst>
          </p:cNvPr>
          <p:cNvSpPr/>
          <p:nvPr/>
        </p:nvSpPr>
        <p:spPr>
          <a:xfrm>
            <a:off x="9335784" y="4794919"/>
            <a:ext cx="216000" cy="216000"/>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a:extLst>
              <a:ext uri="{FF2B5EF4-FFF2-40B4-BE49-F238E27FC236}">
                <a16:creationId xmlns:a16="http://schemas.microsoft.com/office/drawing/2014/main" id="{A1EBDC73-FA0B-41C3-B5ED-F9157940E580}"/>
              </a:ext>
            </a:extLst>
          </p:cNvPr>
          <p:cNvSpPr/>
          <p:nvPr/>
        </p:nvSpPr>
        <p:spPr>
          <a:xfrm>
            <a:off x="9335784" y="5386640"/>
            <a:ext cx="216000" cy="21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a:extLst>
              <a:ext uri="{FF2B5EF4-FFF2-40B4-BE49-F238E27FC236}">
                <a16:creationId xmlns:a16="http://schemas.microsoft.com/office/drawing/2014/main" id="{A6657908-855D-43D1-B81C-69993B526EE2}"/>
              </a:ext>
            </a:extLst>
          </p:cNvPr>
          <p:cNvSpPr/>
          <p:nvPr/>
        </p:nvSpPr>
        <p:spPr>
          <a:xfrm>
            <a:off x="10111406" y="3788568"/>
            <a:ext cx="216000" cy="216000"/>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998FDBC8-7AF1-4528-9F20-001C5960349F}"/>
              </a:ext>
            </a:extLst>
          </p:cNvPr>
          <p:cNvSpPr/>
          <p:nvPr/>
        </p:nvSpPr>
        <p:spPr>
          <a:xfrm>
            <a:off x="10111406" y="4713310"/>
            <a:ext cx="216000" cy="216000"/>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F410A35B-E6A4-431C-A3CE-573DA9D228CB}"/>
              </a:ext>
            </a:extLst>
          </p:cNvPr>
          <p:cNvSpPr/>
          <p:nvPr/>
        </p:nvSpPr>
        <p:spPr>
          <a:xfrm>
            <a:off x="10111406" y="5638053"/>
            <a:ext cx="216000" cy="21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2D525DDC-E2A8-4C6D-B695-AC4812CD1895}"/>
              </a:ext>
            </a:extLst>
          </p:cNvPr>
          <p:cNvSpPr/>
          <p:nvPr/>
        </p:nvSpPr>
        <p:spPr>
          <a:xfrm>
            <a:off x="10111406" y="4250939"/>
            <a:ext cx="216000" cy="216000"/>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D7CCA590-8314-4C59-B56F-72D9A6DB0D39}"/>
              </a:ext>
            </a:extLst>
          </p:cNvPr>
          <p:cNvSpPr/>
          <p:nvPr/>
        </p:nvSpPr>
        <p:spPr>
          <a:xfrm>
            <a:off x="10111406" y="5175681"/>
            <a:ext cx="216000" cy="216000"/>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252FE5D7-55C0-4AEC-8F23-65458277F58D}"/>
              </a:ext>
            </a:extLst>
          </p:cNvPr>
          <p:cNvSpPr/>
          <p:nvPr/>
        </p:nvSpPr>
        <p:spPr>
          <a:xfrm>
            <a:off x="10924363" y="4713310"/>
            <a:ext cx="216000" cy="216000"/>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连接符 13">
            <a:extLst>
              <a:ext uri="{FF2B5EF4-FFF2-40B4-BE49-F238E27FC236}">
                <a16:creationId xmlns:a16="http://schemas.microsoft.com/office/drawing/2014/main" id="{635E033B-F44E-4384-A592-6FC56B29D9A9}"/>
              </a:ext>
            </a:extLst>
          </p:cNvPr>
          <p:cNvCxnSpPr>
            <a:stCxn id="4" idx="6"/>
            <a:endCxn id="8" idx="2"/>
          </p:cNvCxnSpPr>
          <p:nvPr/>
        </p:nvCxnSpPr>
        <p:spPr>
          <a:xfrm flipV="1">
            <a:off x="9551784" y="3896568"/>
            <a:ext cx="559622" cy="41463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7EAF6EA6-E475-4F46-96DE-2FC61B9174E6}"/>
              </a:ext>
            </a:extLst>
          </p:cNvPr>
          <p:cNvCxnSpPr>
            <a:cxnSpLocks/>
            <a:stCxn id="6" idx="6"/>
            <a:endCxn id="8" idx="2"/>
          </p:cNvCxnSpPr>
          <p:nvPr/>
        </p:nvCxnSpPr>
        <p:spPr>
          <a:xfrm flipV="1">
            <a:off x="9551784" y="3896568"/>
            <a:ext cx="559622" cy="100635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CEA4E9F7-557D-45C8-9765-0B205E5E2BE7}"/>
              </a:ext>
            </a:extLst>
          </p:cNvPr>
          <p:cNvCxnSpPr>
            <a:cxnSpLocks/>
            <a:stCxn id="7" idx="7"/>
            <a:endCxn id="8" idx="2"/>
          </p:cNvCxnSpPr>
          <p:nvPr/>
        </p:nvCxnSpPr>
        <p:spPr>
          <a:xfrm flipV="1">
            <a:off x="9520152" y="3896568"/>
            <a:ext cx="591254" cy="152170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2867EA3E-95F0-43BC-A5B1-03FF9897C3BF}"/>
              </a:ext>
            </a:extLst>
          </p:cNvPr>
          <p:cNvCxnSpPr>
            <a:cxnSpLocks/>
            <a:stCxn id="4" idx="6"/>
            <a:endCxn id="11" idx="2"/>
          </p:cNvCxnSpPr>
          <p:nvPr/>
        </p:nvCxnSpPr>
        <p:spPr>
          <a:xfrm>
            <a:off x="9551784" y="4311198"/>
            <a:ext cx="559622" cy="4774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D4DEEA01-DD0B-4B5B-8D38-81F9D94F6A9D}"/>
              </a:ext>
            </a:extLst>
          </p:cNvPr>
          <p:cNvCxnSpPr>
            <a:cxnSpLocks/>
            <a:stCxn id="6" idx="6"/>
            <a:endCxn id="11" idx="2"/>
          </p:cNvCxnSpPr>
          <p:nvPr/>
        </p:nvCxnSpPr>
        <p:spPr>
          <a:xfrm flipV="1">
            <a:off x="9551784" y="4358939"/>
            <a:ext cx="559622" cy="5439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7B7596F7-BB81-48B2-91DF-90F2F07409BA}"/>
              </a:ext>
            </a:extLst>
          </p:cNvPr>
          <p:cNvCxnSpPr>
            <a:cxnSpLocks/>
            <a:stCxn id="7" idx="7"/>
            <a:endCxn id="11" idx="2"/>
          </p:cNvCxnSpPr>
          <p:nvPr/>
        </p:nvCxnSpPr>
        <p:spPr>
          <a:xfrm flipV="1">
            <a:off x="9520152" y="4358939"/>
            <a:ext cx="591254" cy="105933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B117AAE3-9181-4B15-BEFE-11AE4D675A69}"/>
              </a:ext>
            </a:extLst>
          </p:cNvPr>
          <p:cNvCxnSpPr>
            <a:cxnSpLocks/>
            <a:stCxn id="4" idx="6"/>
            <a:endCxn id="9" idx="2"/>
          </p:cNvCxnSpPr>
          <p:nvPr/>
        </p:nvCxnSpPr>
        <p:spPr>
          <a:xfrm>
            <a:off x="9551784" y="4311198"/>
            <a:ext cx="559622" cy="51011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215180FC-FEE5-42BA-859A-E6DD40A76B68}"/>
              </a:ext>
            </a:extLst>
          </p:cNvPr>
          <p:cNvCxnSpPr>
            <a:cxnSpLocks/>
            <a:stCxn id="4" idx="6"/>
            <a:endCxn id="12" idx="2"/>
          </p:cNvCxnSpPr>
          <p:nvPr/>
        </p:nvCxnSpPr>
        <p:spPr>
          <a:xfrm>
            <a:off x="9551784" y="4311198"/>
            <a:ext cx="559622" cy="97248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2264C769-F463-4C41-90FE-2809D3B8C955}"/>
              </a:ext>
            </a:extLst>
          </p:cNvPr>
          <p:cNvCxnSpPr>
            <a:cxnSpLocks/>
            <a:stCxn id="11" idx="6"/>
            <a:endCxn id="13" idx="2"/>
          </p:cNvCxnSpPr>
          <p:nvPr/>
        </p:nvCxnSpPr>
        <p:spPr>
          <a:xfrm>
            <a:off x="10327406" y="4358939"/>
            <a:ext cx="596957" cy="46237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54178794-EF5A-4EDF-BB1F-74442339004B}"/>
              </a:ext>
            </a:extLst>
          </p:cNvPr>
          <p:cNvCxnSpPr>
            <a:cxnSpLocks/>
            <a:stCxn id="8" idx="6"/>
            <a:endCxn id="13" idx="2"/>
          </p:cNvCxnSpPr>
          <p:nvPr/>
        </p:nvCxnSpPr>
        <p:spPr>
          <a:xfrm>
            <a:off x="10327406" y="3896568"/>
            <a:ext cx="596957" cy="92474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560A27BB-3329-4E47-AD36-EFCB04B4EBDF}"/>
              </a:ext>
            </a:extLst>
          </p:cNvPr>
          <p:cNvCxnSpPr>
            <a:cxnSpLocks/>
            <a:stCxn id="9" idx="6"/>
            <a:endCxn id="13" idx="2"/>
          </p:cNvCxnSpPr>
          <p:nvPr/>
        </p:nvCxnSpPr>
        <p:spPr>
          <a:xfrm>
            <a:off x="10327406" y="4821310"/>
            <a:ext cx="59695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035064A0-D456-475A-8696-48FDFEA6E514}"/>
              </a:ext>
            </a:extLst>
          </p:cNvPr>
          <p:cNvCxnSpPr>
            <a:cxnSpLocks/>
            <a:stCxn id="12" idx="6"/>
            <a:endCxn id="13" idx="2"/>
          </p:cNvCxnSpPr>
          <p:nvPr/>
        </p:nvCxnSpPr>
        <p:spPr>
          <a:xfrm flipV="1">
            <a:off x="10327406" y="4821310"/>
            <a:ext cx="596957" cy="46237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E11056DC-B84A-4C41-9A32-968405C80698}"/>
              </a:ext>
            </a:extLst>
          </p:cNvPr>
          <p:cNvCxnSpPr>
            <a:cxnSpLocks/>
            <a:stCxn id="10" idx="7"/>
            <a:endCxn id="13" idx="2"/>
          </p:cNvCxnSpPr>
          <p:nvPr/>
        </p:nvCxnSpPr>
        <p:spPr>
          <a:xfrm flipV="1">
            <a:off x="10295774" y="4821310"/>
            <a:ext cx="628589" cy="84837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E8DEF97D-D186-488F-B64C-EDB2453EC659}"/>
              </a:ext>
            </a:extLst>
          </p:cNvPr>
          <p:cNvCxnSpPr>
            <a:cxnSpLocks/>
            <a:stCxn id="6" idx="6"/>
            <a:endCxn id="9" idx="2"/>
          </p:cNvCxnSpPr>
          <p:nvPr/>
        </p:nvCxnSpPr>
        <p:spPr>
          <a:xfrm flipV="1">
            <a:off x="9551784" y="4821310"/>
            <a:ext cx="559622" cy="8160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4CDE532B-1E17-48B6-896D-6053F9A99A59}"/>
              </a:ext>
            </a:extLst>
          </p:cNvPr>
          <p:cNvCxnSpPr>
            <a:cxnSpLocks/>
            <a:stCxn id="7" idx="7"/>
            <a:endCxn id="9" idx="2"/>
          </p:cNvCxnSpPr>
          <p:nvPr/>
        </p:nvCxnSpPr>
        <p:spPr>
          <a:xfrm flipV="1">
            <a:off x="9520152" y="4821310"/>
            <a:ext cx="591254" cy="59696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5461F4DD-AA34-4BAB-8812-D7C07F213877}"/>
              </a:ext>
            </a:extLst>
          </p:cNvPr>
          <p:cNvCxnSpPr>
            <a:cxnSpLocks/>
            <a:stCxn id="6" idx="6"/>
            <a:endCxn id="12" idx="2"/>
          </p:cNvCxnSpPr>
          <p:nvPr/>
        </p:nvCxnSpPr>
        <p:spPr>
          <a:xfrm>
            <a:off x="9551784" y="4902919"/>
            <a:ext cx="559622" cy="38076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B6F6375B-3DC0-44B3-89BC-3E0F74C8B719}"/>
              </a:ext>
            </a:extLst>
          </p:cNvPr>
          <p:cNvCxnSpPr>
            <a:cxnSpLocks/>
            <a:stCxn id="7" idx="7"/>
            <a:endCxn id="12" idx="2"/>
          </p:cNvCxnSpPr>
          <p:nvPr/>
        </p:nvCxnSpPr>
        <p:spPr>
          <a:xfrm flipV="1">
            <a:off x="9520152" y="5283681"/>
            <a:ext cx="591254" cy="134591"/>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11334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6AF3F0-4352-4D79-A227-6FCBA2EBA88A}"/>
              </a:ext>
            </a:extLst>
          </p:cNvPr>
          <p:cNvSpPr>
            <a:spLocks noGrp="1"/>
          </p:cNvSpPr>
          <p:nvPr>
            <p:ph type="title" idx="4294967295"/>
          </p:nvPr>
        </p:nvSpPr>
        <p:spPr>
          <a:xfrm>
            <a:off x="383613" y="131763"/>
            <a:ext cx="7098792" cy="549274"/>
          </a:xfrm>
        </p:spPr>
        <p:txBody>
          <a:bodyPr>
            <a:noAutofit/>
          </a:bodyPr>
          <a:lstStyle/>
          <a:p>
            <a:r>
              <a:rPr lang="en-US" altLang="zh-CN" sz="3200" dirty="0">
                <a:latin typeface="思源黑体 CN Bold" panose="020B0800000000000000" pitchFamily="34" charset="-122"/>
                <a:ea typeface="思源黑体 CN Bold" panose="020B0800000000000000" pitchFamily="34" charset="-122"/>
              </a:rPr>
              <a:t>2 </a:t>
            </a:r>
            <a:r>
              <a:rPr lang="zh-CN" altLang="en-US" sz="3200" dirty="0">
                <a:latin typeface="思源黑体 CN Bold" panose="020B0800000000000000" pitchFamily="34" charset="-122"/>
                <a:ea typeface="思源黑体 CN Bold" panose="020B0800000000000000" pitchFamily="34" charset="-122"/>
              </a:rPr>
              <a:t>前馈神经网络函数</a:t>
            </a:r>
            <a:endParaRPr lang="zh-CN" altLang="en-US" sz="3200" dirty="0"/>
          </a:p>
        </p:txBody>
      </p:sp>
      <p:sp>
        <p:nvSpPr>
          <p:cNvPr id="3" name="内容占位符 2">
            <a:extLst>
              <a:ext uri="{FF2B5EF4-FFF2-40B4-BE49-F238E27FC236}">
                <a16:creationId xmlns:a16="http://schemas.microsoft.com/office/drawing/2014/main" id="{B5F15897-98F0-4E08-931A-45E1DC23C6B6}"/>
              </a:ext>
            </a:extLst>
          </p:cNvPr>
          <p:cNvSpPr>
            <a:spLocks noGrp="1"/>
          </p:cNvSpPr>
          <p:nvPr>
            <p:ph idx="4294967295"/>
          </p:nvPr>
        </p:nvSpPr>
        <p:spPr>
          <a:xfrm>
            <a:off x="707572" y="1253331"/>
            <a:ext cx="10515600" cy="4351338"/>
          </a:xfrm>
        </p:spPr>
        <p:txBody>
          <a:bodyPr>
            <a:normAutofit fontScale="92500" lnSpcReduction="10000"/>
          </a:bodyPr>
          <a:lstStyle/>
          <a:p>
            <a:pPr marL="342900" indent="-342900">
              <a:lnSpc>
                <a:spcPct val="150000"/>
              </a:lnSpc>
              <a:buFont typeface="+mj-lt"/>
              <a:buAutoNum type="arabicPeriod"/>
            </a:pPr>
            <a:r>
              <a:rPr lang="zh-CN" altLang="en-US" sz="2000" dirty="0">
                <a:latin typeface="思源黑体 CN Bold" panose="020B0800000000000000" pitchFamily="34" charset="-122"/>
                <a:ea typeface="思源黑体 CN Bold" panose="020B0800000000000000" pitchFamily="34" charset="-122"/>
                <a:cs typeface="+mj-cs"/>
              </a:rPr>
              <a:t>前馈神经网络是使用最为广泛的神经网络</a:t>
            </a:r>
            <a:endParaRPr lang="en-US" altLang="zh-CN" sz="2000" dirty="0">
              <a:latin typeface="思源黑体 CN Bold" panose="020B0800000000000000" pitchFamily="34" charset="-122"/>
              <a:ea typeface="思源黑体 CN Bold" panose="020B0800000000000000" pitchFamily="34" charset="-122"/>
              <a:cs typeface="+mj-cs"/>
            </a:endParaRPr>
          </a:p>
          <a:p>
            <a:pPr marL="342900" indent="-342900">
              <a:lnSpc>
                <a:spcPct val="150000"/>
              </a:lnSpc>
              <a:buFont typeface="+mj-lt"/>
              <a:buAutoNum type="arabicPeriod"/>
            </a:pPr>
            <a:r>
              <a:rPr lang="zh-CN" altLang="en-US" sz="2000" dirty="0">
                <a:latin typeface="思源黑体 CN Bold" panose="020B0800000000000000" pitchFamily="34" charset="-122"/>
                <a:ea typeface="思源黑体 CN Bold" panose="020B0800000000000000" pitchFamily="34" charset="-122"/>
                <a:cs typeface="+mj-cs"/>
              </a:rPr>
              <a:t>典型结构为两层网络（隐含层</a:t>
            </a:r>
            <a:r>
              <a:rPr lang="en-US" altLang="zh-CN" sz="2000" dirty="0">
                <a:latin typeface="思源黑体 CN Bold" panose="020B0800000000000000" pitchFamily="34" charset="-122"/>
                <a:ea typeface="思源黑体 CN Bold" panose="020B0800000000000000" pitchFamily="34" charset="-122"/>
                <a:cs typeface="+mj-cs"/>
              </a:rPr>
              <a:t>+</a:t>
            </a:r>
            <a:r>
              <a:rPr lang="zh-CN" altLang="en-US" sz="2000" dirty="0">
                <a:latin typeface="思源黑体 CN Bold" panose="020B0800000000000000" pitchFamily="34" charset="-122"/>
                <a:ea typeface="思源黑体 CN Bold" panose="020B0800000000000000" pitchFamily="34" charset="-122"/>
                <a:cs typeface="+mj-cs"/>
              </a:rPr>
              <a:t>输出层），一般原始数据不算做一层。</a:t>
            </a:r>
            <a:endParaRPr lang="en-US" altLang="zh-CN" sz="2000" dirty="0">
              <a:latin typeface="思源黑体 CN Bold" panose="020B0800000000000000" pitchFamily="34" charset="-122"/>
              <a:ea typeface="思源黑体 CN Bold" panose="020B0800000000000000" pitchFamily="34" charset="-122"/>
              <a:cs typeface="+mj-cs"/>
            </a:endParaRPr>
          </a:p>
          <a:p>
            <a:pPr marL="342900" indent="-342900">
              <a:lnSpc>
                <a:spcPct val="150000"/>
              </a:lnSpc>
              <a:buFont typeface="+mj-lt"/>
              <a:buAutoNum type="arabicPeriod"/>
            </a:pPr>
            <a:r>
              <a:rPr lang="zh-CN" altLang="en-US" sz="2100" dirty="0">
                <a:effectLst>
                  <a:glow rad="139700">
                    <a:schemeClr val="accent4">
                      <a:satMod val="175000"/>
                      <a:alpha val="40000"/>
                    </a:schemeClr>
                  </a:glow>
                </a:effectLst>
                <a:latin typeface="思源黑体 CN Bold" panose="020B0800000000000000" pitchFamily="34" charset="-122"/>
                <a:ea typeface="思源黑体 CN Bold" panose="020B0800000000000000" pitchFamily="34" charset="-122"/>
                <a:cs typeface="+mj-cs"/>
              </a:rPr>
              <a:t>隐</a:t>
            </a:r>
            <a:r>
              <a:rPr lang="zh-CN" altLang="en-US" sz="2000" dirty="0">
                <a:effectLst>
                  <a:glow rad="139700">
                    <a:schemeClr val="accent4">
                      <a:satMod val="175000"/>
                      <a:alpha val="40000"/>
                    </a:schemeClr>
                  </a:glow>
                </a:effectLst>
                <a:latin typeface="思源黑体 CN Bold" panose="020B0800000000000000" pitchFamily="34" charset="-122"/>
                <a:ea typeface="思源黑体 CN Bold" panose="020B0800000000000000" pitchFamily="34" charset="-122"/>
                <a:cs typeface="+mj-cs"/>
              </a:rPr>
              <a:t>含层</a:t>
            </a:r>
            <a:r>
              <a:rPr lang="zh-CN" altLang="en-US" sz="2000" dirty="0">
                <a:latin typeface="思源黑体 CN Bold" panose="020B0800000000000000" pitchFamily="34" charset="-122"/>
                <a:ea typeface="思源黑体 CN Bold" panose="020B0800000000000000" pitchFamily="34" charset="-122"/>
                <a:cs typeface="+mj-cs"/>
              </a:rPr>
              <a:t>的输出本质上就是基函数的函数值</a:t>
            </a:r>
            <a:endParaRPr lang="en-US" altLang="zh-CN" sz="2000" dirty="0">
              <a:latin typeface="思源黑体 CN Bold" panose="020B0800000000000000" pitchFamily="34" charset="-122"/>
              <a:ea typeface="思源黑体 CN Bold" panose="020B0800000000000000" pitchFamily="34" charset="-122"/>
              <a:cs typeface="+mj-cs"/>
            </a:endParaRPr>
          </a:p>
          <a:p>
            <a:pPr lvl="1">
              <a:lnSpc>
                <a:spcPct val="150000"/>
              </a:lnSpc>
            </a:pPr>
            <a:r>
              <a:rPr lang="zh-CN" altLang="en-US" sz="1600" dirty="0">
                <a:latin typeface="思源黑体 CN Bold" panose="020B0800000000000000" pitchFamily="34" charset="-122"/>
                <a:ea typeface="思源黑体 CN Bold" panose="020B0800000000000000" pitchFamily="34" charset="-122"/>
                <a:cs typeface="+mj-cs"/>
              </a:rPr>
              <a:t>隐含层的输出是原始数据加权和的激活结果，激活函数有</a:t>
            </a:r>
            <a:r>
              <a:rPr lang="en-US" altLang="zh-CN" sz="1600" dirty="0">
                <a:latin typeface="思源黑体 CN Bold" panose="020B0800000000000000" pitchFamily="34" charset="-122"/>
                <a:ea typeface="思源黑体 CN Bold" panose="020B0800000000000000" pitchFamily="34" charset="-122"/>
                <a:cs typeface="+mj-cs"/>
              </a:rPr>
              <a:t>Logistic</a:t>
            </a:r>
            <a:r>
              <a:rPr lang="zh-CN" altLang="en-US" sz="1600" dirty="0">
                <a:latin typeface="思源黑体 CN Bold" panose="020B0800000000000000" pitchFamily="34" charset="-122"/>
                <a:ea typeface="思源黑体 CN Bold" panose="020B0800000000000000" pitchFamily="34" charset="-122"/>
                <a:cs typeface="+mj-cs"/>
              </a:rPr>
              <a:t>、</a:t>
            </a:r>
            <a:r>
              <a:rPr lang="en-US" altLang="zh-CN" sz="1600" dirty="0">
                <a:latin typeface="思源黑体 CN Bold" panose="020B0800000000000000" pitchFamily="34" charset="-122"/>
                <a:ea typeface="思源黑体 CN Bold" panose="020B0800000000000000" pitchFamily="34" charset="-122"/>
                <a:cs typeface="+mj-cs"/>
              </a:rPr>
              <a:t>tanh</a:t>
            </a:r>
            <a:r>
              <a:rPr lang="zh-CN" altLang="en-US" sz="1600" dirty="0">
                <a:latin typeface="思源黑体 CN Bold" panose="020B0800000000000000" pitchFamily="34" charset="-122"/>
                <a:ea typeface="思源黑体 CN Bold" panose="020B0800000000000000" pitchFamily="34" charset="-122"/>
                <a:cs typeface="+mj-cs"/>
              </a:rPr>
              <a:t>、</a:t>
            </a:r>
            <a:r>
              <a:rPr lang="en-US" altLang="zh-CN" sz="1600" dirty="0" err="1">
                <a:latin typeface="思源黑体 CN Bold" panose="020B0800000000000000" pitchFamily="34" charset="-122"/>
                <a:ea typeface="思源黑体 CN Bold" panose="020B0800000000000000" pitchFamily="34" charset="-122"/>
                <a:cs typeface="+mj-cs"/>
              </a:rPr>
              <a:t>ReLU</a:t>
            </a:r>
            <a:r>
              <a:rPr lang="zh-CN" altLang="en-US" sz="1600" dirty="0">
                <a:latin typeface="思源黑体 CN Bold" panose="020B0800000000000000" pitchFamily="34" charset="-122"/>
                <a:ea typeface="思源黑体 CN Bold" panose="020B0800000000000000" pitchFamily="34" charset="-122"/>
                <a:cs typeface="+mj-cs"/>
              </a:rPr>
              <a:t>、</a:t>
            </a:r>
            <a:r>
              <a:rPr lang="en-US" altLang="zh-CN" sz="1600" dirty="0" err="1">
                <a:latin typeface="思源黑体 CN Bold" panose="020B0800000000000000" pitchFamily="34" charset="-122"/>
                <a:ea typeface="思源黑体 CN Bold" panose="020B0800000000000000" pitchFamily="34" charset="-122"/>
                <a:cs typeface="+mj-cs"/>
              </a:rPr>
              <a:t>Softplus</a:t>
            </a:r>
            <a:r>
              <a:rPr lang="zh-CN" altLang="en-US" sz="1600" dirty="0">
                <a:latin typeface="思源黑体 CN Bold" panose="020B0800000000000000" pitchFamily="34" charset="-122"/>
                <a:ea typeface="思源黑体 CN Bold" panose="020B0800000000000000" pitchFamily="34" charset="-122"/>
                <a:cs typeface="+mj-cs"/>
              </a:rPr>
              <a:t>、恒等（不激活）等</a:t>
            </a:r>
            <a:endParaRPr lang="en-US" altLang="zh-CN" sz="1600" dirty="0">
              <a:latin typeface="思源黑体 CN Bold" panose="020B0800000000000000" pitchFamily="34" charset="-122"/>
              <a:ea typeface="思源黑体 CN Bold" panose="020B0800000000000000" pitchFamily="34" charset="-122"/>
              <a:cs typeface="+mj-cs"/>
            </a:endParaRPr>
          </a:p>
          <a:p>
            <a:pPr marL="342900" indent="-342900">
              <a:lnSpc>
                <a:spcPct val="150000"/>
              </a:lnSpc>
              <a:buFont typeface="+mj-lt"/>
              <a:buAutoNum type="arabicPeriod"/>
            </a:pPr>
            <a:r>
              <a:rPr lang="zh-CN" altLang="en-US" sz="2100" dirty="0">
                <a:effectLst>
                  <a:glow rad="101600">
                    <a:schemeClr val="accent4">
                      <a:satMod val="175000"/>
                      <a:alpha val="40000"/>
                    </a:schemeClr>
                  </a:glow>
                </a:effectLst>
                <a:latin typeface="思源黑体 CN Bold" panose="020B0800000000000000" pitchFamily="34" charset="-122"/>
                <a:ea typeface="思源黑体 CN Bold" panose="020B0800000000000000" pitchFamily="34" charset="-122"/>
                <a:cs typeface="+mj-cs"/>
              </a:rPr>
              <a:t>输出层的输出</a:t>
            </a:r>
            <a:r>
              <a:rPr lang="zh-CN" altLang="en-US" sz="2000" dirty="0">
                <a:latin typeface="思源黑体 CN Bold" panose="020B0800000000000000" pitchFamily="34" charset="-122"/>
                <a:ea typeface="思源黑体 CN Bold" panose="020B0800000000000000" pitchFamily="34" charset="-122"/>
                <a:cs typeface="+mj-cs"/>
              </a:rPr>
              <a:t>是基函数值的线性加权组合的激活结果，与线性回归和</a:t>
            </a:r>
            <a:r>
              <a:rPr lang="en-US" altLang="zh-CN" sz="2000" dirty="0">
                <a:latin typeface="思源黑体 CN Bold" panose="020B0800000000000000" pitchFamily="34" charset="-122"/>
                <a:ea typeface="思源黑体 CN Bold" panose="020B0800000000000000" pitchFamily="34" charset="-122"/>
                <a:cs typeface="+mj-cs"/>
              </a:rPr>
              <a:t>Logistic</a:t>
            </a:r>
            <a:r>
              <a:rPr lang="zh-CN" altLang="en-US" sz="2000" dirty="0">
                <a:latin typeface="思源黑体 CN Bold" panose="020B0800000000000000" pitchFamily="34" charset="-122"/>
                <a:ea typeface="思源黑体 CN Bold" panose="020B0800000000000000" pitchFamily="34" charset="-122"/>
                <a:cs typeface="+mj-cs"/>
              </a:rPr>
              <a:t>回归完全一致</a:t>
            </a:r>
            <a:endParaRPr lang="en-US" altLang="zh-CN" sz="2000" dirty="0">
              <a:latin typeface="思源黑体 CN Bold" panose="020B0800000000000000" pitchFamily="34" charset="-122"/>
              <a:ea typeface="思源黑体 CN Bold" panose="020B0800000000000000" pitchFamily="34" charset="-122"/>
              <a:cs typeface="+mj-cs"/>
            </a:endParaRPr>
          </a:p>
          <a:p>
            <a:pPr lvl="1">
              <a:lnSpc>
                <a:spcPct val="150000"/>
              </a:lnSpc>
            </a:pPr>
            <a:r>
              <a:rPr lang="zh-CN" altLang="en-US" sz="1600" dirty="0">
                <a:latin typeface="思源黑体 CN Bold" panose="020B0800000000000000" pitchFamily="34" charset="-122"/>
                <a:ea typeface="思源黑体 CN Bold" panose="020B0800000000000000" pitchFamily="34" charset="-122"/>
                <a:cs typeface="+mj-cs"/>
              </a:rPr>
              <a:t>如果是回归，激活函数就是恒等函数</a:t>
            </a:r>
            <a:endParaRPr lang="en-US" altLang="zh-CN" sz="1600" dirty="0">
              <a:latin typeface="思源黑体 CN Bold" panose="020B0800000000000000" pitchFamily="34" charset="-122"/>
              <a:ea typeface="思源黑体 CN Bold" panose="020B0800000000000000" pitchFamily="34" charset="-122"/>
              <a:cs typeface="+mj-cs"/>
            </a:endParaRPr>
          </a:p>
          <a:p>
            <a:pPr lvl="1">
              <a:lnSpc>
                <a:spcPct val="150000"/>
              </a:lnSpc>
            </a:pPr>
            <a:r>
              <a:rPr lang="zh-CN" altLang="en-US" sz="1600" dirty="0">
                <a:latin typeface="思源黑体 CN Bold" panose="020B0800000000000000" pitchFamily="34" charset="-122"/>
                <a:ea typeface="思源黑体 CN Bold" panose="020B0800000000000000" pitchFamily="34" charset="-122"/>
                <a:cs typeface="+mj-cs"/>
              </a:rPr>
              <a:t>如果是两类分类，激活函数就是</a:t>
            </a:r>
            <a:r>
              <a:rPr lang="en-US" altLang="zh-CN" sz="1600" dirty="0">
                <a:latin typeface="思源黑体 CN Bold" panose="020B0800000000000000" pitchFamily="34" charset="-122"/>
                <a:ea typeface="思源黑体 CN Bold" panose="020B0800000000000000" pitchFamily="34" charset="-122"/>
                <a:cs typeface="+mj-cs"/>
              </a:rPr>
              <a:t>Sigmoid</a:t>
            </a:r>
          </a:p>
          <a:p>
            <a:pPr lvl="1">
              <a:lnSpc>
                <a:spcPct val="150000"/>
              </a:lnSpc>
            </a:pPr>
            <a:r>
              <a:rPr lang="zh-CN" altLang="en-US" sz="1600" dirty="0">
                <a:latin typeface="思源黑体 CN Bold" panose="020B0800000000000000" pitchFamily="34" charset="-122"/>
                <a:ea typeface="思源黑体 CN Bold" panose="020B0800000000000000" pitchFamily="34" charset="-122"/>
                <a:cs typeface="+mj-cs"/>
              </a:rPr>
              <a:t>如果是多类分类，激活函数就是</a:t>
            </a:r>
            <a:r>
              <a:rPr lang="en-US" altLang="zh-CN" sz="1600" dirty="0" err="1">
                <a:latin typeface="思源黑体 CN Bold" panose="020B0800000000000000" pitchFamily="34" charset="-122"/>
                <a:ea typeface="思源黑体 CN Bold" panose="020B0800000000000000" pitchFamily="34" charset="-122"/>
                <a:cs typeface="+mj-cs"/>
              </a:rPr>
              <a:t>Softmax</a:t>
            </a:r>
            <a:endParaRPr lang="en-US" altLang="zh-CN" sz="1600" dirty="0">
              <a:latin typeface="思源黑体 CN Bold" panose="020B0800000000000000" pitchFamily="34" charset="-122"/>
              <a:ea typeface="思源黑体 CN Bold" panose="020B0800000000000000" pitchFamily="34" charset="-122"/>
              <a:cs typeface="+mj-cs"/>
            </a:endParaRPr>
          </a:p>
          <a:p>
            <a:pPr marL="342900" indent="-342900">
              <a:lnSpc>
                <a:spcPct val="150000"/>
              </a:lnSpc>
              <a:buFont typeface="+mj-lt"/>
              <a:buAutoNum type="arabicPeriod"/>
            </a:pPr>
            <a:r>
              <a:rPr lang="zh-CN" altLang="en-US" sz="2000" dirty="0">
                <a:latin typeface="思源黑体 CN Bold" panose="020B0800000000000000" pitchFamily="34" charset="-122"/>
                <a:ea typeface="思源黑体 CN Bold" panose="020B0800000000000000" pitchFamily="34" charset="-122"/>
                <a:cs typeface="+mj-cs"/>
              </a:rPr>
              <a:t>如果是隐含层多于</a:t>
            </a:r>
            <a:r>
              <a:rPr lang="en-US" altLang="zh-CN" sz="2000" dirty="0">
                <a:latin typeface="思源黑体 CN Bold" panose="020B0800000000000000" pitchFamily="34" charset="-122"/>
                <a:ea typeface="思源黑体 CN Bold" panose="020B0800000000000000" pitchFamily="34" charset="-122"/>
                <a:cs typeface="+mj-cs"/>
              </a:rPr>
              <a:t>1</a:t>
            </a:r>
            <a:r>
              <a:rPr lang="zh-CN" altLang="en-US" sz="2000" dirty="0">
                <a:latin typeface="思源黑体 CN Bold" panose="020B0800000000000000" pitchFamily="34" charset="-122"/>
                <a:ea typeface="思源黑体 CN Bold" panose="020B0800000000000000" pitchFamily="34" charset="-122"/>
                <a:cs typeface="+mj-cs"/>
              </a:rPr>
              <a:t>层，则基函数就是</a:t>
            </a:r>
            <a:r>
              <a:rPr lang="en-US" altLang="zh-CN" sz="2000" dirty="0">
                <a:latin typeface="思源黑体 CN Bold" panose="020B0800000000000000" pitchFamily="34" charset="-122"/>
                <a:ea typeface="思源黑体 CN Bold" panose="020B0800000000000000" pitchFamily="34" charset="-122"/>
                <a:cs typeface="+mj-cs"/>
              </a:rPr>
              <a:t>x</a:t>
            </a:r>
            <a:r>
              <a:rPr lang="zh-CN" altLang="en-US" sz="2000" dirty="0">
                <a:latin typeface="思源黑体 CN Bold" panose="020B0800000000000000" pitchFamily="34" charset="-122"/>
                <a:ea typeface="思源黑体 CN Bold" panose="020B0800000000000000" pitchFamily="34" charset="-122"/>
                <a:cs typeface="+mj-cs"/>
              </a:rPr>
              <a:t>的多重线性组合并激活的结果</a:t>
            </a:r>
            <a:endParaRPr lang="en-US" altLang="zh-CN" sz="2000" dirty="0">
              <a:latin typeface="思源黑体 CN Bold" panose="020B0800000000000000" pitchFamily="34" charset="-122"/>
              <a:ea typeface="思源黑体 CN Bold" panose="020B0800000000000000" pitchFamily="34" charset="-122"/>
              <a:cs typeface="+mj-cs"/>
            </a:endParaRPr>
          </a:p>
          <a:p>
            <a:pPr marL="800100" lvl="1" indent="-342900">
              <a:lnSpc>
                <a:spcPct val="150000"/>
              </a:lnSpc>
              <a:buFont typeface="+mj-lt"/>
              <a:buAutoNum type="arabicPeriod"/>
            </a:pPr>
            <a:endParaRPr lang="en-US" altLang="zh-CN" sz="1600" dirty="0">
              <a:latin typeface="思源黑体 CN Bold" panose="020B0800000000000000" pitchFamily="34" charset="-122"/>
              <a:ea typeface="思源黑体 CN Bold" panose="020B0800000000000000" pitchFamily="34" charset="-122"/>
              <a:cs typeface="+mj-cs"/>
            </a:endParaRPr>
          </a:p>
        </p:txBody>
      </p:sp>
    </p:spTree>
    <p:extLst>
      <p:ext uri="{BB962C8B-B14F-4D97-AF65-F5344CB8AC3E}">
        <p14:creationId xmlns:p14="http://schemas.microsoft.com/office/powerpoint/2010/main" val="42364827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E08726-068C-4F40-A65E-B5EE8CD22EE1}"/>
              </a:ext>
            </a:extLst>
          </p:cNvPr>
          <p:cNvSpPr>
            <a:spLocks noGrp="1"/>
          </p:cNvSpPr>
          <p:nvPr>
            <p:ph type="title" idx="4294967295"/>
          </p:nvPr>
        </p:nvSpPr>
        <p:spPr>
          <a:xfrm>
            <a:off x="266482" y="164931"/>
            <a:ext cx="7445829" cy="516106"/>
          </a:xfrm>
        </p:spPr>
        <p:txBody>
          <a:bodyPr>
            <a:noAutofit/>
          </a:bodyPr>
          <a:lstStyle/>
          <a:p>
            <a:pPr>
              <a:lnSpc>
                <a:spcPct val="150000"/>
              </a:lnSpc>
            </a:pPr>
            <a:r>
              <a:rPr lang="en-US" altLang="zh-CN" sz="3600" dirty="0">
                <a:latin typeface="思源黑体 CN Bold" panose="020B0800000000000000" pitchFamily="34" charset="-122"/>
                <a:ea typeface="思源黑体 CN Bold" panose="020B0800000000000000" pitchFamily="34" charset="-122"/>
              </a:rPr>
              <a:t>2 </a:t>
            </a:r>
            <a:r>
              <a:rPr lang="zh-CN" altLang="en-US" sz="3600" dirty="0">
                <a:latin typeface="思源黑体 CN Bold" panose="020B0800000000000000" pitchFamily="34" charset="-122"/>
                <a:ea typeface="思源黑体 CN Bold" panose="020B0800000000000000" pitchFamily="34" charset="-122"/>
              </a:rPr>
              <a:t>前馈神经网络函数：</a:t>
            </a:r>
            <a:r>
              <a:rPr lang="zh-CN" altLang="en-US" sz="2800" dirty="0">
                <a:latin typeface="思源黑体 CN Bold" panose="020B0800000000000000" pitchFamily="34" charset="-122"/>
                <a:ea typeface="思源黑体 CN Bold" panose="020B0800000000000000" pitchFamily="34" charset="-122"/>
              </a:rPr>
              <a:t>基本结构</a:t>
            </a:r>
            <a:endParaRPr lang="zh-CN" altLang="en-US" sz="3600"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7EEEC64B-E976-4035-A04D-3686D86D7852}"/>
                  </a:ext>
                </a:extLst>
              </p:cNvPr>
              <p:cNvSpPr>
                <a:spLocks noGrp="1"/>
              </p:cNvSpPr>
              <p:nvPr>
                <p:ph idx="4294967295"/>
              </p:nvPr>
            </p:nvSpPr>
            <p:spPr>
              <a:xfrm>
                <a:off x="785949" y="1078679"/>
                <a:ext cx="10246984" cy="4700641"/>
              </a:xfrm>
            </p:spPr>
            <p:txBody>
              <a:bodyPr>
                <a:normAutofit/>
              </a:bodyPr>
              <a:lstStyle/>
              <a:p>
                <a:pPr marL="0" indent="0">
                  <a:lnSpc>
                    <a:spcPct val="150000"/>
                  </a:lnSpc>
                  <a:spcBef>
                    <a:spcPts val="0"/>
                  </a:spcBef>
                  <a:buNone/>
                </a:pPr>
                <a14:m>
                  <m:oMathPara xmlns:m="http://schemas.openxmlformats.org/officeDocument/2006/math">
                    <m:oMathParaPr>
                      <m:jc m:val="center"/>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𝑦</m:t>
                          </m:r>
                        </m:e>
                        <m:sub>
                          <m:r>
                            <a:rPr lang="en-US" altLang="zh-CN" sz="1800" i="1">
                              <a:latin typeface="Cambria Math" panose="02040503050406030204" pitchFamily="18" charset="0"/>
                            </a:rPr>
                            <m:t>𝑘</m:t>
                          </m:r>
                        </m:sub>
                      </m:sSub>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𝑓</m:t>
                      </m:r>
                      <m:d>
                        <m:dPr>
                          <m:ctrlPr>
                            <a:rPr lang="en-US" altLang="zh-CN" sz="1800" i="1">
                              <a:latin typeface="Cambria Math" panose="02040503050406030204" pitchFamily="18" charset="0"/>
                            </a:rPr>
                          </m:ctrlPr>
                        </m:dPr>
                        <m:e>
                          <m:sSup>
                            <m:sSupPr>
                              <m:ctrlPr>
                                <a:rPr lang="en-US" altLang="zh-CN" sz="1800" i="1">
                                  <a:latin typeface="Cambria Math" panose="02040503050406030204" pitchFamily="18" charset="0"/>
                                </a:rPr>
                              </m:ctrlPr>
                            </m:sSupPr>
                            <m:e>
                              <m:sSub>
                                <m:sSubPr>
                                  <m:ctrlPr>
                                    <a:rPr lang="en-US" altLang="zh-CN" sz="1800" b="1" i="1">
                                      <a:latin typeface="Cambria Math" panose="02040503050406030204" pitchFamily="18" charset="0"/>
                                    </a:rPr>
                                  </m:ctrlPr>
                                </m:sSubPr>
                                <m:e>
                                  <m:r>
                                    <a:rPr lang="en-US" altLang="zh-CN" sz="1800" b="1">
                                      <a:latin typeface="Cambria Math" panose="02040503050406030204" pitchFamily="18" charset="0"/>
                                    </a:rPr>
                                    <m:t>𝐰</m:t>
                                  </m:r>
                                </m:e>
                                <m:sub>
                                  <m:r>
                                    <a:rPr lang="en-US" altLang="zh-CN" sz="1800" i="1">
                                      <a:latin typeface="Cambria Math" panose="02040503050406030204" pitchFamily="18" charset="0"/>
                                    </a:rPr>
                                    <m:t>𝑘</m:t>
                                  </m:r>
                                </m:sub>
                              </m:sSub>
                            </m:e>
                            <m:sup>
                              <m:r>
                                <a:rPr lang="en-US" altLang="zh-CN" sz="1800" i="1">
                                  <a:latin typeface="Cambria Math" panose="02040503050406030204" pitchFamily="18" charset="0"/>
                                </a:rPr>
                                <m:t>𝑇</m:t>
                              </m:r>
                            </m:sup>
                          </m:sSup>
                          <m:r>
                            <a:rPr lang="zh-CN" altLang="en-US" sz="1800" i="1">
                              <a:latin typeface="Cambria Math" panose="02040503050406030204" pitchFamily="18" charset="0"/>
                            </a:rPr>
                            <m:t>𝜙</m:t>
                          </m:r>
                          <m:d>
                            <m:dPr>
                              <m:ctrlPr>
                                <a:rPr lang="en-US" altLang="zh-CN" sz="1800" i="1">
                                  <a:latin typeface="Cambria Math" panose="02040503050406030204" pitchFamily="18" charset="0"/>
                                </a:rPr>
                              </m:ctrlPr>
                            </m:dPr>
                            <m:e>
                              <m:r>
                                <a:rPr lang="en-US" altLang="zh-CN" sz="1800" b="1">
                                  <a:latin typeface="Cambria Math" panose="02040503050406030204" pitchFamily="18" charset="0"/>
                                </a:rPr>
                                <m:t>𝐱</m:t>
                              </m:r>
                            </m:e>
                          </m:d>
                        </m:e>
                      </m:d>
                    </m:oMath>
                  </m:oMathPara>
                </a14:m>
                <a:endParaRPr lang="en-US" altLang="zh-CN" sz="1800" dirty="0">
                  <a:latin typeface="思源黑体 CN Bold" panose="020B0800000000000000" pitchFamily="34" charset="-122"/>
                  <a:ea typeface="思源黑体 CN Bold" panose="020B0800000000000000" pitchFamily="34" charset="-122"/>
                </a:endParaRPr>
              </a:p>
              <a:p>
                <a:pPr marL="0" indent="0" algn="ctr">
                  <a:lnSpc>
                    <a:spcPct val="150000"/>
                  </a:lnSpc>
                  <a:buNone/>
                </a:pPr>
                <a:r>
                  <a:rPr lang="zh-CN" altLang="en-US" sz="1800" dirty="0">
                    <a:latin typeface="思源黑体 CN Bold" panose="020B0800000000000000" pitchFamily="34" charset="-122"/>
                    <a:ea typeface="思源黑体 CN Bold" panose="020B0800000000000000" pitchFamily="34" charset="-122"/>
                  </a:rPr>
                  <a:t>两类分类：</a:t>
                </a:r>
                <a:r>
                  <a:rPr lang="en-US" altLang="zh-CN" sz="1800" dirty="0"/>
                  <a:t> </a:t>
                </a:r>
                <a14:m>
                  <m:oMath xmlns:m="http://schemas.openxmlformats.org/officeDocument/2006/math">
                    <m:r>
                      <a:rPr lang="en-US" altLang="zh-CN" sz="1800" i="1">
                        <a:latin typeface="Cambria Math" panose="02040503050406030204" pitchFamily="18" charset="0"/>
                      </a:rPr>
                      <m:t>𝑓</m:t>
                    </m:r>
                    <m:d>
                      <m:dPr>
                        <m:ctrlPr>
                          <a:rPr lang="en-US" altLang="zh-CN" sz="1800" i="1">
                            <a:latin typeface="Cambria Math" panose="02040503050406030204" pitchFamily="18" charset="0"/>
                          </a:rPr>
                        </m:ctrlPr>
                      </m:dPr>
                      <m:e>
                        <m:r>
                          <a:rPr lang="en-US" altLang="zh-CN" sz="1800" b="1" i="0" smtClean="0">
                            <a:latin typeface="Cambria Math" panose="02040503050406030204" pitchFamily="18" charset="0"/>
                          </a:rPr>
                          <m:t>𝐱</m:t>
                        </m:r>
                      </m:e>
                    </m:d>
                    <m:r>
                      <a:rPr lang="en-US" altLang="zh-CN" sz="1800" b="1" i="1" smtClean="0">
                        <a:latin typeface="Cambria Math" panose="02040503050406030204" pitchFamily="18" charset="0"/>
                      </a:rPr>
                      <m:t>=</m:t>
                    </m:r>
                    <m:r>
                      <a:rPr lang="en-US" altLang="zh-CN" sz="1800" b="0" i="1" smtClean="0">
                        <a:latin typeface="Cambria Math" panose="02040503050406030204" pitchFamily="18" charset="0"/>
                      </a:rPr>
                      <m:t>𝑆𝑖𝑔𝑚𝑜𝑖𝑑</m:t>
                    </m:r>
                    <m:d>
                      <m:dPr>
                        <m:ctrlPr>
                          <a:rPr lang="en-US" altLang="zh-CN" sz="1800" b="1" i="1" smtClean="0">
                            <a:latin typeface="Cambria Math" panose="02040503050406030204" pitchFamily="18" charset="0"/>
                          </a:rPr>
                        </m:ctrlPr>
                      </m:dPr>
                      <m:e>
                        <m:r>
                          <a:rPr lang="en-US" altLang="zh-CN" sz="1800" b="1">
                            <a:latin typeface="Cambria Math" panose="02040503050406030204" pitchFamily="18" charset="0"/>
                          </a:rPr>
                          <m:t>𝐱</m:t>
                        </m:r>
                      </m:e>
                    </m:d>
                    <m:r>
                      <a:rPr lang="en-US" altLang="zh-CN" sz="1800" b="1" i="1">
                        <a:latin typeface="Cambria Math" panose="02040503050406030204" pitchFamily="18" charset="0"/>
                      </a:rPr>
                      <m:t> </m:t>
                    </m:r>
                  </m:oMath>
                </a14:m>
                <a:r>
                  <a:rPr lang="zh-CN" altLang="en-US" sz="1800" dirty="0">
                    <a:latin typeface="思源黑体 CN Bold" panose="020B0800000000000000" pitchFamily="34" charset="-122"/>
                    <a:ea typeface="思源黑体 CN Bold" panose="020B0800000000000000" pitchFamily="34" charset="-122"/>
                  </a:rPr>
                  <a:t>；  多类分类：</a:t>
                </a:r>
                <a14:m>
                  <m:oMath xmlns:m="http://schemas.openxmlformats.org/officeDocument/2006/math">
                    <m:r>
                      <a:rPr lang="en-US" altLang="zh-CN" sz="1800" i="1">
                        <a:latin typeface="Cambria Math" panose="02040503050406030204" pitchFamily="18" charset="0"/>
                      </a:rPr>
                      <m:t>𝑓</m:t>
                    </m:r>
                    <m:d>
                      <m:dPr>
                        <m:ctrlPr>
                          <a:rPr lang="en-US" altLang="zh-CN" sz="1800" i="1">
                            <a:latin typeface="Cambria Math" panose="02040503050406030204" pitchFamily="18" charset="0"/>
                          </a:rPr>
                        </m:ctrlPr>
                      </m:dPr>
                      <m:e>
                        <m:r>
                          <a:rPr lang="en-US" altLang="zh-CN" sz="1800" b="1">
                            <a:latin typeface="Cambria Math" panose="02040503050406030204" pitchFamily="18" charset="0"/>
                          </a:rPr>
                          <m:t>𝐱</m:t>
                        </m:r>
                      </m:e>
                    </m:d>
                    <m:r>
                      <a:rPr lang="en-US" altLang="zh-CN" sz="1800" b="1" i="1">
                        <a:latin typeface="Cambria Math" panose="02040503050406030204" pitchFamily="18" charset="0"/>
                      </a:rPr>
                      <m:t>=</m:t>
                    </m:r>
                    <m:r>
                      <a:rPr lang="en-US" altLang="zh-CN" sz="1800" b="0" i="1" smtClean="0">
                        <a:latin typeface="Cambria Math" panose="02040503050406030204" pitchFamily="18" charset="0"/>
                      </a:rPr>
                      <m:t>𝑆𝑜𝑓𝑡𝑚𝑎𝑥</m:t>
                    </m:r>
                    <m:d>
                      <m:dPr>
                        <m:ctrlPr>
                          <a:rPr lang="en-US" altLang="zh-CN" sz="1800" b="1" i="1">
                            <a:latin typeface="Cambria Math" panose="02040503050406030204" pitchFamily="18" charset="0"/>
                          </a:rPr>
                        </m:ctrlPr>
                      </m:dPr>
                      <m:e>
                        <m:r>
                          <a:rPr lang="en-US" altLang="zh-CN" sz="1800" b="1">
                            <a:latin typeface="Cambria Math" panose="02040503050406030204" pitchFamily="18" charset="0"/>
                          </a:rPr>
                          <m:t>𝐱</m:t>
                        </m:r>
                      </m:e>
                    </m:d>
                  </m:oMath>
                </a14:m>
                <a:r>
                  <a:rPr lang="zh-CN" altLang="en-US" sz="1800" b="1" dirty="0">
                    <a:latin typeface="思源黑体 CN Bold" panose="020B0800000000000000" pitchFamily="34" charset="-122"/>
                    <a:ea typeface="思源黑体 CN Bold" panose="020B0800000000000000" pitchFamily="34" charset="-122"/>
                  </a:rPr>
                  <a:t>；   </a:t>
                </a:r>
                <a:r>
                  <a:rPr lang="zh-CN" altLang="en-US" sz="1800" dirty="0">
                    <a:latin typeface="思源黑体 CN Bold" panose="020B0800000000000000" pitchFamily="34" charset="-122"/>
                    <a:ea typeface="思源黑体 CN Bold" panose="020B0800000000000000" pitchFamily="34" charset="-122"/>
                  </a:rPr>
                  <a:t>回归：</a:t>
                </a:r>
                <a:r>
                  <a:rPr lang="en-US" altLang="zh-CN" sz="1800" dirty="0"/>
                  <a:t> </a:t>
                </a:r>
                <a14:m>
                  <m:oMath xmlns:m="http://schemas.openxmlformats.org/officeDocument/2006/math">
                    <m:r>
                      <a:rPr lang="en-US" altLang="zh-CN" sz="1800" i="1">
                        <a:latin typeface="Cambria Math" panose="02040503050406030204" pitchFamily="18" charset="0"/>
                      </a:rPr>
                      <m:t>𝑓</m:t>
                    </m:r>
                    <m:d>
                      <m:dPr>
                        <m:ctrlPr>
                          <a:rPr lang="en-US" altLang="zh-CN" sz="1800" i="1">
                            <a:latin typeface="Cambria Math" panose="02040503050406030204" pitchFamily="18" charset="0"/>
                          </a:rPr>
                        </m:ctrlPr>
                      </m:dPr>
                      <m:e>
                        <m:r>
                          <a:rPr lang="en-US" altLang="zh-CN" sz="1800" b="1">
                            <a:latin typeface="Cambria Math" panose="02040503050406030204" pitchFamily="18" charset="0"/>
                          </a:rPr>
                          <m:t>𝐱</m:t>
                        </m:r>
                      </m:e>
                    </m:d>
                    <m:r>
                      <a:rPr lang="en-US" altLang="zh-CN" sz="1800" b="1" i="1">
                        <a:latin typeface="Cambria Math" panose="02040503050406030204" pitchFamily="18" charset="0"/>
                      </a:rPr>
                      <m:t>=</m:t>
                    </m:r>
                    <m:r>
                      <a:rPr lang="en-US" altLang="zh-CN" sz="1800" b="1">
                        <a:latin typeface="Cambria Math" panose="02040503050406030204" pitchFamily="18" charset="0"/>
                      </a:rPr>
                      <m:t>𝐱</m:t>
                    </m:r>
                    <m:r>
                      <a:rPr lang="en-US" altLang="zh-CN" sz="1800" b="1" i="1">
                        <a:latin typeface="Cambria Math" panose="02040503050406030204" pitchFamily="18" charset="0"/>
                      </a:rPr>
                      <m:t> </m:t>
                    </m:r>
                  </m:oMath>
                </a14:m>
                <a:endParaRPr lang="en-US" altLang="zh-CN" sz="1800" dirty="0">
                  <a:latin typeface="思源黑体 CN Bold" panose="020B0800000000000000" pitchFamily="34" charset="-122"/>
                  <a:ea typeface="思源黑体 CN Bold" panose="020B0800000000000000" pitchFamily="34" charset="-122"/>
                </a:endParaRPr>
              </a:p>
              <a:p>
                <a:pPr marL="0" indent="0" algn="ctr">
                  <a:lnSpc>
                    <a:spcPct val="150000"/>
                  </a:lnSpc>
                  <a:buNone/>
                </a:pPr>
                <a:endParaRPr lang="en-US" altLang="zh-CN" sz="1800" dirty="0">
                  <a:latin typeface="思源黑体 CN Bold" panose="020B0800000000000000" pitchFamily="34" charset="-122"/>
                  <a:ea typeface="思源黑体 CN Bold" panose="020B0800000000000000" pitchFamily="34" charset="-122"/>
                </a:endParaRPr>
              </a:p>
              <a:p>
                <a:pPr marL="457200" indent="-457200">
                  <a:lnSpc>
                    <a:spcPct val="150000"/>
                  </a:lnSpc>
                  <a:buFont typeface="+mj-lt"/>
                  <a:buAutoNum type="arabicPeriod"/>
                </a:pPr>
                <a:r>
                  <a:rPr lang="zh-CN" altLang="en-US" sz="1800" dirty="0">
                    <a:latin typeface="思源黑体 CN Bold" panose="020B0800000000000000" pitchFamily="34" charset="-122"/>
                    <a:ea typeface="思源黑体 CN Bold" panose="020B0800000000000000" pitchFamily="34" charset="-122"/>
                  </a:rPr>
                  <a:t>线性模型：基函数为固定函数，多项式、</a:t>
                </a:r>
                <a:r>
                  <a:rPr lang="en-US" altLang="zh-CN" sz="1800" dirty="0">
                    <a:latin typeface="思源黑体 CN Bold" panose="020B0800000000000000" pitchFamily="34" charset="-122"/>
                    <a:ea typeface="思源黑体 CN Bold" panose="020B0800000000000000" pitchFamily="34" charset="-122"/>
                  </a:rPr>
                  <a:t>Sigmoidal</a:t>
                </a:r>
                <a:r>
                  <a:rPr lang="zh-CN" altLang="en-US" sz="1800" dirty="0">
                    <a:latin typeface="思源黑体 CN Bold" panose="020B0800000000000000" pitchFamily="34" charset="-122"/>
                    <a:ea typeface="思源黑体 CN Bold" panose="020B0800000000000000" pitchFamily="34" charset="-122"/>
                  </a:rPr>
                  <a:t>、</a:t>
                </a:r>
                <a:r>
                  <a:rPr lang="en-US" altLang="zh-CN" sz="1800" dirty="0">
                    <a:latin typeface="思源黑体 CN Bold" panose="020B0800000000000000" pitchFamily="34" charset="-122"/>
                    <a:ea typeface="思源黑体 CN Bold" panose="020B0800000000000000" pitchFamily="34" charset="-122"/>
                  </a:rPr>
                  <a:t>RBF</a:t>
                </a:r>
              </a:p>
              <a:p>
                <a:pPr marL="457200" indent="-457200">
                  <a:lnSpc>
                    <a:spcPct val="150000"/>
                  </a:lnSpc>
                  <a:buFont typeface="+mj-lt"/>
                  <a:buAutoNum type="arabicPeriod" startAt="2"/>
                </a:pPr>
                <a:r>
                  <a:rPr lang="zh-CN" altLang="en-US" sz="1800" dirty="0">
                    <a:latin typeface="思源黑体 CN Bold" panose="020B0800000000000000" pitchFamily="34" charset="-122"/>
                    <a:ea typeface="思源黑体 CN Bold" panose="020B0800000000000000" pitchFamily="34" charset="-122"/>
                  </a:rPr>
                  <a:t>神经网络：基函数为“</a:t>
                </a:r>
                <a:r>
                  <a:rPr lang="en-US" altLang="zh-CN" sz="1800" dirty="0">
                    <a:latin typeface="思源黑体 CN Bold" panose="020B0800000000000000" pitchFamily="34" charset="-122"/>
                    <a:ea typeface="思源黑体 CN Bold" panose="020B0800000000000000" pitchFamily="34" charset="-122"/>
                  </a:rPr>
                  <a:t>x</a:t>
                </a:r>
                <a:r>
                  <a:rPr lang="zh-CN" altLang="en-US" sz="1800" dirty="0">
                    <a:latin typeface="思源黑体 CN Bold" panose="020B0800000000000000" pitchFamily="34" charset="-122"/>
                    <a:ea typeface="思源黑体 CN Bold" panose="020B0800000000000000" pitchFamily="34" charset="-122"/>
                  </a:rPr>
                  <a:t>的加权线性组合的激活值”，加权系数</a:t>
                </a:r>
                <a:r>
                  <a:rPr lang="en-US" altLang="zh-CN" sz="1800" dirty="0">
                    <a:latin typeface="思源黑体 CN Bold" panose="020B0800000000000000" pitchFamily="34" charset="-122"/>
                    <a:ea typeface="思源黑体 CN Bold" panose="020B0800000000000000" pitchFamily="34" charset="-122"/>
                  </a:rPr>
                  <a:t>w</a:t>
                </a:r>
                <a:r>
                  <a:rPr lang="zh-CN" altLang="en-US" sz="1800" dirty="0">
                    <a:latin typeface="思源黑体 CN Bold" panose="020B0800000000000000" pitchFamily="34" charset="-122"/>
                    <a:ea typeface="思源黑体 CN Bold" panose="020B0800000000000000" pitchFamily="34" charset="-122"/>
                  </a:rPr>
                  <a:t>根据训练数据确定。</a:t>
                </a:r>
                <a:endParaRPr lang="en-US" altLang="zh-CN" sz="1800" dirty="0">
                  <a:latin typeface="思源黑体 CN Bold" panose="020B0800000000000000" pitchFamily="34" charset="-122"/>
                  <a:ea typeface="思源黑体 CN Bold" panose="020B0800000000000000" pitchFamily="34" charset="-122"/>
                </a:endParaRPr>
              </a:p>
              <a:p>
                <a:pPr marL="0" indent="0">
                  <a:lnSpc>
                    <a:spcPct val="150000"/>
                  </a:lnSpc>
                  <a:spcBef>
                    <a:spcPts val="0"/>
                  </a:spcBef>
                  <a:buNone/>
                </a:pPr>
                <a14:m>
                  <m:oMathPara xmlns:m="http://schemas.openxmlformats.org/officeDocument/2006/math">
                    <m:oMathParaPr>
                      <m:jc m:val="left"/>
                    </m:oMathParaPr>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𝑦</m:t>
                          </m:r>
                        </m:e>
                        <m:sub>
                          <m:r>
                            <a:rPr lang="en-US" altLang="zh-CN" sz="1800" i="1">
                              <a:latin typeface="Cambria Math" panose="02040503050406030204" pitchFamily="18" charset="0"/>
                            </a:rPr>
                            <m:t>𝑘</m:t>
                          </m:r>
                        </m:sub>
                      </m:sSub>
                      <m:r>
                        <a:rPr lang="en-US" altLang="zh-CN" sz="1800" i="1">
                          <a:latin typeface="Cambria Math" panose="02040503050406030204" pitchFamily="18" charset="0"/>
                        </a:rPr>
                        <m:t>=</m:t>
                      </m:r>
                      <m:r>
                        <a:rPr lang="en-US" altLang="zh-CN" sz="1800" i="1">
                          <a:latin typeface="Cambria Math" panose="02040503050406030204" pitchFamily="18" charset="0"/>
                        </a:rPr>
                        <m:t>𝑓</m:t>
                      </m:r>
                      <m:d>
                        <m:dPr>
                          <m:ctrlPr>
                            <a:rPr lang="en-US" altLang="zh-CN" sz="1800" i="1">
                              <a:latin typeface="Cambria Math" panose="02040503050406030204" pitchFamily="18" charset="0"/>
                            </a:rPr>
                          </m:ctrlPr>
                        </m:dPr>
                        <m:e>
                          <m:sSup>
                            <m:sSupPr>
                              <m:ctrlPr>
                                <a:rPr lang="en-US" altLang="zh-CN" sz="1800" i="1">
                                  <a:latin typeface="Cambria Math" panose="02040503050406030204" pitchFamily="18" charset="0"/>
                                </a:rPr>
                              </m:ctrlPr>
                            </m:sSupPr>
                            <m:e>
                              <m:sSub>
                                <m:sSubPr>
                                  <m:ctrlPr>
                                    <a:rPr lang="en-US" altLang="zh-CN" sz="1800" b="1" i="1">
                                      <a:latin typeface="Cambria Math" panose="02040503050406030204" pitchFamily="18" charset="0"/>
                                    </a:rPr>
                                  </m:ctrlPr>
                                </m:sSubPr>
                                <m:e>
                                  <m:r>
                                    <a:rPr lang="en-US" altLang="zh-CN" sz="1800" b="1">
                                      <a:latin typeface="Cambria Math" panose="02040503050406030204" pitchFamily="18" charset="0"/>
                                    </a:rPr>
                                    <m:t>𝐰</m:t>
                                  </m:r>
                                </m:e>
                                <m:sub>
                                  <m:r>
                                    <a:rPr lang="en-US" altLang="zh-CN" sz="1800" i="1">
                                      <a:latin typeface="Cambria Math" panose="02040503050406030204" pitchFamily="18" charset="0"/>
                                    </a:rPr>
                                    <m:t>𝑘</m:t>
                                  </m:r>
                                </m:sub>
                              </m:sSub>
                            </m:e>
                            <m:sup>
                              <m:r>
                                <a:rPr lang="en-US" altLang="zh-CN" sz="1800" i="1">
                                  <a:latin typeface="Cambria Math" panose="02040503050406030204" pitchFamily="18" charset="0"/>
                                </a:rPr>
                                <m:t>𝑇</m:t>
                              </m:r>
                            </m:sup>
                          </m:sSup>
                          <m:sSub>
                            <m:sSubPr>
                              <m:ctrlPr>
                                <a:rPr lang="en-US" altLang="zh-CN" sz="1800" i="1">
                                  <a:latin typeface="Cambria Math" panose="02040503050406030204" pitchFamily="18" charset="0"/>
                                </a:rPr>
                              </m:ctrlPr>
                            </m:sSubPr>
                            <m:e>
                              <m:r>
                                <a:rPr lang="zh-CN" altLang="en-US" sz="1800" i="1">
                                  <a:latin typeface="Cambria Math" panose="02040503050406030204" pitchFamily="18" charset="0"/>
                                </a:rPr>
                                <m:t>𝜙</m:t>
                              </m:r>
                            </m:e>
                            <m:sub>
                              <m:r>
                                <a:rPr lang="en-US" altLang="zh-CN" sz="1800" i="1">
                                  <a:latin typeface="Cambria Math" panose="02040503050406030204" pitchFamily="18" charset="0"/>
                                </a:rPr>
                                <m:t>𝑁𝑁</m:t>
                              </m:r>
                            </m:sub>
                          </m:sSub>
                          <m:d>
                            <m:dPr>
                              <m:ctrlPr>
                                <a:rPr lang="en-US" altLang="zh-CN" sz="1800" i="1">
                                  <a:latin typeface="Cambria Math" panose="02040503050406030204" pitchFamily="18" charset="0"/>
                                </a:rPr>
                              </m:ctrlPr>
                            </m:dPr>
                            <m:e>
                              <m:r>
                                <a:rPr lang="en-US" altLang="zh-CN" sz="1800" b="1">
                                  <a:latin typeface="Cambria Math" panose="02040503050406030204" pitchFamily="18" charset="0"/>
                                </a:rPr>
                                <m:t>𝐱</m:t>
                              </m:r>
                            </m:e>
                          </m:d>
                        </m:e>
                      </m:d>
                      <m:r>
                        <a:rPr lang="en-US" altLang="zh-CN" sz="1800" b="0" i="1" smtClean="0">
                          <a:latin typeface="Cambria Math" panose="02040503050406030204" pitchFamily="18" charset="0"/>
                        </a:rPr>
                        <m:t>=</m:t>
                      </m:r>
                      <m:r>
                        <a:rPr lang="en-US" altLang="zh-CN" sz="1800" i="1">
                          <a:latin typeface="Cambria Math" panose="02040503050406030204" pitchFamily="18" charset="0"/>
                        </a:rPr>
                        <m:t>𝑓</m:t>
                      </m:r>
                      <m:d>
                        <m:dPr>
                          <m:ctrlPr>
                            <a:rPr lang="en-US" altLang="zh-CN" sz="1800" i="1">
                              <a:latin typeface="Cambria Math" panose="02040503050406030204" pitchFamily="18" charset="0"/>
                            </a:rPr>
                          </m:ctrlPr>
                        </m:dPr>
                        <m:e>
                          <m:nary>
                            <m:naryPr>
                              <m:chr m:val="∑"/>
                              <m:ctrlPr>
                                <a:rPr lang="en-US" altLang="zh-CN" sz="1800" i="1">
                                  <a:latin typeface="Cambria Math" panose="02040503050406030204" pitchFamily="18" charset="0"/>
                                </a:rPr>
                              </m:ctrlPr>
                            </m:naryPr>
                            <m:sub>
                              <m:r>
                                <m:rPr>
                                  <m:brk m:alnAt="23"/>
                                </m:rPr>
                                <a:rPr lang="en-US" altLang="zh-CN" sz="1800" i="1">
                                  <a:latin typeface="Cambria Math" panose="02040503050406030204" pitchFamily="18" charset="0"/>
                                </a:rPr>
                                <m:t>𝑗</m:t>
                              </m:r>
                              <m:r>
                                <a:rPr lang="en-US" altLang="zh-CN" sz="1800" i="1">
                                  <a:latin typeface="Cambria Math" panose="02040503050406030204" pitchFamily="18" charset="0"/>
                                </a:rPr>
                                <m:t>=1</m:t>
                              </m:r>
                            </m:sub>
                            <m:sup>
                              <m:r>
                                <a:rPr lang="en-US" altLang="zh-CN" sz="1800" i="1">
                                  <a:latin typeface="Cambria Math" panose="02040503050406030204" pitchFamily="18" charset="0"/>
                                </a:rPr>
                                <m:t>𝑀</m:t>
                              </m:r>
                            </m:sup>
                            <m:e>
                              <m:sSubSup>
                                <m:sSubSupPr>
                                  <m:ctrlPr>
                                    <a:rPr lang="en-US" altLang="zh-CN" sz="1800" b="1" i="1">
                                      <a:latin typeface="Cambria Math" panose="02040503050406030204" pitchFamily="18" charset="0"/>
                                    </a:rPr>
                                  </m:ctrlPr>
                                </m:sSubSupPr>
                                <m:e>
                                  <m:r>
                                    <a:rPr lang="en-US" altLang="zh-CN" sz="1800" i="1">
                                      <a:latin typeface="Cambria Math" panose="02040503050406030204" pitchFamily="18" charset="0"/>
                                    </a:rPr>
                                    <m:t>𝑤</m:t>
                                  </m:r>
                                </m:e>
                                <m:sub>
                                  <m:r>
                                    <a:rPr lang="en-US" altLang="zh-CN" sz="1800" b="0" i="1" smtClean="0">
                                      <a:latin typeface="Cambria Math" panose="02040503050406030204" pitchFamily="18" charset="0"/>
                                    </a:rPr>
                                    <m:t>𝑘𝑗</m:t>
                                  </m:r>
                                </m:sub>
                                <m:sup>
                                  <m:d>
                                    <m:dPr>
                                      <m:ctrlPr>
                                        <a:rPr lang="en-US" altLang="zh-CN" sz="1800" b="1" i="1">
                                          <a:latin typeface="Cambria Math" panose="02040503050406030204" pitchFamily="18" charset="0"/>
                                        </a:rPr>
                                      </m:ctrlPr>
                                    </m:dPr>
                                    <m:e>
                                      <m:r>
                                        <a:rPr lang="en-US" altLang="zh-CN" sz="1800" i="1">
                                          <a:latin typeface="Cambria Math" panose="02040503050406030204" pitchFamily="18" charset="0"/>
                                        </a:rPr>
                                        <m:t>2</m:t>
                                      </m:r>
                                    </m:e>
                                  </m:d>
                                </m:sup>
                              </m:sSubSup>
                              <m:r>
                                <a:rPr lang="en-US" altLang="zh-CN" sz="1800" i="1">
                                  <a:latin typeface="Cambria Math" panose="02040503050406030204" pitchFamily="18" charset="0"/>
                                </a:rPr>
                                <m:t>h</m:t>
                              </m:r>
                              <m:d>
                                <m:dPr>
                                  <m:ctrlPr>
                                    <a:rPr lang="en-US" altLang="zh-CN" sz="1800" b="1" i="1">
                                      <a:latin typeface="Cambria Math" panose="02040503050406030204" pitchFamily="18" charset="0"/>
                                    </a:rPr>
                                  </m:ctrlPr>
                                </m:dPr>
                                <m:e>
                                  <m:nary>
                                    <m:naryPr>
                                      <m:chr m:val="∑"/>
                                      <m:ctrlPr>
                                        <a:rPr lang="en-US" altLang="zh-CN" sz="1800" i="1">
                                          <a:latin typeface="Cambria Math" panose="02040503050406030204" pitchFamily="18" charset="0"/>
                                        </a:rPr>
                                      </m:ctrlPr>
                                    </m:naryPr>
                                    <m:sub>
                                      <m:r>
                                        <a:rPr lang="en-US" altLang="zh-CN" sz="1800" i="1">
                                          <a:latin typeface="Cambria Math" panose="02040503050406030204" pitchFamily="18" charset="0"/>
                                        </a:rPr>
                                        <m:t>𝑖</m:t>
                                      </m:r>
                                      <m:r>
                                        <a:rPr lang="en-US" altLang="zh-CN" sz="1800" i="1">
                                          <a:latin typeface="Cambria Math" panose="02040503050406030204" pitchFamily="18" charset="0"/>
                                        </a:rPr>
                                        <m:t>=1</m:t>
                                      </m:r>
                                    </m:sub>
                                    <m:sup>
                                      <m:r>
                                        <a:rPr lang="en-US" altLang="zh-CN" sz="1800" i="1">
                                          <a:latin typeface="Cambria Math" panose="02040503050406030204" pitchFamily="18" charset="0"/>
                                        </a:rPr>
                                        <m:t>𝐷</m:t>
                                      </m:r>
                                    </m:sup>
                                    <m:e>
                                      <m:sSubSup>
                                        <m:sSubSupPr>
                                          <m:ctrlPr>
                                            <a:rPr lang="en-US" altLang="zh-CN" sz="1800" b="1" i="1">
                                              <a:latin typeface="Cambria Math" panose="02040503050406030204" pitchFamily="18" charset="0"/>
                                            </a:rPr>
                                          </m:ctrlPr>
                                        </m:sSubSupPr>
                                        <m:e>
                                          <m:r>
                                            <a:rPr lang="en-US" altLang="zh-CN" sz="1800" i="1">
                                              <a:latin typeface="Cambria Math" panose="02040503050406030204" pitchFamily="18" charset="0"/>
                                            </a:rPr>
                                            <m:t>𝑤</m:t>
                                          </m:r>
                                        </m:e>
                                        <m:sub>
                                          <m:r>
                                            <a:rPr lang="en-US" altLang="zh-CN" sz="1800" b="0" i="1" smtClean="0">
                                              <a:latin typeface="Cambria Math" panose="02040503050406030204" pitchFamily="18" charset="0"/>
                                            </a:rPr>
                                            <m:t>𝑗𝑖</m:t>
                                          </m:r>
                                        </m:sub>
                                        <m:sup>
                                          <m:d>
                                            <m:dPr>
                                              <m:ctrlPr>
                                                <a:rPr lang="en-US" altLang="zh-CN" sz="1800" b="1" i="1">
                                                  <a:latin typeface="Cambria Math" panose="02040503050406030204" pitchFamily="18" charset="0"/>
                                                </a:rPr>
                                              </m:ctrlPr>
                                            </m:dPr>
                                            <m:e>
                                              <m:r>
                                                <a:rPr lang="en-US" altLang="zh-CN" sz="1800" b="0" i="1" smtClean="0">
                                                  <a:latin typeface="Cambria Math" panose="02040503050406030204" pitchFamily="18" charset="0"/>
                                                </a:rPr>
                                                <m:t>1</m:t>
                                              </m:r>
                                            </m:e>
                                          </m:d>
                                        </m:sup>
                                      </m:sSubSup>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i="1">
                                              <a:latin typeface="Cambria Math" panose="02040503050406030204" pitchFamily="18" charset="0"/>
                                            </a:rPr>
                                            <m:t>𝑖</m:t>
                                          </m:r>
                                        </m:sub>
                                      </m:sSub>
                                    </m:e>
                                  </m:nary>
                                </m:e>
                              </m:d>
                            </m:e>
                          </m:nary>
                        </m:e>
                      </m:d>
                    </m:oMath>
                  </m:oMathPara>
                </a14:m>
                <a:endParaRPr lang="en-US" altLang="zh-CN" sz="1800" dirty="0">
                  <a:latin typeface="思源黑体 CN Bold" panose="020B0800000000000000" pitchFamily="34" charset="-122"/>
                  <a:ea typeface="思源黑体 CN Bold" panose="020B0800000000000000" pitchFamily="34" charset="-122"/>
                </a:endParaRPr>
              </a:p>
              <a:p>
                <a:pPr marL="0" indent="0" algn="ctr">
                  <a:lnSpc>
                    <a:spcPct val="150000"/>
                  </a:lnSpc>
                  <a:buNone/>
                </a:pPr>
                <a:endParaRPr lang="en-US" altLang="zh-CN" sz="2000" dirty="0">
                  <a:latin typeface="思源黑体 CN Bold" panose="020B0800000000000000" pitchFamily="34" charset="-122"/>
                  <a:ea typeface="思源黑体 CN Bold" panose="020B0800000000000000" pitchFamily="34" charset="-122"/>
                </a:endParaRPr>
              </a:p>
            </p:txBody>
          </p:sp>
        </mc:Choice>
        <mc:Fallback xmlns="">
          <p:sp>
            <p:nvSpPr>
              <p:cNvPr id="3" name="内容占位符 2">
                <a:extLst>
                  <a:ext uri="{FF2B5EF4-FFF2-40B4-BE49-F238E27FC236}">
                    <a16:creationId xmlns:a16="http://schemas.microsoft.com/office/drawing/2014/main" id="{7EEEC64B-E976-4035-A04D-3686D86D7852}"/>
                  </a:ext>
                </a:extLst>
              </p:cNvPr>
              <p:cNvSpPr>
                <a:spLocks noGrp="1" noRot="1" noChangeAspect="1" noMove="1" noResize="1" noEditPoints="1" noAdjustHandles="1" noChangeArrowheads="1" noChangeShapeType="1" noTextEdit="1"/>
              </p:cNvSpPr>
              <p:nvPr>
                <p:ph idx="4294967295"/>
              </p:nvPr>
            </p:nvSpPr>
            <p:spPr>
              <a:xfrm>
                <a:off x="785949" y="1078679"/>
                <a:ext cx="10246984" cy="4700641"/>
              </a:xfrm>
              <a:blipFill>
                <a:blip r:embed="rId2"/>
                <a:stretch>
                  <a:fillRect l="-833"/>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238E146D-9FF1-42F8-B36C-A64C92C61E7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33072" y="3813937"/>
            <a:ext cx="2858514" cy="2340195"/>
          </a:xfrm>
          <a:prstGeom prst="rect">
            <a:avLst/>
          </a:prstGeom>
        </p:spPr>
      </p:pic>
      <p:sp>
        <p:nvSpPr>
          <p:cNvPr id="4" name="矩形 3">
            <a:extLst>
              <a:ext uri="{FF2B5EF4-FFF2-40B4-BE49-F238E27FC236}">
                <a16:creationId xmlns:a16="http://schemas.microsoft.com/office/drawing/2014/main" id="{E310C471-B3C1-442B-A6C1-ECEF008D874A}"/>
              </a:ext>
            </a:extLst>
          </p:cNvPr>
          <p:cNvSpPr/>
          <p:nvPr/>
        </p:nvSpPr>
        <p:spPr>
          <a:xfrm>
            <a:off x="3711647" y="2449225"/>
            <a:ext cx="1032065" cy="360000"/>
          </a:xfrm>
          <a:prstGeom prst="rect">
            <a:avLst/>
          </a:prstGeom>
          <a:noFill/>
          <a:ln w="19050">
            <a:solidFill>
              <a:srgbClr val="FF0000"/>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E4B27112-D003-4799-ACA1-D077CBC483C0}"/>
              </a:ext>
            </a:extLst>
          </p:cNvPr>
          <p:cNvSpPr/>
          <p:nvPr/>
        </p:nvSpPr>
        <p:spPr>
          <a:xfrm>
            <a:off x="4285081" y="4161535"/>
            <a:ext cx="1428325" cy="898063"/>
          </a:xfrm>
          <a:prstGeom prst="rect">
            <a:avLst/>
          </a:prstGeom>
          <a:noFill/>
          <a:ln w="19050">
            <a:solidFill>
              <a:srgbClr val="FF0000"/>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F2A125F5-EB9F-4BAA-9A62-468BA283D2A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89271" y="2166656"/>
            <a:ext cx="1132222" cy="1080000"/>
          </a:xfrm>
          <a:prstGeom prst="rect">
            <a:avLst/>
          </a:prstGeom>
        </p:spPr>
      </p:pic>
      <p:pic>
        <p:nvPicPr>
          <p:cNvPr id="9" name="图片 8">
            <a:extLst>
              <a:ext uri="{FF2B5EF4-FFF2-40B4-BE49-F238E27FC236}">
                <a16:creationId xmlns:a16="http://schemas.microsoft.com/office/drawing/2014/main" id="{EC5439EE-8407-4B7E-8F83-7C1A7CBEBDC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911152" y="2166656"/>
            <a:ext cx="1121781" cy="1080000"/>
          </a:xfrm>
          <a:prstGeom prst="rect">
            <a:avLst/>
          </a:prstGeom>
        </p:spPr>
      </p:pic>
      <p:pic>
        <p:nvPicPr>
          <p:cNvPr id="10" name="内容占位符 4">
            <a:extLst>
              <a:ext uri="{FF2B5EF4-FFF2-40B4-BE49-F238E27FC236}">
                <a16:creationId xmlns:a16="http://schemas.microsoft.com/office/drawing/2014/main" id="{891E6939-A3CA-4C89-8773-9AE9CFE615C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705432" y="2166656"/>
            <a:ext cx="1121781" cy="1080000"/>
          </a:xfrm>
          <a:prstGeom prst="rect">
            <a:avLst/>
          </a:prstGeom>
        </p:spPr>
      </p:pic>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1596911B-1DA3-4797-B263-98C0E6E84BF7}"/>
                  </a:ext>
                </a:extLst>
              </p:cNvPr>
              <p:cNvSpPr/>
              <p:nvPr/>
            </p:nvSpPr>
            <p:spPr>
              <a:xfrm>
                <a:off x="4562208" y="5050127"/>
                <a:ext cx="98443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zh-CN" altLang="en-US" i="1">
                              <a:latin typeface="Cambria Math" panose="02040503050406030204" pitchFamily="18" charset="0"/>
                            </a:rPr>
                            <m:t>𝜙</m:t>
                          </m:r>
                        </m:e>
                        <m:sub>
                          <m:r>
                            <a:rPr lang="en-US" altLang="zh-CN" b="0" i="1" smtClean="0">
                              <a:latin typeface="Cambria Math" panose="02040503050406030204" pitchFamily="18" charset="0"/>
                            </a:rPr>
                            <m:t>𝑁𝑁</m:t>
                          </m:r>
                        </m:sub>
                      </m:sSub>
                      <m:d>
                        <m:dPr>
                          <m:ctrlPr>
                            <a:rPr lang="en-US" altLang="zh-CN" i="1">
                              <a:latin typeface="Cambria Math" panose="02040503050406030204" pitchFamily="18" charset="0"/>
                            </a:rPr>
                          </m:ctrlPr>
                        </m:dPr>
                        <m:e>
                          <m:r>
                            <a:rPr lang="en-US" altLang="zh-CN" b="1">
                              <a:latin typeface="Cambria Math" panose="02040503050406030204" pitchFamily="18" charset="0"/>
                            </a:rPr>
                            <m:t>𝐱</m:t>
                          </m:r>
                        </m:e>
                      </m:d>
                    </m:oMath>
                  </m:oMathPara>
                </a14:m>
                <a:endParaRPr lang="zh-CN" altLang="en-US" dirty="0"/>
              </a:p>
            </p:txBody>
          </p:sp>
        </mc:Choice>
        <mc:Fallback xmlns="">
          <p:sp>
            <p:nvSpPr>
              <p:cNvPr id="5" name="矩形 4">
                <a:extLst>
                  <a:ext uri="{FF2B5EF4-FFF2-40B4-BE49-F238E27FC236}">
                    <a16:creationId xmlns:a16="http://schemas.microsoft.com/office/drawing/2014/main" id="{1596911B-1DA3-4797-B263-98C0E6E84BF7}"/>
                  </a:ext>
                </a:extLst>
              </p:cNvPr>
              <p:cNvSpPr>
                <a:spLocks noRot="1" noChangeAspect="1" noMove="1" noResize="1" noEditPoints="1" noAdjustHandles="1" noChangeArrowheads="1" noChangeShapeType="1" noTextEdit="1"/>
              </p:cNvSpPr>
              <p:nvPr/>
            </p:nvSpPr>
            <p:spPr>
              <a:xfrm>
                <a:off x="4562208" y="5050127"/>
                <a:ext cx="984437" cy="369332"/>
              </a:xfrm>
              <a:prstGeom prst="rect">
                <a:avLst/>
              </a:prstGeom>
              <a:blipFill>
                <a:blip r:embed="rId7"/>
                <a:stretch>
                  <a:fillRect b="-114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849EBB41-AD01-4662-848E-CDADA867FCC6}"/>
                  </a:ext>
                </a:extLst>
              </p:cNvPr>
              <p:cNvSpPr/>
              <p:nvPr/>
            </p:nvSpPr>
            <p:spPr>
              <a:xfrm>
                <a:off x="2424052" y="2404242"/>
                <a:ext cx="2491836" cy="40498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𝑦</m:t>
                          </m:r>
                        </m:e>
                        <m:sub>
                          <m:r>
                            <a:rPr lang="en-US" altLang="zh-CN" i="1">
                              <a:latin typeface="Cambria Math" panose="02040503050406030204" pitchFamily="18" charset="0"/>
                            </a:rPr>
                            <m:t>𝑘</m:t>
                          </m:r>
                        </m:sub>
                      </m:sSub>
                      <m:r>
                        <a:rPr lang="en-US" altLang="zh-CN" i="1">
                          <a:latin typeface="Cambria Math" panose="02040503050406030204" pitchFamily="18" charset="0"/>
                        </a:rPr>
                        <m:t>=</m:t>
                      </m:r>
                      <m:r>
                        <a:rPr lang="en-US" altLang="zh-CN" i="1">
                          <a:latin typeface="Cambria Math" panose="02040503050406030204" pitchFamily="18" charset="0"/>
                        </a:rPr>
                        <m:t>𝑓</m:t>
                      </m:r>
                      <m:d>
                        <m:dPr>
                          <m:ctrlPr>
                            <a:rPr lang="en-US" altLang="zh-CN" i="1">
                              <a:latin typeface="Cambria Math" panose="02040503050406030204" pitchFamily="18" charset="0"/>
                            </a:rPr>
                          </m:ctrlPr>
                        </m:dPr>
                        <m:e>
                          <m:sSup>
                            <m:sSupPr>
                              <m:ctrlPr>
                                <a:rPr lang="en-US" altLang="zh-CN" i="1">
                                  <a:latin typeface="Cambria Math" panose="02040503050406030204" pitchFamily="18" charset="0"/>
                                </a:rPr>
                              </m:ctrlPr>
                            </m:sSupPr>
                            <m:e>
                              <m:sSub>
                                <m:sSubPr>
                                  <m:ctrlPr>
                                    <a:rPr lang="en-US" altLang="zh-CN" b="1" i="1">
                                      <a:latin typeface="Cambria Math" panose="02040503050406030204" pitchFamily="18" charset="0"/>
                                    </a:rPr>
                                  </m:ctrlPr>
                                </m:sSubPr>
                                <m:e>
                                  <m:r>
                                    <a:rPr lang="en-US" altLang="zh-CN" b="1">
                                      <a:latin typeface="Cambria Math" panose="02040503050406030204" pitchFamily="18" charset="0"/>
                                    </a:rPr>
                                    <m:t>𝐰</m:t>
                                  </m:r>
                                </m:e>
                                <m:sub>
                                  <m:r>
                                    <a:rPr lang="en-US" altLang="zh-CN" i="1">
                                      <a:latin typeface="Cambria Math" panose="02040503050406030204" pitchFamily="18" charset="0"/>
                                    </a:rPr>
                                    <m:t>𝑘</m:t>
                                  </m:r>
                                </m:sub>
                              </m:sSub>
                            </m:e>
                            <m:sup>
                              <m:r>
                                <a:rPr lang="en-US" altLang="zh-CN" i="1">
                                  <a:latin typeface="Cambria Math" panose="02040503050406030204" pitchFamily="18" charset="0"/>
                                </a:rPr>
                                <m:t>𝑇</m:t>
                              </m:r>
                            </m:sup>
                          </m:sSup>
                          <m:sSub>
                            <m:sSubPr>
                              <m:ctrlPr>
                                <a:rPr lang="en-US" altLang="zh-CN" i="1">
                                  <a:latin typeface="Cambria Math" panose="02040503050406030204" pitchFamily="18" charset="0"/>
                                </a:rPr>
                              </m:ctrlPr>
                            </m:sSubPr>
                            <m:e>
                              <m:r>
                                <a:rPr lang="zh-CN" altLang="en-US" i="1">
                                  <a:latin typeface="Cambria Math" panose="02040503050406030204" pitchFamily="18" charset="0"/>
                                </a:rPr>
                                <m:t>𝜙</m:t>
                              </m:r>
                            </m:e>
                            <m:sub>
                              <m:r>
                                <a:rPr lang="en-US" altLang="zh-CN" b="0" i="1" smtClean="0">
                                  <a:latin typeface="Cambria Math" panose="02040503050406030204" pitchFamily="18" charset="0"/>
                                </a:rPr>
                                <m:t>𝐹𝑖𝑥𝑒𝑑</m:t>
                              </m:r>
                            </m:sub>
                          </m:sSub>
                          <m:d>
                            <m:dPr>
                              <m:ctrlPr>
                                <a:rPr lang="en-US" altLang="zh-CN" i="1">
                                  <a:latin typeface="Cambria Math" panose="02040503050406030204" pitchFamily="18" charset="0"/>
                                </a:rPr>
                              </m:ctrlPr>
                            </m:dPr>
                            <m:e>
                              <m:r>
                                <a:rPr lang="en-US" altLang="zh-CN" b="1">
                                  <a:latin typeface="Cambria Math" panose="02040503050406030204" pitchFamily="18" charset="0"/>
                                </a:rPr>
                                <m:t>𝐱</m:t>
                              </m:r>
                            </m:e>
                          </m:d>
                        </m:e>
                      </m:d>
                    </m:oMath>
                  </m:oMathPara>
                </a14:m>
                <a:endParaRPr lang="zh-CN" altLang="en-US" dirty="0"/>
              </a:p>
            </p:txBody>
          </p:sp>
        </mc:Choice>
        <mc:Fallback xmlns="">
          <p:sp>
            <p:nvSpPr>
              <p:cNvPr id="11" name="矩形 10">
                <a:extLst>
                  <a:ext uri="{FF2B5EF4-FFF2-40B4-BE49-F238E27FC236}">
                    <a16:creationId xmlns:a16="http://schemas.microsoft.com/office/drawing/2014/main" id="{849EBB41-AD01-4662-848E-CDADA867FCC6}"/>
                  </a:ext>
                </a:extLst>
              </p:cNvPr>
              <p:cNvSpPr>
                <a:spLocks noRot="1" noChangeAspect="1" noMove="1" noResize="1" noEditPoints="1" noAdjustHandles="1" noChangeArrowheads="1" noChangeShapeType="1" noTextEdit="1"/>
              </p:cNvSpPr>
              <p:nvPr/>
            </p:nvSpPr>
            <p:spPr>
              <a:xfrm>
                <a:off x="2424052" y="2404242"/>
                <a:ext cx="2491836" cy="404983"/>
              </a:xfrm>
              <a:prstGeom prst="rect">
                <a:avLst/>
              </a:prstGeom>
              <a:blipFill>
                <a:blip r:embed="rId8"/>
                <a:stretch>
                  <a:fillRect b="-8955"/>
                </a:stretch>
              </a:blipFill>
            </p:spPr>
            <p:txBody>
              <a:bodyPr/>
              <a:lstStyle/>
              <a:p>
                <a:r>
                  <a:rPr lang="zh-CN" altLang="en-US">
                    <a:noFill/>
                  </a:rPr>
                  <a:t> </a:t>
                </a:r>
              </a:p>
            </p:txBody>
          </p:sp>
        </mc:Fallback>
      </mc:AlternateContent>
      <p:cxnSp>
        <p:nvCxnSpPr>
          <p:cNvPr id="13" name="连接符: 曲线 12">
            <a:extLst>
              <a:ext uri="{FF2B5EF4-FFF2-40B4-BE49-F238E27FC236}">
                <a16:creationId xmlns:a16="http://schemas.microsoft.com/office/drawing/2014/main" id="{CB231A7D-BE40-4B21-BDEC-3A13B5CCE609}"/>
              </a:ext>
            </a:extLst>
          </p:cNvPr>
          <p:cNvCxnSpPr>
            <a:cxnSpLocks/>
            <a:stCxn id="4" idx="0"/>
            <a:endCxn id="8" idx="1"/>
          </p:cNvCxnSpPr>
          <p:nvPr/>
        </p:nvCxnSpPr>
        <p:spPr>
          <a:xfrm rot="16200000" flipH="1">
            <a:off x="5729759" y="947145"/>
            <a:ext cx="257431" cy="3261591"/>
          </a:xfrm>
          <a:prstGeom prst="curvedConnector4">
            <a:avLst>
              <a:gd name="adj1" fmla="val -88800"/>
              <a:gd name="adj2" fmla="val 57911"/>
            </a:avLst>
          </a:prstGeom>
          <a:ln w="1905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sp>
        <p:nvSpPr>
          <p:cNvPr id="15" name="矩形 14">
            <a:extLst>
              <a:ext uri="{FF2B5EF4-FFF2-40B4-BE49-F238E27FC236}">
                <a16:creationId xmlns:a16="http://schemas.microsoft.com/office/drawing/2014/main" id="{E15AB2C2-D7B5-4918-9662-46F349E8D03E}"/>
              </a:ext>
            </a:extLst>
          </p:cNvPr>
          <p:cNvSpPr/>
          <p:nvPr/>
        </p:nvSpPr>
        <p:spPr>
          <a:xfrm>
            <a:off x="964916" y="1222166"/>
            <a:ext cx="4108817" cy="369332"/>
          </a:xfrm>
          <a:prstGeom prst="rect">
            <a:avLst/>
          </a:prstGeom>
        </p:spPr>
        <p:txBody>
          <a:bodyPr wrap="none">
            <a:spAutoFit/>
          </a:bodyPr>
          <a:lstStyle/>
          <a:p>
            <a:r>
              <a:rPr lang="zh-CN" altLang="en-US" dirty="0">
                <a:latin typeface="思源黑体 CN Bold" panose="020B0800000000000000" pitchFamily="34" charset="-122"/>
                <a:ea typeface="思源黑体 CN Bold" panose="020B0800000000000000" pitchFamily="34" charset="-122"/>
              </a:rPr>
              <a:t>由线性模型扩展而来，形式可统一为：</a:t>
            </a:r>
            <a:endParaRPr lang="zh-CN" altLang="en-US" dirty="0"/>
          </a:p>
        </p:txBody>
      </p:sp>
    </p:spTree>
    <p:extLst>
      <p:ext uri="{BB962C8B-B14F-4D97-AF65-F5344CB8AC3E}">
        <p14:creationId xmlns:p14="http://schemas.microsoft.com/office/powerpoint/2010/main" val="17148967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E08726-068C-4F40-A65E-B5EE8CD22EE1}"/>
              </a:ext>
            </a:extLst>
          </p:cNvPr>
          <p:cNvSpPr>
            <a:spLocks noGrp="1"/>
          </p:cNvSpPr>
          <p:nvPr>
            <p:ph type="title" idx="4294967295"/>
          </p:nvPr>
        </p:nvSpPr>
        <p:spPr>
          <a:xfrm>
            <a:off x="292608" y="193330"/>
            <a:ext cx="7639159" cy="505388"/>
          </a:xfrm>
        </p:spPr>
        <p:txBody>
          <a:bodyPr>
            <a:noAutofit/>
          </a:bodyPr>
          <a:lstStyle/>
          <a:p>
            <a:r>
              <a:rPr lang="en-US" altLang="zh-CN" sz="3600" dirty="0">
                <a:latin typeface="思源黑体 CN Bold" panose="020B0800000000000000" pitchFamily="34" charset="-122"/>
                <a:ea typeface="思源黑体 CN Bold" panose="020B0800000000000000" pitchFamily="34" charset="-122"/>
              </a:rPr>
              <a:t>2 </a:t>
            </a:r>
            <a:r>
              <a:rPr lang="zh-CN" altLang="en-US" sz="3600" dirty="0">
                <a:latin typeface="思源黑体 CN Bold" panose="020B0800000000000000" pitchFamily="34" charset="-122"/>
                <a:ea typeface="思源黑体 CN Bold" panose="020B0800000000000000" pitchFamily="34" charset="-122"/>
              </a:rPr>
              <a:t>前馈神经网络函数：</a:t>
            </a:r>
            <a:r>
              <a:rPr lang="zh-CN" altLang="en-US" sz="2800" dirty="0">
                <a:latin typeface="思源黑体 CN Bold" panose="020B0800000000000000" pitchFamily="34" charset="-122"/>
                <a:ea typeface="思源黑体 CN Bold" panose="020B0800000000000000" pitchFamily="34" charset="-122"/>
              </a:rPr>
              <a:t>基本结构</a:t>
            </a:r>
            <a:endParaRPr lang="zh-CN" altLang="en-US" sz="3600" dirty="0"/>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7EEEC64B-E976-4035-A04D-3686D86D7852}"/>
                  </a:ext>
                </a:extLst>
              </p:cNvPr>
              <p:cNvSpPr>
                <a:spLocks noGrp="1"/>
              </p:cNvSpPr>
              <p:nvPr>
                <p:ph idx="4294967295"/>
              </p:nvPr>
            </p:nvSpPr>
            <p:spPr>
              <a:xfrm>
                <a:off x="927028" y="1253331"/>
                <a:ext cx="5955945" cy="4351338"/>
              </a:xfrm>
            </p:spPr>
            <p:txBody>
              <a:bodyPr>
                <a:normAutofit/>
              </a:bodyPr>
              <a:lstStyle/>
              <a:p>
                <a:pPr marL="457200" indent="-457200" algn="just">
                  <a:lnSpc>
                    <a:spcPct val="150000"/>
                  </a:lnSpc>
                  <a:buFont typeface="+mj-lt"/>
                  <a:buAutoNum type="arabicPeriod"/>
                </a:pPr>
                <a:r>
                  <a:rPr lang="zh-CN" altLang="en-US" sz="1800" dirty="0">
                    <a:latin typeface="思源黑体 CN Bold" panose="020B0800000000000000" pitchFamily="34" charset="-122"/>
                    <a:ea typeface="思源黑体 CN Bold" panose="020B0800000000000000" pitchFamily="34" charset="-122"/>
                  </a:rPr>
                  <a:t>基函数为“</a:t>
                </a:r>
                <a:r>
                  <a:rPr lang="en-US" altLang="zh-CN" sz="1800" dirty="0">
                    <a:latin typeface="思源黑体 CN Bold" panose="020B0800000000000000" pitchFamily="34" charset="-122"/>
                    <a:ea typeface="思源黑体 CN Bold" panose="020B0800000000000000" pitchFamily="34" charset="-122"/>
                  </a:rPr>
                  <a:t>x</a:t>
                </a:r>
                <a:r>
                  <a:rPr lang="zh-CN" altLang="en-US" sz="1800" dirty="0">
                    <a:latin typeface="思源黑体 CN Bold" panose="020B0800000000000000" pitchFamily="34" charset="-122"/>
                    <a:ea typeface="思源黑体 CN Bold" panose="020B0800000000000000" pitchFamily="34" charset="-122"/>
                  </a:rPr>
                  <a:t>的加权线性组合的激活值”，加权系数</a:t>
                </a:r>
                <a:r>
                  <a:rPr lang="en-US" altLang="zh-CN" sz="1800" dirty="0">
                    <a:latin typeface="思源黑体 CN Bold" panose="020B0800000000000000" pitchFamily="34" charset="-122"/>
                    <a:ea typeface="思源黑体 CN Bold" panose="020B0800000000000000" pitchFamily="34" charset="-122"/>
                  </a:rPr>
                  <a:t>w</a:t>
                </a:r>
                <a:r>
                  <a:rPr lang="zh-CN" altLang="en-US" sz="1800" dirty="0">
                    <a:latin typeface="思源黑体 CN Bold" panose="020B0800000000000000" pitchFamily="34" charset="-122"/>
                    <a:ea typeface="思源黑体 CN Bold" panose="020B0800000000000000" pitchFamily="34" charset="-122"/>
                  </a:rPr>
                  <a:t>根据训练数据确定。</a:t>
                </a:r>
                <a:endParaRPr lang="en-US" altLang="zh-CN" sz="1800" dirty="0">
                  <a:latin typeface="思源黑体 CN Bold" panose="020B0800000000000000" pitchFamily="34" charset="-122"/>
                  <a:ea typeface="思源黑体 CN Bold" panose="020B0800000000000000" pitchFamily="34" charset="-122"/>
                </a:endParaRPr>
              </a:p>
              <a:p>
                <a:pPr marL="0" indent="0">
                  <a:lnSpc>
                    <a:spcPct val="120000"/>
                  </a:lnSpc>
                  <a:spcBef>
                    <a:spcPts val="0"/>
                  </a:spcBef>
                  <a:buNone/>
                </a:pPr>
                <a14:m>
                  <m:oMathPara xmlns:m="http://schemas.openxmlformats.org/officeDocument/2006/math">
                    <m:oMathParaPr>
                      <m:jc m:val="center"/>
                    </m:oMathParaPr>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𝑦</m:t>
                          </m:r>
                        </m:e>
                        <m:sub>
                          <m:r>
                            <a:rPr lang="en-US" altLang="zh-CN" sz="1800" i="1">
                              <a:latin typeface="Cambria Math" panose="02040503050406030204" pitchFamily="18" charset="0"/>
                            </a:rPr>
                            <m:t>𝑘</m:t>
                          </m:r>
                        </m:sub>
                      </m:sSub>
                      <m:r>
                        <a:rPr lang="en-US" altLang="zh-CN" sz="1800" i="1">
                          <a:latin typeface="Cambria Math" panose="02040503050406030204" pitchFamily="18" charset="0"/>
                        </a:rPr>
                        <m:t>=</m:t>
                      </m:r>
                      <m:r>
                        <a:rPr lang="en-US" altLang="zh-CN" sz="1800" i="1">
                          <a:latin typeface="Cambria Math" panose="02040503050406030204" pitchFamily="18" charset="0"/>
                        </a:rPr>
                        <m:t>𝑓</m:t>
                      </m:r>
                      <m:d>
                        <m:dPr>
                          <m:ctrlPr>
                            <a:rPr lang="en-US" altLang="zh-CN" sz="1800" i="1">
                              <a:latin typeface="Cambria Math" panose="02040503050406030204" pitchFamily="18" charset="0"/>
                            </a:rPr>
                          </m:ctrlPr>
                        </m:dPr>
                        <m:e>
                          <m:sSup>
                            <m:sSupPr>
                              <m:ctrlPr>
                                <a:rPr lang="en-US" altLang="zh-CN" sz="1800" i="1">
                                  <a:latin typeface="Cambria Math" panose="02040503050406030204" pitchFamily="18" charset="0"/>
                                </a:rPr>
                              </m:ctrlPr>
                            </m:sSupPr>
                            <m:e>
                              <m:sSub>
                                <m:sSubPr>
                                  <m:ctrlPr>
                                    <a:rPr lang="en-US" altLang="zh-CN" sz="1800" b="1" i="1">
                                      <a:latin typeface="Cambria Math" panose="02040503050406030204" pitchFamily="18" charset="0"/>
                                    </a:rPr>
                                  </m:ctrlPr>
                                </m:sSubPr>
                                <m:e>
                                  <m:r>
                                    <a:rPr lang="en-US" altLang="zh-CN" sz="1800" b="1">
                                      <a:latin typeface="Cambria Math" panose="02040503050406030204" pitchFamily="18" charset="0"/>
                                    </a:rPr>
                                    <m:t>𝐰</m:t>
                                  </m:r>
                                </m:e>
                                <m:sub>
                                  <m:r>
                                    <a:rPr lang="en-US" altLang="zh-CN" sz="1800" i="1">
                                      <a:latin typeface="Cambria Math" panose="02040503050406030204" pitchFamily="18" charset="0"/>
                                    </a:rPr>
                                    <m:t>𝑘</m:t>
                                  </m:r>
                                </m:sub>
                              </m:sSub>
                            </m:e>
                            <m:sup>
                              <m:r>
                                <a:rPr lang="en-US" altLang="zh-CN" sz="1800" i="1">
                                  <a:latin typeface="Cambria Math" panose="02040503050406030204" pitchFamily="18" charset="0"/>
                                </a:rPr>
                                <m:t>𝑇</m:t>
                              </m:r>
                            </m:sup>
                          </m:sSup>
                          <m:r>
                            <a:rPr lang="zh-CN" altLang="en-US" sz="1800" i="1">
                              <a:latin typeface="Cambria Math" panose="02040503050406030204" pitchFamily="18" charset="0"/>
                            </a:rPr>
                            <m:t>𝜙</m:t>
                          </m:r>
                          <m:d>
                            <m:dPr>
                              <m:ctrlPr>
                                <a:rPr lang="en-US" altLang="zh-CN" sz="1800" i="1">
                                  <a:latin typeface="Cambria Math" panose="02040503050406030204" pitchFamily="18" charset="0"/>
                                </a:rPr>
                              </m:ctrlPr>
                            </m:dPr>
                            <m:e>
                              <m:r>
                                <a:rPr lang="en-US" altLang="zh-CN" sz="1800" b="1">
                                  <a:latin typeface="Cambria Math" panose="02040503050406030204" pitchFamily="18" charset="0"/>
                                </a:rPr>
                                <m:t>𝐱</m:t>
                              </m:r>
                            </m:e>
                          </m:d>
                        </m:e>
                      </m:d>
                      <m:r>
                        <a:rPr lang="en-US" altLang="zh-CN" sz="1800" b="0" i="1" smtClean="0">
                          <a:latin typeface="Cambria Math" panose="02040503050406030204" pitchFamily="18" charset="0"/>
                        </a:rPr>
                        <m:t>=</m:t>
                      </m:r>
                      <m:r>
                        <a:rPr lang="en-US" altLang="zh-CN" sz="1800" i="1">
                          <a:latin typeface="Cambria Math" panose="02040503050406030204" pitchFamily="18" charset="0"/>
                        </a:rPr>
                        <m:t>𝑓</m:t>
                      </m:r>
                      <m:d>
                        <m:dPr>
                          <m:ctrlPr>
                            <a:rPr lang="en-US" altLang="zh-CN" sz="1800" i="1">
                              <a:latin typeface="Cambria Math" panose="02040503050406030204" pitchFamily="18" charset="0"/>
                            </a:rPr>
                          </m:ctrlPr>
                        </m:dPr>
                        <m:e>
                          <m:nary>
                            <m:naryPr>
                              <m:chr m:val="∑"/>
                              <m:ctrlPr>
                                <a:rPr lang="en-US" altLang="zh-CN" sz="1800" i="1">
                                  <a:latin typeface="Cambria Math" panose="02040503050406030204" pitchFamily="18" charset="0"/>
                                </a:rPr>
                              </m:ctrlPr>
                            </m:naryPr>
                            <m:sub>
                              <m:r>
                                <m:rPr>
                                  <m:brk m:alnAt="23"/>
                                </m:rPr>
                                <a:rPr lang="en-US" altLang="zh-CN" sz="1800" i="1">
                                  <a:latin typeface="Cambria Math" panose="02040503050406030204" pitchFamily="18" charset="0"/>
                                </a:rPr>
                                <m:t>𝑗</m:t>
                              </m:r>
                              <m:r>
                                <a:rPr lang="en-US" altLang="zh-CN" sz="1800" i="1">
                                  <a:latin typeface="Cambria Math" panose="02040503050406030204" pitchFamily="18" charset="0"/>
                                </a:rPr>
                                <m:t>=1</m:t>
                              </m:r>
                            </m:sub>
                            <m:sup>
                              <m:r>
                                <a:rPr lang="en-US" altLang="zh-CN" sz="1800" i="1">
                                  <a:latin typeface="Cambria Math" panose="02040503050406030204" pitchFamily="18" charset="0"/>
                                </a:rPr>
                                <m:t>𝑀</m:t>
                              </m:r>
                            </m:sup>
                            <m:e>
                              <m:sSubSup>
                                <m:sSubSupPr>
                                  <m:ctrlPr>
                                    <a:rPr lang="en-US" altLang="zh-CN" sz="1800" b="1" i="1">
                                      <a:latin typeface="Cambria Math" panose="02040503050406030204" pitchFamily="18" charset="0"/>
                                    </a:rPr>
                                  </m:ctrlPr>
                                </m:sSubSupPr>
                                <m:e>
                                  <m:r>
                                    <a:rPr lang="en-US" altLang="zh-CN" sz="1800" i="1">
                                      <a:latin typeface="Cambria Math" panose="02040503050406030204" pitchFamily="18" charset="0"/>
                                    </a:rPr>
                                    <m:t>𝑤</m:t>
                                  </m:r>
                                </m:e>
                                <m:sub>
                                  <m:r>
                                    <a:rPr lang="en-US" altLang="zh-CN" sz="1800" b="0" i="1" smtClean="0">
                                      <a:latin typeface="Cambria Math" panose="02040503050406030204" pitchFamily="18" charset="0"/>
                                    </a:rPr>
                                    <m:t>𝑘𝑗</m:t>
                                  </m:r>
                                </m:sub>
                                <m:sup>
                                  <m:d>
                                    <m:dPr>
                                      <m:ctrlPr>
                                        <a:rPr lang="en-US" altLang="zh-CN" sz="1800" b="1" i="1">
                                          <a:latin typeface="Cambria Math" panose="02040503050406030204" pitchFamily="18" charset="0"/>
                                        </a:rPr>
                                      </m:ctrlPr>
                                    </m:dPr>
                                    <m:e>
                                      <m:r>
                                        <a:rPr lang="en-US" altLang="zh-CN" sz="1800" i="1">
                                          <a:latin typeface="Cambria Math" panose="02040503050406030204" pitchFamily="18" charset="0"/>
                                        </a:rPr>
                                        <m:t>2</m:t>
                                      </m:r>
                                    </m:e>
                                  </m:d>
                                </m:sup>
                              </m:sSubSup>
                              <m:r>
                                <a:rPr lang="en-US" altLang="zh-CN" sz="1800" i="1">
                                  <a:latin typeface="Cambria Math" panose="02040503050406030204" pitchFamily="18" charset="0"/>
                                </a:rPr>
                                <m:t>h</m:t>
                              </m:r>
                              <m:d>
                                <m:dPr>
                                  <m:ctrlPr>
                                    <a:rPr lang="en-US" altLang="zh-CN" sz="1800" b="1" i="1">
                                      <a:latin typeface="Cambria Math" panose="02040503050406030204" pitchFamily="18" charset="0"/>
                                    </a:rPr>
                                  </m:ctrlPr>
                                </m:dPr>
                                <m:e>
                                  <m:nary>
                                    <m:naryPr>
                                      <m:chr m:val="∑"/>
                                      <m:ctrlPr>
                                        <a:rPr lang="en-US" altLang="zh-CN" sz="1800" i="1">
                                          <a:latin typeface="Cambria Math" panose="02040503050406030204" pitchFamily="18" charset="0"/>
                                        </a:rPr>
                                      </m:ctrlPr>
                                    </m:naryPr>
                                    <m:sub>
                                      <m:r>
                                        <a:rPr lang="en-US" altLang="zh-CN" sz="1800" i="1">
                                          <a:latin typeface="Cambria Math" panose="02040503050406030204" pitchFamily="18" charset="0"/>
                                        </a:rPr>
                                        <m:t>𝑖</m:t>
                                      </m:r>
                                      <m:r>
                                        <a:rPr lang="en-US" altLang="zh-CN" sz="1800" i="1">
                                          <a:latin typeface="Cambria Math" panose="02040503050406030204" pitchFamily="18" charset="0"/>
                                        </a:rPr>
                                        <m:t>=1</m:t>
                                      </m:r>
                                    </m:sub>
                                    <m:sup>
                                      <m:r>
                                        <a:rPr lang="en-US" altLang="zh-CN" sz="1800" i="1">
                                          <a:latin typeface="Cambria Math" panose="02040503050406030204" pitchFamily="18" charset="0"/>
                                        </a:rPr>
                                        <m:t>𝐷</m:t>
                                      </m:r>
                                    </m:sup>
                                    <m:e>
                                      <m:sSubSup>
                                        <m:sSubSupPr>
                                          <m:ctrlPr>
                                            <a:rPr lang="en-US" altLang="zh-CN" sz="1800" b="1" i="1">
                                              <a:latin typeface="Cambria Math" panose="02040503050406030204" pitchFamily="18" charset="0"/>
                                            </a:rPr>
                                          </m:ctrlPr>
                                        </m:sSubSupPr>
                                        <m:e>
                                          <m:r>
                                            <a:rPr lang="en-US" altLang="zh-CN" sz="1800" i="1">
                                              <a:latin typeface="Cambria Math" panose="02040503050406030204" pitchFamily="18" charset="0"/>
                                            </a:rPr>
                                            <m:t>𝑤</m:t>
                                          </m:r>
                                        </m:e>
                                        <m:sub>
                                          <m:r>
                                            <a:rPr lang="en-US" altLang="zh-CN" sz="1800" b="0" i="1" smtClean="0">
                                              <a:latin typeface="Cambria Math" panose="02040503050406030204" pitchFamily="18" charset="0"/>
                                            </a:rPr>
                                            <m:t>𝑗𝑖</m:t>
                                          </m:r>
                                        </m:sub>
                                        <m:sup>
                                          <m:d>
                                            <m:dPr>
                                              <m:ctrlPr>
                                                <a:rPr lang="en-US" altLang="zh-CN" sz="1800" b="1" i="1">
                                                  <a:latin typeface="Cambria Math" panose="02040503050406030204" pitchFamily="18" charset="0"/>
                                                </a:rPr>
                                              </m:ctrlPr>
                                            </m:dPr>
                                            <m:e>
                                              <m:r>
                                                <a:rPr lang="en-US" altLang="zh-CN" sz="1800" b="0" i="1" smtClean="0">
                                                  <a:latin typeface="Cambria Math" panose="02040503050406030204" pitchFamily="18" charset="0"/>
                                                </a:rPr>
                                                <m:t>1</m:t>
                                              </m:r>
                                            </m:e>
                                          </m:d>
                                        </m:sup>
                                      </m:sSubSup>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i="1">
                                              <a:latin typeface="Cambria Math" panose="02040503050406030204" pitchFamily="18" charset="0"/>
                                            </a:rPr>
                                            <m:t>𝑖</m:t>
                                          </m:r>
                                        </m:sub>
                                      </m:sSub>
                                    </m:e>
                                  </m:nary>
                                </m:e>
                              </m:d>
                            </m:e>
                          </m:nary>
                        </m:e>
                      </m:d>
                    </m:oMath>
                  </m:oMathPara>
                </a14:m>
                <a:endParaRPr lang="en-US" altLang="zh-CN" sz="1800" dirty="0">
                  <a:latin typeface="思源黑体 CN Bold" panose="020B0800000000000000" pitchFamily="34" charset="-122"/>
                  <a:ea typeface="思源黑体 CN Bold" panose="020B0800000000000000" pitchFamily="34" charset="-122"/>
                </a:endParaRPr>
              </a:p>
              <a:p>
                <a:pPr marL="342900" indent="-342900" algn="just">
                  <a:lnSpc>
                    <a:spcPct val="150000"/>
                  </a:lnSpc>
                  <a:buFont typeface="+mj-lt"/>
                  <a:buAutoNum type="arabicPeriod" startAt="2"/>
                </a:pPr>
                <a:r>
                  <a:rPr lang="zh-CN" altLang="en-US" sz="1800" dirty="0">
                    <a:latin typeface="思源黑体 CN Bold" panose="020B0800000000000000" pitchFamily="34" charset="-122"/>
                    <a:ea typeface="思源黑体 CN Bold" panose="020B0800000000000000" pitchFamily="34" charset="-122"/>
                  </a:rPr>
                  <a:t>基函数加权组合并激活得到输出，与线性模型相同</a:t>
                </a:r>
                <a:endParaRPr lang="en-US" altLang="zh-CN" sz="1800" dirty="0">
                  <a:latin typeface="思源黑体 CN Bold" panose="020B0800000000000000" pitchFamily="34" charset="-122"/>
                  <a:ea typeface="思源黑体 CN Bold" panose="020B0800000000000000" pitchFamily="34" charset="-122"/>
                </a:endParaRPr>
              </a:p>
              <a:p>
                <a:pPr marL="342900" indent="-342900" algn="just">
                  <a:lnSpc>
                    <a:spcPct val="150000"/>
                  </a:lnSpc>
                  <a:buFont typeface="+mj-lt"/>
                  <a:buAutoNum type="arabicPeriod" startAt="2"/>
                </a:pPr>
                <a:r>
                  <a:rPr lang="zh-CN" altLang="en-US" sz="1800" dirty="0">
                    <a:latin typeface="思源黑体 CN Bold" panose="020B0800000000000000" pitchFamily="34" charset="-122"/>
                    <a:ea typeface="思源黑体 CN Bold" panose="020B0800000000000000" pitchFamily="34" charset="-122"/>
                  </a:rPr>
                  <a:t>神经网络的参数分两部分：</a:t>
                </a:r>
                <a:endParaRPr lang="en-US" altLang="zh-CN" sz="1800" dirty="0">
                  <a:latin typeface="思源黑体 CN Bold" panose="020B0800000000000000" pitchFamily="34" charset="-122"/>
                  <a:ea typeface="思源黑体 CN Bold" panose="020B0800000000000000" pitchFamily="34" charset="-122"/>
                </a:endParaRPr>
              </a:p>
              <a:p>
                <a:pPr marL="800100" lvl="1" indent="-342900" algn="just">
                  <a:lnSpc>
                    <a:spcPct val="150000"/>
                  </a:lnSpc>
                  <a:buFont typeface="+mj-lt"/>
                  <a:buAutoNum type="arabicPeriod" startAt="2"/>
                </a:pPr>
                <a:r>
                  <a:rPr lang="zh-CN" altLang="en-US" sz="1600" dirty="0">
                    <a:latin typeface="思源黑体 CN Bold" panose="020B0800000000000000" pitchFamily="34" charset="-122"/>
                    <a:ea typeface="思源黑体 CN Bold" panose="020B0800000000000000" pitchFamily="34" charset="-122"/>
                  </a:rPr>
                  <a:t>构成基函数的与</a:t>
                </a:r>
                <a:r>
                  <a:rPr lang="en-US" altLang="zh-CN" sz="1600" dirty="0">
                    <a:latin typeface="思源黑体 CN Bold" panose="020B0800000000000000" pitchFamily="34" charset="-122"/>
                    <a:ea typeface="思源黑体 CN Bold" panose="020B0800000000000000" pitchFamily="34" charset="-122"/>
                  </a:rPr>
                  <a:t>x</a:t>
                </a:r>
                <a:r>
                  <a:rPr lang="zh-CN" altLang="en-US" sz="1600" dirty="0">
                    <a:latin typeface="思源黑体 CN Bold" panose="020B0800000000000000" pitchFamily="34" charset="-122"/>
                    <a:ea typeface="思源黑体 CN Bold" panose="020B0800000000000000" pitchFamily="34" charset="-122"/>
                  </a:rPr>
                  <a:t>组合相乘的系数</a:t>
                </a:r>
                <a:endParaRPr lang="en-US" altLang="zh-CN" sz="1600" dirty="0">
                  <a:latin typeface="思源黑体 CN Bold" panose="020B0800000000000000" pitchFamily="34" charset="-122"/>
                  <a:ea typeface="思源黑体 CN Bold" panose="020B0800000000000000" pitchFamily="34" charset="-122"/>
                </a:endParaRPr>
              </a:p>
              <a:p>
                <a:pPr marL="800100" lvl="1" indent="-342900" algn="just">
                  <a:lnSpc>
                    <a:spcPct val="150000"/>
                  </a:lnSpc>
                  <a:buFont typeface="+mj-lt"/>
                  <a:buAutoNum type="arabicPeriod" startAt="2"/>
                </a:pPr>
                <a:r>
                  <a:rPr lang="zh-CN" altLang="en-US" sz="1600" dirty="0">
                    <a:latin typeface="思源黑体 CN Bold" panose="020B0800000000000000" pitchFamily="34" charset="-122"/>
                    <a:ea typeface="思源黑体 CN Bold" panose="020B0800000000000000" pitchFamily="34" charset="-122"/>
                  </a:rPr>
                  <a:t>构成输出的与基函数组合相乘的系数</a:t>
                </a:r>
                <a:endParaRPr lang="en-US" altLang="zh-CN" sz="1600" dirty="0">
                  <a:latin typeface="思源黑体 CN Bold" panose="020B0800000000000000" pitchFamily="34" charset="-122"/>
                  <a:ea typeface="思源黑体 CN Bold" panose="020B0800000000000000" pitchFamily="34" charset="-122"/>
                </a:endParaRPr>
              </a:p>
              <a:p>
                <a:pPr marL="0" indent="0" algn="ctr">
                  <a:lnSpc>
                    <a:spcPct val="150000"/>
                  </a:lnSpc>
                  <a:buNone/>
                </a:pPr>
                <a:endParaRPr lang="en-US" altLang="zh-CN" sz="1800" dirty="0">
                  <a:latin typeface="思源黑体 CN Bold" panose="020B0800000000000000" pitchFamily="34" charset="-122"/>
                  <a:ea typeface="思源黑体 CN Bold" panose="020B0800000000000000" pitchFamily="34" charset="-122"/>
                </a:endParaRPr>
              </a:p>
            </p:txBody>
          </p:sp>
        </mc:Choice>
        <mc:Fallback>
          <p:sp>
            <p:nvSpPr>
              <p:cNvPr id="3" name="内容占位符 2">
                <a:extLst>
                  <a:ext uri="{FF2B5EF4-FFF2-40B4-BE49-F238E27FC236}">
                    <a16:creationId xmlns:a16="http://schemas.microsoft.com/office/drawing/2014/main" id="{7EEEC64B-E976-4035-A04D-3686D86D7852}"/>
                  </a:ext>
                </a:extLst>
              </p:cNvPr>
              <p:cNvSpPr>
                <a:spLocks noGrp="1" noRot="1" noChangeAspect="1" noMove="1" noResize="1" noEditPoints="1" noAdjustHandles="1" noChangeArrowheads="1" noChangeShapeType="1" noTextEdit="1"/>
              </p:cNvSpPr>
              <p:nvPr>
                <p:ph idx="4294967295"/>
              </p:nvPr>
            </p:nvSpPr>
            <p:spPr>
              <a:xfrm>
                <a:off x="927028" y="1253331"/>
                <a:ext cx="5955945" cy="4351338"/>
              </a:xfrm>
              <a:blipFill>
                <a:blip r:embed="rId2"/>
                <a:stretch>
                  <a:fillRect l="-1433" t="-1262" r="-921"/>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238E146D-9FF1-42F8-B36C-A64C92C61E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17453" y="1411795"/>
            <a:ext cx="4928682" cy="4034991"/>
          </a:xfrm>
          <a:prstGeom prst="rect">
            <a:avLst/>
          </a:prstGeom>
        </p:spPr>
      </p:pic>
      <p:sp>
        <p:nvSpPr>
          <p:cNvPr id="7" name="矩形 6">
            <a:extLst>
              <a:ext uri="{FF2B5EF4-FFF2-40B4-BE49-F238E27FC236}">
                <a16:creationId xmlns:a16="http://schemas.microsoft.com/office/drawing/2014/main" id="{E4B27112-D003-4799-ACA1-D077CBC483C0}"/>
              </a:ext>
            </a:extLst>
          </p:cNvPr>
          <p:cNvSpPr/>
          <p:nvPr/>
        </p:nvSpPr>
        <p:spPr>
          <a:xfrm>
            <a:off x="4678173" y="2233219"/>
            <a:ext cx="1428327" cy="984906"/>
          </a:xfrm>
          <a:prstGeom prst="rect">
            <a:avLst/>
          </a:prstGeom>
          <a:noFill/>
          <a:ln w="19050">
            <a:solidFill>
              <a:srgbClr val="FF0000"/>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887B364F-C245-49CD-98A4-9981E0A3E00B}"/>
              </a:ext>
            </a:extLst>
          </p:cNvPr>
          <p:cNvSpPr/>
          <p:nvPr/>
        </p:nvSpPr>
        <p:spPr>
          <a:xfrm>
            <a:off x="8365573" y="1118395"/>
            <a:ext cx="851931" cy="3964288"/>
          </a:xfrm>
          <a:prstGeom prst="rect">
            <a:avLst/>
          </a:prstGeom>
          <a:noFill/>
          <a:ln w="19050">
            <a:solidFill>
              <a:srgbClr val="FF0000"/>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3A174E8A-B5B3-453F-86CA-0E5C186A6781}"/>
              </a:ext>
            </a:extLst>
          </p:cNvPr>
          <p:cNvSpPr/>
          <p:nvPr/>
        </p:nvSpPr>
        <p:spPr>
          <a:xfrm>
            <a:off x="10039658" y="1118395"/>
            <a:ext cx="851931" cy="3964288"/>
          </a:xfrm>
          <a:prstGeom prst="rect">
            <a:avLst/>
          </a:prstGeom>
          <a:noFill/>
          <a:ln w="19050">
            <a:solidFill>
              <a:srgbClr val="0070C0"/>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DD7E02AE-BF45-4774-8B89-8A9AB044506F}"/>
              </a:ext>
            </a:extLst>
          </p:cNvPr>
          <p:cNvSpPr/>
          <p:nvPr/>
        </p:nvSpPr>
        <p:spPr>
          <a:xfrm>
            <a:off x="1791086" y="4323497"/>
            <a:ext cx="3348000" cy="360000"/>
          </a:xfrm>
          <a:prstGeom prst="rect">
            <a:avLst/>
          </a:prstGeom>
          <a:noFill/>
          <a:ln w="19050">
            <a:solidFill>
              <a:srgbClr val="FF0000"/>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72EDEB3E-9544-405A-AAC4-0B92AB74F386}"/>
              </a:ext>
            </a:extLst>
          </p:cNvPr>
          <p:cNvSpPr/>
          <p:nvPr/>
        </p:nvSpPr>
        <p:spPr>
          <a:xfrm>
            <a:off x="1791086" y="4755745"/>
            <a:ext cx="3348000" cy="360000"/>
          </a:xfrm>
          <a:prstGeom prst="rect">
            <a:avLst/>
          </a:prstGeom>
          <a:noFill/>
          <a:ln w="19050">
            <a:solidFill>
              <a:srgbClr val="0070C0"/>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a:p>
        </p:txBody>
      </p:sp>
      <p:cxnSp>
        <p:nvCxnSpPr>
          <p:cNvPr id="12" name="连接符: 曲线 11">
            <a:extLst>
              <a:ext uri="{FF2B5EF4-FFF2-40B4-BE49-F238E27FC236}">
                <a16:creationId xmlns:a16="http://schemas.microsoft.com/office/drawing/2014/main" id="{A7F53C4E-F8DD-4FA6-A58E-5A24CB715B38}"/>
              </a:ext>
            </a:extLst>
          </p:cNvPr>
          <p:cNvCxnSpPr>
            <a:stCxn id="10" idx="3"/>
            <a:endCxn id="8" idx="2"/>
          </p:cNvCxnSpPr>
          <p:nvPr/>
        </p:nvCxnSpPr>
        <p:spPr>
          <a:xfrm>
            <a:off x="5139086" y="4503497"/>
            <a:ext cx="3652453" cy="579186"/>
          </a:xfrm>
          <a:prstGeom prst="curvedConnector4">
            <a:avLst>
              <a:gd name="adj1" fmla="val 44169"/>
              <a:gd name="adj2" fmla="val 139469"/>
            </a:avLst>
          </a:prstGeom>
          <a:ln w="1905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3" name="连接符: 曲线 12">
            <a:extLst>
              <a:ext uri="{FF2B5EF4-FFF2-40B4-BE49-F238E27FC236}">
                <a16:creationId xmlns:a16="http://schemas.microsoft.com/office/drawing/2014/main" id="{CB3ACDBD-CFAA-4A32-9211-68A35124B736}"/>
              </a:ext>
            </a:extLst>
          </p:cNvPr>
          <p:cNvCxnSpPr>
            <a:cxnSpLocks/>
            <a:stCxn id="11" idx="2"/>
            <a:endCxn id="9" idx="2"/>
          </p:cNvCxnSpPr>
          <p:nvPr/>
        </p:nvCxnSpPr>
        <p:spPr>
          <a:xfrm rot="5400000" flipH="1" flipV="1">
            <a:off x="6948824" y="1598945"/>
            <a:ext cx="33062" cy="7000538"/>
          </a:xfrm>
          <a:prstGeom prst="curvedConnector3">
            <a:avLst>
              <a:gd name="adj1" fmla="val -2335052"/>
            </a:avLst>
          </a:prstGeom>
          <a:ln w="19050">
            <a:solidFill>
              <a:srgbClr val="0070C0"/>
            </a:solidFill>
            <a:tailEnd type="stealth"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40536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E08726-068C-4F40-A65E-B5EE8CD22EE1}"/>
              </a:ext>
            </a:extLst>
          </p:cNvPr>
          <p:cNvSpPr>
            <a:spLocks noGrp="1"/>
          </p:cNvSpPr>
          <p:nvPr>
            <p:ph type="title" idx="4294967295"/>
          </p:nvPr>
        </p:nvSpPr>
        <p:spPr>
          <a:xfrm>
            <a:off x="315685" y="182245"/>
            <a:ext cx="7051766" cy="439547"/>
          </a:xfrm>
        </p:spPr>
        <p:txBody>
          <a:bodyPr>
            <a:noAutofit/>
          </a:bodyPr>
          <a:lstStyle/>
          <a:p>
            <a:r>
              <a:rPr lang="en-US" altLang="zh-CN" sz="3600" dirty="0">
                <a:latin typeface="思源黑体 CN Bold" panose="020B0800000000000000" pitchFamily="34" charset="-122"/>
                <a:ea typeface="思源黑体 CN Bold" panose="020B0800000000000000" pitchFamily="34" charset="-122"/>
              </a:rPr>
              <a:t>2 </a:t>
            </a:r>
            <a:r>
              <a:rPr lang="zh-CN" altLang="en-US" sz="3600" dirty="0">
                <a:latin typeface="思源黑体 CN Bold" panose="020B0800000000000000" pitchFamily="34" charset="-122"/>
                <a:ea typeface="思源黑体 CN Bold" panose="020B0800000000000000" pitchFamily="34" charset="-122"/>
              </a:rPr>
              <a:t>前馈神经网络函数：</a:t>
            </a:r>
            <a:r>
              <a:rPr lang="zh-CN" altLang="en-US" sz="2400" dirty="0">
                <a:latin typeface="思源黑体 CN Bold" panose="020B0800000000000000" pitchFamily="34" charset="-122"/>
                <a:ea typeface="思源黑体 CN Bold" panose="020B0800000000000000" pitchFamily="34" charset="-122"/>
              </a:rPr>
              <a:t>隐含层激活函数</a:t>
            </a:r>
            <a:endParaRPr lang="zh-CN" altLang="en-US" sz="3600" dirty="0"/>
          </a:p>
        </p:txBody>
      </p:sp>
      <p:sp>
        <p:nvSpPr>
          <p:cNvPr id="3" name="内容占位符 2">
            <a:extLst>
              <a:ext uri="{FF2B5EF4-FFF2-40B4-BE49-F238E27FC236}">
                <a16:creationId xmlns:a16="http://schemas.microsoft.com/office/drawing/2014/main" id="{7EEEC64B-E976-4035-A04D-3686D86D7852}"/>
              </a:ext>
            </a:extLst>
          </p:cNvPr>
          <p:cNvSpPr>
            <a:spLocks noGrp="1"/>
          </p:cNvSpPr>
          <p:nvPr>
            <p:ph idx="4294967295"/>
          </p:nvPr>
        </p:nvSpPr>
        <p:spPr>
          <a:xfrm>
            <a:off x="717089" y="1146356"/>
            <a:ext cx="10757822" cy="4351338"/>
          </a:xfrm>
        </p:spPr>
        <p:txBody>
          <a:bodyPr>
            <a:normAutofit/>
          </a:bodyPr>
          <a:lstStyle/>
          <a:p>
            <a:pPr marL="457200" indent="-457200">
              <a:lnSpc>
                <a:spcPct val="150000"/>
              </a:lnSpc>
              <a:buFont typeface="+mj-lt"/>
              <a:buAutoNum type="arabicPeriod"/>
            </a:pPr>
            <a:r>
              <a:rPr lang="zh-CN" altLang="en-US" sz="1800" dirty="0">
                <a:latin typeface="思源黑体 CN Bold" panose="020B0800000000000000" pitchFamily="34" charset="-122"/>
                <a:ea typeface="思源黑体 CN Bold" panose="020B0800000000000000" pitchFamily="34" charset="-122"/>
              </a:rPr>
              <a:t>梯度消失</a:t>
            </a:r>
            <a:r>
              <a:rPr lang="en-US" altLang="zh-CN" sz="1800" dirty="0">
                <a:latin typeface="思源黑体 CN Bold" panose="020B0800000000000000" pitchFamily="34" charset="-122"/>
                <a:ea typeface="思源黑体 CN Bold" panose="020B0800000000000000" pitchFamily="34" charset="-122"/>
              </a:rPr>
              <a:t>/</a:t>
            </a:r>
            <a:r>
              <a:rPr lang="zh-CN" altLang="en-US" sz="1800" dirty="0">
                <a:latin typeface="思源黑体 CN Bold" panose="020B0800000000000000" pitchFamily="34" charset="-122"/>
                <a:ea typeface="思源黑体 CN Bold" panose="020B0800000000000000" pitchFamily="34" charset="-122"/>
              </a:rPr>
              <a:t>衰减：</a:t>
            </a:r>
            <a:endParaRPr lang="en-US" altLang="zh-CN" sz="1800" dirty="0">
              <a:latin typeface="思源黑体 CN Bold" panose="020B0800000000000000" pitchFamily="34" charset="-122"/>
              <a:ea typeface="思源黑体 CN Bold" panose="020B0800000000000000" pitchFamily="34" charset="-122"/>
            </a:endParaRPr>
          </a:p>
          <a:p>
            <a:pPr lvl="1">
              <a:lnSpc>
                <a:spcPct val="150000"/>
              </a:lnSpc>
            </a:pPr>
            <a:r>
              <a:rPr lang="zh-CN" altLang="en-US" sz="1800" dirty="0">
                <a:latin typeface="思源黑体 CN Bold" panose="020B0800000000000000" pitchFamily="34" charset="-122"/>
                <a:ea typeface="思源黑体 CN Bold" panose="020B0800000000000000" pitchFamily="34" charset="-122"/>
              </a:rPr>
              <a:t>线性分类模型普遍使用的</a:t>
            </a:r>
            <a:r>
              <a:rPr lang="en-US" altLang="zh-CN" sz="1800" dirty="0">
                <a:latin typeface="思源黑体 CN Bold" panose="020B0800000000000000" pitchFamily="34" charset="-122"/>
                <a:ea typeface="思源黑体 CN Bold" panose="020B0800000000000000" pitchFamily="34" charset="-122"/>
              </a:rPr>
              <a:t>Sigmoid</a:t>
            </a:r>
            <a:r>
              <a:rPr lang="zh-CN" altLang="en-US" sz="1800" dirty="0">
                <a:latin typeface="思源黑体 CN Bold" panose="020B0800000000000000" pitchFamily="34" charset="-122"/>
                <a:ea typeface="思源黑体 CN Bold" panose="020B0800000000000000" pitchFamily="34" charset="-122"/>
              </a:rPr>
              <a:t>激活函数，在</a:t>
            </a:r>
            <a:r>
              <a:rPr lang="en-US" altLang="zh-CN" sz="1800" dirty="0">
                <a:latin typeface="思源黑体 CN Bold" panose="020B0800000000000000" pitchFamily="34" charset="-122"/>
                <a:ea typeface="思源黑体 CN Bold" panose="020B0800000000000000" pitchFamily="34" charset="-122"/>
              </a:rPr>
              <a:t>x</a:t>
            </a:r>
            <a:r>
              <a:rPr lang="zh-CN" altLang="en-US" sz="1800" dirty="0">
                <a:latin typeface="思源黑体 CN Bold" panose="020B0800000000000000" pitchFamily="34" charset="-122"/>
                <a:ea typeface="思源黑体 CN Bold" panose="020B0800000000000000" pitchFamily="34" charset="-122"/>
              </a:rPr>
              <a:t>趋向正、负无穷大的时候，梯度接近</a:t>
            </a:r>
            <a:r>
              <a:rPr lang="en-US" altLang="zh-CN" sz="1800" dirty="0">
                <a:latin typeface="思源黑体 CN Bold" panose="020B0800000000000000" pitchFamily="34" charset="-122"/>
                <a:ea typeface="思源黑体 CN Bold" panose="020B0800000000000000" pitchFamily="34" charset="-122"/>
              </a:rPr>
              <a:t>0</a:t>
            </a:r>
            <a:r>
              <a:rPr lang="zh-CN" altLang="en-US" sz="1800" dirty="0">
                <a:latin typeface="思源黑体 CN Bold" panose="020B0800000000000000" pitchFamily="34" charset="-122"/>
                <a:ea typeface="思源黑体 CN Bold" panose="020B0800000000000000" pitchFamily="34" charset="-122"/>
              </a:rPr>
              <a:t>。</a:t>
            </a:r>
            <a:endParaRPr lang="en-US" altLang="zh-CN" sz="1800" dirty="0">
              <a:latin typeface="思源黑体 CN Bold" panose="020B0800000000000000" pitchFamily="34" charset="-122"/>
              <a:ea typeface="思源黑体 CN Bold" panose="020B0800000000000000" pitchFamily="34" charset="-122"/>
            </a:endParaRPr>
          </a:p>
          <a:p>
            <a:pPr lvl="1">
              <a:lnSpc>
                <a:spcPct val="150000"/>
              </a:lnSpc>
            </a:pPr>
            <a:r>
              <a:rPr lang="zh-CN" altLang="en-US" sz="1800" dirty="0">
                <a:latin typeface="思源黑体 CN Bold" panose="020B0800000000000000" pitchFamily="34" charset="-122"/>
                <a:ea typeface="思源黑体 CN Bold" panose="020B0800000000000000" pitchFamily="34" charset="-122"/>
              </a:rPr>
              <a:t>神经网络求解需要使用梯度信息进行逐层传播，对于复杂神经网络，梯度消失有可能使相当一部分网络参数求解失败，无效神经元。</a:t>
            </a:r>
            <a:endParaRPr lang="en-US" altLang="zh-CN" sz="1800" dirty="0">
              <a:latin typeface="思源黑体 CN Bold" panose="020B0800000000000000" pitchFamily="34" charset="-122"/>
              <a:ea typeface="思源黑体 CN Bold" panose="020B0800000000000000" pitchFamily="34" charset="-122"/>
            </a:endParaRPr>
          </a:p>
          <a:p>
            <a:pPr marL="342900" indent="-342900">
              <a:lnSpc>
                <a:spcPct val="150000"/>
              </a:lnSpc>
              <a:buFont typeface="+mj-lt"/>
              <a:buAutoNum type="arabicPeriod"/>
            </a:pPr>
            <a:r>
              <a:rPr lang="zh-CN" altLang="en-US" sz="1800" dirty="0">
                <a:latin typeface="思源黑体 CN Bold" panose="020B0800000000000000" pitchFamily="34" charset="-122"/>
                <a:ea typeface="思源黑体 CN Bold" panose="020B0800000000000000" pitchFamily="34" charset="-122"/>
              </a:rPr>
              <a:t>常用的激活函数还有</a:t>
            </a:r>
            <a:r>
              <a:rPr lang="en-US" altLang="zh-CN" sz="1800" dirty="0">
                <a:latin typeface="思源黑体 CN Bold" panose="020B0800000000000000" pitchFamily="34" charset="-122"/>
                <a:ea typeface="思源黑体 CN Bold" panose="020B0800000000000000" pitchFamily="34" charset="-122"/>
              </a:rPr>
              <a:t>Sigmoid</a:t>
            </a:r>
            <a:r>
              <a:rPr lang="zh-CN" altLang="en-US" sz="1800" dirty="0">
                <a:latin typeface="思源黑体 CN Bold" panose="020B0800000000000000" pitchFamily="34" charset="-122"/>
                <a:ea typeface="思源黑体 CN Bold" panose="020B0800000000000000" pitchFamily="34" charset="-122"/>
              </a:rPr>
              <a:t>、</a:t>
            </a:r>
            <a:r>
              <a:rPr lang="en-US" altLang="zh-CN" sz="1800" dirty="0" err="1">
                <a:latin typeface="思源黑体 CN Bold" panose="020B0800000000000000" pitchFamily="34" charset="-122"/>
                <a:ea typeface="思源黑体 CN Bold" panose="020B0800000000000000" pitchFamily="34" charset="-122"/>
              </a:rPr>
              <a:t>ReLU</a:t>
            </a:r>
            <a:r>
              <a:rPr lang="zh-CN" altLang="en-US" sz="1800" dirty="0">
                <a:latin typeface="思源黑体 CN Bold" panose="020B0800000000000000" pitchFamily="34" charset="-122"/>
                <a:ea typeface="思源黑体 CN Bold" panose="020B0800000000000000" pitchFamily="34" charset="-122"/>
              </a:rPr>
              <a:t>等</a:t>
            </a:r>
            <a:endParaRPr lang="en-US" altLang="zh-CN" sz="1800" dirty="0">
              <a:latin typeface="思源黑体 CN Bold" panose="020B0800000000000000" pitchFamily="34" charset="-122"/>
              <a:ea typeface="思源黑体 CN Bold" panose="020B0800000000000000" pitchFamily="34" charset="-122"/>
            </a:endParaRPr>
          </a:p>
          <a:p>
            <a:pPr marL="0" indent="0">
              <a:lnSpc>
                <a:spcPct val="150000"/>
              </a:lnSpc>
              <a:buNone/>
            </a:pPr>
            <a:endParaRPr lang="en-US" altLang="zh-CN" sz="1800" dirty="0">
              <a:latin typeface="思源黑体 CN Bold" panose="020B0800000000000000" pitchFamily="34" charset="-122"/>
              <a:ea typeface="思源黑体 CN Bold" panose="020B0800000000000000" pitchFamily="34" charset="-122"/>
            </a:endParaRPr>
          </a:p>
        </p:txBody>
      </p:sp>
      <p:pic>
        <p:nvPicPr>
          <p:cNvPr id="5" name="图形 4">
            <a:extLst>
              <a:ext uri="{FF2B5EF4-FFF2-40B4-BE49-F238E27FC236}">
                <a16:creationId xmlns:a16="http://schemas.microsoft.com/office/drawing/2014/main" id="{E6247AC2-FB19-4F1D-B956-C938AA6FD53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579706" y="3947425"/>
            <a:ext cx="1529356" cy="1529356"/>
          </a:xfrm>
          <a:prstGeom prst="rect">
            <a:avLst/>
          </a:prstGeom>
        </p:spPr>
      </p:pic>
      <p:pic>
        <p:nvPicPr>
          <p:cNvPr id="6" name="图形 5">
            <a:extLst>
              <a:ext uri="{FF2B5EF4-FFF2-40B4-BE49-F238E27FC236}">
                <a16:creationId xmlns:a16="http://schemas.microsoft.com/office/drawing/2014/main" id="{BF06B366-B896-41EC-9CA4-56A2FD6B135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115580" y="3947425"/>
            <a:ext cx="1529356" cy="1529356"/>
          </a:xfrm>
          <a:prstGeom prst="rect">
            <a:avLst/>
          </a:prstGeom>
        </p:spPr>
      </p:pic>
      <p:pic>
        <p:nvPicPr>
          <p:cNvPr id="7" name="图形 6">
            <a:extLst>
              <a:ext uri="{FF2B5EF4-FFF2-40B4-BE49-F238E27FC236}">
                <a16:creationId xmlns:a16="http://schemas.microsoft.com/office/drawing/2014/main" id="{17D0EBDB-371E-44B9-9FDF-88C62FE0608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39675" y="3968338"/>
            <a:ext cx="1529356" cy="1529356"/>
          </a:xfrm>
          <a:prstGeom prst="rect">
            <a:avLst/>
          </a:prstGeom>
        </p:spPr>
      </p:pic>
      <p:pic>
        <p:nvPicPr>
          <p:cNvPr id="8" name="图形 7">
            <a:extLst>
              <a:ext uri="{FF2B5EF4-FFF2-40B4-BE49-F238E27FC236}">
                <a16:creationId xmlns:a16="http://schemas.microsoft.com/office/drawing/2014/main" id="{AC0F027B-DE02-40F4-BD98-B1438EBCDF3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181215" y="3968338"/>
            <a:ext cx="1529356" cy="1529356"/>
          </a:xfrm>
          <a:prstGeom prst="rect">
            <a:avLst/>
          </a:prstGeom>
        </p:spPr>
      </p:pic>
      <p:pic>
        <p:nvPicPr>
          <p:cNvPr id="9" name="图形 8">
            <a:extLst>
              <a:ext uri="{FF2B5EF4-FFF2-40B4-BE49-F238E27FC236}">
                <a16:creationId xmlns:a16="http://schemas.microsoft.com/office/drawing/2014/main" id="{7FC72EC2-0F24-482D-87C8-6A24A6700039}"/>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17089" y="3968338"/>
            <a:ext cx="1529356" cy="1529356"/>
          </a:xfrm>
          <a:prstGeom prst="rect">
            <a:avLst/>
          </a:prstGeom>
        </p:spPr>
      </p:pic>
      <p:pic>
        <p:nvPicPr>
          <p:cNvPr id="10" name="图形 9">
            <a:extLst>
              <a:ext uri="{FF2B5EF4-FFF2-40B4-BE49-F238E27FC236}">
                <a16:creationId xmlns:a16="http://schemas.microsoft.com/office/drawing/2014/main" id="{3D8DAAE2-A355-4F43-AD50-21DDB44D2702}"/>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838166" y="3947425"/>
            <a:ext cx="1529356" cy="1529356"/>
          </a:xfrm>
          <a:prstGeom prst="rect">
            <a:avLst/>
          </a:prstGeom>
        </p:spPr>
      </p:pic>
      <p:sp>
        <p:nvSpPr>
          <p:cNvPr id="11" name="文本框 10">
            <a:extLst>
              <a:ext uri="{FF2B5EF4-FFF2-40B4-BE49-F238E27FC236}">
                <a16:creationId xmlns:a16="http://schemas.microsoft.com/office/drawing/2014/main" id="{39EFBD78-4BAF-4160-943F-4DB77E9FB1D4}"/>
              </a:ext>
            </a:extLst>
          </p:cNvPr>
          <p:cNvSpPr txBox="1"/>
          <p:nvPr/>
        </p:nvSpPr>
        <p:spPr>
          <a:xfrm>
            <a:off x="1084864" y="3809436"/>
            <a:ext cx="793807" cy="276999"/>
          </a:xfrm>
          <a:prstGeom prst="rect">
            <a:avLst/>
          </a:prstGeom>
          <a:noFill/>
        </p:spPr>
        <p:txBody>
          <a:bodyPr wrap="none" rtlCol="0">
            <a:spAutoFit/>
          </a:bodyPr>
          <a:lstStyle/>
          <a:p>
            <a:pPr algn="ctr"/>
            <a:r>
              <a:rPr lang="en-US" altLang="zh-CN" sz="1200" b="1" dirty="0">
                <a:solidFill>
                  <a:schemeClr val="accent6">
                    <a:lumMod val="50000"/>
                  </a:schemeClr>
                </a:solidFill>
              </a:rPr>
              <a:t>Sigmoid</a:t>
            </a:r>
            <a:endParaRPr lang="zh-CN" altLang="en-US" sz="1200" b="1" dirty="0">
              <a:solidFill>
                <a:schemeClr val="accent6">
                  <a:lumMod val="50000"/>
                </a:schemeClr>
              </a:solidFill>
            </a:endParaRPr>
          </a:p>
        </p:txBody>
      </p:sp>
      <p:sp>
        <p:nvSpPr>
          <p:cNvPr id="12" name="文本框 11">
            <a:extLst>
              <a:ext uri="{FF2B5EF4-FFF2-40B4-BE49-F238E27FC236}">
                <a16:creationId xmlns:a16="http://schemas.microsoft.com/office/drawing/2014/main" id="{6CC63949-0BF2-41CF-BFDA-9A6C5C1AD785}"/>
              </a:ext>
            </a:extLst>
          </p:cNvPr>
          <p:cNvSpPr txBox="1"/>
          <p:nvPr/>
        </p:nvSpPr>
        <p:spPr>
          <a:xfrm>
            <a:off x="2911645" y="3809436"/>
            <a:ext cx="585417" cy="276999"/>
          </a:xfrm>
          <a:prstGeom prst="rect">
            <a:avLst/>
          </a:prstGeom>
          <a:noFill/>
        </p:spPr>
        <p:txBody>
          <a:bodyPr wrap="none" rtlCol="0">
            <a:spAutoFit/>
          </a:bodyPr>
          <a:lstStyle/>
          <a:p>
            <a:pPr algn="ctr"/>
            <a:r>
              <a:rPr lang="en-US" altLang="zh-CN" sz="1200" b="1" dirty="0" err="1">
                <a:solidFill>
                  <a:schemeClr val="accent6">
                    <a:lumMod val="50000"/>
                  </a:schemeClr>
                </a:solidFill>
              </a:rPr>
              <a:t>ReLU</a:t>
            </a:r>
            <a:endParaRPr lang="zh-CN" altLang="en-US" sz="1200" b="1" dirty="0">
              <a:solidFill>
                <a:schemeClr val="accent6">
                  <a:lumMod val="50000"/>
                </a:schemeClr>
              </a:solidFill>
            </a:endParaRPr>
          </a:p>
        </p:txBody>
      </p:sp>
      <p:sp>
        <p:nvSpPr>
          <p:cNvPr id="13" name="文本框 12">
            <a:extLst>
              <a:ext uri="{FF2B5EF4-FFF2-40B4-BE49-F238E27FC236}">
                <a16:creationId xmlns:a16="http://schemas.microsoft.com/office/drawing/2014/main" id="{CF0F86E6-4A7C-4853-AE0C-B2AE7B5DE83D}"/>
              </a:ext>
            </a:extLst>
          </p:cNvPr>
          <p:cNvSpPr txBox="1"/>
          <p:nvPr/>
        </p:nvSpPr>
        <p:spPr>
          <a:xfrm>
            <a:off x="4610706" y="3809436"/>
            <a:ext cx="670375" cy="276999"/>
          </a:xfrm>
          <a:prstGeom prst="rect">
            <a:avLst/>
          </a:prstGeom>
          <a:noFill/>
        </p:spPr>
        <p:txBody>
          <a:bodyPr wrap="none" rtlCol="0">
            <a:spAutoFit/>
          </a:bodyPr>
          <a:lstStyle/>
          <a:p>
            <a:pPr algn="ctr"/>
            <a:r>
              <a:rPr lang="en-US" altLang="zh-CN" sz="1200" b="1" dirty="0">
                <a:solidFill>
                  <a:schemeClr val="accent6">
                    <a:lumMod val="50000"/>
                  </a:schemeClr>
                </a:solidFill>
              </a:rPr>
              <a:t>ReLU6</a:t>
            </a:r>
            <a:endParaRPr lang="zh-CN" altLang="en-US" sz="1200" b="1" dirty="0">
              <a:solidFill>
                <a:schemeClr val="accent6">
                  <a:lumMod val="50000"/>
                </a:schemeClr>
              </a:solidFill>
            </a:endParaRPr>
          </a:p>
        </p:txBody>
      </p:sp>
      <p:sp>
        <p:nvSpPr>
          <p:cNvPr id="14" name="文本框 13">
            <a:extLst>
              <a:ext uri="{FF2B5EF4-FFF2-40B4-BE49-F238E27FC236}">
                <a16:creationId xmlns:a16="http://schemas.microsoft.com/office/drawing/2014/main" id="{8730C147-B62F-4A84-B8B2-AED1E359C0C0}"/>
              </a:ext>
            </a:extLst>
          </p:cNvPr>
          <p:cNvSpPr txBox="1"/>
          <p:nvPr/>
        </p:nvSpPr>
        <p:spPr>
          <a:xfrm>
            <a:off x="6348702" y="3770836"/>
            <a:ext cx="1063112" cy="276999"/>
          </a:xfrm>
          <a:prstGeom prst="rect">
            <a:avLst/>
          </a:prstGeom>
          <a:noFill/>
        </p:spPr>
        <p:txBody>
          <a:bodyPr wrap="none" rtlCol="0">
            <a:spAutoFit/>
          </a:bodyPr>
          <a:lstStyle/>
          <a:p>
            <a:pPr algn="ctr"/>
            <a:r>
              <a:rPr lang="en-US" altLang="zh-CN" sz="1200" b="1" dirty="0">
                <a:solidFill>
                  <a:schemeClr val="accent6">
                    <a:lumMod val="50000"/>
                  </a:schemeClr>
                </a:solidFill>
              </a:rPr>
              <a:t>Leaky </a:t>
            </a:r>
            <a:r>
              <a:rPr lang="en-US" altLang="zh-CN" sz="1200" b="1" dirty="0" err="1">
                <a:solidFill>
                  <a:schemeClr val="accent6">
                    <a:lumMod val="50000"/>
                  </a:schemeClr>
                </a:solidFill>
              </a:rPr>
              <a:t>ReLU</a:t>
            </a:r>
            <a:endParaRPr lang="zh-CN" altLang="en-US" sz="1200" b="1" dirty="0">
              <a:solidFill>
                <a:schemeClr val="accent6">
                  <a:lumMod val="50000"/>
                </a:schemeClr>
              </a:solidFill>
            </a:endParaRPr>
          </a:p>
        </p:txBody>
      </p:sp>
      <p:sp>
        <p:nvSpPr>
          <p:cNvPr id="15" name="文本框 14">
            <a:extLst>
              <a:ext uri="{FF2B5EF4-FFF2-40B4-BE49-F238E27FC236}">
                <a16:creationId xmlns:a16="http://schemas.microsoft.com/office/drawing/2014/main" id="{C26C1E7D-E91A-4995-B74C-1772995DD867}"/>
              </a:ext>
            </a:extLst>
          </p:cNvPr>
          <p:cNvSpPr txBox="1"/>
          <p:nvPr/>
        </p:nvSpPr>
        <p:spPr>
          <a:xfrm>
            <a:off x="8287694" y="3770836"/>
            <a:ext cx="630301" cy="276999"/>
          </a:xfrm>
          <a:prstGeom prst="rect">
            <a:avLst/>
          </a:prstGeom>
          <a:noFill/>
        </p:spPr>
        <p:txBody>
          <a:bodyPr wrap="none" rtlCol="0">
            <a:spAutoFit/>
          </a:bodyPr>
          <a:lstStyle/>
          <a:p>
            <a:pPr algn="ctr"/>
            <a:r>
              <a:rPr lang="en-US" altLang="zh-CN" sz="1200" b="1" dirty="0">
                <a:solidFill>
                  <a:schemeClr val="accent6">
                    <a:lumMod val="50000"/>
                  </a:schemeClr>
                </a:solidFill>
              </a:rPr>
              <a:t>Swish</a:t>
            </a:r>
            <a:endParaRPr lang="zh-CN" altLang="en-US" sz="1200" b="1" dirty="0">
              <a:solidFill>
                <a:schemeClr val="accent6">
                  <a:lumMod val="50000"/>
                </a:schemeClr>
              </a:solidFill>
            </a:endParaRPr>
          </a:p>
        </p:txBody>
      </p:sp>
      <p:sp>
        <p:nvSpPr>
          <p:cNvPr id="16" name="文本框 15">
            <a:extLst>
              <a:ext uri="{FF2B5EF4-FFF2-40B4-BE49-F238E27FC236}">
                <a16:creationId xmlns:a16="http://schemas.microsoft.com/office/drawing/2014/main" id="{3FEA5BC9-BE67-46C9-84DE-8E0557BDFD67}"/>
              </a:ext>
            </a:extLst>
          </p:cNvPr>
          <p:cNvSpPr txBox="1"/>
          <p:nvPr/>
        </p:nvSpPr>
        <p:spPr>
          <a:xfrm>
            <a:off x="9832866" y="3770836"/>
            <a:ext cx="1023037" cy="276999"/>
          </a:xfrm>
          <a:prstGeom prst="rect">
            <a:avLst/>
          </a:prstGeom>
          <a:noFill/>
        </p:spPr>
        <p:txBody>
          <a:bodyPr wrap="none" rtlCol="0">
            <a:spAutoFit/>
          </a:bodyPr>
          <a:lstStyle/>
          <a:p>
            <a:pPr algn="ctr"/>
            <a:r>
              <a:rPr lang="en-US" altLang="zh-CN" sz="1200" b="1" dirty="0">
                <a:solidFill>
                  <a:schemeClr val="accent6">
                    <a:lumMod val="50000"/>
                  </a:schemeClr>
                </a:solidFill>
              </a:rPr>
              <a:t>Hard Swish</a:t>
            </a:r>
            <a:endParaRPr lang="zh-CN" altLang="en-US" sz="1200" b="1" dirty="0">
              <a:solidFill>
                <a:schemeClr val="accent6">
                  <a:lumMod val="50000"/>
                </a:schemeClr>
              </a:solidFill>
            </a:endParaRPr>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B8460985-5794-4BDF-A6D3-C95B1E06AFFE}"/>
                  </a:ext>
                </a:extLst>
              </p:cNvPr>
              <p:cNvSpPr txBox="1"/>
              <p:nvPr/>
            </p:nvSpPr>
            <p:spPr>
              <a:xfrm>
                <a:off x="736043" y="5538096"/>
                <a:ext cx="1491449"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200" i="1" smtClean="0">
                          <a:effectLst/>
                          <a:latin typeface="Cambria Math" panose="02040503050406030204" pitchFamily="18" charset="0"/>
                          <a:ea typeface="等线" panose="02010600030101010101" pitchFamily="2" charset="-122"/>
                          <a:cs typeface="Times New Roman" panose="02020603050405020304" pitchFamily="18" charset="0"/>
                        </a:rPr>
                        <m:t>𝑦</m:t>
                      </m:r>
                      <m:r>
                        <a:rPr lang="en-US" altLang="zh-CN" sz="1200" i="1" smtClean="0">
                          <a:effectLst/>
                          <a:latin typeface="Cambria Math" panose="02040503050406030204" pitchFamily="18" charset="0"/>
                          <a:ea typeface="等线" panose="02010600030101010101" pitchFamily="2" charset="-122"/>
                          <a:cs typeface="Times New Roman" panose="02020603050405020304" pitchFamily="18" charset="0"/>
                        </a:rPr>
                        <m:t>=1/</m:t>
                      </m:r>
                      <m:d>
                        <m:dPr>
                          <m:ctrlPr>
                            <a:rPr lang="zh-CN" altLang="zh-CN" sz="12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200" i="1">
                              <a:effectLst/>
                              <a:latin typeface="Cambria Math" panose="02040503050406030204" pitchFamily="18" charset="0"/>
                              <a:ea typeface="等线" panose="02010600030101010101" pitchFamily="2" charset="-122"/>
                              <a:cs typeface="Times New Roman" panose="02020603050405020304" pitchFamily="18" charset="0"/>
                            </a:rPr>
                            <m:t>1+</m:t>
                          </m:r>
                          <m:sSup>
                            <m:sSupPr>
                              <m:ctrlPr>
                                <a:rPr lang="zh-CN" altLang="zh-CN" sz="12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200" i="1">
                                  <a:effectLst/>
                                  <a:latin typeface="Cambria Math" panose="02040503050406030204" pitchFamily="18" charset="0"/>
                                  <a:ea typeface="等线" panose="02010600030101010101" pitchFamily="2" charset="-122"/>
                                  <a:cs typeface="Times New Roman" panose="02020603050405020304" pitchFamily="18" charset="0"/>
                                </a:rPr>
                                <m:t>𝑒</m:t>
                              </m:r>
                            </m:e>
                            <m:sup>
                              <m:r>
                                <a:rPr lang="en-US" altLang="zh-CN" sz="1200" i="1">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1200" i="1">
                                  <a:effectLst/>
                                  <a:latin typeface="Cambria Math" panose="02040503050406030204" pitchFamily="18" charset="0"/>
                                  <a:ea typeface="等线" panose="02010600030101010101" pitchFamily="2" charset="-122"/>
                                  <a:cs typeface="Times New Roman" panose="02020603050405020304" pitchFamily="18" charset="0"/>
                                </a:rPr>
                                <m:t>𝑥</m:t>
                              </m:r>
                            </m:sup>
                          </m:sSup>
                        </m:e>
                      </m:d>
                    </m:oMath>
                  </m:oMathPara>
                </a14:m>
                <a:endParaRPr lang="zh-CN" altLang="zh-CN" sz="1200" dirty="0">
                  <a:effectLst/>
                  <a:latin typeface="Georgia" panose="02040502050405020303" pitchFamily="18" charset="0"/>
                  <a:ea typeface="等线" panose="02010600030101010101" pitchFamily="2" charset="-122"/>
                  <a:cs typeface="Times New Roman" panose="02020603050405020304" pitchFamily="18" charset="0"/>
                </a:endParaRPr>
              </a:p>
            </p:txBody>
          </p:sp>
        </mc:Choice>
        <mc:Fallback xmlns="">
          <p:sp>
            <p:nvSpPr>
              <p:cNvPr id="17" name="文本框 16">
                <a:extLst>
                  <a:ext uri="{FF2B5EF4-FFF2-40B4-BE49-F238E27FC236}">
                    <a16:creationId xmlns:a16="http://schemas.microsoft.com/office/drawing/2014/main" id="{B8460985-5794-4BDF-A6D3-C95B1E06AFFE}"/>
                  </a:ext>
                </a:extLst>
              </p:cNvPr>
              <p:cNvSpPr txBox="1">
                <a:spLocks noRot="1" noChangeAspect="1" noMove="1" noResize="1" noEditPoints="1" noAdjustHandles="1" noChangeArrowheads="1" noChangeShapeType="1" noTextEdit="1"/>
              </p:cNvSpPr>
              <p:nvPr/>
            </p:nvSpPr>
            <p:spPr>
              <a:xfrm>
                <a:off x="736043" y="5538096"/>
                <a:ext cx="1491449" cy="276999"/>
              </a:xfrm>
              <a:prstGeom prst="rect">
                <a:avLst/>
              </a:prstGeom>
              <a:blipFill>
                <a:blip r:embed="rId14"/>
                <a:stretch>
                  <a:fillRect b="-652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F65EEEC4-8D51-4787-9391-153404DBA416}"/>
                  </a:ext>
                </a:extLst>
              </p:cNvPr>
              <p:cNvSpPr txBox="1"/>
              <p:nvPr/>
            </p:nvSpPr>
            <p:spPr>
              <a:xfrm>
                <a:off x="6134534" y="5691919"/>
                <a:ext cx="1491449"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200" i="1" smtClean="0">
                          <a:solidFill>
                            <a:schemeClr val="tx1"/>
                          </a:solidFill>
                          <a:latin typeface="Cambria Math" panose="02040503050406030204" pitchFamily="18" charset="0"/>
                          <a:ea typeface="等线" panose="02010600030101010101" pitchFamily="2" charset="-122"/>
                          <a:cs typeface="Times New Roman" panose="02020603050405020304" pitchFamily="18" charset="0"/>
                        </a:rPr>
                        <m:t>𝑦</m:t>
                      </m:r>
                      <m:r>
                        <a:rPr lang="en-US" altLang="zh-CN" sz="1200" i="1" smtClean="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r>
                        <m:rPr>
                          <m:sty m:val="p"/>
                        </m:rPr>
                        <a:rPr lang="en-US" altLang="zh-CN" sz="1200">
                          <a:solidFill>
                            <a:schemeClr val="tx1"/>
                          </a:solidFill>
                          <a:latin typeface="Cambria Math" panose="02040503050406030204" pitchFamily="18" charset="0"/>
                          <a:ea typeface="等线" panose="02010600030101010101" pitchFamily="2" charset="-122"/>
                          <a:cs typeface="Times New Roman" panose="02020603050405020304" pitchFamily="18" charset="0"/>
                        </a:rPr>
                        <m:t>max</m:t>
                      </m:r>
                      <m:d>
                        <m:dPr>
                          <m:ctrlPr>
                            <a:rPr lang="zh-CN" altLang="zh-CN" sz="12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2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𝛼</m:t>
                          </m:r>
                          <m:r>
                            <a:rPr lang="en-US" altLang="zh-CN" sz="12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𝑥</m:t>
                          </m:r>
                          <m:r>
                            <a:rPr lang="en-US" altLang="zh-CN" sz="12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12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𝑥</m:t>
                          </m:r>
                        </m:e>
                      </m:d>
                    </m:oMath>
                  </m:oMathPara>
                </a14:m>
                <a:endParaRPr lang="zh-CN" altLang="zh-CN" sz="1200" dirty="0">
                  <a:solidFill>
                    <a:schemeClr val="tx1"/>
                  </a:solidFill>
                  <a:latin typeface="Georgia" panose="02040502050405020303" pitchFamily="18" charset="0"/>
                  <a:ea typeface="等线" panose="02010600030101010101" pitchFamily="2" charset="-122"/>
                  <a:cs typeface="Times New Roman" panose="02020603050405020304" pitchFamily="18" charset="0"/>
                </a:endParaRPr>
              </a:p>
            </p:txBody>
          </p:sp>
        </mc:Choice>
        <mc:Fallback xmlns="">
          <p:sp>
            <p:nvSpPr>
              <p:cNvPr id="18" name="文本框 17">
                <a:extLst>
                  <a:ext uri="{FF2B5EF4-FFF2-40B4-BE49-F238E27FC236}">
                    <a16:creationId xmlns:a16="http://schemas.microsoft.com/office/drawing/2014/main" id="{F65EEEC4-8D51-4787-9391-153404DBA416}"/>
                  </a:ext>
                </a:extLst>
              </p:cNvPr>
              <p:cNvSpPr txBox="1">
                <a:spLocks noRot="1" noChangeAspect="1" noMove="1" noResize="1" noEditPoints="1" noAdjustHandles="1" noChangeArrowheads="1" noChangeShapeType="1" noTextEdit="1"/>
              </p:cNvSpPr>
              <p:nvPr/>
            </p:nvSpPr>
            <p:spPr>
              <a:xfrm>
                <a:off x="6134534" y="5691919"/>
                <a:ext cx="1491449" cy="276999"/>
              </a:xfrm>
              <a:prstGeom prst="rect">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F4855C18-BC04-4F31-B2D3-0D806AB04740}"/>
                  </a:ext>
                </a:extLst>
              </p:cNvPr>
              <p:cNvSpPr txBox="1"/>
              <p:nvPr/>
            </p:nvSpPr>
            <p:spPr>
              <a:xfrm>
                <a:off x="7857120" y="5691919"/>
                <a:ext cx="1491448"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200" i="1" smtClean="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𝑦</m:t>
                      </m:r>
                      <m:r>
                        <a:rPr lang="en-US" altLang="zh-CN" sz="1200" i="1" smtClean="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1200" b="0" i="1" smtClean="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𝑥</m:t>
                      </m:r>
                      <m:r>
                        <a:rPr lang="en-US" altLang="zh-CN" sz="1200" i="1" smtClean="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m:t>
                      </m:r>
                      <m:d>
                        <m:dPr>
                          <m:ctrlPr>
                            <a:rPr lang="zh-CN" altLang="zh-CN" sz="1200" i="1">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200" i="1">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1+</m:t>
                          </m:r>
                          <m:sSup>
                            <m:sSupPr>
                              <m:ctrlPr>
                                <a:rPr lang="zh-CN" altLang="zh-CN" sz="1200" i="1">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200" i="1">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𝑒</m:t>
                              </m:r>
                            </m:e>
                            <m:sup>
                              <m:r>
                                <a:rPr lang="en-US" altLang="zh-CN" sz="1200" i="1">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1200" i="1">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𝑥</m:t>
                              </m:r>
                            </m:sup>
                          </m:sSup>
                        </m:e>
                      </m:d>
                    </m:oMath>
                  </m:oMathPara>
                </a14:m>
                <a:endParaRPr lang="zh-CN" altLang="zh-CN" sz="1200" dirty="0">
                  <a:solidFill>
                    <a:schemeClr val="tx1"/>
                  </a:solidFill>
                  <a:effectLst/>
                  <a:latin typeface="Georgia" panose="02040502050405020303" pitchFamily="18" charset="0"/>
                  <a:ea typeface="等线" panose="02010600030101010101" pitchFamily="2" charset="-122"/>
                  <a:cs typeface="Times New Roman" panose="02020603050405020304" pitchFamily="18" charset="0"/>
                </a:endParaRPr>
              </a:p>
            </p:txBody>
          </p:sp>
        </mc:Choice>
        <mc:Fallback xmlns="">
          <p:sp>
            <p:nvSpPr>
              <p:cNvPr id="19" name="文本框 18">
                <a:extLst>
                  <a:ext uri="{FF2B5EF4-FFF2-40B4-BE49-F238E27FC236}">
                    <a16:creationId xmlns:a16="http://schemas.microsoft.com/office/drawing/2014/main" id="{F4855C18-BC04-4F31-B2D3-0D806AB04740}"/>
                  </a:ext>
                </a:extLst>
              </p:cNvPr>
              <p:cNvSpPr txBox="1">
                <a:spLocks noRot="1" noChangeAspect="1" noMove="1" noResize="1" noEditPoints="1" noAdjustHandles="1" noChangeArrowheads="1" noChangeShapeType="1" noTextEdit="1"/>
              </p:cNvSpPr>
              <p:nvPr/>
            </p:nvSpPr>
            <p:spPr>
              <a:xfrm>
                <a:off x="7857120" y="5691919"/>
                <a:ext cx="1491448" cy="276999"/>
              </a:xfrm>
              <a:prstGeom prst="rect">
                <a:avLst/>
              </a:prstGeom>
              <a:blipFill>
                <a:blip r:embed="rId16"/>
                <a:stretch>
                  <a:fillRect b="-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1FB6BD9F-01DD-47BC-8B11-62E3BE9289AF}"/>
                  </a:ext>
                </a:extLst>
              </p:cNvPr>
              <p:cNvSpPr txBox="1"/>
              <p:nvPr/>
            </p:nvSpPr>
            <p:spPr>
              <a:xfrm>
                <a:off x="9161982" y="5489459"/>
                <a:ext cx="2364804" cy="68191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200" b="0" i="1" smtClean="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𝑦</m:t>
                      </m:r>
                      <m:r>
                        <a:rPr lang="en-US" altLang="zh-CN" sz="1200" b="0" i="1" smtClean="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m:t>
                      </m:r>
                      <m:d>
                        <m:dPr>
                          <m:begChr m:val="{"/>
                          <m:endChr m:val=""/>
                          <m:ctrlPr>
                            <a:rPr lang="en-US" altLang="zh-CN" sz="1200" b="0" i="1" smtClean="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ctrlPr>
                        </m:dPr>
                        <m:e>
                          <m:m>
                            <m:mPr>
                              <m:mcs>
                                <m:mc>
                                  <m:mcPr>
                                    <m:count m:val="2"/>
                                    <m:mcJc m:val="center"/>
                                  </m:mcPr>
                                </m:mc>
                              </m:mcs>
                              <m:ctrlPr>
                                <a:rPr lang="en-US" altLang="zh-CN" sz="1200" b="0" i="1" smtClean="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ctrlPr>
                            </m:mPr>
                            <m:mr>
                              <m:e>
                                <m:r>
                                  <m:rPr>
                                    <m:brk m:alnAt="7"/>
                                  </m:rPr>
                                  <a:rPr lang="en-US" altLang="zh-CN" sz="1200" b="0" i="1" smtClean="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0</m:t>
                                </m:r>
                              </m:e>
                              <m:e>
                                <m:r>
                                  <a:rPr lang="en-US" altLang="zh-CN" sz="1200" b="0" i="1" smtClean="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𝑥</m:t>
                                </m:r>
                                <m:r>
                                  <a:rPr lang="en-US" altLang="zh-CN" sz="1200" b="0" i="1" smtClean="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≤−3</m:t>
                                </m:r>
                              </m:e>
                            </m:mr>
                            <m:mr>
                              <m:e>
                                <m:r>
                                  <a:rPr lang="en-US" altLang="zh-CN" sz="1200" b="0" i="1" smtClean="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𝑥</m:t>
                                </m:r>
                              </m:e>
                              <m:e>
                                <m:r>
                                  <a:rPr lang="en-US" altLang="zh-CN" sz="1200" b="0" i="1" smtClean="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𝑥</m:t>
                                </m:r>
                                <m:r>
                                  <a:rPr lang="en-US" altLang="zh-CN" sz="1200" b="0" i="1" smtClean="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≥3</m:t>
                                </m:r>
                              </m:e>
                            </m:mr>
                            <m:mr>
                              <m:e>
                                <m:r>
                                  <a:rPr lang="en-US" altLang="zh-CN" sz="1200" b="0" i="1" smtClean="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𝑥</m:t>
                                </m:r>
                                <m:r>
                                  <a:rPr lang="en-US" altLang="zh-CN" sz="1200" b="0" i="1" smtClean="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m:t>
                                </m:r>
                                <m:d>
                                  <m:dPr>
                                    <m:ctrlPr>
                                      <a:rPr lang="en-US" altLang="zh-CN" sz="1200" b="0" i="1" smtClean="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ctrlPr>
                                  </m:dPr>
                                  <m:e>
                                    <m:r>
                                      <a:rPr lang="en-US" altLang="zh-CN" sz="1200" b="0" i="1" smtClean="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𝑥</m:t>
                                    </m:r>
                                    <m:r>
                                      <a:rPr lang="en-US" altLang="zh-CN" sz="1200" b="0" i="1" smtClean="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+3</m:t>
                                    </m:r>
                                  </m:e>
                                </m:d>
                                <m:r>
                                  <a:rPr lang="en-US" altLang="zh-CN" sz="1200" b="0" i="1" smtClean="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/6</m:t>
                                </m:r>
                              </m:e>
                              <m:e>
                                <m:r>
                                  <a:rPr lang="en-US" altLang="zh-CN" sz="1200" b="0" i="1" smtClean="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𝑜𝑡h𝑒𝑟𝑤𝑖𝑠𝑒</m:t>
                                </m:r>
                              </m:e>
                            </m:mr>
                          </m:m>
                        </m:e>
                      </m:d>
                    </m:oMath>
                  </m:oMathPara>
                </a14:m>
                <a:endParaRPr lang="zh-CN" altLang="zh-CN" sz="1200" dirty="0">
                  <a:solidFill>
                    <a:schemeClr val="tx1"/>
                  </a:solidFill>
                  <a:effectLst/>
                  <a:latin typeface="Georgia" panose="02040502050405020303" pitchFamily="18" charset="0"/>
                  <a:ea typeface="等线" panose="02010600030101010101" pitchFamily="2" charset="-122"/>
                  <a:cs typeface="Times New Roman" panose="02020603050405020304" pitchFamily="18" charset="0"/>
                </a:endParaRPr>
              </a:p>
            </p:txBody>
          </p:sp>
        </mc:Choice>
        <mc:Fallback xmlns="">
          <p:sp>
            <p:nvSpPr>
              <p:cNvPr id="20" name="文本框 19">
                <a:extLst>
                  <a:ext uri="{FF2B5EF4-FFF2-40B4-BE49-F238E27FC236}">
                    <a16:creationId xmlns:a16="http://schemas.microsoft.com/office/drawing/2014/main" id="{1FB6BD9F-01DD-47BC-8B11-62E3BE9289AF}"/>
                  </a:ext>
                </a:extLst>
              </p:cNvPr>
              <p:cNvSpPr txBox="1">
                <a:spLocks noRot="1" noChangeAspect="1" noMove="1" noResize="1" noEditPoints="1" noAdjustHandles="1" noChangeArrowheads="1" noChangeShapeType="1" noTextEdit="1"/>
              </p:cNvSpPr>
              <p:nvPr/>
            </p:nvSpPr>
            <p:spPr>
              <a:xfrm>
                <a:off x="9161982" y="5489459"/>
                <a:ext cx="2364804" cy="681918"/>
              </a:xfrm>
              <a:prstGeom prst="rect">
                <a:avLst/>
              </a:prstGeom>
              <a:blipFill>
                <a:blip r:embed="rId1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81E12CF9-993B-46FE-A82C-574E3C558E81}"/>
                  </a:ext>
                </a:extLst>
              </p:cNvPr>
              <p:cNvSpPr txBox="1"/>
              <p:nvPr/>
            </p:nvSpPr>
            <p:spPr>
              <a:xfrm>
                <a:off x="2458629" y="5538096"/>
                <a:ext cx="1491449"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200" i="1" smtClean="0">
                          <a:effectLst/>
                          <a:latin typeface="Cambria Math" panose="02040503050406030204" pitchFamily="18" charset="0"/>
                          <a:ea typeface="等线" panose="02010600030101010101" pitchFamily="2" charset="-122"/>
                          <a:cs typeface="Times New Roman" panose="02020603050405020304" pitchFamily="18" charset="0"/>
                        </a:rPr>
                        <m:t>𝑦</m:t>
                      </m:r>
                      <m:r>
                        <a:rPr lang="en-US" altLang="zh-CN" sz="1200" i="1" smtClean="0">
                          <a:effectLst/>
                          <a:latin typeface="Cambria Math" panose="02040503050406030204" pitchFamily="18" charset="0"/>
                          <a:ea typeface="等线" panose="02010600030101010101" pitchFamily="2" charset="-122"/>
                          <a:cs typeface="Times New Roman" panose="02020603050405020304" pitchFamily="18" charset="0"/>
                        </a:rPr>
                        <m:t>=</m:t>
                      </m:r>
                      <m:r>
                        <m:rPr>
                          <m:sty m:val="p"/>
                        </m:rPr>
                        <a:rPr lang="en-US" altLang="zh-CN" sz="1200" b="0" i="0" smtClean="0">
                          <a:effectLst/>
                          <a:latin typeface="Cambria Math" panose="02040503050406030204" pitchFamily="18" charset="0"/>
                          <a:ea typeface="等线" panose="02010600030101010101" pitchFamily="2" charset="-122"/>
                          <a:cs typeface="Times New Roman" panose="02020603050405020304" pitchFamily="18" charset="0"/>
                        </a:rPr>
                        <m:t>max</m:t>
                      </m:r>
                      <m:d>
                        <m:dPr>
                          <m:ctrlPr>
                            <a:rPr lang="zh-CN" altLang="zh-CN" sz="12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200" b="0" i="1" smtClean="0">
                              <a:effectLst/>
                              <a:latin typeface="Cambria Math" panose="02040503050406030204" pitchFamily="18" charset="0"/>
                              <a:ea typeface="Cambria Math" panose="02040503050406030204" pitchFamily="18" charset="0"/>
                              <a:cs typeface="Times New Roman" panose="02020603050405020304" pitchFamily="18" charset="0"/>
                            </a:rPr>
                            <m:t>0,</m:t>
                          </m:r>
                          <m:r>
                            <a:rPr lang="en-US" altLang="zh-CN" sz="1200" b="0" i="1" smtClean="0">
                              <a:effectLst/>
                              <a:latin typeface="Cambria Math" panose="02040503050406030204" pitchFamily="18" charset="0"/>
                              <a:ea typeface="Cambria Math" panose="02040503050406030204" pitchFamily="18" charset="0"/>
                              <a:cs typeface="Times New Roman" panose="02020603050405020304" pitchFamily="18" charset="0"/>
                            </a:rPr>
                            <m:t>𝑥</m:t>
                          </m:r>
                        </m:e>
                      </m:d>
                    </m:oMath>
                  </m:oMathPara>
                </a14:m>
                <a:endParaRPr lang="zh-CN" altLang="zh-CN" sz="1200" dirty="0">
                  <a:effectLst/>
                  <a:latin typeface="Georgia" panose="02040502050405020303" pitchFamily="18" charset="0"/>
                  <a:ea typeface="等线" panose="02010600030101010101" pitchFamily="2" charset="-122"/>
                  <a:cs typeface="Times New Roman" panose="02020603050405020304" pitchFamily="18" charset="0"/>
                </a:endParaRPr>
              </a:p>
            </p:txBody>
          </p:sp>
        </mc:Choice>
        <mc:Fallback xmlns="">
          <p:sp>
            <p:nvSpPr>
              <p:cNvPr id="21" name="文本框 20">
                <a:extLst>
                  <a:ext uri="{FF2B5EF4-FFF2-40B4-BE49-F238E27FC236}">
                    <a16:creationId xmlns:a16="http://schemas.microsoft.com/office/drawing/2014/main" id="{81E12CF9-993B-46FE-A82C-574E3C558E81}"/>
                  </a:ext>
                </a:extLst>
              </p:cNvPr>
              <p:cNvSpPr txBox="1">
                <a:spLocks noRot="1" noChangeAspect="1" noMove="1" noResize="1" noEditPoints="1" noAdjustHandles="1" noChangeArrowheads="1" noChangeShapeType="1" noTextEdit="1"/>
              </p:cNvSpPr>
              <p:nvPr/>
            </p:nvSpPr>
            <p:spPr>
              <a:xfrm>
                <a:off x="2458629" y="5538096"/>
                <a:ext cx="1491449" cy="276999"/>
              </a:xfrm>
              <a:prstGeom prst="rect">
                <a:avLst/>
              </a:prstGeom>
              <a:blipFill>
                <a:blip r:embed="rId1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B62B03FF-C2B4-4F4E-9791-0ECE917CB3D0}"/>
                  </a:ext>
                </a:extLst>
              </p:cNvPr>
              <p:cNvSpPr txBox="1"/>
              <p:nvPr/>
            </p:nvSpPr>
            <p:spPr>
              <a:xfrm>
                <a:off x="4062848" y="5538096"/>
                <a:ext cx="1766090" cy="276999"/>
              </a:xfrm>
              <a:prstGeom prst="rect">
                <a:avLst/>
              </a:prstGeom>
              <a:noFill/>
            </p:spPr>
            <p:txBody>
              <a:bodyPr wrap="square" rtlCol="0">
                <a:spAutoFit/>
              </a:bodyPr>
              <a:lstStyle/>
              <a:p>
                <a14:m>
                  <m:oMath xmlns:m="http://schemas.openxmlformats.org/officeDocument/2006/math">
                    <m:r>
                      <a:rPr lang="en-US" altLang="zh-CN" sz="1200" i="1" smtClean="0">
                        <a:effectLst/>
                        <a:latin typeface="Cambria Math" panose="02040503050406030204" pitchFamily="18" charset="0"/>
                        <a:ea typeface="等线" panose="02010600030101010101" pitchFamily="2" charset="-122"/>
                        <a:cs typeface="Times New Roman" panose="02020603050405020304" pitchFamily="18" charset="0"/>
                      </a:rPr>
                      <m:t>𝑦</m:t>
                    </m:r>
                    <m:r>
                      <a:rPr lang="en-US" altLang="zh-CN" sz="1200" i="1" smtClean="0">
                        <a:effectLst/>
                        <a:latin typeface="Cambria Math" panose="02040503050406030204" pitchFamily="18" charset="0"/>
                        <a:ea typeface="等线" panose="02010600030101010101" pitchFamily="2" charset="-122"/>
                        <a:cs typeface="Times New Roman" panose="02020603050405020304" pitchFamily="18" charset="0"/>
                      </a:rPr>
                      <m:t>=</m:t>
                    </m:r>
                    <m:r>
                      <m:rPr>
                        <m:sty m:val="p"/>
                      </m:rPr>
                      <a:rPr lang="en-US" altLang="zh-CN" sz="1200" b="0" i="0" smtClean="0">
                        <a:effectLst/>
                        <a:latin typeface="Cambria Math" panose="02040503050406030204" pitchFamily="18" charset="0"/>
                        <a:ea typeface="等线" panose="02010600030101010101" pitchFamily="2" charset="-122"/>
                        <a:cs typeface="Times New Roman" panose="02020603050405020304" pitchFamily="18" charset="0"/>
                      </a:rPr>
                      <m:t>m</m:t>
                    </m:r>
                    <m:r>
                      <m:rPr>
                        <m:sty m:val="p"/>
                      </m:rPr>
                      <a:rPr lang="en-US" altLang="zh-CN" sz="1200" i="0">
                        <a:latin typeface="Cambria Math" panose="02040503050406030204" pitchFamily="18" charset="0"/>
                        <a:ea typeface="等线" panose="02010600030101010101" pitchFamily="2" charset="-122"/>
                        <a:cs typeface="Times New Roman" panose="02020603050405020304" pitchFamily="18" charset="0"/>
                      </a:rPr>
                      <m:t>in</m:t>
                    </m:r>
                    <m:d>
                      <m:dPr>
                        <m:ctrlPr>
                          <a:rPr lang="en-US" altLang="zh-CN" sz="1200" b="0" i="1" smtClean="0">
                            <a:latin typeface="Cambria Math" panose="02040503050406030204" pitchFamily="18" charset="0"/>
                            <a:ea typeface="等线" panose="02010600030101010101" pitchFamily="2" charset="-122"/>
                            <a:cs typeface="Times New Roman" panose="02020603050405020304" pitchFamily="18" charset="0"/>
                          </a:rPr>
                        </m:ctrlPr>
                      </m:dPr>
                      <m:e>
                        <m:r>
                          <m:rPr>
                            <m:sty m:val="p"/>
                          </m:rPr>
                          <a:rPr lang="en-US" altLang="zh-CN" sz="1200">
                            <a:latin typeface="Cambria Math" panose="02040503050406030204" pitchFamily="18" charset="0"/>
                            <a:ea typeface="等线" panose="02010600030101010101" pitchFamily="2" charset="-122"/>
                            <a:cs typeface="Times New Roman" panose="02020603050405020304" pitchFamily="18" charset="0"/>
                          </a:rPr>
                          <m:t>max</m:t>
                        </m:r>
                        <m:d>
                          <m:dPr>
                            <m:ctrlPr>
                              <a:rPr lang="zh-CN" altLang="zh-CN" sz="1200" i="1">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200" i="1">
                                <a:latin typeface="Cambria Math" panose="02040503050406030204" pitchFamily="18" charset="0"/>
                                <a:ea typeface="Cambria Math" panose="02040503050406030204" pitchFamily="18" charset="0"/>
                                <a:cs typeface="Times New Roman" panose="02020603050405020304" pitchFamily="18" charset="0"/>
                              </a:rPr>
                              <m:t>0,</m:t>
                            </m:r>
                            <m:r>
                              <a:rPr lang="en-US" altLang="zh-CN" sz="1200" i="1">
                                <a:latin typeface="Cambria Math" panose="02040503050406030204" pitchFamily="18" charset="0"/>
                                <a:ea typeface="Cambria Math" panose="02040503050406030204" pitchFamily="18" charset="0"/>
                                <a:cs typeface="Times New Roman" panose="02020603050405020304" pitchFamily="18" charset="0"/>
                              </a:rPr>
                              <m:t>𝑥</m:t>
                            </m:r>
                          </m:e>
                        </m:d>
                        <m:r>
                          <a:rPr lang="en-US" altLang="zh-CN" sz="1200" b="0" i="1" smtClean="0">
                            <a:latin typeface="Cambria Math" panose="02040503050406030204" pitchFamily="18" charset="0"/>
                            <a:ea typeface="Cambria Math" panose="02040503050406030204" pitchFamily="18" charset="0"/>
                            <a:cs typeface="Times New Roman" panose="02020603050405020304" pitchFamily="18" charset="0"/>
                          </a:rPr>
                          <m:t>,6</m:t>
                        </m:r>
                      </m:e>
                    </m:d>
                  </m:oMath>
                </a14:m>
                <a:r>
                  <a:rPr lang="en-US" altLang="zh-CN" sz="1200" dirty="0">
                    <a:effectLst/>
                    <a:latin typeface="Georgia" panose="02040502050405020303" pitchFamily="18" charset="0"/>
                    <a:ea typeface="等线" panose="02010600030101010101" pitchFamily="2" charset="-122"/>
                    <a:cs typeface="Times New Roman" panose="02020603050405020304" pitchFamily="18" charset="0"/>
                  </a:rPr>
                  <a:t> </a:t>
                </a:r>
                <a:endParaRPr lang="zh-CN" altLang="zh-CN" sz="1200" dirty="0">
                  <a:effectLst/>
                  <a:latin typeface="Georgia" panose="02040502050405020303" pitchFamily="18" charset="0"/>
                  <a:ea typeface="等线" panose="02010600030101010101" pitchFamily="2" charset="-122"/>
                  <a:cs typeface="Times New Roman" panose="02020603050405020304" pitchFamily="18" charset="0"/>
                </a:endParaRPr>
              </a:p>
            </p:txBody>
          </p:sp>
        </mc:Choice>
        <mc:Fallback xmlns="">
          <p:sp>
            <p:nvSpPr>
              <p:cNvPr id="22" name="文本框 21">
                <a:extLst>
                  <a:ext uri="{FF2B5EF4-FFF2-40B4-BE49-F238E27FC236}">
                    <a16:creationId xmlns:a16="http://schemas.microsoft.com/office/drawing/2014/main" id="{B62B03FF-C2B4-4F4E-9791-0ECE917CB3D0}"/>
                  </a:ext>
                </a:extLst>
              </p:cNvPr>
              <p:cNvSpPr txBox="1">
                <a:spLocks noRot="1" noChangeAspect="1" noMove="1" noResize="1" noEditPoints="1" noAdjustHandles="1" noChangeArrowheads="1" noChangeShapeType="1" noTextEdit="1"/>
              </p:cNvSpPr>
              <p:nvPr/>
            </p:nvSpPr>
            <p:spPr>
              <a:xfrm>
                <a:off x="4062848" y="5538096"/>
                <a:ext cx="1766090" cy="276999"/>
              </a:xfrm>
              <a:prstGeom prst="rect">
                <a:avLst/>
              </a:prstGeom>
              <a:blipFill>
                <a:blip r:embed="rId19"/>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281683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E08726-068C-4F40-A65E-B5EE8CD22EE1}"/>
              </a:ext>
            </a:extLst>
          </p:cNvPr>
          <p:cNvSpPr>
            <a:spLocks noGrp="1"/>
          </p:cNvSpPr>
          <p:nvPr>
            <p:ph type="title" idx="4294967295"/>
          </p:nvPr>
        </p:nvSpPr>
        <p:spPr>
          <a:xfrm>
            <a:off x="273884" y="161346"/>
            <a:ext cx="7498806" cy="434322"/>
          </a:xfrm>
        </p:spPr>
        <p:txBody>
          <a:bodyPr>
            <a:noAutofit/>
          </a:bodyPr>
          <a:lstStyle/>
          <a:p>
            <a:r>
              <a:rPr lang="en-US" altLang="zh-CN" sz="3600" dirty="0">
                <a:latin typeface="思源黑体 CN Bold" panose="020B0800000000000000" pitchFamily="34" charset="-122"/>
                <a:ea typeface="思源黑体 CN Bold" panose="020B0800000000000000" pitchFamily="34" charset="-122"/>
              </a:rPr>
              <a:t>2 </a:t>
            </a:r>
            <a:r>
              <a:rPr lang="zh-CN" altLang="en-US" sz="3600" dirty="0">
                <a:latin typeface="思源黑体 CN Bold" panose="020B0800000000000000" pitchFamily="34" charset="-122"/>
                <a:ea typeface="思源黑体 CN Bold" panose="020B0800000000000000" pitchFamily="34" charset="-122"/>
              </a:rPr>
              <a:t>前馈神经网络函数：</a:t>
            </a:r>
            <a:r>
              <a:rPr lang="zh-CN" altLang="en-US" sz="2800" dirty="0">
                <a:latin typeface="思源黑体 CN Bold" panose="020B0800000000000000" pitchFamily="34" charset="-122"/>
                <a:ea typeface="思源黑体 CN Bold" panose="020B0800000000000000" pitchFamily="34" charset="-122"/>
              </a:rPr>
              <a:t>激活函数</a:t>
            </a:r>
            <a:endParaRPr lang="zh-CN" altLang="en-US" sz="3600"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7EEEC64B-E976-4035-A04D-3686D86D7852}"/>
                  </a:ext>
                </a:extLst>
              </p:cNvPr>
              <p:cNvSpPr>
                <a:spLocks noGrp="1"/>
              </p:cNvSpPr>
              <p:nvPr>
                <p:ph idx="4294967295"/>
              </p:nvPr>
            </p:nvSpPr>
            <p:spPr>
              <a:xfrm>
                <a:off x="717089" y="1198607"/>
                <a:ext cx="10757822" cy="4351338"/>
              </a:xfrm>
            </p:spPr>
            <p:txBody>
              <a:bodyPr>
                <a:normAutofit/>
              </a:bodyPr>
              <a:lstStyle/>
              <a:p>
                <a:pPr marL="342900" indent="-342900">
                  <a:lnSpc>
                    <a:spcPct val="150000"/>
                  </a:lnSpc>
                  <a:buFont typeface="+mj-lt"/>
                  <a:buAutoNum type="arabicPeriod"/>
                </a:pPr>
                <a:r>
                  <a:rPr lang="zh-CN" altLang="en-US" sz="1800" dirty="0">
                    <a:latin typeface="思源黑体 CN Bold" panose="020B0800000000000000" pitchFamily="34" charset="-122"/>
                    <a:ea typeface="思源黑体 CN Bold" panose="020B0800000000000000" pitchFamily="34" charset="-122"/>
                  </a:rPr>
                  <a:t>激活函数</a:t>
                </a:r>
                <a14:m>
                  <m:oMath xmlns:m="http://schemas.openxmlformats.org/officeDocument/2006/math">
                    <m:r>
                      <a:rPr lang="en-US" altLang="zh-CN" sz="1800">
                        <a:latin typeface="Cambria Math" panose="02040503050406030204" pitchFamily="18" charset="0"/>
                        <a:ea typeface="思源黑体 CN Bold" panose="020B0800000000000000" pitchFamily="34" charset="-122"/>
                      </a:rPr>
                      <m:t>𝑡𝑎𝑛</m:t>
                    </m:r>
                    <m:r>
                      <m:rPr>
                        <m:sty m:val="p"/>
                      </m:rPr>
                      <a:rPr lang="en-US" altLang="zh-CN" sz="1800">
                        <a:latin typeface="Cambria Math" panose="02040503050406030204" pitchFamily="18" charset="0"/>
                        <a:ea typeface="思源黑体 CN Bold" panose="020B0800000000000000" pitchFamily="34" charset="-122"/>
                      </a:rPr>
                      <m:t>h</m:t>
                    </m:r>
                  </m:oMath>
                </a14:m>
                <a:r>
                  <a:rPr lang="zh-CN" altLang="en-US" sz="1800" dirty="0">
                    <a:latin typeface="思源黑体 CN Bold" panose="020B0800000000000000" pitchFamily="34" charset="-122"/>
                    <a:ea typeface="思源黑体 CN Bold" panose="020B0800000000000000" pitchFamily="34" charset="-122"/>
                  </a:rPr>
                  <a:t>函数是拉伸的</a:t>
                </a:r>
                <a14:m>
                  <m:oMath xmlns:m="http://schemas.openxmlformats.org/officeDocument/2006/math">
                    <m:r>
                      <a:rPr lang="en-US" altLang="zh-CN" sz="1800">
                        <a:latin typeface="Cambria Math" panose="02040503050406030204" pitchFamily="18" charset="0"/>
                        <a:ea typeface="思源黑体 CN Bold" panose="020B0800000000000000" pitchFamily="34" charset="-122"/>
                      </a:rPr>
                      <m:t>𝑠𝑖𝑔𝑚𝑜𝑖𝑑</m:t>
                    </m:r>
                  </m:oMath>
                </a14:m>
                <a:r>
                  <a:rPr lang="zh-CN" altLang="en-US" sz="1800" dirty="0">
                    <a:latin typeface="思源黑体 CN Bold" panose="020B0800000000000000" pitchFamily="34" charset="-122"/>
                    <a:ea typeface="思源黑体 CN Bold" panose="020B0800000000000000" pitchFamily="34" charset="-122"/>
                  </a:rPr>
                  <a:t>函数</a:t>
                </a:r>
                <a:endParaRPr lang="en-US" altLang="zh-CN" sz="1800" dirty="0">
                  <a:latin typeface="思源黑体 CN Bold" panose="020B0800000000000000" pitchFamily="34" charset="-122"/>
                  <a:ea typeface="思源黑体 CN Bold" panose="020B0800000000000000" pitchFamily="34" charset="-122"/>
                </a:endParaRPr>
              </a:p>
              <a:p>
                <a:pPr marL="0" indent="0">
                  <a:lnSpc>
                    <a:spcPct val="150000"/>
                  </a:lnSpc>
                  <a:buNone/>
                </a:pPr>
                <a14:m>
                  <m:oMathPara xmlns:m="http://schemas.openxmlformats.org/officeDocument/2006/math">
                    <m:oMathParaPr>
                      <m:jc m:val="centerGroup"/>
                    </m:oMathParaPr>
                    <m:oMath xmlns:m="http://schemas.openxmlformats.org/officeDocument/2006/math">
                      <m:r>
                        <a:rPr lang="en-US" altLang="zh-CN" sz="1800" i="1">
                          <a:latin typeface="Cambria Math" panose="02040503050406030204" pitchFamily="18" charset="0"/>
                          <a:ea typeface="思源黑体 CN Bold" panose="020B0800000000000000" pitchFamily="34" charset="-122"/>
                        </a:rPr>
                        <m:t>𝑡𝑎𝑛</m:t>
                      </m:r>
                      <m:r>
                        <m:rPr>
                          <m:sty m:val="p"/>
                        </m:rPr>
                        <a:rPr lang="en-US" altLang="zh-CN" sz="1800" i="1">
                          <a:latin typeface="Cambria Math" panose="02040503050406030204" pitchFamily="18" charset="0"/>
                          <a:ea typeface="思源黑体 CN Bold" panose="020B0800000000000000" pitchFamily="34" charset="-122"/>
                        </a:rPr>
                        <m:t>h</m:t>
                      </m:r>
                      <m:d>
                        <m:dPr>
                          <m:ctrlPr>
                            <a:rPr lang="en-US" altLang="zh-CN" sz="1800" i="1" smtClean="0">
                              <a:latin typeface="Cambria Math" panose="02040503050406030204" pitchFamily="18" charset="0"/>
                              <a:ea typeface="思源黑体 CN Bold" panose="020B0800000000000000" pitchFamily="34" charset="-122"/>
                            </a:rPr>
                          </m:ctrlPr>
                        </m:dPr>
                        <m:e>
                          <m:r>
                            <a:rPr lang="en-US" altLang="zh-CN" sz="1800" b="0" i="1" smtClean="0">
                              <a:latin typeface="Cambria Math" panose="02040503050406030204" pitchFamily="18" charset="0"/>
                              <a:ea typeface="思源黑体 CN Bold" panose="020B0800000000000000" pitchFamily="34" charset="-122"/>
                            </a:rPr>
                            <m:t>𝑎</m:t>
                          </m:r>
                        </m:e>
                      </m:d>
                      <m:r>
                        <a:rPr lang="en-US" altLang="zh-CN" sz="1800" i="1">
                          <a:latin typeface="Cambria Math" panose="02040503050406030204" pitchFamily="18" charset="0"/>
                          <a:ea typeface="思源黑体 CN Bold" panose="020B0800000000000000" pitchFamily="34" charset="-122"/>
                        </a:rPr>
                        <m:t>=</m:t>
                      </m:r>
                      <m:r>
                        <a:rPr lang="en-US" altLang="zh-CN" sz="1800" b="0" i="1" smtClean="0">
                          <a:latin typeface="Cambria Math" panose="02040503050406030204" pitchFamily="18" charset="0"/>
                          <a:ea typeface="思源黑体 CN Bold" panose="020B0800000000000000" pitchFamily="34" charset="-122"/>
                        </a:rPr>
                        <m:t>2</m:t>
                      </m:r>
                      <m:r>
                        <a:rPr lang="zh-CN" altLang="en-US" sz="1800" b="0" i="1" smtClean="0">
                          <a:latin typeface="Cambria Math" panose="02040503050406030204" pitchFamily="18" charset="0"/>
                          <a:ea typeface="思源黑体 CN Bold" panose="020B0800000000000000" pitchFamily="34" charset="-122"/>
                        </a:rPr>
                        <m:t>𝜎</m:t>
                      </m:r>
                      <m:d>
                        <m:dPr>
                          <m:ctrlPr>
                            <a:rPr lang="en-US" altLang="zh-CN" sz="1800" i="1">
                              <a:latin typeface="Cambria Math" panose="02040503050406030204" pitchFamily="18" charset="0"/>
                              <a:ea typeface="思源黑体 CN Bold" panose="020B0800000000000000" pitchFamily="34" charset="-122"/>
                            </a:rPr>
                          </m:ctrlPr>
                        </m:dPr>
                        <m:e>
                          <m:r>
                            <a:rPr lang="en-US" altLang="zh-CN" sz="1800" b="0" i="1" smtClean="0">
                              <a:latin typeface="Cambria Math" panose="02040503050406030204" pitchFamily="18" charset="0"/>
                              <a:ea typeface="思源黑体 CN Bold" panose="020B0800000000000000" pitchFamily="34" charset="-122"/>
                            </a:rPr>
                            <m:t>2</m:t>
                          </m:r>
                          <m:r>
                            <a:rPr lang="en-US" altLang="zh-CN" sz="1800" i="1">
                              <a:latin typeface="Cambria Math" panose="02040503050406030204" pitchFamily="18" charset="0"/>
                              <a:ea typeface="思源黑体 CN Bold" panose="020B0800000000000000" pitchFamily="34" charset="-122"/>
                            </a:rPr>
                            <m:t>𝑎</m:t>
                          </m:r>
                        </m:e>
                      </m:d>
                      <m:r>
                        <a:rPr lang="en-US" altLang="zh-CN" sz="1800" b="0" i="1" smtClean="0">
                          <a:latin typeface="Cambria Math" panose="02040503050406030204" pitchFamily="18" charset="0"/>
                          <a:ea typeface="思源黑体 CN Bold" panose="020B0800000000000000" pitchFamily="34" charset="-122"/>
                        </a:rPr>
                        <m:t>−1=</m:t>
                      </m:r>
                      <m:f>
                        <m:fPr>
                          <m:ctrlPr>
                            <a:rPr lang="en-US" altLang="zh-CN" sz="1800" b="0" i="1" smtClean="0">
                              <a:latin typeface="Cambria Math" panose="02040503050406030204" pitchFamily="18" charset="0"/>
                              <a:ea typeface="思源黑体 CN Bold" panose="020B0800000000000000" pitchFamily="34" charset="-122"/>
                            </a:rPr>
                          </m:ctrlPr>
                        </m:fPr>
                        <m:num>
                          <m:sSup>
                            <m:sSupPr>
                              <m:ctrlPr>
                                <a:rPr lang="en-US" altLang="zh-CN" sz="1800" b="0" i="1" smtClean="0">
                                  <a:latin typeface="Cambria Math" panose="02040503050406030204" pitchFamily="18" charset="0"/>
                                  <a:ea typeface="思源黑体 CN Bold" panose="020B0800000000000000" pitchFamily="34" charset="-122"/>
                                </a:rPr>
                              </m:ctrlPr>
                            </m:sSupPr>
                            <m:e>
                              <m:r>
                                <a:rPr lang="en-US" altLang="zh-CN" sz="1800" b="0" i="1" smtClean="0">
                                  <a:latin typeface="Cambria Math" panose="02040503050406030204" pitchFamily="18" charset="0"/>
                                  <a:ea typeface="思源黑体 CN Bold" panose="020B0800000000000000" pitchFamily="34" charset="-122"/>
                                </a:rPr>
                                <m:t>𝑒</m:t>
                              </m:r>
                            </m:e>
                            <m:sup>
                              <m:r>
                                <a:rPr lang="en-US" altLang="zh-CN" sz="1800" b="0" i="1" smtClean="0">
                                  <a:latin typeface="Cambria Math" panose="02040503050406030204" pitchFamily="18" charset="0"/>
                                  <a:ea typeface="思源黑体 CN Bold" panose="020B0800000000000000" pitchFamily="34" charset="-122"/>
                                </a:rPr>
                                <m:t>𝑎</m:t>
                              </m:r>
                            </m:sup>
                          </m:sSup>
                          <m:r>
                            <a:rPr lang="en-US" altLang="zh-CN" sz="1800" b="0" i="1" smtClean="0">
                              <a:latin typeface="Cambria Math" panose="02040503050406030204" pitchFamily="18" charset="0"/>
                              <a:ea typeface="思源黑体 CN Bold" panose="020B0800000000000000" pitchFamily="34" charset="-122"/>
                            </a:rPr>
                            <m:t>−</m:t>
                          </m:r>
                          <m:sSup>
                            <m:sSupPr>
                              <m:ctrlPr>
                                <a:rPr lang="en-US" altLang="zh-CN" sz="1800" i="1">
                                  <a:latin typeface="Cambria Math" panose="02040503050406030204" pitchFamily="18" charset="0"/>
                                  <a:ea typeface="思源黑体 CN Bold" panose="020B0800000000000000" pitchFamily="34" charset="-122"/>
                                </a:rPr>
                              </m:ctrlPr>
                            </m:sSupPr>
                            <m:e>
                              <m:r>
                                <a:rPr lang="en-US" altLang="zh-CN" sz="1800" i="1">
                                  <a:latin typeface="Cambria Math" panose="02040503050406030204" pitchFamily="18" charset="0"/>
                                  <a:ea typeface="思源黑体 CN Bold" panose="020B0800000000000000" pitchFamily="34" charset="-122"/>
                                </a:rPr>
                                <m:t>𝑒</m:t>
                              </m:r>
                            </m:e>
                            <m:sup>
                              <m:r>
                                <a:rPr lang="en-US" altLang="zh-CN" sz="1800" b="0" i="1" smtClean="0">
                                  <a:latin typeface="Cambria Math" panose="02040503050406030204" pitchFamily="18" charset="0"/>
                                  <a:ea typeface="思源黑体 CN Bold" panose="020B0800000000000000" pitchFamily="34" charset="-122"/>
                                </a:rPr>
                                <m:t>−</m:t>
                              </m:r>
                              <m:r>
                                <a:rPr lang="en-US" altLang="zh-CN" sz="1800" i="1">
                                  <a:latin typeface="Cambria Math" panose="02040503050406030204" pitchFamily="18" charset="0"/>
                                  <a:ea typeface="思源黑体 CN Bold" panose="020B0800000000000000" pitchFamily="34" charset="-122"/>
                                </a:rPr>
                                <m:t>𝑎</m:t>
                              </m:r>
                            </m:sup>
                          </m:sSup>
                        </m:num>
                        <m:den>
                          <m:sSup>
                            <m:sSupPr>
                              <m:ctrlPr>
                                <a:rPr lang="en-US" altLang="zh-CN" sz="1800" i="1">
                                  <a:latin typeface="Cambria Math" panose="02040503050406030204" pitchFamily="18" charset="0"/>
                                  <a:ea typeface="思源黑体 CN Bold" panose="020B0800000000000000" pitchFamily="34" charset="-122"/>
                                </a:rPr>
                              </m:ctrlPr>
                            </m:sSupPr>
                            <m:e>
                              <m:r>
                                <a:rPr lang="en-US" altLang="zh-CN" sz="1800" i="1">
                                  <a:latin typeface="Cambria Math" panose="02040503050406030204" pitchFamily="18" charset="0"/>
                                  <a:ea typeface="思源黑体 CN Bold" panose="020B0800000000000000" pitchFamily="34" charset="-122"/>
                                </a:rPr>
                                <m:t>𝑒</m:t>
                              </m:r>
                            </m:e>
                            <m:sup>
                              <m:r>
                                <a:rPr lang="en-US" altLang="zh-CN" sz="1800" i="1">
                                  <a:latin typeface="Cambria Math" panose="02040503050406030204" pitchFamily="18" charset="0"/>
                                  <a:ea typeface="思源黑体 CN Bold" panose="020B0800000000000000" pitchFamily="34" charset="-122"/>
                                </a:rPr>
                                <m:t>𝑎</m:t>
                              </m:r>
                            </m:sup>
                          </m:sSup>
                          <m:r>
                            <a:rPr lang="en-US" altLang="zh-CN" sz="1800" b="0" i="1" smtClean="0">
                              <a:latin typeface="Cambria Math" panose="02040503050406030204" pitchFamily="18" charset="0"/>
                              <a:ea typeface="思源黑体 CN Bold" panose="020B0800000000000000" pitchFamily="34" charset="-122"/>
                            </a:rPr>
                            <m:t>+</m:t>
                          </m:r>
                          <m:sSup>
                            <m:sSupPr>
                              <m:ctrlPr>
                                <a:rPr lang="en-US" altLang="zh-CN" sz="1800" i="1">
                                  <a:latin typeface="Cambria Math" panose="02040503050406030204" pitchFamily="18" charset="0"/>
                                  <a:ea typeface="思源黑体 CN Bold" panose="020B0800000000000000" pitchFamily="34" charset="-122"/>
                                </a:rPr>
                              </m:ctrlPr>
                            </m:sSupPr>
                            <m:e>
                              <m:r>
                                <a:rPr lang="en-US" altLang="zh-CN" sz="1800" i="1">
                                  <a:latin typeface="Cambria Math" panose="02040503050406030204" pitchFamily="18" charset="0"/>
                                  <a:ea typeface="思源黑体 CN Bold" panose="020B0800000000000000" pitchFamily="34" charset="-122"/>
                                </a:rPr>
                                <m:t>𝑒</m:t>
                              </m:r>
                            </m:e>
                            <m:sup>
                              <m:r>
                                <a:rPr lang="en-US" altLang="zh-CN" sz="1800" b="0" i="1" smtClean="0">
                                  <a:latin typeface="Cambria Math" panose="02040503050406030204" pitchFamily="18" charset="0"/>
                                  <a:ea typeface="思源黑体 CN Bold" panose="020B0800000000000000" pitchFamily="34" charset="-122"/>
                                </a:rPr>
                                <m:t>−</m:t>
                              </m:r>
                              <m:r>
                                <a:rPr lang="en-US" altLang="zh-CN" sz="1800" i="1">
                                  <a:latin typeface="Cambria Math" panose="02040503050406030204" pitchFamily="18" charset="0"/>
                                  <a:ea typeface="思源黑体 CN Bold" panose="020B0800000000000000" pitchFamily="34" charset="-122"/>
                                </a:rPr>
                                <m:t>𝑎</m:t>
                              </m:r>
                            </m:sup>
                          </m:sSup>
                        </m:den>
                      </m:f>
                    </m:oMath>
                  </m:oMathPara>
                </a14:m>
                <a:endParaRPr lang="en-US" altLang="zh-CN" sz="1800" dirty="0">
                  <a:latin typeface="思源黑体 CN Bold" panose="020B0800000000000000" pitchFamily="34" charset="-122"/>
                  <a:ea typeface="思源黑体 CN Bold" panose="020B0800000000000000" pitchFamily="34" charset="-122"/>
                </a:endParaRPr>
              </a:p>
              <a:p>
                <a:pPr marL="342900" indent="-342900">
                  <a:lnSpc>
                    <a:spcPct val="150000"/>
                  </a:lnSpc>
                  <a:buFont typeface="+mj-lt"/>
                  <a:buAutoNum type="arabicPeriod" startAt="2"/>
                </a:pPr>
                <a:r>
                  <a:rPr lang="en-US" altLang="zh-CN" sz="1800" dirty="0">
                    <a:latin typeface="思源黑体 CN Bold" panose="020B0800000000000000" pitchFamily="34" charset="-122"/>
                    <a:ea typeface="思源黑体 CN Bold" panose="020B0800000000000000" pitchFamily="34" charset="-122"/>
                  </a:rPr>
                  <a:t>[-1,1]</a:t>
                </a:r>
                <a:r>
                  <a:rPr lang="zh-CN" altLang="en-US" sz="1800" dirty="0">
                    <a:latin typeface="思源黑体 CN Bold" panose="020B0800000000000000" pitchFamily="34" charset="-122"/>
                    <a:ea typeface="思源黑体 CN Bold" panose="020B0800000000000000" pitchFamily="34" charset="-122"/>
                  </a:rPr>
                  <a:t>输出对于神经网络更方便</a:t>
                </a:r>
                <a:endParaRPr lang="en-US" altLang="zh-CN" sz="1800" dirty="0">
                  <a:latin typeface="思源黑体 CN Bold" panose="020B0800000000000000" pitchFamily="34" charset="-122"/>
                  <a:ea typeface="思源黑体 CN Bold" panose="020B0800000000000000" pitchFamily="34" charset="-122"/>
                </a:endParaRPr>
              </a:p>
            </p:txBody>
          </p:sp>
        </mc:Choice>
        <mc:Fallback xmlns="">
          <p:sp>
            <p:nvSpPr>
              <p:cNvPr id="3" name="内容占位符 2">
                <a:extLst>
                  <a:ext uri="{FF2B5EF4-FFF2-40B4-BE49-F238E27FC236}">
                    <a16:creationId xmlns:a16="http://schemas.microsoft.com/office/drawing/2014/main" id="{7EEEC64B-E976-4035-A04D-3686D86D7852}"/>
                  </a:ext>
                </a:extLst>
              </p:cNvPr>
              <p:cNvSpPr>
                <a:spLocks noGrp="1" noRot="1" noChangeAspect="1" noMove="1" noResize="1" noEditPoints="1" noAdjustHandles="1" noChangeArrowheads="1" noChangeShapeType="1" noTextEdit="1"/>
              </p:cNvSpPr>
              <p:nvPr>
                <p:ph idx="4294967295"/>
              </p:nvPr>
            </p:nvSpPr>
            <p:spPr>
              <a:xfrm>
                <a:off x="717089" y="1198607"/>
                <a:ext cx="10757822" cy="4351338"/>
              </a:xfrm>
              <a:blipFill>
                <a:blip r:embed="rId2"/>
                <a:stretch>
                  <a:fillRect l="-794" t="-1262"/>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F7D86D2F-2362-4937-97EC-E7FF81E706EC}"/>
              </a:ext>
            </a:extLst>
          </p:cNvPr>
          <p:cNvPicPr>
            <a:picLocks noChangeAspect="1"/>
          </p:cNvPicPr>
          <p:nvPr/>
        </p:nvPicPr>
        <p:blipFill>
          <a:blip r:embed="rId3"/>
          <a:stretch>
            <a:fillRect/>
          </a:stretch>
        </p:blipFill>
        <p:spPr>
          <a:xfrm>
            <a:off x="4230062" y="3104995"/>
            <a:ext cx="5349103" cy="2111632"/>
          </a:xfrm>
          <a:prstGeom prst="rect">
            <a:avLst/>
          </a:prstGeom>
        </p:spPr>
      </p:pic>
      <p:sp>
        <p:nvSpPr>
          <p:cNvPr id="6" name="矩形 5">
            <a:extLst>
              <a:ext uri="{FF2B5EF4-FFF2-40B4-BE49-F238E27FC236}">
                <a16:creationId xmlns:a16="http://schemas.microsoft.com/office/drawing/2014/main" id="{2A17EB42-8333-4C77-BB75-4CA8174D201E}"/>
              </a:ext>
            </a:extLst>
          </p:cNvPr>
          <p:cNvSpPr/>
          <p:nvPr/>
        </p:nvSpPr>
        <p:spPr>
          <a:xfrm>
            <a:off x="5766185" y="5315550"/>
            <a:ext cx="2449710" cy="369332"/>
          </a:xfrm>
          <a:prstGeom prst="rect">
            <a:avLst/>
          </a:prstGeom>
        </p:spPr>
        <p:txBody>
          <a:bodyPr wrap="none">
            <a:spAutoFit/>
          </a:bodyPr>
          <a:lstStyle/>
          <a:p>
            <a:r>
              <a:rPr lang="en-US" altLang="zh-CN" dirty="0">
                <a:latin typeface="思源黑体 CN Bold" panose="020B0800000000000000" pitchFamily="34" charset="-122"/>
                <a:ea typeface="思源黑体 CN Bold" panose="020B0800000000000000" pitchFamily="34" charset="-122"/>
              </a:rPr>
              <a:t>sigmoid </a:t>
            </a:r>
            <a:r>
              <a:rPr lang="zh-CN" altLang="en-US" dirty="0">
                <a:latin typeface="思源黑体 CN Bold" panose="020B0800000000000000" pitchFamily="34" charset="-122"/>
                <a:ea typeface="思源黑体 CN Bold" panose="020B0800000000000000" pitchFamily="34" charset="-122"/>
              </a:rPr>
              <a:t>和 </a:t>
            </a:r>
            <a:r>
              <a:rPr lang="en-US" altLang="zh-CN" dirty="0">
                <a:latin typeface="思源黑体 CN Bold" panose="020B0800000000000000" pitchFamily="34" charset="-122"/>
                <a:ea typeface="思源黑体 CN Bold" panose="020B0800000000000000" pitchFamily="34" charset="-122"/>
              </a:rPr>
              <a:t>tanh</a:t>
            </a:r>
            <a:r>
              <a:rPr lang="zh-CN" altLang="en-US" dirty="0">
                <a:latin typeface="思源黑体 CN Bold" panose="020B0800000000000000" pitchFamily="34" charset="-122"/>
                <a:ea typeface="思源黑体 CN Bold" panose="020B0800000000000000" pitchFamily="34" charset="-122"/>
              </a:rPr>
              <a:t>对比</a:t>
            </a:r>
            <a:endParaRPr lang="zh-CN" altLang="en-US" dirty="0"/>
          </a:p>
        </p:txBody>
      </p:sp>
    </p:spTree>
    <p:extLst>
      <p:ext uri="{BB962C8B-B14F-4D97-AF65-F5344CB8AC3E}">
        <p14:creationId xmlns:p14="http://schemas.microsoft.com/office/powerpoint/2010/main" val="19377645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E08726-068C-4F40-A65E-B5EE8CD22EE1}"/>
              </a:ext>
            </a:extLst>
          </p:cNvPr>
          <p:cNvSpPr>
            <a:spLocks noGrp="1"/>
          </p:cNvSpPr>
          <p:nvPr>
            <p:ph type="title" idx="4294967295"/>
          </p:nvPr>
        </p:nvSpPr>
        <p:spPr>
          <a:xfrm>
            <a:off x="300010" y="182246"/>
            <a:ext cx="7893014" cy="434322"/>
          </a:xfrm>
        </p:spPr>
        <p:txBody>
          <a:bodyPr>
            <a:normAutofit fontScale="90000"/>
          </a:bodyPr>
          <a:lstStyle/>
          <a:p>
            <a:r>
              <a:rPr lang="en-US" altLang="zh-CN" sz="4000" dirty="0">
                <a:latin typeface="思源黑体 CN Bold" panose="020B0800000000000000" pitchFamily="34" charset="-122"/>
                <a:ea typeface="思源黑体 CN Bold" panose="020B0800000000000000" pitchFamily="34" charset="-122"/>
              </a:rPr>
              <a:t>2 </a:t>
            </a:r>
            <a:r>
              <a:rPr lang="zh-CN" altLang="en-US" sz="4000" dirty="0">
                <a:latin typeface="思源黑体 CN Bold" panose="020B0800000000000000" pitchFamily="34" charset="-122"/>
                <a:ea typeface="思源黑体 CN Bold" panose="020B0800000000000000" pitchFamily="34" charset="-122"/>
              </a:rPr>
              <a:t>前馈神经网络函数：</a:t>
            </a:r>
            <a:r>
              <a:rPr lang="zh-CN" altLang="en-US" sz="2800" dirty="0">
                <a:latin typeface="思源黑体 CN Bold" panose="020B0800000000000000" pitchFamily="34" charset="-122"/>
                <a:ea typeface="思源黑体 CN Bold" panose="020B0800000000000000" pitchFamily="34" charset="-122"/>
              </a:rPr>
              <a:t>激活函数</a:t>
            </a:r>
            <a:endParaRPr lang="zh-CN" altLang="en-US" sz="4000"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7EEEC64B-E976-4035-A04D-3686D86D7852}"/>
                  </a:ext>
                </a:extLst>
              </p:cNvPr>
              <p:cNvSpPr>
                <a:spLocks noGrp="1"/>
              </p:cNvSpPr>
              <p:nvPr>
                <p:ph idx="4294967295"/>
              </p:nvPr>
            </p:nvSpPr>
            <p:spPr>
              <a:xfrm>
                <a:off x="838200" y="1253331"/>
                <a:ext cx="10757822" cy="4351338"/>
              </a:xfrm>
            </p:spPr>
            <p:txBody>
              <a:bodyPr>
                <a:normAutofit/>
              </a:bodyPr>
              <a:lstStyle/>
              <a:p>
                <a:pPr marL="342900" indent="-342900">
                  <a:lnSpc>
                    <a:spcPct val="150000"/>
                  </a:lnSpc>
                  <a:buFont typeface="+mj-lt"/>
                  <a:buAutoNum type="arabicPeriod"/>
                </a:pPr>
                <a:r>
                  <a:rPr lang="zh-CN" altLang="en-US" sz="1800" dirty="0">
                    <a:latin typeface="思源黑体 CN Bold" panose="020B0800000000000000" pitchFamily="34" charset="-122"/>
                    <a:ea typeface="思源黑体 CN Bold" panose="020B0800000000000000" pitchFamily="34" charset="-122"/>
                  </a:rPr>
                  <a:t>激活函数</a:t>
                </a:r>
                <a14:m>
                  <m:oMath xmlns:m="http://schemas.openxmlformats.org/officeDocument/2006/math">
                    <m:r>
                      <m:rPr>
                        <m:sty m:val="p"/>
                      </m:rPr>
                      <a:rPr lang="en-US" altLang="zh-CN" sz="1800" dirty="0">
                        <a:latin typeface="Cambria Math" panose="02040503050406030204" pitchFamily="18" charset="0"/>
                        <a:ea typeface="思源黑体 CN Bold" panose="020B0800000000000000" pitchFamily="34" charset="-122"/>
                      </a:rPr>
                      <m:t>ReLU</m:t>
                    </m:r>
                  </m:oMath>
                </a14:m>
                <a:r>
                  <a:rPr lang="zh-CN" altLang="en-US" sz="1800" dirty="0">
                    <a:latin typeface="思源黑体 CN Bold" panose="020B0800000000000000" pitchFamily="34" charset="-122"/>
                    <a:ea typeface="思源黑体 CN Bold" panose="020B0800000000000000" pitchFamily="34" charset="-122"/>
                  </a:rPr>
                  <a:t>函数是</a:t>
                </a:r>
                <a:r>
                  <a:rPr lang="fr-FR" altLang="zh-CN" sz="1800" dirty="0">
                    <a:latin typeface="思源黑体 CN Bold" panose="020B0800000000000000" pitchFamily="34" charset="-122"/>
                    <a:ea typeface="思源黑体 CN Bold" panose="020B0800000000000000" pitchFamily="34" charset="-122"/>
                  </a:rPr>
                  <a:t>Rectifie</a:t>
                </a:r>
                <a:r>
                  <a:rPr lang="en-US" altLang="zh-CN" sz="1800" dirty="0">
                    <a:latin typeface="思源黑体 CN Bold" panose="020B0800000000000000" pitchFamily="34" charset="-122"/>
                    <a:ea typeface="思源黑体 CN Bold" panose="020B0800000000000000" pitchFamily="34" charset="-122"/>
                  </a:rPr>
                  <a:t>d</a:t>
                </a:r>
                <a:r>
                  <a:rPr lang="fr-FR" altLang="zh-CN" sz="1800" dirty="0">
                    <a:latin typeface="思源黑体 CN Bold" panose="020B0800000000000000" pitchFamily="34" charset="-122"/>
                    <a:ea typeface="思源黑体 CN Bold" panose="020B0800000000000000" pitchFamily="34" charset="-122"/>
                  </a:rPr>
                  <a:t> Linear Unit</a:t>
                </a:r>
                <a:endParaRPr lang="en-US" altLang="zh-CN" sz="1800" dirty="0">
                  <a:latin typeface="思源黑体 CN Bold" panose="020B0800000000000000" pitchFamily="34" charset="-122"/>
                  <a:ea typeface="思源黑体 CN Bold" panose="020B0800000000000000" pitchFamily="34" charset="-122"/>
                </a:endParaRPr>
              </a:p>
              <a:p>
                <a:pPr marL="0" indent="0">
                  <a:lnSpc>
                    <a:spcPct val="150000"/>
                  </a:lnSpc>
                  <a:buNone/>
                </a:pPr>
                <a14:m>
                  <m:oMathPara xmlns:m="http://schemas.openxmlformats.org/officeDocument/2006/math">
                    <m:oMathParaPr>
                      <m:jc m:val="centerGroup"/>
                    </m:oMathParaPr>
                    <m:oMath xmlns:m="http://schemas.openxmlformats.org/officeDocument/2006/math">
                      <m:r>
                        <a:rPr lang="en-US" altLang="zh-CN" sz="1800" b="0" i="1" smtClean="0">
                          <a:latin typeface="Cambria Math" panose="02040503050406030204" pitchFamily="18" charset="0"/>
                          <a:ea typeface="思源黑体 CN Bold" panose="020B0800000000000000" pitchFamily="34" charset="-122"/>
                        </a:rPr>
                        <m:t>𝑅𝑒𝐿𝑈</m:t>
                      </m:r>
                      <m:d>
                        <m:dPr>
                          <m:ctrlPr>
                            <a:rPr lang="en-US" altLang="zh-CN" sz="1800" i="1" smtClean="0">
                              <a:latin typeface="Cambria Math" panose="02040503050406030204" pitchFamily="18" charset="0"/>
                              <a:ea typeface="思源黑体 CN Bold" panose="020B0800000000000000" pitchFamily="34" charset="-122"/>
                            </a:rPr>
                          </m:ctrlPr>
                        </m:dPr>
                        <m:e>
                          <m:r>
                            <a:rPr lang="en-US" altLang="zh-CN" sz="1800" b="0" i="1" smtClean="0">
                              <a:latin typeface="Cambria Math" panose="02040503050406030204" pitchFamily="18" charset="0"/>
                              <a:ea typeface="思源黑体 CN Bold" panose="020B0800000000000000" pitchFamily="34" charset="-122"/>
                            </a:rPr>
                            <m:t>𝑎</m:t>
                          </m:r>
                        </m:e>
                      </m:d>
                      <m:r>
                        <a:rPr lang="en-US" altLang="zh-CN" sz="1800" i="1">
                          <a:latin typeface="Cambria Math" panose="02040503050406030204" pitchFamily="18" charset="0"/>
                          <a:ea typeface="思源黑体 CN Bold" panose="020B0800000000000000" pitchFamily="34" charset="-122"/>
                        </a:rPr>
                        <m:t>=</m:t>
                      </m:r>
                      <m:r>
                        <a:rPr lang="en-US" altLang="zh-CN" sz="1800" b="0" i="1" smtClean="0">
                          <a:latin typeface="Cambria Math" panose="02040503050406030204" pitchFamily="18" charset="0"/>
                          <a:ea typeface="思源黑体 CN Bold" panose="020B0800000000000000" pitchFamily="34" charset="-122"/>
                        </a:rPr>
                        <m:t>𝑚𝑎𝑥</m:t>
                      </m:r>
                      <m:d>
                        <m:dPr>
                          <m:ctrlPr>
                            <a:rPr lang="en-US" altLang="zh-CN" sz="1800" i="1">
                              <a:latin typeface="Cambria Math" panose="02040503050406030204" pitchFamily="18" charset="0"/>
                              <a:ea typeface="思源黑体 CN Bold" panose="020B0800000000000000" pitchFamily="34" charset="-122"/>
                            </a:rPr>
                          </m:ctrlPr>
                        </m:dPr>
                        <m:e>
                          <m:r>
                            <a:rPr lang="en-US" altLang="zh-CN" sz="1800" b="0" i="1" smtClean="0">
                              <a:latin typeface="Cambria Math" panose="02040503050406030204" pitchFamily="18" charset="0"/>
                              <a:ea typeface="思源黑体 CN Bold" panose="020B0800000000000000" pitchFamily="34" charset="-122"/>
                            </a:rPr>
                            <m:t>0, </m:t>
                          </m:r>
                          <m:r>
                            <a:rPr lang="en-US" altLang="zh-CN" sz="1800" i="1">
                              <a:latin typeface="Cambria Math" panose="02040503050406030204" pitchFamily="18" charset="0"/>
                              <a:ea typeface="思源黑体 CN Bold" panose="020B0800000000000000" pitchFamily="34" charset="-122"/>
                            </a:rPr>
                            <m:t>𝑎</m:t>
                          </m:r>
                        </m:e>
                      </m:d>
                    </m:oMath>
                  </m:oMathPara>
                </a14:m>
                <a:endParaRPr lang="en-US" altLang="zh-CN" sz="1800" dirty="0">
                  <a:latin typeface="思源黑体 CN Bold" panose="020B0800000000000000" pitchFamily="34" charset="-122"/>
                  <a:ea typeface="思源黑体 CN Bold" panose="020B0800000000000000" pitchFamily="34" charset="-122"/>
                </a:endParaRPr>
              </a:p>
              <a:p>
                <a:pPr marL="342900" indent="-342900">
                  <a:lnSpc>
                    <a:spcPct val="150000"/>
                  </a:lnSpc>
                  <a:buFont typeface="+mj-lt"/>
                  <a:buAutoNum type="arabicPeriod" startAt="2"/>
                </a:pPr>
                <a:r>
                  <a:rPr lang="en-US" altLang="zh-CN" sz="1800" dirty="0" err="1">
                    <a:latin typeface="思源黑体 CN Bold" panose="020B0800000000000000" pitchFamily="34" charset="-122"/>
                    <a:ea typeface="思源黑体 CN Bold" panose="020B0800000000000000" pitchFamily="34" charset="-122"/>
                  </a:rPr>
                  <a:t>ReLU</a:t>
                </a:r>
                <a:r>
                  <a:rPr lang="zh-CN" altLang="en-US" sz="1800" dirty="0">
                    <a:latin typeface="思源黑体 CN Bold" panose="020B0800000000000000" pitchFamily="34" charset="-122"/>
                    <a:ea typeface="思源黑体 CN Bold" panose="020B0800000000000000" pitchFamily="34" charset="-122"/>
                  </a:rPr>
                  <a:t>及其各种扩展在深度神经网络中普遍使用</a:t>
                </a:r>
                <a:endParaRPr lang="en-US" altLang="zh-CN" sz="1800" dirty="0">
                  <a:latin typeface="思源黑体 CN Bold" panose="020B0800000000000000" pitchFamily="34" charset="-122"/>
                  <a:ea typeface="思源黑体 CN Bold" panose="020B0800000000000000" pitchFamily="34" charset="-122"/>
                </a:endParaRPr>
              </a:p>
              <a:p>
                <a:pPr marL="342900" indent="-342900">
                  <a:lnSpc>
                    <a:spcPct val="150000"/>
                  </a:lnSpc>
                  <a:buFont typeface="+mj-lt"/>
                  <a:buAutoNum type="arabicPeriod" startAt="2"/>
                </a:pPr>
                <a:r>
                  <a:rPr lang="zh-CN" altLang="en-US" sz="1800" dirty="0">
                    <a:latin typeface="思源黑体 CN Bold" panose="020B0800000000000000" pitchFamily="34" charset="-122"/>
                    <a:ea typeface="思源黑体 CN Bold" panose="020B0800000000000000" pitchFamily="34" charset="-122"/>
                  </a:rPr>
                  <a:t>没有</a:t>
                </a:r>
                <a:r>
                  <a:rPr lang="en-US" altLang="zh-CN" sz="1800" dirty="0">
                    <a:latin typeface="思源黑体 CN Bold" panose="020B0800000000000000" pitchFamily="34" charset="-122"/>
                    <a:ea typeface="思源黑体 CN Bold" panose="020B0800000000000000" pitchFamily="34" charset="-122"/>
                  </a:rPr>
                  <a:t>sigmoid</a:t>
                </a:r>
                <a:r>
                  <a:rPr lang="zh-CN" altLang="en-US" sz="1800" dirty="0">
                    <a:latin typeface="思源黑体 CN Bold" panose="020B0800000000000000" pitchFamily="34" charset="-122"/>
                    <a:ea typeface="思源黑体 CN Bold" panose="020B0800000000000000" pitchFamily="34" charset="-122"/>
                  </a:rPr>
                  <a:t>和</a:t>
                </a:r>
                <a:r>
                  <a:rPr lang="en-US" altLang="zh-CN" sz="1800" dirty="0">
                    <a:latin typeface="思源黑体 CN Bold" panose="020B0800000000000000" pitchFamily="34" charset="-122"/>
                    <a:ea typeface="思源黑体 CN Bold" panose="020B0800000000000000" pitchFamily="34" charset="-122"/>
                  </a:rPr>
                  <a:t>tanh</a:t>
                </a:r>
                <a:r>
                  <a:rPr lang="zh-CN" altLang="en-US" sz="1800" dirty="0">
                    <a:latin typeface="思源黑体 CN Bold" panose="020B0800000000000000" pitchFamily="34" charset="-122"/>
                    <a:ea typeface="思源黑体 CN Bold" panose="020B0800000000000000" pitchFamily="34" charset="-122"/>
                  </a:rPr>
                  <a:t>的梯度消失问题，可支持更深的网络</a:t>
                </a:r>
                <a:endParaRPr lang="en-US" altLang="zh-CN" sz="1800" dirty="0">
                  <a:latin typeface="思源黑体 CN Bold" panose="020B0800000000000000" pitchFamily="34" charset="-122"/>
                  <a:ea typeface="思源黑体 CN Bold" panose="020B0800000000000000" pitchFamily="34" charset="-122"/>
                </a:endParaRPr>
              </a:p>
              <a:p>
                <a:pPr marL="342900" indent="-342900">
                  <a:lnSpc>
                    <a:spcPct val="150000"/>
                  </a:lnSpc>
                  <a:buFont typeface="+mj-lt"/>
                  <a:buAutoNum type="arabicPeriod" startAt="2"/>
                </a:pPr>
                <a:r>
                  <a:rPr lang="en-US" altLang="zh-CN" sz="1800" dirty="0" err="1">
                    <a:latin typeface="思源黑体 CN Bold" panose="020B0800000000000000" pitchFamily="34" charset="-122"/>
                    <a:ea typeface="思源黑体 CN Bold" panose="020B0800000000000000" pitchFamily="34" charset="-122"/>
                  </a:rPr>
                  <a:t>ReLU</a:t>
                </a:r>
                <a:r>
                  <a:rPr lang="zh-CN" altLang="en-US" sz="1800" dirty="0">
                    <a:latin typeface="思源黑体 CN Bold" panose="020B0800000000000000" pitchFamily="34" charset="-122"/>
                    <a:ea typeface="思源黑体 CN Bold" panose="020B0800000000000000" pitchFamily="34" charset="-122"/>
                  </a:rPr>
                  <a:t>的平滑逼近版本是</a:t>
                </a:r>
                <a:r>
                  <a:rPr lang="en-US" altLang="zh-CN" sz="1800" dirty="0" err="1">
                    <a:latin typeface="思源黑体 CN Bold" panose="020B0800000000000000" pitchFamily="34" charset="-122"/>
                    <a:ea typeface="思源黑体 CN Bold" panose="020B0800000000000000" pitchFamily="34" charset="-122"/>
                  </a:rPr>
                  <a:t>softplus</a:t>
                </a:r>
                <a:endParaRPr lang="en-US" altLang="zh-CN" sz="1800" dirty="0">
                  <a:latin typeface="思源黑体 CN Bold" panose="020B0800000000000000" pitchFamily="34" charset="-122"/>
                  <a:ea typeface="思源黑体 CN Bold" panose="020B0800000000000000" pitchFamily="34" charset="-122"/>
                </a:endParaRPr>
              </a:p>
              <a:p>
                <a:pPr marL="0" indent="0">
                  <a:lnSpc>
                    <a:spcPct val="150000"/>
                  </a:lnSpc>
                  <a:buNone/>
                </a:pPr>
                <a14:m>
                  <m:oMathPara xmlns:m="http://schemas.openxmlformats.org/officeDocument/2006/math">
                    <m:oMathParaPr>
                      <m:jc m:val="centerGroup"/>
                    </m:oMathParaPr>
                    <m:oMath xmlns:m="http://schemas.openxmlformats.org/officeDocument/2006/math">
                      <m:r>
                        <a:rPr lang="en-US" altLang="zh-CN" sz="1800" i="1">
                          <a:latin typeface="Cambria Math" panose="02040503050406030204" pitchFamily="18" charset="0"/>
                          <a:ea typeface="思源黑体 CN Bold" panose="020B0800000000000000" pitchFamily="34" charset="-122"/>
                        </a:rPr>
                        <m:t>𝑡𝑎𝑛</m:t>
                      </m:r>
                      <m:r>
                        <m:rPr>
                          <m:sty m:val="p"/>
                        </m:rPr>
                        <a:rPr lang="en-US" altLang="zh-CN" sz="1800" i="1">
                          <a:latin typeface="Cambria Math" panose="02040503050406030204" pitchFamily="18" charset="0"/>
                          <a:ea typeface="思源黑体 CN Bold" panose="020B0800000000000000" pitchFamily="34" charset="-122"/>
                        </a:rPr>
                        <m:t>h</m:t>
                      </m:r>
                      <m:d>
                        <m:dPr>
                          <m:ctrlPr>
                            <a:rPr lang="en-US" altLang="zh-CN" sz="1800" i="1">
                              <a:latin typeface="Cambria Math" panose="02040503050406030204" pitchFamily="18" charset="0"/>
                              <a:ea typeface="思源黑体 CN Bold" panose="020B0800000000000000" pitchFamily="34" charset="-122"/>
                            </a:rPr>
                          </m:ctrlPr>
                        </m:dPr>
                        <m:e>
                          <m:r>
                            <a:rPr lang="en-US" altLang="zh-CN" sz="1800" i="1">
                              <a:latin typeface="Cambria Math" panose="02040503050406030204" pitchFamily="18" charset="0"/>
                              <a:ea typeface="思源黑体 CN Bold" panose="020B0800000000000000" pitchFamily="34" charset="-122"/>
                            </a:rPr>
                            <m:t>𝑎</m:t>
                          </m:r>
                        </m:e>
                      </m:d>
                      <m:r>
                        <a:rPr lang="en-US" altLang="zh-CN" sz="1800" i="1">
                          <a:latin typeface="Cambria Math" panose="02040503050406030204" pitchFamily="18" charset="0"/>
                          <a:ea typeface="思源黑体 CN Bold" panose="020B0800000000000000" pitchFamily="34" charset="-122"/>
                        </a:rPr>
                        <m:t>=</m:t>
                      </m:r>
                      <m:r>
                        <m:rPr>
                          <m:sty m:val="p"/>
                        </m:rPr>
                        <a:rPr lang="en-US" altLang="zh-CN" sz="1800" b="0" i="0" smtClean="0">
                          <a:latin typeface="Cambria Math" panose="02040503050406030204" pitchFamily="18" charset="0"/>
                          <a:ea typeface="思源黑体 CN Bold" panose="020B0800000000000000" pitchFamily="34" charset="-122"/>
                        </a:rPr>
                        <m:t>ln</m:t>
                      </m:r>
                      <m:d>
                        <m:dPr>
                          <m:ctrlPr>
                            <a:rPr lang="en-US" altLang="zh-CN" sz="1800" i="1">
                              <a:latin typeface="Cambria Math" panose="02040503050406030204" pitchFamily="18" charset="0"/>
                              <a:ea typeface="思源黑体 CN Bold" panose="020B0800000000000000" pitchFamily="34" charset="-122"/>
                            </a:rPr>
                          </m:ctrlPr>
                        </m:dPr>
                        <m:e>
                          <m:r>
                            <a:rPr lang="en-US" altLang="zh-CN" sz="1800" i="1">
                              <a:latin typeface="Cambria Math" panose="02040503050406030204" pitchFamily="18" charset="0"/>
                              <a:ea typeface="思源黑体 CN Bold" panose="020B0800000000000000" pitchFamily="34" charset="-122"/>
                            </a:rPr>
                            <m:t>1</m:t>
                          </m:r>
                          <m:r>
                            <a:rPr lang="en-US" altLang="zh-CN" sz="1800" b="0" i="1" smtClean="0">
                              <a:latin typeface="Cambria Math" panose="02040503050406030204" pitchFamily="18" charset="0"/>
                              <a:ea typeface="思源黑体 CN Bold" panose="020B0800000000000000" pitchFamily="34" charset="-122"/>
                            </a:rPr>
                            <m:t>+</m:t>
                          </m:r>
                          <m:sSup>
                            <m:sSupPr>
                              <m:ctrlPr>
                                <a:rPr lang="en-US" altLang="zh-CN" sz="1800" i="1">
                                  <a:latin typeface="Cambria Math" panose="02040503050406030204" pitchFamily="18" charset="0"/>
                                  <a:ea typeface="思源黑体 CN Bold" panose="020B0800000000000000" pitchFamily="34" charset="-122"/>
                                </a:rPr>
                              </m:ctrlPr>
                            </m:sSupPr>
                            <m:e>
                              <m:r>
                                <a:rPr lang="en-US" altLang="zh-CN" sz="1800" i="1">
                                  <a:latin typeface="Cambria Math" panose="02040503050406030204" pitchFamily="18" charset="0"/>
                                  <a:ea typeface="思源黑体 CN Bold" panose="020B0800000000000000" pitchFamily="34" charset="-122"/>
                                </a:rPr>
                                <m:t>𝑒</m:t>
                              </m:r>
                            </m:e>
                            <m:sup>
                              <m:r>
                                <a:rPr lang="en-US" altLang="zh-CN" sz="1800" i="1">
                                  <a:latin typeface="Cambria Math" panose="02040503050406030204" pitchFamily="18" charset="0"/>
                                  <a:ea typeface="思源黑体 CN Bold" panose="020B0800000000000000" pitchFamily="34" charset="-122"/>
                                </a:rPr>
                                <m:t>𝑎</m:t>
                              </m:r>
                            </m:sup>
                          </m:sSup>
                        </m:e>
                      </m:d>
                      <m:r>
                        <a:rPr lang="en-US" altLang="zh-CN" sz="1800" b="0" i="1" smtClean="0">
                          <a:latin typeface="Cambria Math" panose="02040503050406030204" pitchFamily="18" charset="0"/>
                          <a:ea typeface="思源黑体 CN Bold" panose="020B0800000000000000" pitchFamily="34" charset="-122"/>
                        </a:rPr>
                        <m:t>, </m:t>
                      </m:r>
                      <m:sSup>
                        <m:sSupPr>
                          <m:ctrlPr>
                            <a:rPr lang="en-US" altLang="zh-CN" sz="1800" b="0" i="1" smtClean="0">
                              <a:latin typeface="Cambria Math" panose="02040503050406030204" pitchFamily="18" charset="0"/>
                              <a:ea typeface="思源黑体 CN Bold" panose="020B0800000000000000" pitchFamily="34" charset="-122"/>
                            </a:rPr>
                          </m:ctrlPr>
                        </m:sSupPr>
                        <m:e>
                          <m:r>
                            <a:rPr lang="en-US" altLang="zh-CN" sz="1800" i="1">
                              <a:latin typeface="Cambria Math" panose="02040503050406030204" pitchFamily="18" charset="0"/>
                              <a:ea typeface="思源黑体 CN Bold" panose="020B0800000000000000" pitchFamily="34" charset="-122"/>
                            </a:rPr>
                            <m:t>𝑡𝑎𝑛</m:t>
                          </m:r>
                          <m:r>
                            <m:rPr>
                              <m:sty m:val="p"/>
                            </m:rPr>
                            <a:rPr lang="en-US" altLang="zh-CN" sz="1800" i="1">
                              <a:latin typeface="Cambria Math" panose="02040503050406030204" pitchFamily="18" charset="0"/>
                              <a:ea typeface="思源黑体 CN Bold" panose="020B0800000000000000" pitchFamily="34" charset="-122"/>
                            </a:rPr>
                            <m:t>h</m:t>
                          </m:r>
                          <m:d>
                            <m:dPr>
                              <m:ctrlPr>
                                <a:rPr lang="en-US" altLang="zh-CN" sz="1800" i="1">
                                  <a:latin typeface="Cambria Math" panose="02040503050406030204" pitchFamily="18" charset="0"/>
                                  <a:ea typeface="思源黑体 CN Bold" panose="020B0800000000000000" pitchFamily="34" charset="-122"/>
                                </a:rPr>
                              </m:ctrlPr>
                            </m:dPr>
                            <m:e>
                              <m:r>
                                <a:rPr lang="en-US" altLang="zh-CN" sz="1800" i="1">
                                  <a:latin typeface="Cambria Math" panose="02040503050406030204" pitchFamily="18" charset="0"/>
                                  <a:ea typeface="思源黑体 CN Bold" panose="020B0800000000000000" pitchFamily="34" charset="-122"/>
                                </a:rPr>
                                <m:t>𝑎</m:t>
                              </m:r>
                            </m:e>
                          </m:d>
                        </m:e>
                        <m:sup>
                          <m:r>
                            <a:rPr lang="en-US" altLang="zh-CN" sz="1800" b="0" i="1" smtClean="0">
                              <a:latin typeface="Cambria Math" panose="02040503050406030204" pitchFamily="18" charset="0"/>
                              <a:ea typeface="思源黑体 CN Bold" panose="020B0800000000000000" pitchFamily="34" charset="-122"/>
                            </a:rPr>
                            <m:t>′</m:t>
                          </m:r>
                        </m:sup>
                      </m:sSup>
                      <m:r>
                        <a:rPr lang="en-US" altLang="zh-CN" sz="1800" i="1">
                          <a:latin typeface="Cambria Math" panose="02040503050406030204" pitchFamily="18" charset="0"/>
                          <a:ea typeface="思源黑体 CN Bold" panose="020B0800000000000000" pitchFamily="34" charset="-122"/>
                        </a:rPr>
                        <m:t>=</m:t>
                      </m:r>
                      <m:f>
                        <m:fPr>
                          <m:ctrlPr>
                            <a:rPr lang="en-US" altLang="zh-CN" sz="1800" i="1">
                              <a:latin typeface="Cambria Math" panose="02040503050406030204" pitchFamily="18" charset="0"/>
                              <a:ea typeface="思源黑体 CN Bold" panose="020B0800000000000000" pitchFamily="34" charset="-122"/>
                            </a:rPr>
                          </m:ctrlPr>
                        </m:fPr>
                        <m:num>
                          <m:r>
                            <a:rPr lang="en-US" altLang="zh-CN" sz="1800" b="0" i="1" smtClean="0">
                              <a:latin typeface="Cambria Math" panose="02040503050406030204" pitchFamily="18" charset="0"/>
                              <a:ea typeface="思源黑体 CN Bold" panose="020B0800000000000000" pitchFamily="34" charset="-122"/>
                            </a:rPr>
                            <m:t>1</m:t>
                          </m:r>
                        </m:num>
                        <m:den>
                          <m:r>
                            <a:rPr lang="en-US" altLang="zh-CN" sz="1800" b="0" i="1" smtClean="0">
                              <a:latin typeface="Cambria Math" panose="02040503050406030204" pitchFamily="18" charset="0"/>
                              <a:ea typeface="思源黑体 CN Bold" panose="020B0800000000000000" pitchFamily="34" charset="-122"/>
                            </a:rPr>
                            <m:t>1</m:t>
                          </m:r>
                          <m:r>
                            <a:rPr lang="en-US" altLang="zh-CN" sz="1800" i="1">
                              <a:latin typeface="Cambria Math" panose="02040503050406030204" pitchFamily="18" charset="0"/>
                              <a:ea typeface="思源黑体 CN Bold" panose="020B0800000000000000" pitchFamily="34" charset="-122"/>
                            </a:rPr>
                            <m:t>+</m:t>
                          </m:r>
                          <m:sSup>
                            <m:sSupPr>
                              <m:ctrlPr>
                                <a:rPr lang="en-US" altLang="zh-CN" sz="1800" i="1">
                                  <a:latin typeface="Cambria Math" panose="02040503050406030204" pitchFamily="18" charset="0"/>
                                  <a:ea typeface="思源黑体 CN Bold" panose="020B0800000000000000" pitchFamily="34" charset="-122"/>
                                </a:rPr>
                              </m:ctrlPr>
                            </m:sSupPr>
                            <m:e>
                              <m:r>
                                <a:rPr lang="en-US" altLang="zh-CN" sz="1800" i="1">
                                  <a:latin typeface="Cambria Math" panose="02040503050406030204" pitchFamily="18" charset="0"/>
                                  <a:ea typeface="思源黑体 CN Bold" panose="020B0800000000000000" pitchFamily="34" charset="-122"/>
                                </a:rPr>
                                <m:t>𝑒</m:t>
                              </m:r>
                            </m:e>
                            <m:sup>
                              <m:r>
                                <a:rPr lang="en-US" altLang="zh-CN" sz="1800" i="1">
                                  <a:latin typeface="Cambria Math" panose="02040503050406030204" pitchFamily="18" charset="0"/>
                                  <a:ea typeface="思源黑体 CN Bold" panose="020B0800000000000000" pitchFamily="34" charset="-122"/>
                                </a:rPr>
                                <m:t>−</m:t>
                              </m:r>
                              <m:r>
                                <a:rPr lang="en-US" altLang="zh-CN" sz="1800" i="1">
                                  <a:latin typeface="Cambria Math" panose="02040503050406030204" pitchFamily="18" charset="0"/>
                                  <a:ea typeface="思源黑体 CN Bold" panose="020B0800000000000000" pitchFamily="34" charset="-122"/>
                                </a:rPr>
                                <m:t>𝑎</m:t>
                              </m:r>
                            </m:sup>
                          </m:sSup>
                        </m:den>
                      </m:f>
                    </m:oMath>
                  </m:oMathPara>
                </a14:m>
                <a:endParaRPr lang="en-US" altLang="zh-CN" sz="1800" dirty="0">
                  <a:latin typeface="思源黑体 CN Bold" panose="020B0800000000000000" pitchFamily="34" charset="-122"/>
                  <a:ea typeface="思源黑体 CN Bold" panose="020B0800000000000000" pitchFamily="34" charset="-122"/>
                </a:endParaRPr>
              </a:p>
              <a:p>
                <a:pPr marL="342900" indent="-342900">
                  <a:lnSpc>
                    <a:spcPct val="150000"/>
                  </a:lnSpc>
                  <a:buFont typeface="+mj-lt"/>
                  <a:buAutoNum type="arabicPeriod" startAt="2"/>
                </a:pPr>
                <a:r>
                  <a:rPr lang="en-US" altLang="zh-CN" sz="1800" dirty="0" err="1">
                    <a:latin typeface="思源黑体 CN Bold" panose="020B0800000000000000" pitchFamily="34" charset="-122"/>
                    <a:ea typeface="思源黑体 CN Bold" panose="020B0800000000000000" pitchFamily="34" charset="-122"/>
                  </a:rPr>
                  <a:t>softplus</a:t>
                </a:r>
                <a:r>
                  <a:rPr lang="zh-CN" altLang="en-US" sz="1800" dirty="0">
                    <a:latin typeface="思源黑体 CN Bold" panose="020B0800000000000000" pitchFamily="34" charset="-122"/>
                    <a:ea typeface="思源黑体 CN Bold" panose="020B0800000000000000" pitchFamily="34" charset="-122"/>
                  </a:rPr>
                  <a:t>的一阶导数是</a:t>
                </a:r>
                <a:r>
                  <a:rPr lang="en-US" altLang="zh-CN" sz="1800" dirty="0">
                    <a:latin typeface="思源黑体 CN Bold" panose="020B0800000000000000" pitchFamily="34" charset="-122"/>
                    <a:ea typeface="思源黑体 CN Bold" panose="020B0800000000000000" pitchFamily="34" charset="-122"/>
                  </a:rPr>
                  <a:t>sigmoid</a:t>
                </a:r>
                <a:r>
                  <a:rPr lang="zh-CN" altLang="en-US" sz="1800" dirty="0">
                    <a:latin typeface="思源黑体 CN Bold" panose="020B0800000000000000" pitchFamily="34" charset="-122"/>
                    <a:ea typeface="思源黑体 CN Bold" panose="020B0800000000000000" pitchFamily="34" charset="-122"/>
                  </a:rPr>
                  <a:t>函数</a:t>
                </a:r>
                <a:endParaRPr lang="en-US" altLang="zh-CN" sz="1800" dirty="0">
                  <a:latin typeface="思源黑体 CN Bold" panose="020B0800000000000000" pitchFamily="34" charset="-122"/>
                  <a:ea typeface="思源黑体 CN Bold" panose="020B0800000000000000" pitchFamily="34" charset="-122"/>
                </a:endParaRPr>
              </a:p>
            </p:txBody>
          </p:sp>
        </mc:Choice>
        <mc:Fallback xmlns="">
          <p:sp>
            <p:nvSpPr>
              <p:cNvPr id="3" name="内容占位符 2">
                <a:extLst>
                  <a:ext uri="{FF2B5EF4-FFF2-40B4-BE49-F238E27FC236}">
                    <a16:creationId xmlns:a16="http://schemas.microsoft.com/office/drawing/2014/main" id="{7EEEC64B-E976-4035-A04D-3686D86D7852}"/>
                  </a:ext>
                </a:extLst>
              </p:cNvPr>
              <p:cNvSpPr>
                <a:spLocks noGrp="1" noRot="1" noChangeAspect="1" noMove="1" noResize="1" noEditPoints="1" noAdjustHandles="1" noChangeArrowheads="1" noChangeShapeType="1" noTextEdit="1"/>
              </p:cNvSpPr>
              <p:nvPr>
                <p:ph idx="4294967295"/>
              </p:nvPr>
            </p:nvSpPr>
            <p:spPr>
              <a:xfrm>
                <a:off x="838200" y="1253331"/>
                <a:ext cx="10757822" cy="4351338"/>
              </a:xfrm>
              <a:blipFill>
                <a:blip r:embed="rId2"/>
                <a:stretch>
                  <a:fillRect l="-794" t="-1262"/>
                </a:stretch>
              </a:blipFill>
            </p:spPr>
            <p:txBody>
              <a:bodyPr/>
              <a:lstStyle/>
              <a:p>
                <a:r>
                  <a:rPr lang="zh-CN" altLang="en-US">
                    <a:noFill/>
                  </a:rPr>
                  <a:t> </a:t>
                </a:r>
              </a:p>
            </p:txBody>
          </p:sp>
        </mc:Fallback>
      </mc:AlternateContent>
      <p:sp>
        <p:nvSpPr>
          <p:cNvPr id="6" name="矩形 5">
            <a:extLst>
              <a:ext uri="{FF2B5EF4-FFF2-40B4-BE49-F238E27FC236}">
                <a16:creationId xmlns:a16="http://schemas.microsoft.com/office/drawing/2014/main" id="{2A17EB42-8333-4C77-BB75-4CA8174D201E}"/>
              </a:ext>
            </a:extLst>
          </p:cNvPr>
          <p:cNvSpPr/>
          <p:nvPr/>
        </p:nvSpPr>
        <p:spPr>
          <a:xfrm>
            <a:off x="8846200" y="3833902"/>
            <a:ext cx="2504212" cy="369332"/>
          </a:xfrm>
          <a:prstGeom prst="rect">
            <a:avLst/>
          </a:prstGeom>
        </p:spPr>
        <p:txBody>
          <a:bodyPr wrap="none">
            <a:spAutoFit/>
          </a:bodyPr>
          <a:lstStyle/>
          <a:p>
            <a:r>
              <a:rPr lang="en-US" altLang="zh-CN" dirty="0" err="1">
                <a:latin typeface="思源黑体 CN Bold" panose="020B0800000000000000" pitchFamily="34" charset="-122"/>
                <a:ea typeface="思源黑体 CN Bold" panose="020B0800000000000000" pitchFamily="34" charset="-122"/>
              </a:rPr>
              <a:t>ReLU</a:t>
            </a:r>
            <a:r>
              <a:rPr lang="en-US" altLang="zh-CN" dirty="0">
                <a:latin typeface="思源黑体 CN Bold" panose="020B0800000000000000" pitchFamily="34" charset="-122"/>
                <a:ea typeface="思源黑体 CN Bold" panose="020B0800000000000000" pitchFamily="34" charset="-122"/>
              </a:rPr>
              <a:t> </a:t>
            </a:r>
            <a:r>
              <a:rPr lang="zh-CN" altLang="en-US" dirty="0">
                <a:latin typeface="思源黑体 CN Bold" panose="020B0800000000000000" pitchFamily="34" charset="-122"/>
                <a:ea typeface="思源黑体 CN Bold" panose="020B0800000000000000" pitchFamily="34" charset="-122"/>
              </a:rPr>
              <a:t>和 </a:t>
            </a:r>
            <a:r>
              <a:rPr lang="en-US" altLang="zh-CN" dirty="0" err="1">
                <a:latin typeface="思源黑体 CN Bold" panose="020B0800000000000000" pitchFamily="34" charset="-122"/>
                <a:ea typeface="思源黑体 CN Bold" panose="020B0800000000000000" pitchFamily="34" charset="-122"/>
              </a:rPr>
              <a:t>softplus</a:t>
            </a:r>
            <a:r>
              <a:rPr lang="zh-CN" altLang="en-US" dirty="0">
                <a:latin typeface="思源黑体 CN Bold" panose="020B0800000000000000" pitchFamily="34" charset="-122"/>
                <a:ea typeface="思源黑体 CN Bold" panose="020B0800000000000000" pitchFamily="34" charset="-122"/>
              </a:rPr>
              <a:t>对比</a:t>
            </a:r>
            <a:endParaRPr lang="zh-CN" altLang="en-US" dirty="0"/>
          </a:p>
        </p:txBody>
      </p:sp>
      <p:pic>
        <p:nvPicPr>
          <p:cNvPr id="4" name="图片 3">
            <a:extLst>
              <a:ext uri="{FF2B5EF4-FFF2-40B4-BE49-F238E27FC236}">
                <a16:creationId xmlns:a16="http://schemas.microsoft.com/office/drawing/2014/main" id="{50B39581-12CD-40CF-88BB-36CC552DE066}"/>
              </a:ext>
            </a:extLst>
          </p:cNvPr>
          <p:cNvPicPr>
            <a:picLocks noChangeAspect="1"/>
          </p:cNvPicPr>
          <p:nvPr/>
        </p:nvPicPr>
        <p:blipFill>
          <a:blip r:embed="rId3"/>
          <a:stretch>
            <a:fillRect/>
          </a:stretch>
        </p:blipFill>
        <p:spPr>
          <a:xfrm>
            <a:off x="8035482" y="791103"/>
            <a:ext cx="3989644" cy="3040353"/>
          </a:xfrm>
          <a:prstGeom prst="rect">
            <a:avLst/>
          </a:prstGeom>
        </p:spPr>
      </p:pic>
    </p:spTree>
    <p:extLst>
      <p:ext uri="{BB962C8B-B14F-4D97-AF65-F5344CB8AC3E}">
        <p14:creationId xmlns:p14="http://schemas.microsoft.com/office/powerpoint/2010/main" val="23085018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132676-026F-4FF0-8D8E-3EA5289B5CB3}"/>
              </a:ext>
            </a:extLst>
          </p:cNvPr>
          <p:cNvSpPr>
            <a:spLocks noGrp="1"/>
          </p:cNvSpPr>
          <p:nvPr>
            <p:ph type="title" idx="4294967295"/>
          </p:nvPr>
        </p:nvSpPr>
        <p:spPr>
          <a:xfrm>
            <a:off x="420189" y="166569"/>
            <a:ext cx="7804186" cy="559725"/>
          </a:xfrm>
        </p:spPr>
        <p:txBody>
          <a:bodyPr>
            <a:noAutofit/>
          </a:bodyPr>
          <a:lstStyle/>
          <a:p>
            <a:r>
              <a:rPr lang="en-US" altLang="zh-CN" sz="3600" dirty="0">
                <a:latin typeface="思源黑体 CN Bold" panose="020B0800000000000000" pitchFamily="34" charset="-122"/>
                <a:ea typeface="思源黑体 CN Bold" panose="020B0800000000000000" pitchFamily="34" charset="-122"/>
              </a:rPr>
              <a:t>2 </a:t>
            </a:r>
            <a:r>
              <a:rPr lang="zh-CN" altLang="en-US" sz="3600" dirty="0">
                <a:latin typeface="思源黑体 CN Bold" panose="020B0800000000000000" pitchFamily="34" charset="-122"/>
                <a:ea typeface="思源黑体 CN Bold" panose="020B0800000000000000" pitchFamily="34" charset="-122"/>
              </a:rPr>
              <a:t>前馈神经网络函数：</a:t>
            </a:r>
            <a:r>
              <a:rPr lang="zh-CN" altLang="en-US" sz="2800" dirty="0">
                <a:latin typeface="思源黑体 CN Bold" panose="020B0800000000000000" pitchFamily="34" charset="-122"/>
                <a:ea typeface="思源黑体 CN Bold" panose="020B0800000000000000" pitchFamily="34" charset="-122"/>
              </a:rPr>
              <a:t>输出层激活函数</a:t>
            </a:r>
            <a:endParaRPr lang="zh-CN" altLang="en-US" sz="3600" dirty="0"/>
          </a:p>
        </p:txBody>
      </p:sp>
      <p:sp>
        <p:nvSpPr>
          <p:cNvPr id="3" name="内容占位符 2">
            <a:extLst>
              <a:ext uri="{FF2B5EF4-FFF2-40B4-BE49-F238E27FC236}">
                <a16:creationId xmlns:a16="http://schemas.microsoft.com/office/drawing/2014/main" id="{C405B7A8-88CA-4587-9781-9E155100E50A}"/>
              </a:ext>
            </a:extLst>
          </p:cNvPr>
          <p:cNvSpPr>
            <a:spLocks noGrp="1"/>
          </p:cNvSpPr>
          <p:nvPr>
            <p:ph idx="4294967295"/>
          </p:nvPr>
        </p:nvSpPr>
        <p:spPr>
          <a:xfrm>
            <a:off x="796399" y="1115856"/>
            <a:ext cx="10515600" cy="1100953"/>
          </a:xfrm>
        </p:spPr>
        <p:txBody>
          <a:bodyPr>
            <a:normAutofit fontScale="85000" lnSpcReduction="20000"/>
          </a:bodyPr>
          <a:lstStyle/>
          <a:p>
            <a:pPr>
              <a:lnSpc>
                <a:spcPct val="150000"/>
              </a:lnSpc>
              <a:buFont typeface="Wingdings" panose="05000000000000000000" pitchFamily="2" charset="2"/>
              <a:buChar char="p"/>
            </a:pPr>
            <a:r>
              <a:rPr lang="en-US" altLang="zh-CN" dirty="0">
                <a:latin typeface="思源黑体 CN Bold" panose="020B0800000000000000" pitchFamily="34" charset="-122"/>
                <a:ea typeface="思源黑体 CN Bold" panose="020B0800000000000000" pitchFamily="34" charset="-122"/>
              </a:rPr>
              <a:t>Sigmoid</a:t>
            </a:r>
            <a:r>
              <a:rPr lang="zh-CN" altLang="en-US" dirty="0">
                <a:latin typeface="思源黑体 CN Bold" panose="020B0800000000000000" pitchFamily="34" charset="-122"/>
                <a:ea typeface="思源黑体 CN Bold" panose="020B0800000000000000" pitchFamily="34" charset="-122"/>
              </a:rPr>
              <a:t>、</a:t>
            </a:r>
            <a:r>
              <a:rPr lang="en-US" altLang="zh-CN" dirty="0" err="1">
                <a:latin typeface="思源黑体 CN Bold" panose="020B0800000000000000" pitchFamily="34" charset="-122"/>
                <a:ea typeface="思源黑体 CN Bold" panose="020B0800000000000000" pitchFamily="34" charset="-122"/>
              </a:rPr>
              <a:t>Softmax</a:t>
            </a:r>
            <a:r>
              <a:rPr lang="zh-CN" altLang="en-US" dirty="0">
                <a:latin typeface="思源黑体 CN Bold" panose="020B0800000000000000" pitchFamily="34" charset="-122"/>
                <a:ea typeface="思源黑体 CN Bold" panose="020B0800000000000000" pitchFamily="34" charset="-122"/>
              </a:rPr>
              <a:t>、恒等</a:t>
            </a:r>
            <a:endParaRPr lang="en-US" altLang="zh-CN" dirty="0">
              <a:latin typeface="思源黑体 CN Bold" panose="020B0800000000000000" pitchFamily="34" charset="-122"/>
              <a:ea typeface="思源黑体 CN Bold" panose="020B0800000000000000" pitchFamily="34" charset="-122"/>
            </a:endParaRPr>
          </a:p>
          <a:p>
            <a:pPr>
              <a:lnSpc>
                <a:spcPct val="150000"/>
              </a:lnSpc>
              <a:buFont typeface="Wingdings" panose="05000000000000000000" pitchFamily="2" charset="2"/>
              <a:buChar char="p"/>
            </a:pPr>
            <a:r>
              <a:rPr lang="zh-CN" altLang="en-US" dirty="0">
                <a:latin typeface="思源黑体 CN Bold" panose="020B0800000000000000" pitchFamily="34" charset="-122"/>
                <a:ea typeface="思源黑体 CN Bold" panose="020B0800000000000000" pitchFamily="34" charset="-122"/>
              </a:rPr>
              <a:t>一个多类分类神经网络的例子，输出结果接近</a:t>
            </a:r>
            <a:r>
              <a:rPr lang="en-US" altLang="zh-CN" dirty="0">
                <a:latin typeface="思源黑体 CN Bold" panose="020B0800000000000000" pitchFamily="34" charset="-122"/>
                <a:ea typeface="思源黑体 CN Bold" panose="020B0800000000000000" pitchFamily="34" charset="-122"/>
              </a:rPr>
              <a:t>1-of-K</a:t>
            </a:r>
            <a:endParaRPr lang="zh-CN" altLang="en-US" dirty="0">
              <a:latin typeface="思源黑体 CN Bold" panose="020B0800000000000000" pitchFamily="34" charset="-122"/>
              <a:ea typeface="思源黑体 CN Bold" panose="020B0800000000000000" pitchFamily="34" charset="-122"/>
            </a:endParaRPr>
          </a:p>
        </p:txBody>
      </p:sp>
      <p:pic>
        <p:nvPicPr>
          <p:cNvPr id="4" name="图片 3">
            <a:extLst>
              <a:ext uri="{FF2B5EF4-FFF2-40B4-BE49-F238E27FC236}">
                <a16:creationId xmlns:a16="http://schemas.microsoft.com/office/drawing/2014/main" id="{480DA64C-3E50-4BC2-8E2F-E1A8C08DD062}"/>
              </a:ext>
            </a:extLst>
          </p:cNvPr>
          <p:cNvPicPr>
            <a:picLocks noChangeAspect="1"/>
          </p:cNvPicPr>
          <p:nvPr/>
        </p:nvPicPr>
        <p:blipFill>
          <a:blip r:embed="rId2"/>
          <a:stretch>
            <a:fillRect/>
          </a:stretch>
        </p:blipFill>
        <p:spPr>
          <a:xfrm>
            <a:off x="5095176" y="2431340"/>
            <a:ext cx="6517431" cy="3394015"/>
          </a:xfrm>
          <a:prstGeom prst="rect">
            <a:avLst/>
          </a:prstGeom>
        </p:spPr>
      </p:pic>
      <p:pic>
        <p:nvPicPr>
          <p:cNvPr id="5" name="图片 4">
            <a:extLst>
              <a:ext uri="{FF2B5EF4-FFF2-40B4-BE49-F238E27FC236}">
                <a16:creationId xmlns:a16="http://schemas.microsoft.com/office/drawing/2014/main" id="{1E2C94E6-16FC-4244-B107-19A6C2BFC7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6399" y="2431341"/>
            <a:ext cx="4145741" cy="3394016"/>
          </a:xfrm>
          <a:prstGeom prst="rect">
            <a:avLst/>
          </a:prstGeom>
        </p:spPr>
      </p:pic>
      <p:sp>
        <p:nvSpPr>
          <p:cNvPr id="6" name="矩形 5">
            <a:extLst>
              <a:ext uri="{FF2B5EF4-FFF2-40B4-BE49-F238E27FC236}">
                <a16:creationId xmlns:a16="http://schemas.microsoft.com/office/drawing/2014/main" id="{A63AD194-6CC1-48C3-800D-3FB0A2C096E8}"/>
              </a:ext>
            </a:extLst>
          </p:cNvPr>
          <p:cNvSpPr/>
          <p:nvPr/>
        </p:nvSpPr>
        <p:spPr>
          <a:xfrm>
            <a:off x="3503415" y="5302259"/>
            <a:ext cx="1355288" cy="457946"/>
          </a:xfrm>
          <a:prstGeom prst="rect">
            <a:avLst/>
          </a:prstGeom>
        </p:spPr>
        <p:txBody>
          <a:bodyPr wrap="square">
            <a:spAutoFit/>
          </a:bodyPr>
          <a:lstStyle/>
          <a:p>
            <a:pPr algn="ctr">
              <a:lnSpc>
                <a:spcPct val="150000"/>
              </a:lnSpc>
            </a:pPr>
            <a:r>
              <a:rPr lang="en-US" altLang="zh-CN" dirty="0" err="1">
                <a:latin typeface="思源黑体 CN Bold" panose="020B0800000000000000" pitchFamily="34" charset="-122"/>
                <a:ea typeface="思源黑体 CN Bold" panose="020B0800000000000000" pitchFamily="34" charset="-122"/>
              </a:rPr>
              <a:t>softmax</a:t>
            </a:r>
            <a:endParaRPr lang="zh-CN" altLang="en-US" dirty="0"/>
          </a:p>
        </p:txBody>
      </p:sp>
      <p:sp>
        <p:nvSpPr>
          <p:cNvPr id="7" name="矩形 6">
            <a:extLst>
              <a:ext uri="{FF2B5EF4-FFF2-40B4-BE49-F238E27FC236}">
                <a16:creationId xmlns:a16="http://schemas.microsoft.com/office/drawing/2014/main" id="{F3A1F599-DDB6-4C8E-8F90-0C9E2F7A0EF3}"/>
              </a:ext>
            </a:extLst>
          </p:cNvPr>
          <p:cNvSpPr/>
          <p:nvPr/>
        </p:nvSpPr>
        <p:spPr>
          <a:xfrm>
            <a:off x="2233953" y="5731321"/>
            <a:ext cx="1355288" cy="457946"/>
          </a:xfrm>
          <a:prstGeom prst="rect">
            <a:avLst/>
          </a:prstGeom>
        </p:spPr>
        <p:txBody>
          <a:bodyPr wrap="square">
            <a:spAutoFit/>
          </a:bodyPr>
          <a:lstStyle/>
          <a:p>
            <a:pPr algn="ctr">
              <a:lnSpc>
                <a:spcPct val="150000"/>
              </a:lnSpc>
            </a:pPr>
            <a:r>
              <a:rPr lang="en-US" altLang="zh-CN" dirty="0">
                <a:latin typeface="思源黑体 CN Bold" panose="020B0800000000000000" pitchFamily="34" charset="-122"/>
                <a:ea typeface="思源黑体 CN Bold" panose="020B0800000000000000" pitchFamily="34" charset="-122"/>
              </a:rPr>
              <a:t>tanh</a:t>
            </a:r>
            <a:endParaRPr lang="zh-CN" altLang="en-US" dirty="0"/>
          </a:p>
        </p:txBody>
      </p:sp>
    </p:spTree>
    <p:extLst>
      <p:ext uri="{BB962C8B-B14F-4D97-AF65-F5344CB8AC3E}">
        <p14:creationId xmlns:p14="http://schemas.microsoft.com/office/powerpoint/2010/main" val="36731014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E08726-068C-4F40-A65E-B5EE8CD22EE1}"/>
              </a:ext>
            </a:extLst>
          </p:cNvPr>
          <p:cNvSpPr>
            <a:spLocks noGrp="1"/>
          </p:cNvSpPr>
          <p:nvPr>
            <p:ph type="title" idx="4294967295"/>
          </p:nvPr>
        </p:nvSpPr>
        <p:spPr>
          <a:xfrm>
            <a:off x="490436" y="239723"/>
            <a:ext cx="7281672" cy="387296"/>
          </a:xfrm>
        </p:spPr>
        <p:txBody>
          <a:bodyPr>
            <a:normAutofit fontScale="90000"/>
          </a:bodyPr>
          <a:lstStyle/>
          <a:p>
            <a:r>
              <a:rPr lang="en-US" altLang="zh-CN" dirty="0">
                <a:latin typeface="思源黑体 CN Bold" panose="020B0800000000000000" pitchFamily="34" charset="-122"/>
                <a:ea typeface="思源黑体 CN Bold" panose="020B0800000000000000" pitchFamily="34" charset="-122"/>
              </a:rPr>
              <a:t>2 </a:t>
            </a:r>
            <a:r>
              <a:rPr lang="zh-CN" altLang="en-US" dirty="0">
                <a:latin typeface="思源黑体 CN Bold" panose="020B0800000000000000" pitchFamily="34" charset="-122"/>
                <a:ea typeface="思源黑体 CN Bold" panose="020B0800000000000000" pitchFamily="34" charset="-122"/>
              </a:rPr>
              <a:t>前馈神经网络函数：</a:t>
            </a:r>
            <a:r>
              <a:rPr lang="zh-CN" altLang="en-US" sz="3200" dirty="0">
                <a:latin typeface="思源黑体 CN Bold" panose="020B0800000000000000" pitchFamily="34" charset="-122"/>
                <a:ea typeface="思源黑体 CN Bold" panose="020B0800000000000000" pitchFamily="34" charset="-122"/>
              </a:rPr>
              <a:t>基本结构</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7EEEC64B-E976-4035-A04D-3686D86D7852}"/>
                  </a:ext>
                </a:extLst>
              </p:cNvPr>
              <p:cNvSpPr>
                <a:spLocks noGrp="1"/>
              </p:cNvSpPr>
              <p:nvPr>
                <p:ph idx="4294967295"/>
              </p:nvPr>
            </p:nvSpPr>
            <p:spPr>
              <a:xfrm>
                <a:off x="838200" y="1825625"/>
                <a:ext cx="6676227" cy="4351338"/>
              </a:xfrm>
            </p:spPr>
            <p:txBody>
              <a:bodyPr>
                <a:normAutofit fontScale="77500" lnSpcReduction="20000"/>
              </a:bodyPr>
              <a:lstStyle/>
              <a:p>
                <a:pPr>
                  <a:lnSpc>
                    <a:spcPct val="120000"/>
                  </a:lnSpc>
                  <a:spcBef>
                    <a:spcPts val="0"/>
                  </a:spcBef>
                </a:pPr>
                <a:r>
                  <a:rPr lang="zh-CN" altLang="en-US" sz="2000" dirty="0">
                    <a:latin typeface="思源黑体 CN Bold" panose="020B0800000000000000" pitchFamily="34" charset="-122"/>
                    <a:ea typeface="思源黑体 CN Bold" panose="020B0800000000000000" pitchFamily="34" charset="-122"/>
                  </a:rPr>
                  <a:t>回归：</a:t>
                </a:r>
                <a:endParaRPr lang="en-US" altLang="zh-CN" sz="2000" dirty="0">
                  <a:latin typeface="思源黑体 CN Bold" panose="020B0800000000000000" pitchFamily="34" charset="-122"/>
                  <a:ea typeface="思源黑体 CN Bold" panose="020B0800000000000000" pitchFamily="34" charset="-122"/>
                </a:endParaRPr>
              </a:p>
              <a:p>
                <a:pPr marL="0" indent="0">
                  <a:lnSpc>
                    <a:spcPct val="120000"/>
                  </a:lnSpc>
                  <a:spcBef>
                    <a:spcPts val="0"/>
                  </a:spcBef>
                  <a:buNone/>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𝑦</m:t>
                      </m:r>
                      <m:r>
                        <a:rPr lang="en-US" altLang="zh-CN" sz="2000" i="1">
                          <a:latin typeface="Cambria Math" panose="02040503050406030204" pitchFamily="18" charset="0"/>
                        </a:rPr>
                        <m:t>=</m:t>
                      </m:r>
                      <m:nary>
                        <m:naryPr>
                          <m:chr m:val="∑"/>
                          <m:ctrlPr>
                            <a:rPr lang="en-US" altLang="zh-CN" sz="2000" i="1">
                              <a:latin typeface="Cambria Math" panose="02040503050406030204" pitchFamily="18" charset="0"/>
                            </a:rPr>
                          </m:ctrlPr>
                        </m:naryPr>
                        <m:sub>
                          <m:r>
                            <m:rPr>
                              <m:brk m:alnAt="23"/>
                            </m:rPr>
                            <a:rPr lang="en-US" altLang="zh-CN" sz="2000" i="1">
                              <a:latin typeface="Cambria Math" panose="02040503050406030204" pitchFamily="18" charset="0"/>
                            </a:rPr>
                            <m:t>𝑗</m:t>
                          </m:r>
                          <m:r>
                            <a:rPr lang="en-US" altLang="zh-CN" sz="2000" i="1">
                              <a:latin typeface="Cambria Math" panose="02040503050406030204" pitchFamily="18" charset="0"/>
                            </a:rPr>
                            <m:t>=1</m:t>
                          </m:r>
                        </m:sub>
                        <m:sup>
                          <m:r>
                            <a:rPr lang="en-US" altLang="zh-CN" sz="2000" i="1">
                              <a:latin typeface="Cambria Math" panose="02040503050406030204" pitchFamily="18" charset="0"/>
                            </a:rPr>
                            <m:t>𝑀</m:t>
                          </m:r>
                        </m:sup>
                        <m:e>
                          <m:sSup>
                            <m:sSupPr>
                              <m:ctrlPr>
                                <a:rPr lang="en-US" altLang="zh-CN" sz="2000" i="1">
                                  <a:latin typeface="Cambria Math" panose="02040503050406030204" pitchFamily="18" charset="0"/>
                                </a:rPr>
                              </m:ctrlPr>
                            </m:sSupPr>
                            <m:e>
                              <m:r>
                                <a:rPr lang="en-US" altLang="zh-CN" sz="2000" i="1">
                                  <a:latin typeface="Cambria Math" panose="02040503050406030204" pitchFamily="18" charset="0"/>
                                </a:rPr>
                                <m:t>𝑤</m:t>
                              </m:r>
                            </m:e>
                            <m:sup>
                              <m:d>
                                <m:dPr>
                                  <m:ctrlPr>
                                    <a:rPr lang="en-US" altLang="zh-CN" sz="2000" b="1" i="1">
                                      <a:latin typeface="Cambria Math" panose="02040503050406030204" pitchFamily="18" charset="0"/>
                                    </a:rPr>
                                  </m:ctrlPr>
                                </m:dPr>
                                <m:e>
                                  <m:r>
                                    <a:rPr lang="en-US" altLang="zh-CN" sz="2000" i="1">
                                      <a:latin typeface="Cambria Math" panose="02040503050406030204" pitchFamily="18" charset="0"/>
                                    </a:rPr>
                                    <m:t>2</m:t>
                                  </m:r>
                                </m:e>
                              </m:d>
                            </m:sup>
                          </m:sSup>
                        </m:e>
                      </m:nary>
                      <m:r>
                        <a:rPr lang="en-US" altLang="zh-CN" sz="2000" i="1">
                          <a:latin typeface="Cambria Math" panose="02040503050406030204" pitchFamily="18" charset="0"/>
                        </a:rPr>
                        <m:t>h</m:t>
                      </m:r>
                      <m:d>
                        <m:dPr>
                          <m:ctrlPr>
                            <a:rPr lang="en-US" altLang="zh-CN" sz="2000" b="1" i="1">
                              <a:latin typeface="Cambria Math" panose="02040503050406030204" pitchFamily="18" charset="0"/>
                            </a:rPr>
                          </m:ctrlPr>
                        </m:dPr>
                        <m:e>
                          <m:nary>
                            <m:naryPr>
                              <m:chr m:val="∑"/>
                              <m:ctrlPr>
                                <a:rPr lang="en-US" altLang="zh-CN" sz="2000" i="1">
                                  <a:latin typeface="Cambria Math" panose="02040503050406030204" pitchFamily="18" charset="0"/>
                                </a:rPr>
                              </m:ctrlPr>
                            </m:naryPr>
                            <m:sub>
                              <m:r>
                                <a:rPr lang="en-US" altLang="zh-CN" sz="2000" i="1">
                                  <a:latin typeface="Cambria Math" panose="02040503050406030204" pitchFamily="18" charset="0"/>
                                </a:rPr>
                                <m:t>𝑖</m:t>
                              </m:r>
                              <m:r>
                                <a:rPr lang="en-US" altLang="zh-CN" sz="2000" i="1">
                                  <a:latin typeface="Cambria Math" panose="02040503050406030204" pitchFamily="18" charset="0"/>
                                </a:rPr>
                                <m:t>=1</m:t>
                              </m:r>
                            </m:sub>
                            <m:sup>
                              <m:r>
                                <a:rPr lang="en-US" altLang="zh-CN" sz="2000" i="1">
                                  <a:latin typeface="Cambria Math" panose="02040503050406030204" pitchFamily="18" charset="0"/>
                                </a:rPr>
                                <m:t>𝐷</m:t>
                              </m:r>
                            </m:sup>
                            <m:e>
                              <m:sSup>
                                <m:sSupPr>
                                  <m:ctrlPr>
                                    <a:rPr lang="en-US" altLang="zh-CN" sz="2000" i="1">
                                      <a:latin typeface="Cambria Math" panose="02040503050406030204" pitchFamily="18" charset="0"/>
                                    </a:rPr>
                                  </m:ctrlPr>
                                </m:sSupPr>
                                <m:e>
                                  <m:r>
                                    <a:rPr lang="en-US" altLang="zh-CN" sz="2000" i="1">
                                      <a:latin typeface="Cambria Math" panose="02040503050406030204" pitchFamily="18" charset="0"/>
                                    </a:rPr>
                                    <m:t>𝑤</m:t>
                                  </m:r>
                                </m:e>
                                <m:sup>
                                  <m:d>
                                    <m:dPr>
                                      <m:ctrlPr>
                                        <a:rPr lang="en-US" altLang="zh-CN" sz="2000" b="1" i="1">
                                          <a:latin typeface="Cambria Math" panose="02040503050406030204" pitchFamily="18" charset="0"/>
                                        </a:rPr>
                                      </m:ctrlPr>
                                    </m:dPr>
                                    <m:e>
                                      <m:r>
                                        <a:rPr lang="en-US" altLang="zh-CN" sz="2000" i="1">
                                          <a:latin typeface="Cambria Math" panose="02040503050406030204" pitchFamily="18" charset="0"/>
                                        </a:rPr>
                                        <m:t>1</m:t>
                                      </m:r>
                                    </m:e>
                                  </m:d>
                                </m:sup>
                              </m:sSup>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𝑖</m:t>
                                  </m:r>
                                </m:sub>
                              </m:sSub>
                            </m:e>
                          </m:nary>
                        </m:e>
                      </m:d>
                    </m:oMath>
                  </m:oMathPara>
                </a14:m>
                <a:endParaRPr lang="en-US" altLang="zh-CN" sz="2000" dirty="0">
                  <a:latin typeface="思源黑体 CN Bold" panose="020B0800000000000000" pitchFamily="34" charset="-122"/>
                  <a:ea typeface="思源黑体 CN Bold" panose="020B0800000000000000" pitchFamily="34" charset="-122"/>
                </a:endParaRPr>
              </a:p>
              <a:p>
                <a:pPr>
                  <a:lnSpc>
                    <a:spcPct val="120000"/>
                  </a:lnSpc>
                  <a:spcBef>
                    <a:spcPts val="0"/>
                  </a:spcBef>
                </a:pPr>
                <a:r>
                  <a:rPr lang="zh-CN" altLang="en-US" sz="2000" dirty="0">
                    <a:latin typeface="思源黑体 CN Bold" panose="020B0800000000000000" pitchFamily="34" charset="-122"/>
                    <a:ea typeface="思源黑体 CN Bold" panose="020B0800000000000000" pitchFamily="34" charset="-122"/>
                  </a:rPr>
                  <a:t>两类分类：</a:t>
                </a:r>
                <a:endParaRPr lang="en-US" altLang="zh-CN" sz="2000" dirty="0">
                  <a:latin typeface="思源黑体 CN Bold" panose="020B0800000000000000" pitchFamily="34" charset="-122"/>
                  <a:ea typeface="思源黑体 CN Bold" panose="020B0800000000000000" pitchFamily="34" charset="-122"/>
                </a:endParaRPr>
              </a:p>
              <a:p>
                <a:pPr>
                  <a:lnSpc>
                    <a:spcPct val="120000"/>
                  </a:lnSpc>
                  <a:spcBef>
                    <a:spcPts val="0"/>
                  </a:spcBef>
                </a:pPr>
                <a:endParaRPr lang="en-US" altLang="zh-CN" sz="2000" dirty="0">
                  <a:latin typeface="思源黑体 CN Bold" panose="020B0800000000000000" pitchFamily="34" charset="-122"/>
                  <a:ea typeface="思源黑体 CN Bold" panose="020B0800000000000000" pitchFamily="34" charset="-122"/>
                </a:endParaRPr>
              </a:p>
              <a:p>
                <a:pPr marL="0" indent="0">
                  <a:lnSpc>
                    <a:spcPct val="120000"/>
                  </a:lnSpc>
                  <a:spcBef>
                    <a:spcPts val="0"/>
                  </a:spcBef>
                  <a:buNone/>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𝑦</m:t>
                      </m:r>
                      <m:r>
                        <a:rPr lang="en-US" altLang="zh-CN" sz="2000" i="1">
                          <a:latin typeface="Cambria Math" panose="02040503050406030204" pitchFamily="18" charset="0"/>
                        </a:rPr>
                        <m:t>=</m:t>
                      </m:r>
                      <m:r>
                        <a:rPr lang="en-US" altLang="zh-CN" sz="2000" i="1">
                          <a:latin typeface="Cambria Math" panose="02040503050406030204" pitchFamily="18" charset="0"/>
                        </a:rPr>
                        <m:t>𝑠𝑖𝑔𝑚𝑜𝑖𝑑</m:t>
                      </m:r>
                      <m:d>
                        <m:dPr>
                          <m:ctrlPr>
                            <a:rPr lang="en-US" altLang="zh-CN" sz="2000" i="1">
                              <a:latin typeface="Cambria Math" panose="02040503050406030204" pitchFamily="18" charset="0"/>
                            </a:rPr>
                          </m:ctrlPr>
                        </m:dPr>
                        <m:e>
                          <m:nary>
                            <m:naryPr>
                              <m:chr m:val="∑"/>
                              <m:ctrlPr>
                                <a:rPr lang="en-US" altLang="zh-CN" sz="2000" i="1">
                                  <a:latin typeface="Cambria Math" panose="02040503050406030204" pitchFamily="18" charset="0"/>
                                </a:rPr>
                              </m:ctrlPr>
                            </m:naryPr>
                            <m:sub>
                              <m:r>
                                <m:rPr>
                                  <m:brk m:alnAt="23"/>
                                </m:rPr>
                                <a:rPr lang="en-US" altLang="zh-CN" sz="2000" i="1">
                                  <a:latin typeface="Cambria Math" panose="02040503050406030204" pitchFamily="18" charset="0"/>
                                </a:rPr>
                                <m:t>𝑗</m:t>
                              </m:r>
                              <m:r>
                                <a:rPr lang="en-US" altLang="zh-CN" sz="2000" i="1">
                                  <a:latin typeface="Cambria Math" panose="02040503050406030204" pitchFamily="18" charset="0"/>
                                </a:rPr>
                                <m:t>=1</m:t>
                              </m:r>
                            </m:sub>
                            <m:sup>
                              <m:r>
                                <a:rPr lang="en-US" altLang="zh-CN" sz="2000" i="1">
                                  <a:latin typeface="Cambria Math" panose="02040503050406030204" pitchFamily="18" charset="0"/>
                                </a:rPr>
                                <m:t>𝑀</m:t>
                              </m:r>
                            </m:sup>
                            <m:e>
                              <m:sSup>
                                <m:sSupPr>
                                  <m:ctrlPr>
                                    <a:rPr lang="en-US" altLang="zh-CN" sz="2000" i="1">
                                      <a:latin typeface="Cambria Math" panose="02040503050406030204" pitchFamily="18" charset="0"/>
                                    </a:rPr>
                                  </m:ctrlPr>
                                </m:sSupPr>
                                <m:e>
                                  <m:r>
                                    <a:rPr lang="en-US" altLang="zh-CN" sz="2000" i="1">
                                      <a:latin typeface="Cambria Math" panose="02040503050406030204" pitchFamily="18" charset="0"/>
                                    </a:rPr>
                                    <m:t>𝑤</m:t>
                                  </m:r>
                                </m:e>
                                <m:sup>
                                  <m:d>
                                    <m:dPr>
                                      <m:ctrlPr>
                                        <a:rPr lang="en-US" altLang="zh-CN" sz="2000" b="1" i="1">
                                          <a:latin typeface="Cambria Math" panose="02040503050406030204" pitchFamily="18" charset="0"/>
                                        </a:rPr>
                                      </m:ctrlPr>
                                    </m:dPr>
                                    <m:e>
                                      <m:r>
                                        <a:rPr lang="en-US" altLang="zh-CN" sz="2000" i="1">
                                          <a:latin typeface="Cambria Math" panose="02040503050406030204" pitchFamily="18" charset="0"/>
                                        </a:rPr>
                                        <m:t>2</m:t>
                                      </m:r>
                                    </m:e>
                                  </m:d>
                                </m:sup>
                              </m:sSup>
                            </m:e>
                          </m:nary>
                          <m:r>
                            <a:rPr lang="en-US" altLang="zh-CN" sz="2000" i="1">
                              <a:latin typeface="Cambria Math" panose="02040503050406030204" pitchFamily="18" charset="0"/>
                            </a:rPr>
                            <m:t>h</m:t>
                          </m:r>
                          <m:d>
                            <m:dPr>
                              <m:ctrlPr>
                                <a:rPr lang="en-US" altLang="zh-CN" sz="2000" b="1" i="1">
                                  <a:latin typeface="Cambria Math" panose="02040503050406030204" pitchFamily="18" charset="0"/>
                                </a:rPr>
                              </m:ctrlPr>
                            </m:dPr>
                            <m:e>
                              <m:nary>
                                <m:naryPr>
                                  <m:chr m:val="∑"/>
                                  <m:ctrlPr>
                                    <a:rPr lang="en-US" altLang="zh-CN" sz="2000" i="1">
                                      <a:latin typeface="Cambria Math" panose="02040503050406030204" pitchFamily="18" charset="0"/>
                                    </a:rPr>
                                  </m:ctrlPr>
                                </m:naryPr>
                                <m:sub>
                                  <m:r>
                                    <a:rPr lang="en-US" altLang="zh-CN" sz="2000" i="1">
                                      <a:latin typeface="Cambria Math" panose="02040503050406030204" pitchFamily="18" charset="0"/>
                                    </a:rPr>
                                    <m:t>𝑖</m:t>
                                  </m:r>
                                  <m:r>
                                    <a:rPr lang="en-US" altLang="zh-CN" sz="2000" i="1">
                                      <a:latin typeface="Cambria Math" panose="02040503050406030204" pitchFamily="18" charset="0"/>
                                    </a:rPr>
                                    <m:t>=1</m:t>
                                  </m:r>
                                </m:sub>
                                <m:sup>
                                  <m:r>
                                    <a:rPr lang="en-US" altLang="zh-CN" sz="2000" i="1">
                                      <a:latin typeface="Cambria Math" panose="02040503050406030204" pitchFamily="18" charset="0"/>
                                    </a:rPr>
                                    <m:t>𝐷</m:t>
                                  </m:r>
                                </m:sup>
                                <m:e>
                                  <m:sSup>
                                    <m:sSupPr>
                                      <m:ctrlPr>
                                        <a:rPr lang="en-US" altLang="zh-CN" sz="2000" i="1">
                                          <a:latin typeface="Cambria Math" panose="02040503050406030204" pitchFamily="18" charset="0"/>
                                        </a:rPr>
                                      </m:ctrlPr>
                                    </m:sSupPr>
                                    <m:e>
                                      <m:r>
                                        <a:rPr lang="en-US" altLang="zh-CN" sz="2000" i="1">
                                          <a:latin typeface="Cambria Math" panose="02040503050406030204" pitchFamily="18" charset="0"/>
                                        </a:rPr>
                                        <m:t>𝑤</m:t>
                                      </m:r>
                                    </m:e>
                                    <m:sup>
                                      <m:d>
                                        <m:dPr>
                                          <m:ctrlPr>
                                            <a:rPr lang="en-US" altLang="zh-CN" sz="2000" b="1" i="1">
                                              <a:latin typeface="Cambria Math" panose="02040503050406030204" pitchFamily="18" charset="0"/>
                                            </a:rPr>
                                          </m:ctrlPr>
                                        </m:dPr>
                                        <m:e>
                                          <m:r>
                                            <a:rPr lang="en-US" altLang="zh-CN" sz="2000" i="1">
                                              <a:latin typeface="Cambria Math" panose="02040503050406030204" pitchFamily="18" charset="0"/>
                                            </a:rPr>
                                            <m:t>1</m:t>
                                          </m:r>
                                        </m:e>
                                      </m:d>
                                    </m:sup>
                                  </m:sSup>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𝑖</m:t>
                                      </m:r>
                                    </m:sub>
                                  </m:sSub>
                                </m:e>
                              </m:nary>
                            </m:e>
                          </m:d>
                        </m:e>
                      </m:d>
                    </m:oMath>
                  </m:oMathPara>
                </a14:m>
                <a:endParaRPr lang="en-US" altLang="zh-CN" sz="2000" dirty="0">
                  <a:latin typeface="思源黑体 CN Bold" panose="020B0800000000000000" pitchFamily="34" charset="-122"/>
                  <a:ea typeface="思源黑体 CN Bold" panose="020B0800000000000000" pitchFamily="34" charset="-122"/>
                </a:endParaRPr>
              </a:p>
              <a:p>
                <a:pPr>
                  <a:lnSpc>
                    <a:spcPct val="120000"/>
                  </a:lnSpc>
                  <a:spcBef>
                    <a:spcPts val="0"/>
                  </a:spcBef>
                </a:pPr>
                <a:r>
                  <a:rPr lang="zh-CN" altLang="en-US" sz="2000" dirty="0">
                    <a:latin typeface="思源黑体 CN Bold" panose="020B0800000000000000" pitchFamily="34" charset="-122"/>
                    <a:ea typeface="思源黑体 CN Bold" panose="020B0800000000000000" pitchFamily="34" charset="-122"/>
                  </a:rPr>
                  <a:t>多类分类：</a:t>
                </a:r>
                <a:endParaRPr lang="en-US" altLang="zh-CN" sz="2000" dirty="0">
                  <a:latin typeface="思源黑体 CN Bold" panose="020B0800000000000000" pitchFamily="34" charset="-122"/>
                  <a:ea typeface="思源黑体 CN Bold" panose="020B0800000000000000" pitchFamily="34" charset="-122"/>
                </a:endParaRPr>
              </a:p>
              <a:p>
                <a:pPr marL="0" indent="0">
                  <a:lnSpc>
                    <a:spcPct val="120000"/>
                  </a:lnSpc>
                  <a:spcBef>
                    <a:spcPts val="0"/>
                  </a:spcBef>
                  <a:buNone/>
                </a:pPr>
                <a14:m>
                  <m:oMathPara xmlns:m="http://schemas.openxmlformats.org/officeDocument/2006/math">
                    <m:oMathParaPr>
                      <m:jc m:val="centerGroup"/>
                    </m:oMathParaPr>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𝑦</m:t>
                          </m:r>
                        </m:e>
                        <m:sub>
                          <m:r>
                            <a:rPr lang="en-US" altLang="zh-CN" sz="2000" i="1">
                              <a:latin typeface="Cambria Math" panose="02040503050406030204" pitchFamily="18" charset="0"/>
                            </a:rPr>
                            <m:t>𝑘</m:t>
                          </m:r>
                        </m:sub>
                      </m:sSub>
                      <m:r>
                        <a:rPr lang="en-US" altLang="zh-CN" sz="2000" i="1">
                          <a:latin typeface="Cambria Math" panose="02040503050406030204" pitchFamily="18" charset="0"/>
                        </a:rPr>
                        <m:t>=</m:t>
                      </m:r>
                      <m:r>
                        <a:rPr lang="en-US" altLang="zh-CN" sz="2000" i="1">
                          <a:latin typeface="Cambria Math" panose="02040503050406030204" pitchFamily="18" charset="0"/>
                        </a:rPr>
                        <m:t>𝑠𝑜𝑓𝑡𝑚𝑎𝑥</m:t>
                      </m:r>
                      <m:d>
                        <m:dPr>
                          <m:ctrlPr>
                            <a:rPr lang="en-US" altLang="zh-CN" sz="2000" i="1">
                              <a:latin typeface="Cambria Math" panose="02040503050406030204" pitchFamily="18" charset="0"/>
                            </a:rPr>
                          </m:ctrlPr>
                        </m:dPr>
                        <m:e>
                          <m:nary>
                            <m:naryPr>
                              <m:chr m:val="∑"/>
                              <m:ctrlPr>
                                <a:rPr lang="en-US" altLang="zh-CN" sz="2000" i="1">
                                  <a:latin typeface="Cambria Math" panose="02040503050406030204" pitchFamily="18" charset="0"/>
                                </a:rPr>
                              </m:ctrlPr>
                            </m:naryPr>
                            <m:sub>
                              <m:r>
                                <m:rPr>
                                  <m:brk m:alnAt="23"/>
                                </m:rPr>
                                <a:rPr lang="en-US" altLang="zh-CN" sz="2000" i="1">
                                  <a:latin typeface="Cambria Math" panose="02040503050406030204" pitchFamily="18" charset="0"/>
                                </a:rPr>
                                <m:t>𝑗</m:t>
                              </m:r>
                              <m:r>
                                <a:rPr lang="en-US" altLang="zh-CN" sz="2000" i="1">
                                  <a:latin typeface="Cambria Math" panose="02040503050406030204" pitchFamily="18" charset="0"/>
                                </a:rPr>
                                <m:t>=1</m:t>
                              </m:r>
                            </m:sub>
                            <m:sup>
                              <m:r>
                                <a:rPr lang="en-US" altLang="zh-CN" sz="2000" i="1">
                                  <a:latin typeface="Cambria Math" panose="02040503050406030204" pitchFamily="18" charset="0"/>
                                </a:rPr>
                                <m:t>𝑀</m:t>
                              </m:r>
                            </m:sup>
                            <m:e>
                              <m:sSup>
                                <m:sSupPr>
                                  <m:ctrlPr>
                                    <a:rPr lang="en-US" altLang="zh-CN" sz="2000" i="1">
                                      <a:latin typeface="Cambria Math" panose="02040503050406030204" pitchFamily="18" charset="0"/>
                                    </a:rPr>
                                  </m:ctrlPr>
                                </m:sSupPr>
                                <m:e>
                                  <m:r>
                                    <a:rPr lang="en-US" altLang="zh-CN" sz="2000" i="1">
                                      <a:latin typeface="Cambria Math" panose="02040503050406030204" pitchFamily="18" charset="0"/>
                                    </a:rPr>
                                    <m:t>𝑤</m:t>
                                  </m:r>
                                </m:e>
                                <m:sup>
                                  <m:d>
                                    <m:dPr>
                                      <m:ctrlPr>
                                        <a:rPr lang="en-US" altLang="zh-CN" sz="2000" b="1" i="1">
                                          <a:latin typeface="Cambria Math" panose="02040503050406030204" pitchFamily="18" charset="0"/>
                                        </a:rPr>
                                      </m:ctrlPr>
                                    </m:dPr>
                                    <m:e>
                                      <m:r>
                                        <a:rPr lang="en-US" altLang="zh-CN" sz="2000" i="1">
                                          <a:latin typeface="Cambria Math" panose="02040503050406030204" pitchFamily="18" charset="0"/>
                                        </a:rPr>
                                        <m:t>2</m:t>
                                      </m:r>
                                    </m:e>
                                  </m:d>
                                </m:sup>
                              </m:sSup>
                            </m:e>
                          </m:nary>
                          <m:r>
                            <a:rPr lang="en-US" altLang="zh-CN" sz="2000" i="1">
                              <a:latin typeface="Cambria Math" panose="02040503050406030204" pitchFamily="18" charset="0"/>
                            </a:rPr>
                            <m:t>h</m:t>
                          </m:r>
                          <m:d>
                            <m:dPr>
                              <m:ctrlPr>
                                <a:rPr lang="en-US" altLang="zh-CN" sz="2000" b="1" i="1">
                                  <a:latin typeface="Cambria Math" panose="02040503050406030204" pitchFamily="18" charset="0"/>
                                </a:rPr>
                              </m:ctrlPr>
                            </m:dPr>
                            <m:e>
                              <m:nary>
                                <m:naryPr>
                                  <m:chr m:val="∑"/>
                                  <m:ctrlPr>
                                    <a:rPr lang="en-US" altLang="zh-CN" sz="2000" i="1">
                                      <a:latin typeface="Cambria Math" panose="02040503050406030204" pitchFamily="18" charset="0"/>
                                    </a:rPr>
                                  </m:ctrlPr>
                                </m:naryPr>
                                <m:sub>
                                  <m:r>
                                    <a:rPr lang="en-US" altLang="zh-CN" sz="2000" i="1">
                                      <a:latin typeface="Cambria Math" panose="02040503050406030204" pitchFamily="18" charset="0"/>
                                    </a:rPr>
                                    <m:t>𝑖</m:t>
                                  </m:r>
                                  <m:r>
                                    <a:rPr lang="en-US" altLang="zh-CN" sz="2000" i="1">
                                      <a:latin typeface="Cambria Math" panose="02040503050406030204" pitchFamily="18" charset="0"/>
                                    </a:rPr>
                                    <m:t>=1</m:t>
                                  </m:r>
                                </m:sub>
                                <m:sup>
                                  <m:r>
                                    <a:rPr lang="en-US" altLang="zh-CN" sz="2000" i="1">
                                      <a:latin typeface="Cambria Math" panose="02040503050406030204" pitchFamily="18" charset="0"/>
                                    </a:rPr>
                                    <m:t>𝐷</m:t>
                                  </m:r>
                                </m:sup>
                                <m:e>
                                  <m:sSup>
                                    <m:sSupPr>
                                      <m:ctrlPr>
                                        <a:rPr lang="en-US" altLang="zh-CN" sz="2000" i="1">
                                          <a:latin typeface="Cambria Math" panose="02040503050406030204" pitchFamily="18" charset="0"/>
                                        </a:rPr>
                                      </m:ctrlPr>
                                    </m:sSupPr>
                                    <m:e>
                                      <m:r>
                                        <a:rPr lang="en-US" altLang="zh-CN" sz="2000" i="1">
                                          <a:latin typeface="Cambria Math" panose="02040503050406030204" pitchFamily="18" charset="0"/>
                                        </a:rPr>
                                        <m:t>𝑤</m:t>
                                      </m:r>
                                    </m:e>
                                    <m:sup>
                                      <m:d>
                                        <m:dPr>
                                          <m:ctrlPr>
                                            <a:rPr lang="en-US" altLang="zh-CN" sz="2000" b="1" i="1">
                                              <a:latin typeface="Cambria Math" panose="02040503050406030204" pitchFamily="18" charset="0"/>
                                            </a:rPr>
                                          </m:ctrlPr>
                                        </m:dPr>
                                        <m:e>
                                          <m:r>
                                            <a:rPr lang="en-US" altLang="zh-CN" sz="2000" i="1">
                                              <a:latin typeface="Cambria Math" panose="02040503050406030204" pitchFamily="18" charset="0"/>
                                            </a:rPr>
                                            <m:t>1</m:t>
                                          </m:r>
                                        </m:e>
                                      </m:d>
                                    </m:sup>
                                  </m:sSup>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𝑖</m:t>
                                      </m:r>
                                    </m:sub>
                                  </m:sSub>
                                </m:e>
                              </m:nary>
                            </m:e>
                          </m:d>
                        </m:e>
                      </m:d>
                    </m:oMath>
                  </m:oMathPara>
                </a14:m>
                <a:endParaRPr lang="en-US" altLang="zh-CN" sz="2000" dirty="0">
                  <a:latin typeface="思源黑体 CN Bold" panose="020B0800000000000000" pitchFamily="34" charset="-122"/>
                  <a:ea typeface="思源黑体 CN Bold" panose="020B0800000000000000" pitchFamily="34" charset="-122"/>
                </a:endParaRPr>
              </a:p>
            </p:txBody>
          </p:sp>
        </mc:Choice>
        <mc:Fallback xmlns="">
          <p:sp>
            <p:nvSpPr>
              <p:cNvPr id="3" name="内容占位符 2">
                <a:extLst>
                  <a:ext uri="{FF2B5EF4-FFF2-40B4-BE49-F238E27FC236}">
                    <a16:creationId xmlns:a16="http://schemas.microsoft.com/office/drawing/2014/main" id="{7EEEC64B-E976-4035-A04D-3686D86D7852}"/>
                  </a:ext>
                </a:extLst>
              </p:cNvPr>
              <p:cNvSpPr>
                <a:spLocks noGrp="1" noRot="1" noChangeAspect="1" noMove="1" noResize="1" noEditPoints="1" noAdjustHandles="1" noChangeArrowheads="1" noChangeShapeType="1" noTextEdit="1"/>
              </p:cNvSpPr>
              <p:nvPr>
                <p:ph idx="1"/>
              </p:nvPr>
            </p:nvSpPr>
            <p:spPr>
              <a:xfrm>
                <a:off x="838200" y="1825625"/>
                <a:ext cx="6676227" cy="4351338"/>
              </a:xfrm>
              <a:blipFill>
                <a:blip r:embed="rId2"/>
                <a:stretch>
                  <a:fillRect l="-365" t="-420"/>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238E146D-9FF1-42F8-B36C-A64C92C61E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72108" y="2202118"/>
            <a:ext cx="4145741" cy="3394016"/>
          </a:xfrm>
          <a:prstGeom prst="rect">
            <a:avLst/>
          </a:prstGeom>
        </p:spPr>
      </p:pic>
      <p:sp>
        <p:nvSpPr>
          <p:cNvPr id="4" name="矩形 3">
            <a:extLst>
              <a:ext uri="{FF2B5EF4-FFF2-40B4-BE49-F238E27FC236}">
                <a16:creationId xmlns:a16="http://schemas.microsoft.com/office/drawing/2014/main" id="{B276AAB0-4E44-4804-87E0-9D9CE73495C8}"/>
              </a:ext>
            </a:extLst>
          </p:cNvPr>
          <p:cNvSpPr/>
          <p:nvPr/>
        </p:nvSpPr>
        <p:spPr>
          <a:xfrm>
            <a:off x="7772108" y="1328674"/>
            <a:ext cx="3877985" cy="873444"/>
          </a:xfrm>
          <a:prstGeom prst="rect">
            <a:avLst/>
          </a:prstGeom>
        </p:spPr>
        <p:txBody>
          <a:bodyPr wrap="none">
            <a:spAutoFit/>
          </a:bodyPr>
          <a:lstStyle/>
          <a:p>
            <a:pPr algn="ctr">
              <a:lnSpc>
                <a:spcPct val="150000"/>
              </a:lnSpc>
            </a:pPr>
            <a:r>
              <a:rPr lang="en-US" altLang="zh-CN" dirty="0">
                <a:latin typeface="思源黑体 CN Bold" panose="020B0800000000000000" pitchFamily="34" charset="-122"/>
                <a:ea typeface="思源黑体 CN Bold" panose="020B0800000000000000" pitchFamily="34" charset="-122"/>
              </a:rPr>
              <a:t>Hidden Units</a:t>
            </a:r>
            <a:r>
              <a:rPr lang="zh-CN" altLang="en-US" dirty="0">
                <a:latin typeface="思源黑体 CN Bold" panose="020B0800000000000000" pitchFamily="34" charset="-122"/>
                <a:ea typeface="思源黑体 CN Bold" panose="020B0800000000000000" pitchFamily="34" charset="-122"/>
              </a:rPr>
              <a:t>可以是多层</a:t>
            </a:r>
            <a:endParaRPr lang="en-US" altLang="zh-CN" dirty="0">
              <a:latin typeface="思源黑体 CN Bold" panose="020B0800000000000000" pitchFamily="34" charset="-122"/>
              <a:ea typeface="思源黑体 CN Bold" panose="020B0800000000000000" pitchFamily="34" charset="-122"/>
            </a:endParaRPr>
          </a:p>
          <a:p>
            <a:pPr algn="ctr">
              <a:lnSpc>
                <a:spcPct val="150000"/>
              </a:lnSpc>
            </a:pPr>
            <a:r>
              <a:rPr lang="zh-CN" altLang="en-US" dirty="0">
                <a:latin typeface="思源黑体 CN Bold" panose="020B0800000000000000" pitchFamily="34" charset="-122"/>
                <a:ea typeface="思源黑体 CN Bold" panose="020B0800000000000000" pitchFamily="34" charset="-122"/>
              </a:rPr>
              <a:t>每多一层，基函数就多嵌套一次激活</a:t>
            </a:r>
            <a:endParaRPr lang="zh-CN" altLang="en-US" dirty="0"/>
          </a:p>
        </p:txBody>
      </p:sp>
    </p:spTree>
    <p:extLst>
      <p:ext uri="{BB962C8B-B14F-4D97-AF65-F5344CB8AC3E}">
        <p14:creationId xmlns:p14="http://schemas.microsoft.com/office/powerpoint/2010/main" val="4667415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E08726-068C-4F40-A65E-B5EE8CD22EE1}"/>
              </a:ext>
            </a:extLst>
          </p:cNvPr>
          <p:cNvSpPr>
            <a:spLocks noGrp="1"/>
          </p:cNvSpPr>
          <p:nvPr>
            <p:ph type="title" idx="4294967295"/>
          </p:nvPr>
        </p:nvSpPr>
        <p:spPr>
          <a:xfrm>
            <a:off x="367938" y="177019"/>
            <a:ext cx="7056991" cy="402971"/>
          </a:xfrm>
        </p:spPr>
        <p:txBody>
          <a:bodyPr>
            <a:noAutofit/>
          </a:bodyPr>
          <a:lstStyle/>
          <a:p>
            <a:r>
              <a:rPr lang="en-US" altLang="zh-CN" sz="3600" dirty="0">
                <a:latin typeface="思源黑体 CN Bold" panose="020B0800000000000000" pitchFamily="34" charset="-122"/>
                <a:ea typeface="思源黑体 CN Bold" panose="020B0800000000000000" pitchFamily="34" charset="-122"/>
              </a:rPr>
              <a:t>2 </a:t>
            </a:r>
            <a:r>
              <a:rPr lang="zh-CN" altLang="en-US" sz="3600" dirty="0">
                <a:latin typeface="思源黑体 CN Bold" panose="020B0800000000000000" pitchFamily="34" charset="-122"/>
                <a:ea typeface="思源黑体 CN Bold" panose="020B0800000000000000" pitchFamily="34" charset="-122"/>
              </a:rPr>
              <a:t>前馈神经网络函数：</a:t>
            </a:r>
            <a:r>
              <a:rPr lang="zh-CN" altLang="en-US" sz="2800" dirty="0">
                <a:latin typeface="思源黑体 CN Bold" panose="020B0800000000000000" pitchFamily="34" charset="-122"/>
                <a:ea typeface="思源黑体 CN Bold" panose="020B0800000000000000" pitchFamily="34" charset="-122"/>
              </a:rPr>
              <a:t>损失函数</a:t>
            </a:r>
            <a:endParaRPr lang="zh-CN" altLang="en-US" sz="3600"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7EEEC64B-E976-4035-A04D-3686D86D7852}"/>
                  </a:ext>
                </a:extLst>
              </p:cNvPr>
              <p:cNvSpPr>
                <a:spLocks noGrp="1"/>
              </p:cNvSpPr>
              <p:nvPr>
                <p:ph idx="4294967295"/>
              </p:nvPr>
            </p:nvSpPr>
            <p:spPr>
              <a:xfrm>
                <a:off x="838200" y="1825625"/>
                <a:ext cx="10515600" cy="4351338"/>
              </a:xfrm>
            </p:spPr>
            <p:txBody>
              <a:bodyPr>
                <a:normAutofit fontScale="92500" lnSpcReduction="20000"/>
              </a:bodyPr>
              <a:lstStyle/>
              <a:p>
                <a:pPr>
                  <a:lnSpc>
                    <a:spcPct val="120000"/>
                  </a:lnSpc>
                  <a:spcBef>
                    <a:spcPts val="0"/>
                  </a:spcBef>
                </a:pPr>
                <a:r>
                  <a:rPr lang="zh-CN" altLang="en-US" sz="2000" dirty="0">
                    <a:latin typeface="思源黑体 CN Bold" panose="020B0800000000000000" pitchFamily="34" charset="-122"/>
                    <a:ea typeface="思源黑体 CN Bold" panose="020B0800000000000000" pitchFamily="34" charset="-122"/>
                  </a:rPr>
                  <a:t>用于回归的神经网络</a:t>
                </a:r>
                <a14:m>
                  <m:oMath xmlns:m="http://schemas.openxmlformats.org/officeDocument/2006/math">
                    <m:r>
                      <a:rPr lang="en-US" altLang="zh-CN" sz="2000" b="0" i="1" smtClean="0">
                        <a:latin typeface="Cambria Math" panose="02040503050406030204" pitchFamily="18" charset="0"/>
                      </a:rPr>
                      <m:t>𝑦</m:t>
                    </m:r>
                    <m:r>
                      <a:rPr lang="en-US" altLang="zh-CN" sz="2000" i="1">
                        <a:latin typeface="Cambria Math" panose="02040503050406030204" pitchFamily="18" charset="0"/>
                      </a:rPr>
                      <m:t>=</m:t>
                    </m:r>
                    <m:nary>
                      <m:naryPr>
                        <m:chr m:val="∑"/>
                        <m:ctrlPr>
                          <a:rPr lang="en-US" altLang="zh-CN" sz="2000" i="1">
                            <a:latin typeface="Cambria Math" panose="02040503050406030204" pitchFamily="18" charset="0"/>
                          </a:rPr>
                        </m:ctrlPr>
                      </m:naryPr>
                      <m:sub>
                        <m:r>
                          <m:rPr>
                            <m:brk m:alnAt="23"/>
                          </m:rPr>
                          <a:rPr lang="en-US" altLang="zh-CN" sz="2000" i="1">
                            <a:latin typeface="Cambria Math" panose="02040503050406030204" pitchFamily="18" charset="0"/>
                          </a:rPr>
                          <m:t>𝑗</m:t>
                        </m:r>
                        <m:r>
                          <a:rPr lang="en-US" altLang="zh-CN" sz="2000" i="1">
                            <a:latin typeface="Cambria Math" panose="02040503050406030204" pitchFamily="18" charset="0"/>
                          </a:rPr>
                          <m:t>=1</m:t>
                        </m:r>
                      </m:sub>
                      <m:sup>
                        <m:r>
                          <a:rPr lang="en-US" altLang="zh-CN" sz="2000" i="1">
                            <a:latin typeface="Cambria Math" panose="02040503050406030204" pitchFamily="18" charset="0"/>
                          </a:rPr>
                          <m:t>𝑀</m:t>
                        </m:r>
                      </m:sup>
                      <m:e>
                        <m:sSup>
                          <m:sSupPr>
                            <m:ctrlPr>
                              <a:rPr lang="en-US" altLang="zh-CN" sz="2000" i="1">
                                <a:latin typeface="Cambria Math" panose="02040503050406030204" pitchFamily="18" charset="0"/>
                              </a:rPr>
                            </m:ctrlPr>
                          </m:sSupPr>
                          <m:e>
                            <m:r>
                              <a:rPr lang="en-US" altLang="zh-CN" sz="2000" i="1">
                                <a:latin typeface="Cambria Math" panose="02040503050406030204" pitchFamily="18" charset="0"/>
                              </a:rPr>
                              <m:t>𝑤</m:t>
                            </m:r>
                          </m:e>
                          <m:sup>
                            <m:d>
                              <m:dPr>
                                <m:ctrlPr>
                                  <a:rPr lang="en-US" altLang="zh-CN" sz="2000" b="1" i="1">
                                    <a:latin typeface="Cambria Math" panose="02040503050406030204" pitchFamily="18" charset="0"/>
                                  </a:rPr>
                                </m:ctrlPr>
                              </m:dPr>
                              <m:e>
                                <m:r>
                                  <a:rPr lang="en-US" altLang="zh-CN" sz="2000" i="1">
                                    <a:latin typeface="Cambria Math" panose="02040503050406030204" pitchFamily="18" charset="0"/>
                                  </a:rPr>
                                  <m:t>2</m:t>
                                </m:r>
                              </m:e>
                            </m:d>
                          </m:sup>
                        </m:sSup>
                      </m:e>
                    </m:nary>
                    <m:r>
                      <a:rPr lang="en-US" altLang="zh-CN" sz="2000" i="1">
                        <a:latin typeface="Cambria Math" panose="02040503050406030204" pitchFamily="18" charset="0"/>
                      </a:rPr>
                      <m:t>h</m:t>
                    </m:r>
                    <m:d>
                      <m:dPr>
                        <m:ctrlPr>
                          <a:rPr lang="en-US" altLang="zh-CN" sz="2000" b="1" i="1" smtClean="0">
                            <a:latin typeface="Cambria Math" panose="02040503050406030204" pitchFamily="18" charset="0"/>
                          </a:rPr>
                        </m:ctrlPr>
                      </m:dPr>
                      <m:e>
                        <m:nary>
                          <m:naryPr>
                            <m:chr m:val="∑"/>
                            <m:ctrlPr>
                              <a:rPr lang="en-US" altLang="zh-CN" sz="2000" i="1">
                                <a:latin typeface="Cambria Math" panose="02040503050406030204" pitchFamily="18" charset="0"/>
                              </a:rPr>
                            </m:ctrlPr>
                          </m:naryPr>
                          <m:sub>
                            <m:r>
                              <a:rPr lang="en-US" altLang="zh-CN" sz="2000" i="1">
                                <a:latin typeface="Cambria Math" panose="02040503050406030204" pitchFamily="18" charset="0"/>
                              </a:rPr>
                              <m:t>𝑖</m:t>
                            </m:r>
                            <m:r>
                              <a:rPr lang="en-US" altLang="zh-CN" sz="2000" i="1">
                                <a:latin typeface="Cambria Math" panose="02040503050406030204" pitchFamily="18" charset="0"/>
                              </a:rPr>
                              <m:t>=1</m:t>
                            </m:r>
                          </m:sub>
                          <m:sup>
                            <m:r>
                              <a:rPr lang="en-US" altLang="zh-CN" sz="2000" i="1">
                                <a:latin typeface="Cambria Math" panose="02040503050406030204" pitchFamily="18" charset="0"/>
                              </a:rPr>
                              <m:t>𝐷</m:t>
                            </m:r>
                          </m:sup>
                          <m:e>
                            <m:sSup>
                              <m:sSupPr>
                                <m:ctrlPr>
                                  <a:rPr lang="en-US" altLang="zh-CN" sz="2000" i="1">
                                    <a:latin typeface="Cambria Math" panose="02040503050406030204" pitchFamily="18" charset="0"/>
                                  </a:rPr>
                                </m:ctrlPr>
                              </m:sSupPr>
                              <m:e>
                                <m:r>
                                  <a:rPr lang="en-US" altLang="zh-CN" sz="2000" i="1">
                                    <a:latin typeface="Cambria Math" panose="02040503050406030204" pitchFamily="18" charset="0"/>
                                  </a:rPr>
                                  <m:t>𝑤</m:t>
                                </m:r>
                              </m:e>
                              <m:sup>
                                <m:d>
                                  <m:dPr>
                                    <m:ctrlPr>
                                      <a:rPr lang="en-US" altLang="zh-CN" sz="2000" b="1" i="1">
                                        <a:latin typeface="Cambria Math" panose="02040503050406030204" pitchFamily="18" charset="0"/>
                                      </a:rPr>
                                    </m:ctrlPr>
                                  </m:dPr>
                                  <m:e>
                                    <m:r>
                                      <a:rPr lang="en-US" altLang="zh-CN" sz="2000" i="1">
                                        <a:latin typeface="Cambria Math" panose="02040503050406030204" pitchFamily="18" charset="0"/>
                                      </a:rPr>
                                      <m:t>1</m:t>
                                    </m:r>
                                  </m:e>
                                </m:d>
                              </m:sup>
                            </m:sSup>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𝑖</m:t>
                                </m:r>
                              </m:sub>
                            </m:sSub>
                          </m:e>
                        </m:nary>
                      </m:e>
                    </m:d>
                  </m:oMath>
                </a14:m>
                <a:r>
                  <a:rPr lang="zh-CN" altLang="en-US" sz="2000" dirty="0">
                    <a:latin typeface="思源黑体 CN Bold" panose="020B0800000000000000" pitchFamily="34" charset="-122"/>
                    <a:ea typeface="思源黑体 CN Bold" panose="020B0800000000000000" pitchFamily="34" charset="-122"/>
                  </a:rPr>
                  <a:t>的损失函数</a:t>
                </a:r>
                <a:endParaRPr lang="en-US" altLang="zh-CN" sz="2000" dirty="0">
                  <a:latin typeface="思源黑体 CN Bold" panose="020B0800000000000000" pitchFamily="34" charset="-122"/>
                  <a:ea typeface="思源黑体 CN Bold" panose="020B0800000000000000" pitchFamily="34" charset="-122"/>
                </a:endParaRPr>
              </a:p>
              <a:p>
                <a:pPr marL="0" indent="0">
                  <a:lnSpc>
                    <a:spcPct val="120000"/>
                  </a:lnSpc>
                  <a:spcBef>
                    <a:spcPts val="0"/>
                  </a:spcBef>
                  <a:buNone/>
                </a:pPr>
                <a14:m>
                  <m:oMathPara xmlns:m="http://schemas.openxmlformats.org/officeDocument/2006/math">
                    <m:oMathParaPr>
                      <m:jc m:val="centerGroup"/>
                    </m:oMathParaPr>
                    <m:oMath xmlns:m="http://schemas.openxmlformats.org/officeDocument/2006/math">
                      <m:r>
                        <a:rPr lang="en-US" altLang="zh-CN" sz="2000" i="1" dirty="0">
                          <a:latin typeface="Cambria Math" panose="02040503050406030204" pitchFamily="18" charset="0"/>
                          <a:ea typeface="Source Han Sans Medium" panose="020B0600000000000000" pitchFamily="34" charset="-122"/>
                        </a:rPr>
                        <m:t>𝐿𝑜𝑠𝑠</m:t>
                      </m:r>
                      <m:d>
                        <m:dPr>
                          <m:ctrlPr>
                            <a:rPr lang="en-US" altLang="zh-CN" sz="2000" b="1" i="1" dirty="0">
                              <a:latin typeface="Cambria Math" panose="02040503050406030204" pitchFamily="18" charset="0"/>
                              <a:ea typeface="Source Han Sans Medium" panose="020B0600000000000000" pitchFamily="34" charset="-122"/>
                            </a:rPr>
                          </m:ctrlPr>
                        </m:dPr>
                        <m:e>
                          <m:r>
                            <a:rPr lang="en-US" altLang="zh-CN" sz="2000" b="1" dirty="0">
                              <a:latin typeface="Cambria Math" panose="02040503050406030204" pitchFamily="18" charset="0"/>
                              <a:ea typeface="Source Han Sans Medium" panose="020B0600000000000000" pitchFamily="34" charset="-122"/>
                            </a:rPr>
                            <m:t>𝐰</m:t>
                          </m:r>
                        </m:e>
                      </m:d>
                      <m:r>
                        <a:rPr lang="en-US" altLang="zh-CN" sz="2000" b="1" i="1" dirty="0">
                          <a:latin typeface="Cambria Math" panose="02040503050406030204" pitchFamily="18" charset="0"/>
                          <a:ea typeface="Source Han Sans Medium" panose="020B0600000000000000" pitchFamily="34" charset="-122"/>
                        </a:rPr>
                        <m:t>=</m:t>
                      </m:r>
                      <m:f>
                        <m:fPr>
                          <m:ctrlPr>
                            <a:rPr lang="en-US" altLang="zh-CN" sz="2000" i="1" dirty="0">
                              <a:latin typeface="Cambria Math" panose="02040503050406030204" pitchFamily="18" charset="0"/>
                              <a:ea typeface="Source Han Sans Medium" panose="020B0600000000000000" pitchFamily="34" charset="-122"/>
                            </a:rPr>
                          </m:ctrlPr>
                        </m:fPr>
                        <m:num>
                          <m:r>
                            <a:rPr lang="en-US" altLang="zh-CN" sz="2000" i="1" dirty="0">
                              <a:latin typeface="Cambria Math" panose="02040503050406030204" pitchFamily="18" charset="0"/>
                              <a:ea typeface="Source Han Sans Medium" panose="020B0600000000000000" pitchFamily="34" charset="-122"/>
                            </a:rPr>
                            <m:t>1</m:t>
                          </m:r>
                        </m:num>
                        <m:den>
                          <m:r>
                            <a:rPr lang="en-US" altLang="zh-CN" sz="2000" i="1" dirty="0">
                              <a:latin typeface="Cambria Math" panose="02040503050406030204" pitchFamily="18" charset="0"/>
                              <a:ea typeface="Source Han Sans Medium" panose="020B0600000000000000" pitchFamily="34" charset="-122"/>
                            </a:rPr>
                            <m:t>2</m:t>
                          </m:r>
                        </m:den>
                      </m:f>
                      <m:nary>
                        <m:naryPr>
                          <m:chr m:val="∑"/>
                          <m:ctrlPr>
                            <a:rPr lang="en-US" altLang="zh-CN" sz="2000" b="1" i="1" dirty="0">
                              <a:latin typeface="Cambria Math" panose="02040503050406030204" pitchFamily="18" charset="0"/>
                              <a:ea typeface="Source Han Sans Medium" panose="020B0600000000000000" pitchFamily="34" charset="-122"/>
                            </a:rPr>
                          </m:ctrlPr>
                        </m:naryPr>
                        <m:sub>
                          <m:r>
                            <a:rPr lang="en-US" altLang="zh-CN" sz="2000" i="1" dirty="0">
                              <a:latin typeface="Cambria Math" panose="02040503050406030204" pitchFamily="18" charset="0"/>
                              <a:ea typeface="Source Han Sans Medium" panose="020B0600000000000000" pitchFamily="34" charset="-122"/>
                            </a:rPr>
                            <m:t>𝑛</m:t>
                          </m:r>
                          <m:r>
                            <a:rPr lang="en-US" altLang="zh-CN" sz="2000" i="1" dirty="0">
                              <a:latin typeface="Cambria Math" panose="02040503050406030204" pitchFamily="18" charset="0"/>
                              <a:ea typeface="Source Han Sans Medium" panose="020B0600000000000000" pitchFamily="34" charset="-122"/>
                            </a:rPr>
                            <m:t>=1</m:t>
                          </m:r>
                        </m:sub>
                        <m:sup>
                          <m:r>
                            <a:rPr lang="en-US" altLang="zh-CN" sz="2000" i="1" dirty="0">
                              <a:latin typeface="Cambria Math" panose="02040503050406030204" pitchFamily="18" charset="0"/>
                              <a:ea typeface="Source Han Sans Medium" panose="020B0600000000000000" pitchFamily="34" charset="-122"/>
                            </a:rPr>
                            <m:t>𝑁</m:t>
                          </m:r>
                        </m:sup>
                        <m:e>
                          <m:sSup>
                            <m:sSupPr>
                              <m:ctrlPr>
                                <a:rPr lang="en-US" altLang="zh-CN" sz="2000" b="1" i="1" dirty="0">
                                  <a:latin typeface="Cambria Math" panose="02040503050406030204" pitchFamily="18" charset="0"/>
                                  <a:ea typeface="Source Han Sans Medium" panose="020B0600000000000000" pitchFamily="34" charset="-122"/>
                                </a:rPr>
                              </m:ctrlPr>
                            </m:sSupPr>
                            <m:e>
                              <m:d>
                                <m:dPr>
                                  <m:ctrlPr>
                                    <a:rPr lang="en-US" altLang="zh-CN" sz="2000" b="1" i="1" dirty="0">
                                      <a:latin typeface="Cambria Math" panose="02040503050406030204" pitchFamily="18" charset="0"/>
                                      <a:ea typeface="Source Han Sans Medium" panose="020B0600000000000000" pitchFamily="34" charset="-122"/>
                                    </a:rPr>
                                  </m:ctrlPr>
                                </m:dPr>
                                <m:e>
                                  <m:sSub>
                                    <m:sSubPr>
                                      <m:ctrlPr>
                                        <a:rPr lang="en-US" altLang="zh-CN" sz="2000" i="1">
                                          <a:latin typeface="Cambria Math" panose="02040503050406030204" pitchFamily="18" charset="0"/>
                                        </a:rPr>
                                      </m:ctrlPr>
                                    </m:sSubPr>
                                    <m:e>
                                      <m:r>
                                        <a:rPr lang="en-US" altLang="zh-CN" sz="2000" b="0" i="1" smtClean="0">
                                          <a:latin typeface="Cambria Math" panose="02040503050406030204" pitchFamily="18" charset="0"/>
                                        </a:rPr>
                                        <m:t>𝑦</m:t>
                                      </m:r>
                                    </m:e>
                                    <m:sub>
                                      <m:r>
                                        <a:rPr lang="en-US" altLang="zh-CN" sz="2000" b="0" i="1" smtClean="0">
                                          <a:latin typeface="Cambria Math" panose="02040503050406030204" pitchFamily="18" charset="0"/>
                                        </a:rPr>
                                        <m:t>𝑛</m:t>
                                      </m:r>
                                    </m:sub>
                                  </m:sSub>
                                  <m:r>
                                    <a:rPr lang="en-US" altLang="zh-CN" sz="2000" b="1" i="1" dirty="0">
                                      <a:latin typeface="Cambria Math" panose="02040503050406030204" pitchFamily="18" charset="0"/>
                                      <a:ea typeface="Source Han Sans Medium" panose="020B0600000000000000" pitchFamily="34" charset="-122"/>
                                    </a:rPr>
                                    <m:t>−</m:t>
                                  </m:r>
                                  <m:sSub>
                                    <m:sSubPr>
                                      <m:ctrlPr>
                                        <a:rPr lang="en-US" altLang="zh-CN" sz="2000" i="1" dirty="0">
                                          <a:latin typeface="Cambria Math" panose="02040503050406030204" pitchFamily="18" charset="0"/>
                                          <a:ea typeface="Source Han Sans Medium" panose="020B0600000000000000" pitchFamily="34" charset="-122"/>
                                        </a:rPr>
                                      </m:ctrlPr>
                                    </m:sSubPr>
                                    <m:e>
                                      <m:r>
                                        <a:rPr lang="en-US" altLang="zh-CN" sz="2000" b="0" i="1" dirty="0" smtClean="0">
                                          <a:latin typeface="Cambria Math" panose="02040503050406030204" pitchFamily="18" charset="0"/>
                                          <a:ea typeface="Source Han Sans Medium" panose="020B0600000000000000" pitchFamily="34" charset="-122"/>
                                        </a:rPr>
                                        <m:t>𝑡</m:t>
                                      </m:r>
                                    </m:e>
                                    <m:sub>
                                      <m:r>
                                        <a:rPr lang="en-US" altLang="zh-CN" sz="2000" i="1" dirty="0">
                                          <a:latin typeface="Cambria Math" panose="02040503050406030204" pitchFamily="18" charset="0"/>
                                          <a:ea typeface="Source Han Sans Medium" panose="020B0600000000000000" pitchFamily="34" charset="-122"/>
                                        </a:rPr>
                                        <m:t>𝑛</m:t>
                                      </m:r>
                                    </m:sub>
                                  </m:sSub>
                                </m:e>
                              </m:d>
                            </m:e>
                            <m:sup>
                              <m:r>
                                <a:rPr lang="en-US" altLang="zh-CN" sz="2000" i="1" dirty="0">
                                  <a:latin typeface="Cambria Math" panose="02040503050406030204" pitchFamily="18" charset="0"/>
                                  <a:ea typeface="Source Han Sans Medium" panose="020B0600000000000000" pitchFamily="34" charset="-122"/>
                                </a:rPr>
                                <m:t>2</m:t>
                              </m:r>
                            </m:sup>
                          </m:sSup>
                        </m:e>
                      </m:nary>
                    </m:oMath>
                  </m:oMathPara>
                </a14:m>
                <a:endParaRPr lang="en-US" altLang="zh-CN" sz="2000" dirty="0">
                  <a:latin typeface="思源黑体 CN Bold" panose="020B0800000000000000" pitchFamily="34" charset="-122"/>
                  <a:ea typeface="思源黑体 CN Bold" panose="020B0800000000000000" pitchFamily="34" charset="-122"/>
                </a:endParaRPr>
              </a:p>
              <a:p>
                <a:pPr>
                  <a:lnSpc>
                    <a:spcPct val="120000"/>
                  </a:lnSpc>
                  <a:spcBef>
                    <a:spcPts val="0"/>
                  </a:spcBef>
                </a:pPr>
                <a:r>
                  <a:rPr lang="zh-CN" altLang="en-US" sz="2000" dirty="0">
                    <a:latin typeface="思源黑体 CN Bold" panose="020B0800000000000000" pitchFamily="34" charset="-122"/>
                    <a:ea typeface="思源黑体 CN Bold" panose="020B0800000000000000" pitchFamily="34" charset="-122"/>
                  </a:rPr>
                  <a:t>用于两类分类的神经网络</a:t>
                </a:r>
                <a14:m>
                  <m:oMath xmlns:m="http://schemas.openxmlformats.org/officeDocument/2006/math">
                    <m:r>
                      <a:rPr lang="en-US" altLang="zh-CN" sz="2000" i="1" smtClean="0">
                        <a:latin typeface="Cambria Math" panose="02040503050406030204" pitchFamily="18" charset="0"/>
                      </a:rPr>
                      <m:t>𝑦</m:t>
                    </m:r>
                    <m:r>
                      <a:rPr lang="en-US" altLang="zh-CN" sz="2000" i="1">
                        <a:latin typeface="Cambria Math" panose="02040503050406030204" pitchFamily="18" charset="0"/>
                      </a:rPr>
                      <m:t>=</m:t>
                    </m:r>
                    <m:r>
                      <a:rPr lang="en-US" altLang="zh-CN" sz="2000" i="1">
                        <a:latin typeface="Cambria Math" panose="02040503050406030204" pitchFamily="18" charset="0"/>
                      </a:rPr>
                      <m:t>𝑠𝑖𝑔𝑚𝑜𝑖𝑑</m:t>
                    </m:r>
                    <m:d>
                      <m:dPr>
                        <m:ctrlPr>
                          <a:rPr lang="en-US" altLang="zh-CN" sz="2000" i="1">
                            <a:latin typeface="Cambria Math" panose="02040503050406030204" pitchFamily="18" charset="0"/>
                          </a:rPr>
                        </m:ctrlPr>
                      </m:dPr>
                      <m:e>
                        <m:nary>
                          <m:naryPr>
                            <m:chr m:val="∑"/>
                            <m:ctrlPr>
                              <a:rPr lang="en-US" altLang="zh-CN" sz="2000" i="1">
                                <a:latin typeface="Cambria Math" panose="02040503050406030204" pitchFamily="18" charset="0"/>
                              </a:rPr>
                            </m:ctrlPr>
                          </m:naryPr>
                          <m:sub>
                            <m:r>
                              <m:rPr>
                                <m:brk m:alnAt="23"/>
                              </m:rPr>
                              <a:rPr lang="en-US" altLang="zh-CN" sz="2000" i="1">
                                <a:latin typeface="Cambria Math" panose="02040503050406030204" pitchFamily="18" charset="0"/>
                              </a:rPr>
                              <m:t>𝑗</m:t>
                            </m:r>
                            <m:r>
                              <a:rPr lang="en-US" altLang="zh-CN" sz="2000" i="1">
                                <a:latin typeface="Cambria Math" panose="02040503050406030204" pitchFamily="18" charset="0"/>
                              </a:rPr>
                              <m:t>=1</m:t>
                            </m:r>
                          </m:sub>
                          <m:sup>
                            <m:r>
                              <a:rPr lang="en-US" altLang="zh-CN" sz="2000" i="1">
                                <a:latin typeface="Cambria Math" panose="02040503050406030204" pitchFamily="18" charset="0"/>
                              </a:rPr>
                              <m:t>𝑀</m:t>
                            </m:r>
                          </m:sup>
                          <m:e>
                            <m:sSup>
                              <m:sSupPr>
                                <m:ctrlPr>
                                  <a:rPr lang="en-US" altLang="zh-CN" sz="2000" i="1">
                                    <a:latin typeface="Cambria Math" panose="02040503050406030204" pitchFamily="18" charset="0"/>
                                  </a:rPr>
                                </m:ctrlPr>
                              </m:sSupPr>
                              <m:e>
                                <m:r>
                                  <a:rPr lang="en-US" altLang="zh-CN" sz="2000" i="1">
                                    <a:latin typeface="Cambria Math" panose="02040503050406030204" pitchFamily="18" charset="0"/>
                                  </a:rPr>
                                  <m:t>𝑤</m:t>
                                </m:r>
                              </m:e>
                              <m:sup>
                                <m:d>
                                  <m:dPr>
                                    <m:ctrlPr>
                                      <a:rPr lang="en-US" altLang="zh-CN" sz="2000" b="1" i="1">
                                        <a:latin typeface="Cambria Math" panose="02040503050406030204" pitchFamily="18" charset="0"/>
                                      </a:rPr>
                                    </m:ctrlPr>
                                  </m:dPr>
                                  <m:e>
                                    <m:r>
                                      <a:rPr lang="en-US" altLang="zh-CN" sz="2000" i="1">
                                        <a:latin typeface="Cambria Math" panose="02040503050406030204" pitchFamily="18" charset="0"/>
                                      </a:rPr>
                                      <m:t>2</m:t>
                                    </m:r>
                                  </m:e>
                                </m:d>
                              </m:sup>
                            </m:sSup>
                          </m:e>
                        </m:nary>
                        <m:r>
                          <a:rPr lang="en-US" altLang="zh-CN" sz="2000" i="1">
                            <a:latin typeface="Cambria Math" panose="02040503050406030204" pitchFamily="18" charset="0"/>
                          </a:rPr>
                          <m:t>h</m:t>
                        </m:r>
                        <m:d>
                          <m:dPr>
                            <m:ctrlPr>
                              <a:rPr lang="en-US" altLang="zh-CN" sz="2000" b="1" i="1">
                                <a:latin typeface="Cambria Math" panose="02040503050406030204" pitchFamily="18" charset="0"/>
                              </a:rPr>
                            </m:ctrlPr>
                          </m:dPr>
                          <m:e>
                            <m:nary>
                              <m:naryPr>
                                <m:chr m:val="∑"/>
                                <m:ctrlPr>
                                  <a:rPr lang="en-US" altLang="zh-CN" sz="2000" i="1">
                                    <a:latin typeface="Cambria Math" panose="02040503050406030204" pitchFamily="18" charset="0"/>
                                  </a:rPr>
                                </m:ctrlPr>
                              </m:naryPr>
                              <m:sub>
                                <m:r>
                                  <a:rPr lang="en-US" altLang="zh-CN" sz="2000" i="1">
                                    <a:latin typeface="Cambria Math" panose="02040503050406030204" pitchFamily="18" charset="0"/>
                                  </a:rPr>
                                  <m:t>𝑖</m:t>
                                </m:r>
                                <m:r>
                                  <a:rPr lang="en-US" altLang="zh-CN" sz="2000" i="1">
                                    <a:latin typeface="Cambria Math" panose="02040503050406030204" pitchFamily="18" charset="0"/>
                                  </a:rPr>
                                  <m:t>=1</m:t>
                                </m:r>
                              </m:sub>
                              <m:sup>
                                <m:r>
                                  <a:rPr lang="en-US" altLang="zh-CN" sz="2000" i="1">
                                    <a:latin typeface="Cambria Math" panose="02040503050406030204" pitchFamily="18" charset="0"/>
                                  </a:rPr>
                                  <m:t>𝐷</m:t>
                                </m:r>
                              </m:sup>
                              <m:e>
                                <m:sSup>
                                  <m:sSupPr>
                                    <m:ctrlPr>
                                      <a:rPr lang="en-US" altLang="zh-CN" sz="2000" i="1">
                                        <a:latin typeface="Cambria Math" panose="02040503050406030204" pitchFamily="18" charset="0"/>
                                      </a:rPr>
                                    </m:ctrlPr>
                                  </m:sSupPr>
                                  <m:e>
                                    <m:r>
                                      <a:rPr lang="en-US" altLang="zh-CN" sz="2000" i="1">
                                        <a:latin typeface="Cambria Math" panose="02040503050406030204" pitchFamily="18" charset="0"/>
                                      </a:rPr>
                                      <m:t>𝑤</m:t>
                                    </m:r>
                                  </m:e>
                                  <m:sup>
                                    <m:d>
                                      <m:dPr>
                                        <m:ctrlPr>
                                          <a:rPr lang="en-US" altLang="zh-CN" sz="2000" b="1" i="1">
                                            <a:latin typeface="Cambria Math" panose="02040503050406030204" pitchFamily="18" charset="0"/>
                                          </a:rPr>
                                        </m:ctrlPr>
                                      </m:dPr>
                                      <m:e>
                                        <m:r>
                                          <a:rPr lang="en-US" altLang="zh-CN" sz="2000" i="1">
                                            <a:latin typeface="Cambria Math" panose="02040503050406030204" pitchFamily="18" charset="0"/>
                                          </a:rPr>
                                          <m:t>1</m:t>
                                        </m:r>
                                      </m:e>
                                    </m:d>
                                  </m:sup>
                                </m:sSup>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𝑖</m:t>
                                    </m:r>
                                  </m:sub>
                                </m:sSub>
                              </m:e>
                            </m:nary>
                          </m:e>
                        </m:d>
                      </m:e>
                    </m:d>
                  </m:oMath>
                </a14:m>
                <a:r>
                  <a:rPr lang="zh-CN" altLang="en-US" sz="2000" dirty="0">
                    <a:latin typeface="思源黑体 CN Bold" panose="020B0800000000000000" pitchFamily="34" charset="-122"/>
                    <a:ea typeface="思源黑体 CN Bold" panose="020B0800000000000000" pitchFamily="34" charset="-122"/>
                  </a:rPr>
                  <a:t>的损失函数</a:t>
                </a:r>
                <a:endParaRPr lang="en-US" altLang="zh-CN" sz="2000" dirty="0">
                  <a:latin typeface="思源黑体 CN Bold" panose="020B0800000000000000" pitchFamily="34" charset="-122"/>
                  <a:ea typeface="思源黑体 CN Bold" panose="020B0800000000000000" pitchFamily="34" charset="-122"/>
                </a:endParaRPr>
              </a:p>
              <a:p>
                <a:pPr marL="0" indent="0">
                  <a:lnSpc>
                    <a:spcPct val="120000"/>
                  </a:lnSpc>
                  <a:spcBef>
                    <a:spcPts val="0"/>
                  </a:spcBef>
                  <a:buNone/>
                </a:pPr>
                <a14:m>
                  <m:oMathPara xmlns:m="http://schemas.openxmlformats.org/officeDocument/2006/math">
                    <m:oMathParaPr>
                      <m:jc m:val="centerGroup"/>
                    </m:oMathParaPr>
                    <m:oMath xmlns:m="http://schemas.openxmlformats.org/officeDocument/2006/math">
                      <m:r>
                        <m:rPr>
                          <m:sty m:val="p"/>
                        </m:rPr>
                        <a:rPr lang="en-US" altLang="zh-CN" sz="2000" i="1" dirty="0">
                          <a:latin typeface="Cambria Math" panose="02040503050406030204" pitchFamily="18" charset="0"/>
                        </a:rPr>
                        <m:t>Loss</m:t>
                      </m:r>
                      <m:d>
                        <m:dPr>
                          <m:ctrlPr>
                            <a:rPr lang="en-US" altLang="zh-CN" sz="2000" i="1" dirty="0">
                              <a:latin typeface="Cambria Math" panose="02040503050406030204" pitchFamily="18" charset="0"/>
                            </a:rPr>
                          </m:ctrlPr>
                        </m:dPr>
                        <m:e>
                          <m:r>
                            <a:rPr lang="en-US" altLang="zh-CN" sz="2000" b="1">
                              <a:latin typeface="Cambria Math" panose="02040503050406030204" pitchFamily="18" charset="0"/>
                            </a:rPr>
                            <m:t>𝐰</m:t>
                          </m:r>
                        </m:e>
                      </m:d>
                      <m:r>
                        <a:rPr lang="en-US" altLang="zh-CN" sz="2000" b="1" i="1">
                          <a:latin typeface="Cambria Math" panose="02040503050406030204" pitchFamily="18" charset="0"/>
                        </a:rPr>
                        <m:t>=−</m:t>
                      </m:r>
                      <m:nary>
                        <m:naryPr>
                          <m:chr m:val="∑"/>
                          <m:ctrlPr>
                            <a:rPr lang="en-US" altLang="zh-CN" sz="2000" b="1" i="1">
                              <a:latin typeface="Cambria Math" panose="02040503050406030204" pitchFamily="18" charset="0"/>
                            </a:rPr>
                          </m:ctrlPr>
                        </m:naryPr>
                        <m:sub>
                          <m:r>
                            <m:rPr>
                              <m:brk m:alnAt="23"/>
                            </m:rPr>
                            <a:rPr lang="en-US" altLang="zh-CN" sz="2000" i="1">
                              <a:latin typeface="Cambria Math" panose="02040503050406030204" pitchFamily="18" charset="0"/>
                            </a:rPr>
                            <m:t>𝑛</m:t>
                          </m:r>
                          <m:r>
                            <a:rPr lang="en-US" altLang="zh-CN" sz="2000" i="1">
                              <a:latin typeface="Cambria Math" panose="02040503050406030204" pitchFamily="18" charset="0"/>
                            </a:rPr>
                            <m:t>=1</m:t>
                          </m:r>
                        </m:sub>
                        <m:sup>
                          <m:r>
                            <a:rPr lang="en-US" altLang="zh-CN" sz="2000" i="1">
                              <a:latin typeface="Cambria Math" panose="02040503050406030204" pitchFamily="18" charset="0"/>
                            </a:rPr>
                            <m:t>𝑁</m:t>
                          </m:r>
                        </m:sup>
                        <m:e>
                          <m:d>
                            <m:dPr>
                              <m:begChr m:val="{"/>
                              <m:endChr m:val="}"/>
                              <m:ctrlPr>
                                <a:rPr lang="en-US" altLang="zh-CN" sz="2000" b="1" i="1">
                                  <a:latin typeface="Cambria Math" panose="02040503050406030204" pitchFamily="18" charset="0"/>
                                </a:rPr>
                              </m:ctrlPr>
                            </m:dPr>
                            <m:e>
                              <m:sSub>
                                <m:sSubPr>
                                  <m:ctrlPr>
                                    <a:rPr lang="en-US" altLang="zh-CN" sz="2000" b="1" i="1">
                                      <a:latin typeface="Cambria Math" panose="02040503050406030204" pitchFamily="18" charset="0"/>
                                    </a:rPr>
                                  </m:ctrlPr>
                                </m:sSubPr>
                                <m:e>
                                  <m:r>
                                    <a:rPr lang="en-US" altLang="zh-CN" sz="2000" b="0" i="1" smtClean="0">
                                      <a:latin typeface="Cambria Math" panose="02040503050406030204" pitchFamily="18" charset="0"/>
                                    </a:rPr>
                                    <m:t>𝑡</m:t>
                                  </m:r>
                                </m:e>
                                <m:sub>
                                  <m:r>
                                    <a:rPr lang="en-US" altLang="zh-CN" sz="2000" i="1">
                                      <a:latin typeface="Cambria Math" panose="02040503050406030204" pitchFamily="18" charset="0"/>
                                    </a:rPr>
                                    <m:t>𝑛</m:t>
                                  </m:r>
                                </m:sub>
                              </m:sSub>
                              <m:r>
                                <m:rPr>
                                  <m:sty m:val="p"/>
                                </m:rPr>
                                <a:rPr lang="en-US" altLang="zh-CN" sz="2000">
                                  <a:latin typeface="Cambria Math" panose="02040503050406030204" pitchFamily="18" charset="0"/>
                                </a:rPr>
                                <m:t>ln</m:t>
                              </m:r>
                              <m:sSub>
                                <m:sSubPr>
                                  <m:ctrlPr>
                                    <a:rPr lang="en-US" altLang="zh-CN" sz="2000" i="1">
                                      <a:latin typeface="Cambria Math" panose="02040503050406030204" pitchFamily="18" charset="0"/>
                                    </a:rPr>
                                  </m:ctrlPr>
                                </m:sSubPr>
                                <m:e>
                                  <m:r>
                                    <a:rPr lang="en-US" altLang="zh-CN" sz="2000" b="0" i="1" smtClean="0">
                                      <a:latin typeface="Cambria Math" panose="02040503050406030204" pitchFamily="18" charset="0"/>
                                    </a:rPr>
                                    <m:t>𝑦</m:t>
                                  </m:r>
                                </m:e>
                                <m:sub>
                                  <m:r>
                                    <a:rPr lang="en-US" altLang="zh-CN" sz="2000" b="0" i="1" smtClean="0">
                                      <a:latin typeface="Cambria Math" panose="02040503050406030204" pitchFamily="18" charset="0"/>
                                    </a:rPr>
                                    <m:t>𝑛</m:t>
                                  </m:r>
                                </m:sub>
                              </m:sSub>
                              <m:r>
                                <a:rPr lang="en-US" altLang="zh-CN" sz="2000" i="1">
                                  <a:latin typeface="Cambria Math" panose="02040503050406030204" pitchFamily="18" charset="0"/>
                                </a:rPr>
                                <m:t>+</m:t>
                              </m:r>
                              <m:d>
                                <m:dPr>
                                  <m:ctrlPr>
                                    <a:rPr lang="en-US" altLang="zh-CN" sz="2000" b="1" i="1">
                                      <a:latin typeface="Cambria Math" panose="02040503050406030204" pitchFamily="18" charset="0"/>
                                    </a:rPr>
                                  </m:ctrlPr>
                                </m:dPr>
                                <m:e>
                                  <m:r>
                                    <a:rPr lang="en-US" altLang="zh-CN" sz="2000" i="1">
                                      <a:latin typeface="Cambria Math" panose="02040503050406030204" pitchFamily="18" charset="0"/>
                                    </a:rPr>
                                    <m:t>1−</m:t>
                                  </m:r>
                                  <m:sSub>
                                    <m:sSubPr>
                                      <m:ctrlPr>
                                        <a:rPr lang="en-US" altLang="zh-CN" sz="2000" b="1" i="1">
                                          <a:latin typeface="Cambria Math" panose="02040503050406030204" pitchFamily="18" charset="0"/>
                                        </a:rPr>
                                      </m:ctrlPr>
                                    </m:sSubPr>
                                    <m:e>
                                      <m:r>
                                        <a:rPr lang="en-US" altLang="zh-CN" sz="2000" b="0" i="1" smtClean="0">
                                          <a:latin typeface="Cambria Math" panose="02040503050406030204" pitchFamily="18" charset="0"/>
                                        </a:rPr>
                                        <m:t>𝑡</m:t>
                                      </m:r>
                                    </m:e>
                                    <m:sub>
                                      <m:r>
                                        <a:rPr lang="en-US" altLang="zh-CN" sz="2000" i="1">
                                          <a:latin typeface="Cambria Math" panose="02040503050406030204" pitchFamily="18" charset="0"/>
                                        </a:rPr>
                                        <m:t>𝑛</m:t>
                                      </m:r>
                                    </m:sub>
                                  </m:sSub>
                                </m:e>
                              </m:d>
                              <m:r>
                                <m:rPr>
                                  <m:sty m:val="p"/>
                                </m:rPr>
                                <a:rPr lang="en-US" altLang="zh-CN" sz="2000">
                                  <a:latin typeface="Cambria Math" panose="02040503050406030204" pitchFamily="18" charset="0"/>
                                </a:rPr>
                                <m:t>ln</m:t>
                              </m:r>
                              <m:d>
                                <m:dPr>
                                  <m:ctrlPr>
                                    <a:rPr lang="en-US" altLang="zh-CN" sz="2000" i="1">
                                      <a:latin typeface="Cambria Math" panose="02040503050406030204" pitchFamily="18" charset="0"/>
                                    </a:rPr>
                                  </m:ctrlPr>
                                </m:dPr>
                                <m:e>
                                  <m:r>
                                    <a:rPr lang="en-US" altLang="zh-CN" sz="2000" i="1">
                                      <a:latin typeface="Cambria Math" panose="02040503050406030204" pitchFamily="18" charset="0"/>
                                    </a:rPr>
                                    <m:t>1−</m:t>
                                  </m:r>
                                  <m:sSub>
                                    <m:sSubPr>
                                      <m:ctrlPr>
                                        <a:rPr lang="en-US" altLang="zh-CN" sz="2000" i="1">
                                          <a:latin typeface="Cambria Math" panose="02040503050406030204" pitchFamily="18" charset="0"/>
                                        </a:rPr>
                                      </m:ctrlPr>
                                    </m:sSubPr>
                                    <m:e>
                                      <m:r>
                                        <a:rPr lang="en-US" altLang="zh-CN" sz="2000" b="0" i="1" smtClean="0">
                                          <a:latin typeface="Cambria Math" panose="02040503050406030204" pitchFamily="18" charset="0"/>
                                        </a:rPr>
                                        <m:t>𝑦</m:t>
                                      </m:r>
                                    </m:e>
                                    <m:sub>
                                      <m:r>
                                        <a:rPr lang="en-US" altLang="zh-CN" sz="2000" b="0" i="1" smtClean="0">
                                          <a:latin typeface="Cambria Math" panose="02040503050406030204" pitchFamily="18" charset="0"/>
                                        </a:rPr>
                                        <m:t>𝑛</m:t>
                                      </m:r>
                                    </m:sub>
                                  </m:sSub>
                                </m:e>
                              </m:d>
                            </m:e>
                          </m:d>
                        </m:e>
                      </m:nary>
                    </m:oMath>
                  </m:oMathPara>
                </a14:m>
                <a:endParaRPr lang="en-US" altLang="zh-CN" sz="2000" dirty="0">
                  <a:latin typeface="思源黑体 CN Bold" panose="020B0800000000000000" pitchFamily="34" charset="-122"/>
                  <a:ea typeface="思源黑体 CN Bold" panose="020B0800000000000000" pitchFamily="34" charset="-122"/>
                </a:endParaRPr>
              </a:p>
              <a:p>
                <a:pPr>
                  <a:lnSpc>
                    <a:spcPct val="120000"/>
                  </a:lnSpc>
                  <a:spcBef>
                    <a:spcPts val="0"/>
                  </a:spcBef>
                </a:pPr>
                <a:r>
                  <a:rPr lang="zh-CN" altLang="en-US" sz="2000" dirty="0">
                    <a:latin typeface="思源黑体 CN Bold" panose="020B0800000000000000" pitchFamily="34" charset="-122"/>
                    <a:ea typeface="思源黑体 CN Bold" panose="020B0800000000000000" pitchFamily="34" charset="-122"/>
                  </a:rPr>
                  <a:t>用于多类分类的神经网络</a:t>
                </a:r>
                <a14:m>
                  <m:oMath xmlns:m="http://schemas.openxmlformats.org/officeDocument/2006/math">
                    <m:sSub>
                      <m:sSubPr>
                        <m:ctrlPr>
                          <a:rPr lang="en-US" altLang="zh-CN" sz="2000" i="1">
                            <a:latin typeface="Cambria Math" panose="02040503050406030204" pitchFamily="18" charset="0"/>
                          </a:rPr>
                        </m:ctrlPr>
                      </m:sSubPr>
                      <m:e>
                        <m:r>
                          <a:rPr lang="en-US" altLang="zh-CN" sz="2000" b="0" i="1" smtClean="0">
                            <a:latin typeface="Cambria Math" panose="02040503050406030204" pitchFamily="18" charset="0"/>
                          </a:rPr>
                          <m:t>𝑦</m:t>
                        </m:r>
                      </m:e>
                      <m:sub>
                        <m:r>
                          <a:rPr lang="en-US" altLang="zh-CN" sz="2000" i="1">
                            <a:latin typeface="Cambria Math" panose="02040503050406030204" pitchFamily="18" charset="0"/>
                          </a:rPr>
                          <m:t>𝑘</m:t>
                        </m:r>
                      </m:sub>
                    </m:sSub>
                    <m:r>
                      <a:rPr lang="en-US" altLang="zh-CN" sz="2000" i="1">
                        <a:latin typeface="Cambria Math" panose="02040503050406030204" pitchFamily="18" charset="0"/>
                      </a:rPr>
                      <m:t>=</m:t>
                    </m:r>
                    <m:r>
                      <a:rPr lang="en-US" altLang="zh-CN" sz="2000" i="1">
                        <a:latin typeface="Cambria Math" panose="02040503050406030204" pitchFamily="18" charset="0"/>
                      </a:rPr>
                      <m:t>𝑠𝑜𝑓𝑡𝑚𝑎𝑥</m:t>
                    </m:r>
                    <m:d>
                      <m:dPr>
                        <m:ctrlPr>
                          <a:rPr lang="en-US" altLang="zh-CN" sz="2000" i="1">
                            <a:latin typeface="Cambria Math" panose="02040503050406030204" pitchFamily="18" charset="0"/>
                          </a:rPr>
                        </m:ctrlPr>
                      </m:dPr>
                      <m:e>
                        <m:nary>
                          <m:naryPr>
                            <m:chr m:val="∑"/>
                            <m:ctrlPr>
                              <a:rPr lang="en-US" altLang="zh-CN" sz="2000" i="1">
                                <a:latin typeface="Cambria Math" panose="02040503050406030204" pitchFamily="18" charset="0"/>
                              </a:rPr>
                            </m:ctrlPr>
                          </m:naryPr>
                          <m:sub>
                            <m:r>
                              <m:rPr>
                                <m:brk m:alnAt="23"/>
                              </m:rPr>
                              <a:rPr lang="en-US" altLang="zh-CN" sz="2000" i="1">
                                <a:latin typeface="Cambria Math" panose="02040503050406030204" pitchFamily="18" charset="0"/>
                              </a:rPr>
                              <m:t>𝑗</m:t>
                            </m:r>
                            <m:r>
                              <a:rPr lang="en-US" altLang="zh-CN" sz="2000" i="1">
                                <a:latin typeface="Cambria Math" panose="02040503050406030204" pitchFamily="18" charset="0"/>
                              </a:rPr>
                              <m:t>=1</m:t>
                            </m:r>
                          </m:sub>
                          <m:sup>
                            <m:r>
                              <a:rPr lang="en-US" altLang="zh-CN" sz="2000" i="1">
                                <a:latin typeface="Cambria Math" panose="02040503050406030204" pitchFamily="18" charset="0"/>
                              </a:rPr>
                              <m:t>𝑀</m:t>
                            </m:r>
                          </m:sup>
                          <m:e>
                            <m:sSup>
                              <m:sSupPr>
                                <m:ctrlPr>
                                  <a:rPr lang="en-US" altLang="zh-CN" sz="2000" i="1">
                                    <a:latin typeface="Cambria Math" panose="02040503050406030204" pitchFamily="18" charset="0"/>
                                  </a:rPr>
                                </m:ctrlPr>
                              </m:sSupPr>
                              <m:e>
                                <m:r>
                                  <a:rPr lang="en-US" altLang="zh-CN" sz="2000" i="1">
                                    <a:latin typeface="Cambria Math" panose="02040503050406030204" pitchFamily="18" charset="0"/>
                                  </a:rPr>
                                  <m:t>𝑤</m:t>
                                </m:r>
                              </m:e>
                              <m:sup>
                                <m:d>
                                  <m:dPr>
                                    <m:ctrlPr>
                                      <a:rPr lang="en-US" altLang="zh-CN" sz="2000" b="1" i="1">
                                        <a:latin typeface="Cambria Math" panose="02040503050406030204" pitchFamily="18" charset="0"/>
                                      </a:rPr>
                                    </m:ctrlPr>
                                  </m:dPr>
                                  <m:e>
                                    <m:r>
                                      <a:rPr lang="en-US" altLang="zh-CN" sz="2000" i="1">
                                        <a:latin typeface="Cambria Math" panose="02040503050406030204" pitchFamily="18" charset="0"/>
                                      </a:rPr>
                                      <m:t>2</m:t>
                                    </m:r>
                                  </m:e>
                                </m:d>
                              </m:sup>
                            </m:sSup>
                          </m:e>
                        </m:nary>
                        <m:r>
                          <a:rPr lang="en-US" altLang="zh-CN" sz="2000" i="1">
                            <a:latin typeface="Cambria Math" panose="02040503050406030204" pitchFamily="18" charset="0"/>
                          </a:rPr>
                          <m:t>h</m:t>
                        </m:r>
                        <m:d>
                          <m:dPr>
                            <m:ctrlPr>
                              <a:rPr lang="en-US" altLang="zh-CN" sz="2000" b="1" i="1">
                                <a:latin typeface="Cambria Math" panose="02040503050406030204" pitchFamily="18" charset="0"/>
                              </a:rPr>
                            </m:ctrlPr>
                          </m:dPr>
                          <m:e>
                            <m:nary>
                              <m:naryPr>
                                <m:chr m:val="∑"/>
                                <m:ctrlPr>
                                  <a:rPr lang="en-US" altLang="zh-CN" sz="2000" i="1">
                                    <a:latin typeface="Cambria Math" panose="02040503050406030204" pitchFamily="18" charset="0"/>
                                  </a:rPr>
                                </m:ctrlPr>
                              </m:naryPr>
                              <m:sub>
                                <m:r>
                                  <a:rPr lang="en-US" altLang="zh-CN" sz="2000" i="1">
                                    <a:latin typeface="Cambria Math" panose="02040503050406030204" pitchFamily="18" charset="0"/>
                                  </a:rPr>
                                  <m:t>𝑖</m:t>
                                </m:r>
                                <m:r>
                                  <a:rPr lang="en-US" altLang="zh-CN" sz="2000" i="1">
                                    <a:latin typeface="Cambria Math" panose="02040503050406030204" pitchFamily="18" charset="0"/>
                                  </a:rPr>
                                  <m:t>=1</m:t>
                                </m:r>
                              </m:sub>
                              <m:sup>
                                <m:r>
                                  <a:rPr lang="en-US" altLang="zh-CN" sz="2000" i="1">
                                    <a:latin typeface="Cambria Math" panose="02040503050406030204" pitchFamily="18" charset="0"/>
                                  </a:rPr>
                                  <m:t>𝐷</m:t>
                                </m:r>
                              </m:sup>
                              <m:e>
                                <m:sSup>
                                  <m:sSupPr>
                                    <m:ctrlPr>
                                      <a:rPr lang="en-US" altLang="zh-CN" sz="2000" i="1">
                                        <a:latin typeface="Cambria Math" panose="02040503050406030204" pitchFamily="18" charset="0"/>
                                      </a:rPr>
                                    </m:ctrlPr>
                                  </m:sSupPr>
                                  <m:e>
                                    <m:r>
                                      <a:rPr lang="en-US" altLang="zh-CN" sz="2000" i="1">
                                        <a:latin typeface="Cambria Math" panose="02040503050406030204" pitchFamily="18" charset="0"/>
                                      </a:rPr>
                                      <m:t>𝑤</m:t>
                                    </m:r>
                                  </m:e>
                                  <m:sup>
                                    <m:d>
                                      <m:dPr>
                                        <m:ctrlPr>
                                          <a:rPr lang="en-US" altLang="zh-CN" sz="2000" b="1" i="1">
                                            <a:latin typeface="Cambria Math" panose="02040503050406030204" pitchFamily="18" charset="0"/>
                                          </a:rPr>
                                        </m:ctrlPr>
                                      </m:dPr>
                                      <m:e>
                                        <m:r>
                                          <a:rPr lang="en-US" altLang="zh-CN" sz="2000" i="1">
                                            <a:latin typeface="Cambria Math" panose="02040503050406030204" pitchFamily="18" charset="0"/>
                                          </a:rPr>
                                          <m:t>1</m:t>
                                        </m:r>
                                      </m:e>
                                    </m:d>
                                  </m:sup>
                                </m:sSup>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𝑖</m:t>
                                    </m:r>
                                  </m:sub>
                                </m:sSub>
                              </m:e>
                            </m:nary>
                          </m:e>
                        </m:d>
                      </m:e>
                    </m:d>
                  </m:oMath>
                </a14:m>
                <a:r>
                  <a:rPr lang="zh-CN" altLang="en-US" sz="2000" dirty="0">
                    <a:latin typeface="思源黑体 CN Bold" panose="020B0800000000000000" pitchFamily="34" charset="-122"/>
                    <a:ea typeface="思源黑体 CN Bold" panose="020B0800000000000000" pitchFamily="34" charset="-122"/>
                  </a:rPr>
                  <a:t>的损失函数</a:t>
                </a:r>
                <a:endParaRPr lang="en-US" altLang="zh-CN" sz="2000" dirty="0">
                  <a:latin typeface="思源黑体 CN Bold" panose="020B0800000000000000" pitchFamily="34" charset="-122"/>
                  <a:ea typeface="思源黑体 CN Bold" panose="020B0800000000000000" pitchFamily="34" charset="-122"/>
                </a:endParaRPr>
              </a:p>
              <a:p>
                <a:pPr marL="0" indent="0">
                  <a:lnSpc>
                    <a:spcPct val="120000"/>
                  </a:lnSpc>
                  <a:spcBef>
                    <a:spcPts val="0"/>
                  </a:spcBef>
                  <a:buNone/>
                </a:pPr>
                <a14:m>
                  <m:oMathPara xmlns:m="http://schemas.openxmlformats.org/officeDocument/2006/math">
                    <m:oMathParaPr>
                      <m:jc m:val="centerGroup"/>
                    </m:oMathParaPr>
                    <m:oMath xmlns:m="http://schemas.openxmlformats.org/officeDocument/2006/math">
                      <m:r>
                        <m:rPr>
                          <m:sty m:val="p"/>
                        </m:rPr>
                        <a:rPr lang="en-US" altLang="zh-CN" sz="2000" i="1" dirty="0">
                          <a:latin typeface="Cambria Math" panose="02040503050406030204" pitchFamily="18" charset="0"/>
                        </a:rPr>
                        <m:t>Loss</m:t>
                      </m:r>
                      <m:d>
                        <m:dPr>
                          <m:ctrlPr>
                            <a:rPr lang="en-US" altLang="zh-CN" sz="2000" i="1" dirty="0">
                              <a:latin typeface="Cambria Math" panose="02040503050406030204" pitchFamily="18" charset="0"/>
                            </a:rPr>
                          </m:ctrlPr>
                        </m:dPr>
                        <m:e>
                          <m:r>
                            <a:rPr lang="en-US" altLang="zh-CN" sz="2000" b="1">
                              <a:latin typeface="Cambria Math" panose="02040503050406030204" pitchFamily="18" charset="0"/>
                            </a:rPr>
                            <m:t>𝐰</m:t>
                          </m:r>
                        </m:e>
                      </m:d>
                      <m:r>
                        <a:rPr lang="en-US" altLang="zh-CN" sz="2000" b="1" i="1">
                          <a:latin typeface="Cambria Math" panose="02040503050406030204" pitchFamily="18" charset="0"/>
                        </a:rPr>
                        <m:t>=−</m:t>
                      </m:r>
                      <m:nary>
                        <m:naryPr>
                          <m:chr m:val="∑"/>
                          <m:ctrlPr>
                            <a:rPr lang="en-US" altLang="zh-CN" sz="2000" b="1" i="1">
                              <a:latin typeface="Cambria Math" panose="02040503050406030204" pitchFamily="18" charset="0"/>
                            </a:rPr>
                          </m:ctrlPr>
                        </m:naryPr>
                        <m:sub>
                          <m:r>
                            <m:rPr>
                              <m:brk m:alnAt="23"/>
                            </m:rPr>
                            <a:rPr lang="en-US" altLang="zh-CN" sz="2000" i="1">
                              <a:latin typeface="Cambria Math" panose="02040503050406030204" pitchFamily="18" charset="0"/>
                            </a:rPr>
                            <m:t>𝑛</m:t>
                          </m:r>
                          <m:r>
                            <a:rPr lang="en-US" altLang="zh-CN" sz="2000" i="1">
                              <a:latin typeface="Cambria Math" panose="02040503050406030204" pitchFamily="18" charset="0"/>
                            </a:rPr>
                            <m:t>=1</m:t>
                          </m:r>
                        </m:sub>
                        <m:sup>
                          <m:r>
                            <a:rPr lang="en-US" altLang="zh-CN" sz="2000" i="1">
                              <a:latin typeface="Cambria Math" panose="02040503050406030204" pitchFamily="18" charset="0"/>
                            </a:rPr>
                            <m:t>𝑁</m:t>
                          </m:r>
                        </m:sup>
                        <m:e>
                          <m:nary>
                            <m:naryPr>
                              <m:chr m:val="∑"/>
                              <m:ctrlPr>
                                <a:rPr lang="en-US" altLang="zh-CN" sz="2000" i="1">
                                  <a:latin typeface="Cambria Math" panose="02040503050406030204" pitchFamily="18" charset="0"/>
                                </a:rPr>
                              </m:ctrlPr>
                            </m:naryPr>
                            <m:sub>
                              <m:r>
                                <m:rPr>
                                  <m:brk m:alnAt="23"/>
                                </m:rPr>
                                <a:rPr lang="en-US" altLang="zh-CN" sz="2000" i="1">
                                  <a:latin typeface="Cambria Math" panose="02040503050406030204" pitchFamily="18" charset="0"/>
                                </a:rPr>
                                <m:t>𝑘</m:t>
                              </m:r>
                              <m:r>
                                <a:rPr lang="en-US" altLang="zh-CN" sz="2000" i="1">
                                  <a:latin typeface="Cambria Math" panose="02040503050406030204" pitchFamily="18" charset="0"/>
                                </a:rPr>
                                <m:t>=1</m:t>
                              </m:r>
                            </m:sub>
                            <m:sup>
                              <m:r>
                                <a:rPr lang="en-US" altLang="zh-CN" sz="2000" i="1">
                                  <a:latin typeface="Cambria Math" panose="02040503050406030204" pitchFamily="18" charset="0"/>
                                </a:rPr>
                                <m:t>𝐾</m:t>
                              </m:r>
                            </m:sup>
                            <m:e>
                              <m:sSub>
                                <m:sSubPr>
                                  <m:ctrlPr>
                                    <a:rPr lang="en-US" altLang="zh-CN" sz="2000" b="1" i="1">
                                      <a:latin typeface="Cambria Math" panose="02040503050406030204" pitchFamily="18" charset="0"/>
                                    </a:rPr>
                                  </m:ctrlPr>
                                </m:sSubPr>
                                <m:e>
                                  <m:r>
                                    <a:rPr lang="en-US" altLang="zh-CN" sz="2000" b="0" i="1" smtClean="0">
                                      <a:latin typeface="Cambria Math" panose="02040503050406030204" pitchFamily="18" charset="0"/>
                                    </a:rPr>
                                    <m:t>𝑡</m:t>
                                  </m:r>
                                </m:e>
                                <m:sub>
                                  <m:r>
                                    <a:rPr lang="en-US" altLang="zh-CN" sz="2000" i="1">
                                      <a:latin typeface="Cambria Math" panose="02040503050406030204" pitchFamily="18" charset="0"/>
                                    </a:rPr>
                                    <m:t>𝑛𝑘</m:t>
                                  </m:r>
                                </m:sub>
                              </m:sSub>
                              <m:r>
                                <m:rPr>
                                  <m:sty m:val="p"/>
                                </m:rPr>
                                <a:rPr lang="en-US" altLang="zh-CN" sz="2000">
                                  <a:latin typeface="Cambria Math" panose="02040503050406030204" pitchFamily="18" charset="0"/>
                                </a:rPr>
                                <m:t>ln</m:t>
                              </m:r>
                              <m:d>
                                <m:dPr>
                                  <m:begChr m:val="{"/>
                                  <m:endChr m:val="}"/>
                                  <m:ctrlPr>
                                    <a:rPr lang="en-US" altLang="zh-CN" sz="2000" i="1">
                                      <a:latin typeface="Cambria Math" panose="02040503050406030204" pitchFamily="18" charset="0"/>
                                    </a:rPr>
                                  </m:ctrlPr>
                                </m:dPr>
                                <m:e>
                                  <m:sSub>
                                    <m:sSubPr>
                                      <m:ctrlPr>
                                        <a:rPr lang="en-US" altLang="zh-CN" sz="2000" i="1">
                                          <a:latin typeface="Cambria Math" panose="02040503050406030204" pitchFamily="18" charset="0"/>
                                        </a:rPr>
                                      </m:ctrlPr>
                                    </m:sSubPr>
                                    <m:e>
                                      <m:r>
                                        <a:rPr lang="en-US" altLang="zh-CN" sz="2000" b="0" i="1" smtClean="0">
                                          <a:latin typeface="Cambria Math" panose="02040503050406030204" pitchFamily="18" charset="0"/>
                                        </a:rPr>
                                        <m:t>𝑦</m:t>
                                      </m:r>
                                    </m:e>
                                    <m:sub>
                                      <m:r>
                                        <a:rPr lang="en-US" altLang="zh-CN" sz="2000" b="0" i="1" smtClean="0">
                                          <a:latin typeface="Cambria Math" panose="02040503050406030204" pitchFamily="18" charset="0"/>
                                        </a:rPr>
                                        <m:t>𝑛</m:t>
                                      </m:r>
                                      <m:r>
                                        <a:rPr lang="en-US" altLang="zh-CN" sz="2000" i="1">
                                          <a:latin typeface="Cambria Math" panose="02040503050406030204" pitchFamily="18" charset="0"/>
                                        </a:rPr>
                                        <m:t>𝑘</m:t>
                                      </m:r>
                                    </m:sub>
                                  </m:sSub>
                                </m:e>
                              </m:d>
                            </m:e>
                          </m:nary>
                        </m:e>
                      </m:nary>
                    </m:oMath>
                  </m:oMathPara>
                </a14:m>
                <a:endParaRPr lang="zh-CN" altLang="en-US" sz="2000" dirty="0">
                  <a:latin typeface="思源黑体 CN Bold" panose="020B0800000000000000" pitchFamily="34" charset="-122"/>
                  <a:ea typeface="思源黑体 CN Bold" panose="020B0800000000000000" pitchFamily="34" charset="-122"/>
                </a:endParaRPr>
              </a:p>
            </p:txBody>
          </p:sp>
        </mc:Choice>
        <mc:Fallback xmlns="">
          <p:sp>
            <p:nvSpPr>
              <p:cNvPr id="3" name="内容占位符 2">
                <a:extLst>
                  <a:ext uri="{FF2B5EF4-FFF2-40B4-BE49-F238E27FC236}">
                    <a16:creationId xmlns:a16="http://schemas.microsoft.com/office/drawing/2014/main" id="{7EEEC64B-E976-4035-A04D-3686D86D7852}"/>
                  </a:ext>
                </a:extLst>
              </p:cNvPr>
              <p:cNvSpPr>
                <a:spLocks noGrp="1" noRot="1" noChangeAspect="1" noMove="1" noResize="1" noEditPoints="1" noAdjustHandles="1" noChangeArrowheads="1" noChangeShapeType="1" noTextEdit="1"/>
              </p:cNvSpPr>
              <p:nvPr>
                <p:ph idx="1"/>
              </p:nvPr>
            </p:nvSpPr>
            <p:spPr>
              <a:xfrm>
                <a:off x="838200" y="1825625"/>
                <a:ext cx="10515600" cy="4351338"/>
              </a:xfrm>
              <a:blipFill>
                <a:blip r:embed="rId2"/>
                <a:stretch>
                  <a:fillRect l="-464" t="-98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190EF77A-BB51-458E-8704-152B637110F0}"/>
                  </a:ext>
                </a:extLst>
              </p:cNvPr>
              <p:cNvSpPr/>
              <p:nvPr/>
            </p:nvSpPr>
            <p:spPr>
              <a:xfrm>
                <a:off x="6542547" y="5855052"/>
                <a:ext cx="5062475" cy="74667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i="1">
                              <a:latin typeface="Cambria Math" panose="02040503050406030204" pitchFamily="18" charset="0"/>
                            </a:rPr>
                            <m:t>𝑛𝑘</m:t>
                          </m:r>
                        </m:sub>
                      </m:sSub>
                      <m:r>
                        <a:rPr lang="en-US" altLang="zh-CN" i="1">
                          <a:latin typeface="Cambria Math" panose="02040503050406030204" pitchFamily="18" charset="0"/>
                        </a:rPr>
                        <m:t>=</m:t>
                      </m:r>
                      <m:r>
                        <m:rPr>
                          <m:sty m:val="p"/>
                        </m:rPr>
                        <a:rPr lang="en-US" altLang="zh-CN">
                          <a:latin typeface="Cambria Math" panose="02040503050406030204" pitchFamily="18" charset="0"/>
                        </a:rPr>
                        <m:t>softmax</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𝑘</m:t>
                              </m:r>
                            </m:sub>
                          </m:sSub>
                        </m:e>
                      </m:d>
                      <m:r>
                        <a:rPr lang="en-US" altLang="zh-CN" i="1">
                          <a:latin typeface="Cambria Math" panose="02040503050406030204" pitchFamily="18" charset="0"/>
                        </a:rPr>
                        <m:t>=</m:t>
                      </m:r>
                      <m:f>
                        <m:fPr>
                          <m:ctrlPr>
                            <a:rPr lang="en-US" altLang="zh-CN" i="1">
                              <a:latin typeface="Cambria Math" panose="02040503050406030204" pitchFamily="18" charset="0"/>
                            </a:rPr>
                          </m:ctrlPr>
                        </m:fPr>
                        <m:num>
                          <m:r>
                            <m:rPr>
                              <m:sty m:val="p"/>
                            </m:rPr>
                            <a:rPr lang="en-US" altLang="zh-CN">
                              <a:latin typeface="Cambria Math" panose="02040503050406030204" pitchFamily="18" charset="0"/>
                            </a:rPr>
                            <m:t>exp</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𝑘</m:t>
                                  </m:r>
                                </m:sub>
                              </m:sSub>
                            </m:e>
                          </m:d>
                        </m:num>
                        <m:den>
                          <m:nary>
                            <m:naryPr>
                              <m:chr m:val="∑"/>
                              <m:limLoc m:val="subSup"/>
                              <m:supHide m:val="on"/>
                              <m:ctrlPr>
                                <a:rPr lang="en-US" altLang="zh-CN" i="1">
                                  <a:latin typeface="Cambria Math" panose="02040503050406030204" pitchFamily="18" charset="0"/>
                                </a:rPr>
                              </m:ctrlPr>
                            </m:naryPr>
                            <m:sub>
                              <m:r>
                                <m:rPr>
                                  <m:brk m:alnAt="9"/>
                                </m:rPr>
                                <a:rPr lang="en-US" altLang="zh-CN" i="1">
                                  <a:latin typeface="Cambria Math" panose="02040503050406030204" pitchFamily="18" charset="0"/>
                                </a:rPr>
                                <m:t>𝑗</m:t>
                              </m:r>
                            </m:sub>
                            <m:sup/>
                            <m:e>
                              <m:r>
                                <m:rPr>
                                  <m:sty m:val="p"/>
                                </m:rPr>
                                <a:rPr lang="en-US" altLang="zh-CN">
                                  <a:latin typeface="Cambria Math" panose="02040503050406030204" pitchFamily="18" charset="0"/>
                                </a:rPr>
                                <m:t>exp</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𝑗</m:t>
                                      </m:r>
                                    </m:sub>
                                  </m:sSub>
                                </m:e>
                              </m:d>
                            </m:e>
                          </m:nary>
                        </m:den>
                      </m:f>
                      <m:r>
                        <a:rPr lang="en-US" altLang="zh-CN" b="1"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𝑘</m:t>
                          </m:r>
                        </m:sub>
                      </m:sSub>
                      <m:r>
                        <a:rPr lang="en-US" altLang="zh-CN" b="1" i="1">
                          <a:latin typeface="Cambria Math" panose="02040503050406030204" pitchFamily="18" charset="0"/>
                        </a:rPr>
                        <m:t>=</m:t>
                      </m:r>
                      <m:sSubSup>
                        <m:sSubSupPr>
                          <m:ctrlPr>
                            <a:rPr lang="en-US" altLang="zh-CN" b="1" i="1" smtClean="0">
                              <a:latin typeface="Cambria Math" panose="02040503050406030204" pitchFamily="18" charset="0"/>
                            </a:rPr>
                          </m:ctrlPr>
                        </m:sSubSupPr>
                        <m:e>
                          <m:r>
                            <a:rPr lang="en-US" altLang="zh-CN" b="1">
                              <a:latin typeface="Cambria Math" panose="02040503050406030204" pitchFamily="18" charset="0"/>
                            </a:rPr>
                            <m:t>𝐰</m:t>
                          </m:r>
                        </m:e>
                        <m:sub>
                          <m:r>
                            <a:rPr lang="en-US" altLang="zh-CN" b="0" i="1" smtClean="0">
                              <a:latin typeface="Cambria Math" panose="02040503050406030204" pitchFamily="18" charset="0"/>
                            </a:rPr>
                            <m:t>𝑘</m:t>
                          </m:r>
                        </m:sub>
                        <m:sup>
                          <m:r>
                            <a:rPr lang="en-US" altLang="zh-CN" b="1" i="1" smtClean="0">
                              <a:latin typeface="Cambria Math" panose="02040503050406030204" pitchFamily="18" charset="0"/>
                            </a:rPr>
                            <m:t>(</m:t>
                          </m:r>
                          <m:r>
                            <a:rPr lang="en-US" altLang="zh-CN" b="0" i="1" smtClean="0">
                              <a:latin typeface="Cambria Math" panose="02040503050406030204" pitchFamily="18" charset="0"/>
                            </a:rPr>
                            <m:t>2</m:t>
                          </m:r>
                          <m:r>
                            <a:rPr lang="en-US" altLang="zh-CN" b="1" i="1" smtClean="0">
                              <a:latin typeface="Cambria Math" panose="02040503050406030204" pitchFamily="18" charset="0"/>
                            </a:rPr>
                            <m:t>)</m:t>
                          </m:r>
                        </m:sup>
                      </m:sSubSup>
                      <m:r>
                        <a:rPr lang="en-US" altLang="zh-CN" b="1" i="0" smtClean="0">
                          <a:latin typeface="Cambria Math" panose="02040503050406030204" pitchFamily="18" charset="0"/>
                        </a:rPr>
                        <m:t>𝐡</m:t>
                      </m:r>
                      <m:d>
                        <m:dPr>
                          <m:ctrlPr>
                            <a:rPr lang="en-US" altLang="zh-CN" i="1">
                              <a:latin typeface="Cambria Math" panose="02040503050406030204" pitchFamily="18" charset="0"/>
                            </a:rPr>
                          </m:ctrlPr>
                        </m:dPr>
                        <m:e>
                          <m:r>
                            <a:rPr lang="en-US" altLang="zh-CN" b="1">
                              <a:latin typeface="Cambria Math" panose="02040503050406030204" pitchFamily="18" charset="0"/>
                            </a:rPr>
                            <m:t>𝐱</m:t>
                          </m:r>
                        </m:e>
                      </m:d>
                    </m:oMath>
                  </m:oMathPara>
                </a14:m>
                <a:endParaRPr lang="zh-CN" altLang="en-US" dirty="0"/>
              </a:p>
            </p:txBody>
          </p:sp>
        </mc:Choice>
        <mc:Fallback xmlns="">
          <p:sp>
            <p:nvSpPr>
              <p:cNvPr id="7" name="矩形 6">
                <a:extLst>
                  <a:ext uri="{FF2B5EF4-FFF2-40B4-BE49-F238E27FC236}">
                    <a16:creationId xmlns:a16="http://schemas.microsoft.com/office/drawing/2014/main" id="{190EF77A-BB51-458E-8704-152B637110F0}"/>
                  </a:ext>
                </a:extLst>
              </p:cNvPr>
              <p:cNvSpPr>
                <a:spLocks noRot="1" noChangeAspect="1" noMove="1" noResize="1" noEditPoints="1" noAdjustHandles="1" noChangeArrowheads="1" noChangeShapeType="1" noTextEdit="1"/>
              </p:cNvSpPr>
              <p:nvPr/>
            </p:nvSpPr>
            <p:spPr>
              <a:xfrm>
                <a:off x="6542547" y="5855052"/>
                <a:ext cx="5062475" cy="746679"/>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85CA024C-DC52-4923-AC37-702B4E1542CB}"/>
                  </a:ext>
                </a:extLst>
              </p:cNvPr>
              <p:cNvSpPr/>
              <p:nvPr/>
            </p:nvSpPr>
            <p:spPr>
              <a:xfrm>
                <a:off x="8478150" y="5430284"/>
                <a:ext cx="3395866" cy="40498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1" smtClean="0">
                          <a:latin typeface="Cambria Math" panose="02040503050406030204" pitchFamily="18" charset="0"/>
                        </a:rPr>
                        <m:t>𝐡</m:t>
                      </m:r>
                      <m:d>
                        <m:dPr>
                          <m:ctrlPr>
                            <a:rPr lang="en-US" altLang="zh-CN" i="1">
                              <a:latin typeface="Cambria Math" panose="02040503050406030204" pitchFamily="18" charset="0"/>
                            </a:rPr>
                          </m:ctrlPr>
                        </m:dPr>
                        <m:e>
                          <m:r>
                            <a:rPr lang="en-US" altLang="zh-CN" b="1">
                              <a:latin typeface="Cambria Math" panose="02040503050406030204" pitchFamily="18" charset="0"/>
                            </a:rPr>
                            <m:t>𝐱</m:t>
                          </m:r>
                        </m:e>
                      </m:d>
                      <m:r>
                        <a:rPr lang="en-US" altLang="zh-CN" b="1" i="1">
                          <a:latin typeface="Cambria Math" panose="02040503050406030204" pitchFamily="18" charset="0"/>
                        </a:rPr>
                        <m:t>=</m:t>
                      </m:r>
                      <m:d>
                        <m:dPr>
                          <m:ctrlPr>
                            <a:rPr lang="en-US" altLang="zh-CN" b="1" i="1" smtClean="0">
                              <a:latin typeface="Cambria Math" panose="02040503050406030204" pitchFamily="18" charset="0"/>
                            </a:rPr>
                          </m:ctrlPr>
                        </m:dPr>
                        <m:e>
                          <m:sSub>
                            <m:sSubPr>
                              <m:ctrlPr>
                                <a:rPr lang="en-US" altLang="zh-CN" b="1" i="1" smtClean="0">
                                  <a:latin typeface="Cambria Math" panose="02040503050406030204" pitchFamily="18" charset="0"/>
                                </a:rPr>
                              </m:ctrlPr>
                            </m:sSubPr>
                            <m:e>
                              <m:r>
                                <a:rPr lang="en-US" altLang="zh-CN" b="0" i="1" smtClean="0">
                                  <a:latin typeface="Cambria Math" panose="02040503050406030204" pitchFamily="18" charset="0"/>
                                </a:rPr>
                                <m:t>h</m:t>
                              </m:r>
                            </m:e>
                            <m:sub>
                              <m:r>
                                <a:rPr lang="en-US" altLang="zh-CN" b="0" i="1" smtClean="0">
                                  <a:latin typeface="Cambria Math" panose="02040503050406030204" pitchFamily="18" charset="0"/>
                                </a:rPr>
                                <m:t>1</m:t>
                              </m:r>
                            </m:sub>
                          </m:sSub>
                          <m:d>
                            <m:dPr>
                              <m:ctrlPr>
                                <a:rPr lang="en-US" altLang="zh-CN" i="1">
                                  <a:latin typeface="Cambria Math" panose="02040503050406030204" pitchFamily="18" charset="0"/>
                                </a:rPr>
                              </m:ctrlPr>
                            </m:dPr>
                            <m:e>
                              <m:r>
                                <a:rPr lang="en-US" altLang="zh-CN" b="1">
                                  <a:latin typeface="Cambria Math" panose="02040503050406030204" pitchFamily="18" charset="0"/>
                                </a:rPr>
                                <m:t>𝐱</m:t>
                              </m:r>
                            </m:e>
                          </m:d>
                          <m:r>
                            <a:rPr lang="en-US" altLang="zh-CN" b="1" i="1" smtClean="0">
                              <a:latin typeface="Cambria Math" panose="02040503050406030204" pitchFamily="18" charset="0"/>
                            </a:rPr>
                            <m:t>,</m:t>
                          </m:r>
                          <m:sSub>
                            <m:sSubPr>
                              <m:ctrlPr>
                                <a:rPr lang="en-US" altLang="zh-CN" b="1" i="1">
                                  <a:latin typeface="Cambria Math" panose="02040503050406030204" pitchFamily="18" charset="0"/>
                                </a:rPr>
                              </m:ctrlPr>
                            </m:sSubPr>
                            <m:e>
                              <m:r>
                                <a:rPr lang="en-US" altLang="zh-CN" i="1">
                                  <a:latin typeface="Cambria Math" panose="02040503050406030204" pitchFamily="18" charset="0"/>
                                </a:rPr>
                                <m:t>h</m:t>
                              </m:r>
                            </m:e>
                            <m:sub>
                              <m:r>
                                <a:rPr lang="en-US" altLang="zh-CN" b="0" i="1" smtClean="0">
                                  <a:latin typeface="Cambria Math" panose="02040503050406030204" pitchFamily="18" charset="0"/>
                                </a:rPr>
                                <m:t>2</m:t>
                              </m:r>
                            </m:sub>
                          </m:sSub>
                          <m:d>
                            <m:dPr>
                              <m:ctrlPr>
                                <a:rPr lang="en-US" altLang="zh-CN" i="1">
                                  <a:latin typeface="Cambria Math" panose="02040503050406030204" pitchFamily="18" charset="0"/>
                                </a:rPr>
                              </m:ctrlPr>
                            </m:dPr>
                            <m:e>
                              <m:r>
                                <a:rPr lang="en-US" altLang="zh-CN" b="1">
                                  <a:latin typeface="Cambria Math" panose="02040503050406030204" pitchFamily="18" charset="0"/>
                                </a:rPr>
                                <m:t>𝐱</m:t>
                              </m:r>
                            </m:e>
                          </m:d>
                          <m:r>
                            <a:rPr lang="en-US" altLang="zh-CN" b="1" i="1" smtClean="0">
                              <a:latin typeface="Cambria Math" panose="02040503050406030204" pitchFamily="18" charset="0"/>
                            </a:rPr>
                            <m:t>,⋯,</m:t>
                          </m:r>
                          <m:sSub>
                            <m:sSubPr>
                              <m:ctrlPr>
                                <a:rPr lang="en-US" altLang="zh-CN" b="1" i="1">
                                  <a:latin typeface="Cambria Math" panose="02040503050406030204" pitchFamily="18" charset="0"/>
                                </a:rPr>
                              </m:ctrlPr>
                            </m:sSubPr>
                            <m:e>
                              <m:r>
                                <a:rPr lang="en-US" altLang="zh-CN" i="1">
                                  <a:latin typeface="Cambria Math" panose="02040503050406030204" pitchFamily="18" charset="0"/>
                                </a:rPr>
                                <m:t>h</m:t>
                              </m:r>
                            </m:e>
                            <m:sub>
                              <m:r>
                                <a:rPr lang="en-US" altLang="zh-CN" b="0" i="1" smtClean="0">
                                  <a:latin typeface="Cambria Math" panose="02040503050406030204" pitchFamily="18" charset="0"/>
                                </a:rPr>
                                <m:t>𝑀</m:t>
                              </m:r>
                            </m:sub>
                          </m:sSub>
                          <m:d>
                            <m:dPr>
                              <m:ctrlPr>
                                <a:rPr lang="en-US" altLang="zh-CN" i="1">
                                  <a:latin typeface="Cambria Math" panose="02040503050406030204" pitchFamily="18" charset="0"/>
                                </a:rPr>
                              </m:ctrlPr>
                            </m:dPr>
                            <m:e>
                              <m:r>
                                <a:rPr lang="en-US" altLang="zh-CN" b="1">
                                  <a:latin typeface="Cambria Math" panose="02040503050406030204" pitchFamily="18" charset="0"/>
                                </a:rPr>
                                <m:t>𝐱</m:t>
                              </m:r>
                            </m:e>
                          </m:d>
                        </m:e>
                      </m:d>
                    </m:oMath>
                  </m:oMathPara>
                </a14:m>
                <a:endParaRPr lang="zh-CN" altLang="en-US" dirty="0"/>
              </a:p>
            </p:txBody>
          </p:sp>
        </mc:Choice>
        <mc:Fallback xmlns="">
          <p:sp>
            <p:nvSpPr>
              <p:cNvPr id="8" name="矩形 7">
                <a:extLst>
                  <a:ext uri="{FF2B5EF4-FFF2-40B4-BE49-F238E27FC236}">
                    <a16:creationId xmlns:a16="http://schemas.microsoft.com/office/drawing/2014/main" id="{85CA024C-DC52-4923-AC37-702B4E1542CB}"/>
                  </a:ext>
                </a:extLst>
              </p:cNvPr>
              <p:cNvSpPr>
                <a:spLocks noRot="1" noChangeAspect="1" noMove="1" noResize="1" noEditPoints="1" noAdjustHandles="1" noChangeArrowheads="1" noChangeShapeType="1" noTextEdit="1"/>
              </p:cNvSpPr>
              <p:nvPr/>
            </p:nvSpPr>
            <p:spPr>
              <a:xfrm>
                <a:off x="8478150" y="5430284"/>
                <a:ext cx="3395866" cy="404983"/>
              </a:xfrm>
              <a:prstGeom prst="rect">
                <a:avLst/>
              </a:prstGeom>
              <a:blipFill>
                <a:blip r:embed="rId4"/>
                <a:stretch>
                  <a:fillRect/>
                </a:stretch>
              </a:blipFill>
            </p:spPr>
            <p:txBody>
              <a:bodyPr/>
              <a:lstStyle/>
              <a:p>
                <a:r>
                  <a:rPr lang="zh-CN" altLang="en-US">
                    <a:noFill/>
                  </a:rPr>
                  <a:t> </a:t>
                </a:r>
              </a:p>
            </p:txBody>
          </p:sp>
        </mc:Fallback>
      </mc:AlternateContent>
      <p:sp>
        <p:nvSpPr>
          <p:cNvPr id="9" name="矩形 8">
            <a:extLst>
              <a:ext uri="{FF2B5EF4-FFF2-40B4-BE49-F238E27FC236}">
                <a16:creationId xmlns:a16="http://schemas.microsoft.com/office/drawing/2014/main" id="{2997EF9E-6852-4E60-9D88-23E9735725AF}"/>
              </a:ext>
            </a:extLst>
          </p:cNvPr>
          <p:cNvSpPr/>
          <p:nvPr/>
        </p:nvSpPr>
        <p:spPr>
          <a:xfrm>
            <a:off x="9214927" y="5178150"/>
            <a:ext cx="2092239" cy="369332"/>
          </a:xfrm>
          <a:prstGeom prst="rect">
            <a:avLst/>
          </a:prstGeom>
        </p:spPr>
        <p:txBody>
          <a:bodyPr wrap="none">
            <a:spAutoFit/>
          </a:bodyPr>
          <a:lstStyle/>
          <a:p>
            <a:r>
              <a:rPr lang="en-US" altLang="zh-CN" dirty="0">
                <a:latin typeface="思源黑体 CN Bold" panose="020B0800000000000000" pitchFamily="34" charset="-122"/>
                <a:ea typeface="思源黑体 CN Bold" panose="020B0800000000000000" pitchFamily="34" charset="-122"/>
              </a:rPr>
              <a:t>M</a:t>
            </a:r>
            <a:r>
              <a:rPr lang="zh-CN" altLang="en-US" dirty="0">
                <a:latin typeface="思源黑体 CN Bold" panose="020B0800000000000000" pitchFamily="34" charset="-122"/>
                <a:ea typeface="思源黑体 CN Bold" panose="020B0800000000000000" pitchFamily="34" charset="-122"/>
              </a:rPr>
              <a:t>个</a:t>
            </a:r>
            <a:r>
              <a:rPr lang="en-US" altLang="zh-CN" dirty="0">
                <a:latin typeface="思源黑体 CN Bold" panose="020B0800000000000000" pitchFamily="34" charset="-122"/>
                <a:ea typeface="思源黑体 CN Bold" panose="020B0800000000000000" pitchFamily="34" charset="-122"/>
              </a:rPr>
              <a:t>Hidden Units</a:t>
            </a:r>
            <a:endParaRPr lang="zh-CN" altLang="en-US" dirty="0"/>
          </a:p>
        </p:txBody>
      </p:sp>
      <p:pic>
        <p:nvPicPr>
          <p:cNvPr id="10" name="图片 9">
            <a:extLst>
              <a:ext uri="{FF2B5EF4-FFF2-40B4-BE49-F238E27FC236}">
                <a16:creationId xmlns:a16="http://schemas.microsoft.com/office/drawing/2014/main" id="{115178F5-9434-42BC-8942-495F343CCA3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610850" y="3172970"/>
            <a:ext cx="2340921" cy="1916454"/>
          </a:xfrm>
          <a:prstGeom prst="rect">
            <a:avLst/>
          </a:prstGeom>
        </p:spPr>
      </p:pic>
    </p:spTree>
    <p:extLst>
      <p:ext uri="{BB962C8B-B14F-4D97-AF65-F5344CB8AC3E}">
        <p14:creationId xmlns:p14="http://schemas.microsoft.com/office/powerpoint/2010/main" val="41785250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E08726-068C-4F40-A65E-B5EE8CD22EE1}"/>
              </a:ext>
            </a:extLst>
          </p:cNvPr>
          <p:cNvSpPr>
            <a:spLocks noGrp="1"/>
          </p:cNvSpPr>
          <p:nvPr>
            <p:ph type="title" idx="4294967295"/>
          </p:nvPr>
        </p:nvSpPr>
        <p:spPr>
          <a:xfrm>
            <a:off x="446314" y="143662"/>
            <a:ext cx="6785283" cy="533600"/>
          </a:xfrm>
        </p:spPr>
        <p:txBody>
          <a:bodyPr>
            <a:normAutofit fontScale="90000"/>
          </a:bodyPr>
          <a:lstStyle/>
          <a:p>
            <a:r>
              <a:rPr lang="en-US" altLang="zh-CN" dirty="0">
                <a:latin typeface="思源黑体 CN Bold" panose="020B0800000000000000" pitchFamily="34" charset="-122"/>
                <a:ea typeface="思源黑体 CN Bold" panose="020B0800000000000000" pitchFamily="34" charset="-122"/>
              </a:rPr>
              <a:t>2 </a:t>
            </a:r>
            <a:r>
              <a:rPr lang="zh-CN" altLang="en-US" dirty="0">
                <a:latin typeface="思源黑体 CN Bold" panose="020B0800000000000000" pitchFamily="34" charset="-122"/>
                <a:ea typeface="思源黑体 CN Bold" panose="020B0800000000000000" pitchFamily="34" charset="-122"/>
              </a:rPr>
              <a:t>前馈神经网络函数：</a:t>
            </a:r>
            <a:r>
              <a:rPr lang="zh-CN" altLang="en-US" sz="3200" dirty="0">
                <a:latin typeface="思源黑体 CN Bold" panose="020B0800000000000000" pitchFamily="34" charset="-122"/>
                <a:ea typeface="思源黑体 CN Bold" panose="020B0800000000000000" pitchFamily="34" charset="-122"/>
              </a:rPr>
              <a:t>稀疏节点</a:t>
            </a:r>
            <a:endParaRPr lang="zh-CN" altLang="en-US" dirty="0"/>
          </a:p>
        </p:txBody>
      </p:sp>
      <p:sp>
        <p:nvSpPr>
          <p:cNvPr id="3" name="内容占位符 2">
            <a:extLst>
              <a:ext uri="{FF2B5EF4-FFF2-40B4-BE49-F238E27FC236}">
                <a16:creationId xmlns:a16="http://schemas.microsoft.com/office/drawing/2014/main" id="{7EEEC64B-E976-4035-A04D-3686D86D7852}"/>
              </a:ext>
            </a:extLst>
          </p:cNvPr>
          <p:cNvSpPr>
            <a:spLocks noGrp="1"/>
          </p:cNvSpPr>
          <p:nvPr>
            <p:ph idx="4294967295"/>
          </p:nvPr>
        </p:nvSpPr>
        <p:spPr>
          <a:xfrm>
            <a:off x="838200" y="1825625"/>
            <a:ext cx="10515600" cy="4351338"/>
          </a:xfrm>
        </p:spPr>
        <p:txBody>
          <a:bodyPr>
            <a:normAutofit/>
          </a:bodyPr>
          <a:lstStyle/>
          <a:p>
            <a:pPr>
              <a:lnSpc>
                <a:spcPct val="150000"/>
              </a:lnSpc>
            </a:pPr>
            <a:r>
              <a:rPr lang="zh-CN" altLang="en-US" dirty="0">
                <a:latin typeface="思源黑体 CN Bold" panose="020B0800000000000000" pitchFamily="34" charset="-122"/>
                <a:ea typeface="思源黑体 CN Bold" panose="020B0800000000000000" pitchFamily="34" charset="-122"/>
              </a:rPr>
              <a:t>只要保持前馈结构，可以稀疏</a:t>
            </a:r>
            <a:endParaRPr lang="en-US" altLang="zh-CN" dirty="0">
              <a:latin typeface="思源黑体 CN Bold" panose="020B0800000000000000" pitchFamily="34" charset="-122"/>
              <a:ea typeface="思源黑体 CN Bold" panose="020B0800000000000000" pitchFamily="34" charset="-122"/>
            </a:endParaRPr>
          </a:p>
          <a:p>
            <a:pPr>
              <a:lnSpc>
                <a:spcPct val="150000"/>
              </a:lnSpc>
            </a:pPr>
            <a:r>
              <a:rPr lang="zh-CN" altLang="en-US" dirty="0">
                <a:latin typeface="思源黑体 CN Bold" panose="020B0800000000000000" pitchFamily="34" charset="-122"/>
                <a:ea typeface="思源黑体 CN Bold" panose="020B0800000000000000" pitchFamily="34" charset="-122"/>
              </a:rPr>
              <a:t>不能有反向循环连接</a:t>
            </a:r>
            <a:endParaRPr lang="en-US" altLang="zh-CN" dirty="0">
              <a:latin typeface="思源黑体 CN Bold" panose="020B0800000000000000" pitchFamily="34" charset="-122"/>
              <a:ea typeface="思源黑体 CN Bold" panose="020B0800000000000000" pitchFamily="34" charset="-122"/>
            </a:endParaRPr>
          </a:p>
          <a:p>
            <a:pPr>
              <a:lnSpc>
                <a:spcPct val="150000"/>
              </a:lnSpc>
            </a:pPr>
            <a:r>
              <a:rPr lang="zh-CN" altLang="en-US" dirty="0">
                <a:latin typeface="思源黑体 CN Bold" panose="020B0800000000000000" pitchFamily="34" charset="-122"/>
                <a:ea typeface="思源黑体 CN Bold" panose="020B0800000000000000" pitchFamily="34" charset="-122"/>
              </a:rPr>
              <a:t>输出只取决于输入</a:t>
            </a:r>
            <a:endParaRPr lang="en-US" altLang="zh-CN" dirty="0">
              <a:latin typeface="思源黑体 CN Bold" panose="020B0800000000000000" pitchFamily="34" charset="-122"/>
              <a:ea typeface="思源黑体 CN Bold" panose="020B0800000000000000" pitchFamily="34" charset="-122"/>
            </a:endParaRPr>
          </a:p>
          <a:p>
            <a:pPr>
              <a:lnSpc>
                <a:spcPct val="150000"/>
              </a:lnSpc>
            </a:pPr>
            <a:r>
              <a:rPr lang="zh-CN" altLang="en-US" dirty="0">
                <a:latin typeface="思源黑体 CN Bold" panose="020B0800000000000000" pitchFamily="34" charset="-122"/>
                <a:ea typeface="思源黑体 CN Bold" panose="020B0800000000000000" pitchFamily="34" charset="-122"/>
              </a:rPr>
              <a:t>循环网络，例如</a:t>
            </a:r>
            <a:r>
              <a:rPr lang="en-US" altLang="zh-CN" dirty="0">
                <a:latin typeface="思源黑体 CN Bold" panose="020B0800000000000000" pitchFamily="34" charset="-122"/>
                <a:ea typeface="思源黑体 CN Bold" panose="020B0800000000000000" pitchFamily="34" charset="-122"/>
              </a:rPr>
              <a:t>Hopfield</a:t>
            </a:r>
            <a:r>
              <a:rPr lang="zh-CN" altLang="en-US" dirty="0">
                <a:latin typeface="思源黑体 CN Bold" panose="020B0800000000000000" pitchFamily="34" charset="-122"/>
                <a:ea typeface="思源黑体 CN Bold" panose="020B0800000000000000" pitchFamily="34" charset="-122"/>
              </a:rPr>
              <a:t>网络</a:t>
            </a:r>
            <a:endParaRPr lang="en-US" altLang="zh-CN" dirty="0">
              <a:latin typeface="思源黑体 CN Bold" panose="020B0800000000000000" pitchFamily="34" charset="-122"/>
              <a:ea typeface="思源黑体 CN Bold" panose="020B0800000000000000" pitchFamily="34" charset="-122"/>
            </a:endParaRPr>
          </a:p>
          <a:p>
            <a:endParaRPr lang="zh-CN" altLang="en-US" i="1" baseline="-25000" dirty="0"/>
          </a:p>
          <a:p>
            <a:pPr>
              <a:lnSpc>
                <a:spcPct val="150000"/>
              </a:lnSpc>
            </a:pPr>
            <a:endParaRPr lang="zh-CN" altLang="en-US" sz="2000" dirty="0"/>
          </a:p>
        </p:txBody>
      </p:sp>
      <p:pic>
        <p:nvPicPr>
          <p:cNvPr id="5" name="图片 4">
            <a:extLst>
              <a:ext uri="{FF2B5EF4-FFF2-40B4-BE49-F238E27FC236}">
                <a16:creationId xmlns:a16="http://schemas.microsoft.com/office/drawing/2014/main" id="{AC435D66-4568-40A4-9044-99AC6B72D7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6893" y="1829400"/>
            <a:ext cx="5236907" cy="3199200"/>
          </a:xfrm>
          <a:prstGeom prst="rect">
            <a:avLst/>
          </a:prstGeom>
        </p:spPr>
      </p:pic>
    </p:spTree>
    <p:extLst>
      <p:ext uri="{BB962C8B-B14F-4D97-AF65-F5344CB8AC3E}">
        <p14:creationId xmlns:p14="http://schemas.microsoft.com/office/powerpoint/2010/main" val="19122000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E08726-068C-4F40-A65E-B5EE8CD22EE1}"/>
              </a:ext>
            </a:extLst>
          </p:cNvPr>
          <p:cNvSpPr>
            <a:spLocks noGrp="1"/>
          </p:cNvSpPr>
          <p:nvPr>
            <p:ph type="title" idx="4294967295"/>
          </p:nvPr>
        </p:nvSpPr>
        <p:spPr>
          <a:xfrm>
            <a:off x="489066" y="166571"/>
            <a:ext cx="7501128" cy="512848"/>
          </a:xfrm>
        </p:spPr>
        <p:txBody>
          <a:bodyPr>
            <a:normAutofit fontScale="90000"/>
          </a:bodyPr>
          <a:lstStyle/>
          <a:p>
            <a:r>
              <a:rPr lang="en-US" altLang="zh-CN" dirty="0">
                <a:latin typeface="思源黑体 CN Bold" panose="020B0800000000000000" pitchFamily="34" charset="-122"/>
                <a:ea typeface="思源黑体 CN Bold" panose="020B0800000000000000" pitchFamily="34" charset="-122"/>
              </a:rPr>
              <a:t>2 </a:t>
            </a:r>
            <a:r>
              <a:rPr lang="zh-CN" altLang="en-US" dirty="0">
                <a:latin typeface="思源黑体 CN Bold" panose="020B0800000000000000" pitchFamily="34" charset="-122"/>
                <a:ea typeface="思源黑体 CN Bold" panose="020B0800000000000000" pitchFamily="34" charset="-122"/>
              </a:rPr>
              <a:t>前馈神经网络函数：</a:t>
            </a:r>
            <a:r>
              <a:rPr lang="zh-CN" altLang="en-US" sz="3200" dirty="0">
                <a:latin typeface="思源黑体 CN Bold" panose="020B0800000000000000" pitchFamily="34" charset="-122"/>
                <a:ea typeface="思源黑体 CN Bold" panose="020B0800000000000000" pitchFamily="34" charset="-122"/>
              </a:rPr>
              <a:t>例子</a:t>
            </a:r>
            <a:r>
              <a:rPr lang="en-US" altLang="zh-CN" sz="3200" dirty="0">
                <a:latin typeface="思源黑体 CN Bold" panose="020B0800000000000000" pitchFamily="34" charset="-122"/>
                <a:ea typeface="思源黑体 CN Bold" panose="020B0800000000000000" pitchFamily="34" charset="-122"/>
              </a:rPr>
              <a:t>-</a:t>
            </a:r>
            <a:r>
              <a:rPr lang="zh-CN" altLang="en-US" sz="3200" dirty="0">
                <a:latin typeface="思源黑体 CN Bold" panose="020B0800000000000000" pitchFamily="34" charset="-122"/>
                <a:ea typeface="思源黑体 CN Bold" panose="020B0800000000000000" pitchFamily="34" charset="-122"/>
              </a:rPr>
              <a:t>回归</a:t>
            </a:r>
            <a:endParaRPr lang="zh-CN" altLang="en-US" dirty="0"/>
          </a:p>
        </p:txBody>
      </p:sp>
      <p:pic>
        <p:nvPicPr>
          <p:cNvPr id="5" name="内容占位符 4">
            <a:extLst>
              <a:ext uri="{FF2B5EF4-FFF2-40B4-BE49-F238E27FC236}">
                <a16:creationId xmlns:a16="http://schemas.microsoft.com/office/drawing/2014/main" id="{3117C8AC-5B12-46C8-B81C-A93F6E2E1176}"/>
              </a:ext>
            </a:extLst>
          </p:cNvPr>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9208708" y="3820027"/>
            <a:ext cx="2643449" cy="2160000"/>
          </a:xfrm>
        </p:spPr>
      </p:pic>
      <p:pic>
        <p:nvPicPr>
          <p:cNvPr id="7" name="图片 6">
            <a:extLst>
              <a:ext uri="{FF2B5EF4-FFF2-40B4-BE49-F238E27FC236}">
                <a16:creationId xmlns:a16="http://schemas.microsoft.com/office/drawing/2014/main" id="{4F83CC92-CFD4-422B-AE69-3328F5919A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3312" y="3820027"/>
            <a:ext cx="2643450" cy="2160000"/>
          </a:xfrm>
          <a:prstGeom prst="rect">
            <a:avLst/>
          </a:prstGeom>
        </p:spPr>
      </p:pic>
      <p:pic>
        <p:nvPicPr>
          <p:cNvPr id="9" name="图片 8">
            <a:extLst>
              <a:ext uri="{FF2B5EF4-FFF2-40B4-BE49-F238E27FC236}">
                <a16:creationId xmlns:a16="http://schemas.microsoft.com/office/drawing/2014/main" id="{C2963B56-5550-4CB9-BBCB-CA04B34253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05111" y="3820027"/>
            <a:ext cx="2643450" cy="2160000"/>
          </a:xfrm>
          <a:prstGeom prst="rect">
            <a:avLst/>
          </a:prstGeom>
        </p:spPr>
      </p:pic>
      <p:pic>
        <p:nvPicPr>
          <p:cNvPr id="11" name="图片 10">
            <a:extLst>
              <a:ext uri="{FF2B5EF4-FFF2-40B4-BE49-F238E27FC236}">
                <a16:creationId xmlns:a16="http://schemas.microsoft.com/office/drawing/2014/main" id="{35A3552A-4C29-4792-9E07-918F423FFED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06910" y="3820027"/>
            <a:ext cx="2643450" cy="2160000"/>
          </a:xfrm>
          <a:prstGeom prst="rect">
            <a:avLst/>
          </a:prstGeom>
        </p:spPr>
      </p:pic>
      <p:sp>
        <p:nvSpPr>
          <p:cNvPr id="12" name="内容占位符 2">
            <a:extLst>
              <a:ext uri="{FF2B5EF4-FFF2-40B4-BE49-F238E27FC236}">
                <a16:creationId xmlns:a16="http://schemas.microsoft.com/office/drawing/2014/main" id="{2B5D6700-E317-4A35-986F-9846E09316EA}"/>
              </a:ext>
            </a:extLst>
          </p:cNvPr>
          <p:cNvSpPr txBox="1">
            <a:spLocks/>
          </p:cNvSpPr>
          <p:nvPr/>
        </p:nvSpPr>
        <p:spPr>
          <a:xfrm>
            <a:off x="838200" y="1825625"/>
            <a:ext cx="10515600" cy="1888167"/>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zh-CN" altLang="en-US" sz="1800" dirty="0">
                <a:latin typeface="思源黑体 CN Bold" panose="020B0800000000000000" pitchFamily="34" charset="-122"/>
                <a:ea typeface="思源黑体 CN Bold" panose="020B0800000000000000" pitchFamily="34" charset="-122"/>
              </a:rPr>
              <a:t>一个两层神经网络，隐含层有三个神经元，使用</a:t>
            </a:r>
            <a:r>
              <a:rPr lang="en-US" altLang="zh-CN" sz="1800" dirty="0">
                <a:latin typeface="思源黑体 CN Bold" panose="020B0800000000000000" pitchFamily="34" charset="-122"/>
                <a:ea typeface="思源黑体 CN Bold" panose="020B0800000000000000" pitchFamily="34" charset="-122"/>
              </a:rPr>
              <a:t>tanh</a:t>
            </a:r>
            <a:r>
              <a:rPr lang="zh-CN" altLang="en-US" sz="1800" dirty="0">
                <a:latin typeface="思源黑体 CN Bold" panose="020B0800000000000000" pitchFamily="34" charset="-122"/>
                <a:ea typeface="思源黑体 CN Bold" panose="020B0800000000000000" pitchFamily="34" charset="-122"/>
              </a:rPr>
              <a:t>激活函数</a:t>
            </a:r>
            <a:endParaRPr lang="en-US" altLang="zh-CN" sz="1800" dirty="0">
              <a:latin typeface="思源黑体 CN Bold" panose="020B0800000000000000" pitchFamily="34" charset="-122"/>
              <a:ea typeface="思源黑体 CN Bold" panose="020B0800000000000000" pitchFamily="34" charset="-122"/>
            </a:endParaRPr>
          </a:p>
          <a:p>
            <a:pPr>
              <a:lnSpc>
                <a:spcPct val="150000"/>
              </a:lnSpc>
            </a:pPr>
            <a:r>
              <a:rPr lang="zh-CN" altLang="en-US" sz="1800" dirty="0">
                <a:latin typeface="思源黑体 CN Bold" panose="020B0800000000000000" pitchFamily="34" charset="-122"/>
                <a:ea typeface="思源黑体 CN Bold" panose="020B0800000000000000" pitchFamily="34" charset="-122"/>
              </a:rPr>
              <a:t>三个隐含层神经元协作逼近目标函数</a:t>
            </a:r>
            <a:endParaRPr lang="en-US" altLang="zh-CN" sz="1800" dirty="0">
              <a:latin typeface="思源黑体 CN Bold" panose="020B0800000000000000" pitchFamily="34" charset="-122"/>
              <a:ea typeface="思源黑体 CN Bold" panose="020B0800000000000000" pitchFamily="34" charset="-122"/>
            </a:endParaRPr>
          </a:p>
          <a:p>
            <a:pPr>
              <a:lnSpc>
                <a:spcPct val="150000"/>
              </a:lnSpc>
            </a:pPr>
            <a:r>
              <a:rPr lang="zh-CN" altLang="en-US" sz="1800" dirty="0">
                <a:latin typeface="思源黑体 CN Bold" panose="020B0800000000000000" pitchFamily="34" charset="-122"/>
                <a:ea typeface="思源黑体 CN Bold" panose="020B0800000000000000" pitchFamily="34" charset="-122"/>
              </a:rPr>
              <a:t>虚线是三个隐含层的输出函数</a:t>
            </a:r>
            <a:endParaRPr lang="en-US" altLang="zh-CN" sz="1800" dirty="0">
              <a:latin typeface="思源黑体 CN Bold" panose="020B0800000000000000" pitchFamily="34" charset="-122"/>
              <a:ea typeface="思源黑体 CN Bold" panose="020B0800000000000000" pitchFamily="34" charset="-122"/>
            </a:endParaRPr>
          </a:p>
          <a:p>
            <a:pPr>
              <a:lnSpc>
                <a:spcPct val="150000"/>
              </a:lnSpc>
            </a:pPr>
            <a:r>
              <a:rPr lang="zh-CN" altLang="en-US" sz="1800" dirty="0">
                <a:latin typeface="思源黑体 CN Bold" panose="020B0800000000000000" pitchFamily="34" charset="-122"/>
                <a:ea typeface="思源黑体 CN Bold" panose="020B0800000000000000" pitchFamily="34" charset="-122"/>
              </a:rPr>
              <a:t>对比线性回归中的固定基函数</a:t>
            </a:r>
            <a:endParaRPr lang="en-US" altLang="zh-CN" sz="1800" dirty="0">
              <a:latin typeface="思源黑体 CN Bold" panose="020B0800000000000000" pitchFamily="34" charset="-122"/>
              <a:ea typeface="思源黑体 CN Bold" panose="020B0800000000000000" pitchFamily="34" charset="-122"/>
            </a:endParaRPr>
          </a:p>
        </p:txBody>
      </p:sp>
      <p:pic>
        <p:nvPicPr>
          <p:cNvPr id="8" name="图片 7">
            <a:extLst>
              <a:ext uri="{FF2B5EF4-FFF2-40B4-BE49-F238E27FC236}">
                <a16:creationId xmlns:a16="http://schemas.microsoft.com/office/drawing/2014/main" id="{8B1C7AF0-8D5D-4C29-AA69-6F29F985A7F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019960" y="749894"/>
            <a:ext cx="2368451" cy="1938992"/>
          </a:xfrm>
          <a:prstGeom prst="rect">
            <a:avLst/>
          </a:prstGeom>
        </p:spPr>
      </p:pic>
      <p:sp>
        <p:nvSpPr>
          <p:cNvPr id="10" name="矩形 9">
            <a:extLst>
              <a:ext uri="{FF2B5EF4-FFF2-40B4-BE49-F238E27FC236}">
                <a16:creationId xmlns:a16="http://schemas.microsoft.com/office/drawing/2014/main" id="{4E7EEC5D-1F73-4EC1-844D-A95F4EBE2F1B}"/>
              </a:ext>
            </a:extLst>
          </p:cNvPr>
          <p:cNvSpPr/>
          <p:nvPr/>
        </p:nvSpPr>
        <p:spPr>
          <a:xfrm>
            <a:off x="10389491" y="1938791"/>
            <a:ext cx="1355288" cy="457946"/>
          </a:xfrm>
          <a:prstGeom prst="rect">
            <a:avLst/>
          </a:prstGeom>
        </p:spPr>
        <p:txBody>
          <a:bodyPr wrap="square">
            <a:spAutoFit/>
          </a:bodyPr>
          <a:lstStyle/>
          <a:p>
            <a:pPr algn="ctr">
              <a:lnSpc>
                <a:spcPct val="150000"/>
              </a:lnSpc>
            </a:pPr>
            <a:r>
              <a:rPr lang="en-US" altLang="zh-CN" dirty="0">
                <a:latin typeface="思源黑体 CN Bold" panose="020B0800000000000000" pitchFamily="34" charset="-122"/>
                <a:ea typeface="思源黑体 CN Bold" panose="020B0800000000000000" pitchFamily="34" charset="-122"/>
              </a:rPr>
              <a:t>identity</a:t>
            </a:r>
            <a:endParaRPr lang="zh-CN" altLang="en-US" dirty="0"/>
          </a:p>
        </p:txBody>
      </p:sp>
      <p:sp>
        <p:nvSpPr>
          <p:cNvPr id="13" name="矩形 12">
            <a:extLst>
              <a:ext uri="{FF2B5EF4-FFF2-40B4-BE49-F238E27FC236}">
                <a16:creationId xmlns:a16="http://schemas.microsoft.com/office/drawing/2014/main" id="{6B1A3FF4-17CC-459D-8A37-AEAA7C51076A}"/>
              </a:ext>
            </a:extLst>
          </p:cNvPr>
          <p:cNvSpPr/>
          <p:nvPr/>
        </p:nvSpPr>
        <p:spPr>
          <a:xfrm>
            <a:off x="9533663" y="2594850"/>
            <a:ext cx="1355288" cy="457946"/>
          </a:xfrm>
          <a:prstGeom prst="rect">
            <a:avLst/>
          </a:prstGeom>
        </p:spPr>
        <p:txBody>
          <a:bodyPr wrap="square">
            <a:spAutoFit/>
          </a:bodyPr>
          <a:lstStyle/>
          <a:p>
            <a:pPr algn="ctr">
              <a:lnSpc>
                <a:spcPct val="150000"/>
              </a:lnSpc>
            </a:pPr>
            <a:r>
              <a:rPr lang="en-US" altLang="zh-CN" dirty="0">
                <a:latin typeface="思源黑体 CN Bold" panose="020B0800000000000000" pitchFamily="34" charset="-122"/>
                <a:ea typeface="思源黑体 CN Bold" panose="020B0800000000000000" pitchFamily="34" charset="-122"/>
              </a:rPr>
              <a:t>tanh</a:t>
            </a:r>
            <a:endParaRPr lang="zh-CN" altLang="en-US" dirty="0"/>
          </a:p>
        </p:txBody>
      </p:sp>
      <p:pic>
        <p:nvPicPr>
          <p:cNvPr id="14" name="图片 13">
            <a:extLst>
              <a:ext uri="{FF2B5EF4-FFF2-40B4-BE49-F238E27FC236}">
                <a16:creationId xmlns:a16="http://schemas.microsoft.com/office/drawing/2014/main" id="{4A1561F4-BF24-42AB-AFC8-FB0A2728A8C3}"/>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730763" y="2489792"/>
            <a:ext cx="1283187" cy="1224000"/>
          </a:xfrm>
          <a:prstGeom prst="rect">
            <a:avLst/>
          </a:prstGeom>
        </p:spPr>
      </p:pic>
      <p:pic>
        <p:nvPicPr>
          <p:cNvPr id="15" name="图片 14">
            <a:extLst>
              <a:ext uri="{FF2B5EF4-FFF2-40B4-BE49-F238E27FC236}">
                <a16:creationId xmlns:a16="http://schemas.microsoft.com/office/drawing/2014/main" id="{C0D7ADF5-4C07-4122-A910-0B5E8BE48A5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048561" y="2489792"/>
            <a:ext cx="1271348" cy="1224000"/>
          </a:xfrm>
          <a:prstGeom prst="rect">
            <a:avLst/>
          </a:prstGeom>
        </p:spPr>
      </p:pic>
      <p:pic>
        <p:nvPicPr>
          <p:cNvPr id="16" name="内容占位符 4">
            <a:extLst>
              <a:ext uri="{FF2B5EF4-FFF2-40B4-BE49-F238E27FC236}">
                <a16:creationId xmlns:a16="http://schemas.microsoft.com/office/drawing/2014/main" id="{24E4903A-0107-4D42-B6BE-54E6477EE83D}"/>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354521" y="2489792"/>
            <a:ext cx="1271346" cy="1224000"/>
          </a:xfrm>
          <a:prstGeom prst="rect">
            <a:avLst/>
          </a:prstGeom>
        </p:spPr>
      </p:pic>
    </p:spTree>
    <p:extLst>
      <p:ext uri="{BB962C8B-B14F-4D97-AF65-F5344CB8AC3E}">
        <p14:creationId xmlns:p14="http://schemas.microsoft.com/office/powerpoint/2010/main" val="35070370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E08726-068C-4F40-A65E-B5EE8CD22EE1}"/>
              </a:ext>
            </a:extLst>
          </p:cNvPr>
          <p:cNvSpPr>
            <a:spLocks noGrp="1"/>
          </p:cNvSpPr>
          <p:nvPr>
            <p:ph type="title" idx="4294967295"/>
          </p:nvPr>
        </p:nvSpPr>
        <p:spPr>
          <a:xfrm>
            <a:off x="352262" y="110861"/>
            <a:ext cx="7736259" cy="570176"/>
          </a:xfrm>
        </p:spPr>
        <p:txBody>
          <a:bodyPr>
            <a:normAutofit fontScale="90000"/>
          </a:bodyPr>
          <a:lstStyle/>
          <a:p>
            <a:r>
              <a:rPr lang="en-US" altLang="zh-CN" dirty="0">
                <a:latin typeface="思源黑体 CN Bold" panose="020B0800000000000000" pitchFamily="34" charset="-122"/>
                <a:ea typeface="思源黑体 CN Bold" panose="020B0800000000000000" pitchFamily="34" charset="-122"/>
              </a:rPr>
              <a:t>2 </a:t>
            </a:r>
            <a:r>
              <a:rPr lang="zh-CN" altLang="en-US" dirty="0">
                <a:latin typeface="思源黑体 CN Bold" panose="020B0800000000000000" pitchFamily="34" charset="-122"/>
                <a:ea typeface="思源黑体 CN Bold" panose="020B0800000000000000" pitchFamily="34" charset="-122"/>
              </a:rPr>
              <a:t>前馈神经网络函数：</a:t>
            </a:r>
            <a:r>
              <a:rPr lang="zh-CN" altLang="en-US" sz="3200" dirty="0">
                <a:latin typeface="思源黑体 CN Bold" panose="020B0800000000000000" pitchFamily="34" charset="-122"/>
                <a:ea typeface="思源黑体 CN Bold" panose="020B0800000000000000" pitchFamily="34" charset="-122"/>
              </a:rPr>
              <a:t>例子</a:t>
            </a:r>
            <a:r>
              <a:rPr lang="en-US" altLang="zh-CN" sz="3200" dirty="0">
                <a:latin typeface="思源黑体 CN Bold" panose="020B0800000000000000" pitchFamily="34" charset="-122"/>
                <a:ea typeface="思源黑体 CN Bold" panose="020B0800000000000000" pitchFamily="34" charset="-122"/>
              </a:rPr>
              <a:t>-</a:t>
            </a:r>
            <a:r>
              <a:rPr lang="zh-CN" altLang="en-US" sz="3200" dirty="0">
                <a:latin typeface="思源黑体 CN Bold" panose="020B0800000000000000" pitchFamily="34" charset="-122"/>
                <a:ea typeface="思源黑体 CN Bold" panose="020B0800000000000000" pitchFamily="34" charset="-122"/>
              </a:rPr>
              <a:t>两类分类</a:t>
            </a:r>
            <a:endParaRPr lang="zh-CN" altLang="en-US" dirty="0"/>
          </a:p>
        </p:txBody>
      </p:sp>
      <p:sp>
        <p:nvSpPr>
          <p:cNvPr id="3" name="内容占位符 2">
            <a:extLst>
              <a:ext uri="{FF2B5EF4-FFF2-40B4-BE49-F238E27FC236}">
                <a16:creationId xmlns:a16="http://schemas.microsoft.com/office/drawing/2014/main" id="{7EEEC64B-E976-4035-A04D-3686D86D7852}"/>
              </a:ext>
            </a:extLst>
          </p:cNvPr>
          <p:cNvSpPr>
            <a:spLocks noGrp="1"/>
          </p:cNvSpPr>
          <p:nvPr>
            <p:ph idx="4294967295"/>
          </p:nvPr>
        </p:nvSpPr>
        <p:spPr>
          <a:xfrm>
            <a:off x="770273" y="1253331"/>
            <a:ext cx="10515600" cy="4351338"/>
          </a:xfrm>
        </p:spPr>
        <p:txBody>
          <a:bodyPr>
            <a:normAutofit/>
          </a:bodyPr>
          <a:lstStyle/>
          <a:p>
            <a:pPr>
              <a:lnSpc>
                <a:spcPct val="150000"/>
              </a:lnSpc>
            </a:pPr>
            <a:r>
              <a:rPr lang="zh-CN" altLang="en-US" sz="2000" dirty="0">
                <a:latin typeface="思源黑体 CN Bold" panose="020B0800000000000000" pitchFamily="34" charset="-122"/>
                <a:ea typeface="思源黑体 CN Bold" panose="020B0800000000000000" pitchFamily="34" charset="-122"/>
              </a:rPr>
              <a:t>一个两层神经网络，隐含层有</a:t>
            </a:r>
            <a:r>
              <a:rPr lang="en-US" altLang="zh-CN" sz="2000" dirty="0">
                <a:latin typeface="思源黑体 CN Bold" panose="020B0800000000000000" pitchFamily="34" charset="-122"/>
                <a:ea typeface="思源黑体 CN Bold" panose="020B0800000000000000" pitchFamily="34" charset="-122"/>
              </a:rPr>
              <a:t>2</a:t>
            </a:r>
            <a:r>
              <a:rPr lang="zh-CN" altLang="en-US" sz="2000" dirty="0">
                <a:latin typeface="思源黑体 CN Bold" panose="020B0800000000000000" pitchFamily="34" charset="-122"/>
                <a:ea typeface="思源黑体 CN Bold" panose="020B0800000000000000" pitchFamily="34" charset="-122"/>
              </a:rPr>
              <a:t>个神经元，使用</a:t>
            </a:r>
            <a:r>
              <a:rPr lang="en-US" altLang="zh-CN" sz="2000" dirty="0">
                <a:latin typeface="思源黑体 CN Bold" panose="020B0800000000000000" pitchFamily="34" charset="-122"/>
                <a:ea typeface="思源黑体 CN Bold" panose="020B0800000000000000" pitchFamily="34" charset="-122"/>
              </a:rPr>
              <a:t>tanh</a:t>
            </a:r>
            <a:r>
              <a:rPr lang="zh-CN" altLang="en-US" sz="2000" dirty="0">
                <a:latin typeface="思源黑体 CN Bold" panose="020B0800000000000000" pitchFamily="34" charset="-122"/>
                <a:ea typeface="思源黑体 CN Bold" panose="020B0800000000000000" pitchFamily="34" charset="-122"/>
              </a:rPr>
              <a:t>激活函数</a:t>
            </a:r>
          </a:p>
          <a:p>
            <a:pPr>
              <a:lnSpc>
                <a:spcPct val="150000"/>
              </a:lnSpc>
            </a:pPr>
            <a:r>
              <a:rPr lang="zh-CN" altLang="en-US" sz="2000" dirty="0">
                <a:latin typeface="思源黑体 CN Bold" panose="020B0800000000000000" pitchFamily="34" charset="-122"/>
                <a:ea typeface="思源黑体 CN Bold" panose="020B0800000000000000" pitchFamily="34" charset="-122"/>
              </a:rPr>
              <a:t>两个隐含层神经元协作逼近真实分类面（绿色）</a:t>
            </a:r>
            <a:endParaRPr lang="en-US" altLang="zh-CN" sz="2000" dirty="0">
              <a:latin typeface="思源黑体 CN Bold" panose="020B0800000000000000" pitchFamily="34" charset="-122"/>
              <a:ea typeface="思源黑体 CN Bold" panose="020B0800000000000000" pitchFamily="34" charset="-122"/>
            </a:endParaRPr>
          </a:p>
          <a:p>
            <a:pPr>
              <a:lnSpc>
                <a:spcPct val="150000"/>
              </a:lnSpc>
            </a:pPr>
            <a:r>
              <a:rPr lang="zh-CN" altLang="en-US" sz="2000" dirty="0">
                <a:latin typeface="思源黑体 CN Bold" panose="020B0800000000000000" pitchFamily="34" charset="-122"/>
                <a:ea typeface="思源黑体 CN Bold" panose="020B0800000000000000" pitchFamily="34" charset="-122"/>
              </a:rPr>
              <a:t>虚线是两个隐含层的分类面</a:t>
            </a:r>
            <a:endParaRPr lang="en-US" altLang="zh-CN" sz="2000" dirty="0">
              <a:latin typeface="思源黑体 CN Bold" panose="020B0800000000000000" pitchFamily="34" charset="-122"/>
              <a:ea typeface="思源黑体 CN Bold" panose="020B0800000000000000" pitchFamily="34" charset="-122"/>
            </a:endParaRPr>
          </a:p>
          <a:p>
            <a:pPr>
              <a:lnSpc>
                <a:spcPct val="150000"/>
              </a:lnSpc>
            </a:pPr>
            <a:r>
              <a:rPr lang="zh-CN" altLang="en-US" sz="2000" dirty="0">
                <a:latin typeface="思源黑体 CN Bold" panose="020B0800000000000000" pitchFamily="34" charset="-122"/>
                <a:ea typeface="思源黑体 CN Bold" panose="020B0800000000000000" pitchFamily="34" charset="-122"/>
              </a:rPr>
              <a:t>两个分类面激活组合出神经网络分类面</a:t>
            </a:r>
            <a:endParaRPr lang="en-US" altLang="zh-CN" sz="2000" dirty="0">
              <a:latin typeface="思源黑体 CN Bold" panose="020B0800000000000000" pitchFamily="34" charset="-122"/>
              <a:ea typeface="思源黑体 CN Bold" panose="020B0800000000000000" pitchFamily="34" charset="-122"/>
            </a:endParaRPr>
          </a:p>
          <a:p>
            <a:pPr marL="0" indent="0">
              <a:lnSpc>
                <a:spcPct val="150000"/>
              </a:lnSpc>
              <a:buNone/>
            </a:pPr>
            <a:endParaRPr lang="en-US" altLang="zh-CN" sz="2000" dirty="0">
              <a:latin typeface="思源黑体 CN Bold" panose="020B0800000000000000" pitchFamily="34" charset="-122"/>
              <a:ea typeface="思源黑体 CN Bold" panose="020B0800000000000000" pitchFamily="34" charset="-122"/>
            </a:endParaRPr>
          </a:p>
        </p:txBody>
      </p:sp>
      <p:pic>
        <p:nvPicPr>
          <p:cNvPr id="5" name="图片 4">
            <a:extLst>
              <a:ext uri="{FF2B5EF4-FFF2-40B4-BE49-F238E27FC236}">
                <a16:creationId xmlns:a16="http://schemas.microsoft.com/office/drawing/2014/main" id="{6D7D7926-D06E-4131-8650-3CAA6A5DC3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93051" y="1929166"/>
            <a:ext cx="4311822" cy="3459421"/>
          </a:xfrm>
          <a:prstGeom prst="rect">
            <a:avLst/>
          </a:prstGeom>
        </p:spPr>
      </p:pic>
    </p:spTree>
    <p:extLst>
      <p:ext uri="{BB962C8B-B14F-4D97-AF65-F5344CB8AC3E}">
        <p14:creationId xmlns:p14="http://schemas.microsoft.com/office/powerpoint/2010/main" val="18810422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E08726-068C-4F40-A65E-B5EE8CD22EE1}"/>
              </a:ext>
            </a:extLst>
          </p:cNvPr>
          <p:cNvSpPr>
            <a:spLocks noGrp="1"/>
          </p:cNvSpPr>
          <p:nvPr>
            <p:ph type="title" idx="4294967295"/>
          </p:nvPr>
        </p:nvSpPr>
        <p:spPr>
          <a:xfrm>
            <a:off x="358198" y="177021"/>
            <a:ext cx="10202526" cy="570176"/>
          </a:xfrm>
        </p:spPr>
        <p:txBody>
          <a:bodyPr>
            <a:noAutofit/>
          </a:bodyPr>
          <a:lstStyle/>
          <a:p>
            <a:r>
              <a:rPr lang="en-US" altLang="zh-CN" sz="3600" dirty="0">
                <a:latin typeface="思源黑体 CN Bold" panose="020B0800000000000000" pitchFamily="34" charset="-122"/>
                <a:ea typeface="思源黑体 CN Bold" panose="020B0800000000000000" pitchFamily="34" charset="-122"/>
              </a:rPr>
              <a:t>2 </a:t>
            </a:r>
            <a:r>
              <a:rPr lang="zh-CN" altLang="en-US" sz="3600" dirty="0">
                <a:latin typeface="思源黑体 CN Bold" panose="020B0800000000000000" pitchFamily="34" charset="-122"/>
                <a:ea typeface="思源黑体 CN Bold" panose="020B0800000000000000" pitchFamily="34" charset="-122"/>
              </a:rPr>
              <a:t>前馈神经网络函数：</a:t>
            </a:r>
            <a:r>
              <a:rPr lang="zh-CN" altLang="en-US" sz="2400" dirty="0">
                <a:latin typeface="思源黑体 CN Bold" panose="020B0800000000000000" pitchFamily="34" charset="-122"/>
                <a:ea typeface="思源黑体 CN Bold" panose="020B0800000000000000" pitchFamily="34" charset="-122"/>
              </a:rPr>
              <a:t>权值空间对称性</a:t>
            </a:r>
            <a:r>
              <a:rPr lang="en-US" altLang="zh-CN" sz="2400" dirty="0">
                <a:latin typeface="思源黑体 CN Bold" panose="020B0800000000000000" pitchFamily="34" charset="-122"/>
                <a:ea typeface="思源黑体 CN Bold" panose="020B0800000000000000" pitchFamily="34" charset="-122"/>
              </a:rPr>
              <a:t>/</a:t>
            </a:r>
            <a:r>
              <a:rPr lang="zh-CN" altLang="en-US" sz="2400" dirty="0">
                <a:latin typeface="思源黑体 CN Bold" panose="020B0800000000000000" pitchFamily="34" charset="-122"/>
                <a:ea typeface="思源黑体 CN Bold" panose="020B0800000000000000" pitchFamily="34" charset="-122"/>
              </a:rPr>
              <a:t>不可辨识性</a:t>
            </a:r>
            <a:endParaRPr lang="zh-CN" altLang="en-US" sz="3600"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7EEEC64B-E976-4035-A04D-3686D86D7852}"/>
                  </a:ext>
                </a:extLst>
              </p:cNvPr>
              <p:cNvSpPr>
                <a:spLocks noGrp="1"/>
              </p:cNvSpPr>
              <p:nvPr>
                <p:ph idx="4294967295"/>
              </p:nvPr>
            </p:nvSpPr>
            <p:spPr>
              <a:xfrm>
                <a:off x="759823" y="1069895"/>
                <a:ext cx="10515600" cy="4718210"/>
              </a:xfrm>
            </p:spPr>
            <p:txBody>
              <a:bodyPr>
                <a:normAutofit/>
              </a:bodyPr>
              <a:lstStyle/>
              <a:p>
                <a:pPr marL="342900" indent="-342900">
                  <a:lnSpc>
                    <a:spcPct val="150000"/>
                  </a:lnSpc>
                  <a:buFont typeface="+mj-lt"/>
                  <a:buAutoNum type="arabicPeriod"/>
                </a:pPr>
                <a:r>
                  <a:rPr lang="zh-CN" altLang="en-US" sz="1800" dirty="0">
                    <a:latin typeface="思源黑体 CN Bold" panose="020B0800000000000000" pitchFamily="34" charset="-122"/>
                    <a:ea typeface="思源黑体 CN Bold" panose="020B0800000000000000" pitchFamily="34" charset="-122"/>
                  </a:rPr>
                  <a:t>多个</a:t>
                </a:r>
                <a:r>
                  <a:rPr lang="en-US" altLang="zh-CN" sz="1800" dirty="0">
                    <a:latin typeface="思源黑体 CN Bold" panose="020B0800000000000000" pitchFamily="34" charset="-122"/>
                    <a:ea typeface="思源黑体 CN Bold" panose="020B0800000000000000" pitchFamily="34" charset="-122"/>
                  </a:rPr>
                  <a:t>w</a:t>
                </a:r>
                <a:r>
                  <a:rPr lang="zh-CN" altLang="en-US" sz="1800" dirty="0">
                    <a:latin typeface="思源黑体 CN Bold" panose="020B0800000000000000" pitchFamily="34" charset="-122"/>
                    <a:ea typeface="思源黑体 CN Bold" panose="020B0800000000000000" pitchFamily="34" charset="-122"/>
                  </a:rPr>
                  <a:t>可以得到相同的输出，考虑隐含层使用</a:t>
                </a:r>
                <a:r>
                  <a:rPr lang="en-US" altLang="zh-CN" sz="1800" dirty="0">
                    <a:latin typeface="思源黑体 CN Bold" panose="020B0800000000000000" pitchFamily="34" charset="-122"/>
                    <a:ea typeface="思源黑体 CN Bold" panose="020B0800000000000000" pitchFamily="34" charset="-122"/>
                  </a:rPr>
                  <a:t>tanh</a:t>
                </a:r>
                <a:r>
                  <a:rPr lang="zh-CN" altLang="en-US" sz="1800" dirty="0">
                    <a:latin typeface="思源黑体 CN Bold" panose="020B0800000000000000" pitchFamily="34" charset="-122"/>
                    <a:ea typeface="思源黑体 CN Bold" panose="020B0800000000000000" pitchFamily="34" charset="-122"/>
                  </a:rPr>
                  <a:t>激活函数的情况</a:t>
                </a:r>
                <a:endParaRPr lang="en-US" altLang="zh-CN" sz="1800" dirty="0">
                  <a:latin typeface="思源黑体 CN Bold" panose="020B0800000000000000" pitchFamily="34" charset="-122"/>
                  <a:ea typeface="思源黑体 CN Bold" panose="020B0800000000000000" pitchFamily="34" charset="-122"/>
                </a:endParaRPr>
              </a:p>
              <a:p>
                <a:pPr marL="342900" indent="-342900">
                  <a:lnSpc>
                    <a:spcPct val="150000"/>
                  </a:lnSpc>
                  <a:buFont typeface="+mj-lt"/>
                  <a:buAutoNum type="arabicPeriod"/>
                </a:pPr>
                <a:r>
                  <a:rPr lang="zh-CN" altLang="en-US" sz="1800" dirty="0">
                    <a:latin typeface="思源黑体 CN Bold" panose="020B0800000000000000" pitchFamily="34" charset="-122"/>
                    <a:ea typeface="思源黑体 CN Bold" panose="020B0800000000000000" pitchFamily="34" charset="-122"/>
                  </a:rPr>
                  <a:t>对于隐含层某个神经元，把输入层到隐含层的权值改为异号。</a:t>
                </a:r>
                <a:endParaRPr lang="en-US" altLang="zh-CN" sz="1800" dirty="0">
                  <a:latin typeface="思源黑体 CN Bold" panose="020B0800000000000000" pitchFamily="34" charset="-122"/>
                  <a:ea typeface="思源黑体 CN Bold" panose="020B0800000000000000" pitchFamily="34" charset="-122"/>
                </a:endParaRPr>
              </a:p>
              <a:p>
                <a:pPr marL="342900" indent="-342900">
                  <a:lnSpc>
                    <a:spcPct val="150000"/>
                  </a:lnSpc>
                  <a:buFont typeface="+mj-lt"/>
                  <a:buAutoNum type="arabicPeriod"/>
                </a:pPr>
                <a:r>
                  <a:rPr lang="zh-CN" altLang="en-US" sz="1800" dirty="0">
                    <a:latin typeface="思源黑体 CN Bold" panose="020B0800000000000000" pitchFamily="34" charset="-122"/>
                    <a:ea typeface="思源黑体 CN Bold" panose="020B0800000000000000" pitchFamily="34" charset="-122"/>
                  </a:rPr>
                  <a:t>由于</a:t>
                </a:r>
                <a:r>
                  <a:rPr lang="en-US" altLang="zh-CN" sz="1800" dirty="0">
                    <a:latin typeface="思源黑体 CN Bold" panose="020B0800000000000000" pitchFamily="34" charset="-122"/>
                    <a:ea typeface="思源黑体 CN Bold" panose="020B0800000000000000" pitchFamily="34" charset="-122"/>
                  </a:rPr>
                  <a:t> tanh(-x)=-tanh(x)</a:t>
                </a:r>
              </a:p>
              <a:p>
                <a:pPr marL="342900" indent="-342900">
                  <a:lnSpc>
                    <a:spcPct val="150000"/>
                  </a:lnSpc>
                  <a:buFont typeface="+mj-lt"/>
                  <a:buAutoNum type="arabicPeriod"/>
                </a:pPr>
                <a:r>
                  <a:rPr lang="zh-CN" altLang="en-US" sz="1800" dirty="0">
                    <a:latin typeface="思源黑体 CN Bold" panose="020B0800000000000000" pitchFamily="34" charset="-122"/>
                    <a:ea typeface="思源黑体 CN Bold" panose="020B0800000000000000" pitchFamily="34" charset="-122"/>
                  </a:rPr>
                  <a:t>只需要把隐含层到输出层的权值也改为异号，神经网络输出就可保持不变。</a:t>
                </a:r>
                <a:endParaRPr lang="en-US" altLang="zh-CN" sz="1800" dirty="0">
                  <a:latin typeface="思源黑体 CN Bold" panose="020B0800000000000000" pitchFamily="34" charset="-122"/>
                  <a:ea typeface="思源黑体 CN Bold" panose="020B0800000000000000" pitchFamily="34" charset="-122"/>
                </a:endParaRPr>
              </a:p>
              <a:p>
                <a:pPr marL="342900" indent="-342900">
                  <a:lnSpc>
                    <a:spcPct val="150000"/>
                  </a:lnSpc>
                  <a:buFont typeface="+mj-lt"/>
                  <a:buAutoNum type="arabicPeriod"/>
                </a:pPr>
                <a:r>
                  <a:rPr lang="zh-CN" altLang="en-US" sz="1800" dirty="0">
                    <a:latin typeface="思源黑体 CN Bold" panose="020B0800000000000000" pitchFamily="34" charset="-122"/>
                    <a:ea typeface="思源黑体 CN Bold" panose="020B0800000000000000" pitchFamily="34" charset="-122"/>
                  </a:rPr>
                  <a:t>如果隐含层神经元数量为</a:t>
                </a:r>
                <a:r>
                  <a:rPr lang="en-US" altLang="zh-CN" sz="1800" dirty="0">
                    <a:latin typeface="思源黑体 CN Bold" panose="020B0800000000000000" pitchFamily="34" charset="-122"/>
                    <a:ea typeface="思源黑体 CN Bold" panose="020B0800000000000000" pitchFamily="34" charset="-122"/>
                  </a:rPr>
                  <a:t>M</a:t>
                </a:r>
              </a:p>
              <a:p>
                <a:pPr marL="342900" indent="-342900">
                  <a:lnSpc>
                    <a:spcPct val="150000"/>
                  </a:lnSpc>
                  <a:buFont typeface="+mj-lt"/>
                  <a:buAutoNum type="arabicPeriod"/>
                </a:pPr>
                <a:r>
                  <a:rPr lang="zh-CN" altLang="en-US" sz="1800" dirty="0">
                    <a:latin typeface="思源黑体 CN Bold" panose="020B0800000000000000" pitchFamily="34" charset="-122"/>
                    <a:ea typeface="思源黑体 CN Bold" panose="020B0800000000000000" pitchFamily="34" charset="-122"/>
                  </a:rPr>
                  <a:t>每个</a:t>
                </a:r>
                <a:r>
                  <a:rPr lang="en-US" altLang="zh-CN" sz="1800" dirty="0">
                    <a:latin typeface="思源黑体 CN Bold" panose="020B0800000000000000" pitchFamily="34" charset="-122"/>
                    <a:ea typeface="思源黑体 CN Bold" panose="020B0800000000000000" pitchFamily="34" charset="-122"/>
                  </a:rPr>
                  <a:t>w</a:t>
                </a:r>
                <a:r>
                  <a:rPr lang="zh-CN" altLang="en-US" sz="1800" dirty="0">
                    <a:latin typeface="思源黑体 CN Bold" panose="020B0800000000000000" pitchFamily="34" charset="-122"/>
                    <a:ea typeface="思源黑体 CN Bold" panose="020B0800000000000000" pitchFamily="34" charset="-122"/>
                  </a:rPr>
                  <a:t>都是</a:t>
                </a:r>
                <a14:m>
                  <m:oMath xmlns:m="http://schemas.openxmlformats.org/officeDocument/2006/math">
                    <m:sSup>
                      <m:sSupPr>
                        <m:ctrlPr>
                          <a:rPr lang="en-US" altLang="zh-CN" sz="1800" i="1">
                            <a:latin typeface="Cambria Math" panose="02040503050406030204" pitchFamily="18" charset="0"/>
                          </a:rPr>
                        </m:ctrlPr>
                      </m:sSupPr>
                      <m:e>
                        <m:r>
                          <a:rPr lang="en-US" altLang="zh-CN" sz="1800" b="0" i="1" smtClean="0">
                            <a:latin typeface="Cambria Math" panose="02040503050406030204" pitchFamily="18" charset="0"/>
                          </a:rPr>
                          <m:t>2</m:t>
                        </m:r>
                      </m:e>
                      <m:sup>
                        <m:r>
                          <a:rPr lang="en-US" altLang="zh-CN" sz="1800" b="0" i="1" smtClean="0">
                            <a:latin typeface="Cambria Math" panose="02040503050406030204" pitchFamily="18" charset="0"/>
                          </a:rPr>
                          <m:t>𝑀</m:t>
                        </m:r>
                      </m:sup>
                    </m:sSup>
                  </m:oMath>
                </a14:m>
                <a:r>
                  <a:rPr lang="zh-CN" altLang="en-US" sz="1800" dirty="0">
                    <a:latin typeface="思源黑体 CN Bold" panose="020B0800000000000000" pitchFamily="34" charset="-122"/>
                    <a:ea typeface="思源黑体 CN Bold" panose="020B0800000000000000" pitchFamily="34" charset="-122"/>
                  </a:rPr>
                  <a:t>个等价权（可得到相同输出）中的一个（每个</a:t>
                </a:r>
                <a:r>
                  <a:rPr lang="en-US" altLang="zh-CN" sz="1800" dirty="0">
                    <a:latin typeface="思源黑体 CN Bold" panose="020B0800000000000000" pitchFamily="34" charset="-122"/>
                    <a:ea typeface="思源黑体 CN Bold" panose="020B0800000000000000" pitchFamily="34" charset="-122"/>
                  </a:rPr>
                  <a:t>hidden unit</a:t>
                </a:r>
                <a:r>
                  <a:rPr lang="zh-CN" altLang="en-US" sz="1800" dirty="0">
                    <a:latin typeface="思源黑体 CN Bold" panose="020B0800000000000000" pitchFamily="34" charset="-122"/>
                    <a:ea typeface="思源黑体 CN Bold" panose="020B0800000000000000" pitchFamily="34" charset="-122"/>
                  </a:rPr>
                  <a:t>有</a:t>
                </a:r>
                <a:r>
                  <a:rPr lang="en-US" altLang="zh-CN" sz="1800" dirty="0">
                    <a:latin typeface="思源黑体 CN Bold" panose="020B0800000000000000" pitchFamily="34" charset="-122"/>
                    <a:ea typeface="思源黑体 CN Bold" panose="020B0800000000000000" pitchFamily="34" charset="-122"/>
                  </a:rPr>
                  <a:t>2</a:t>
                </a:r>
                <a:r>
                  <a:rPr lang="zh-CN" altLang="en-US" sz="1800" dirty="0">
                    <a:latin typeface="思源黑体 CN Bold" panose="020B0800000000000000" pitchFamily="34" charset="-122"/>
                    <a:ea typeface="思源黑体 CN Bold" panose="020B0800000000000000" pitchFamily="34" charset="-122"/>
                  </a:rPr>
                  <a:t>组</a:t>
                </a:r>
                <a:r>
                  <a:rPr lang="en-US" altLang="zh-CN" sz="1800" dirty="0">
                    <a:latin typeface="思源黑体 CN Bold" panose="020B0800000000000000" pitchFamily="34" charset="-122"/>
                    <a:ea typeface="思源黑体 CN Bold" panose="020B0800000000000000" pitchFamily="34" charset="-122"/>
                  </a:rPr>
                  <a:t>w</a:t>
                </a:r>
                <a:r>
                  <a:rPr lang="zh-CN" altLang="en-US" sz="1800" dirty="0">
                    <a:latin typeface="思源黑体 CN Bold" panose="020B0800000000000000" pitchFamily="34" charset="-122"/>
                    <a:ea typeface="思源黑体 CN Bold" panose="020B0800000000000000" pitchFamily="34" charset="-122"/>
                  </a:rPr>
                  <a:t>，共</a:t>
                </a:r>
                <a:r>
                  <a:rPr lang="en-US" altLang="zh-CN" sz="1800" dirty="0">
                    <a:latin typeface="思源黑体 CN Bold" panose="020B0800000000000000" pitchFamily="34" charset="-122"/>
                    <a:ea typeface="思源黑体 CN Bold" panose="020B0800000000000000" pitchFamily="34" charset="-122"/>
                  </a:rPr>
                  <a:t>M</a:t>
                </a:r>
                <a:r>
                  <a:rPr lang="zh-CN" altLang="en-US" sz="1800" dirty="0">
                    <a:latin typeface="思源黑体 CN Bold" panose="020B0800000000000000" pitchFamily="34" charset="-122"/>
                    <a:ea typeface="思源黑体 CN Bold" panose="020B0800000000000000" pitchFamily="34" charset="-122"/>
                  </a:rPr>
                  <a:t>个）。</a:t>
                </a:r>
                <a:endParaRPr lang="en-US" altLang="zh-CN" sz="1800" dirty="0">
                  <a:latin typeface="思源黑体 CN Bold" panose="020B0800000000000000" pitchFamily="34" charset="-122"/>
                  <a:ea typeface="思源黑体 CN Bold" panose="020B0800000000000000" pitchFamily="34" charset="-122"/>
                </a:endParaRPr>
              </a:p>
              <a:p>
                <a:pPr marL="342900" indent="-342900">
                  <a:lnSpc>
                    <a:spcPct val="150000"/>
                  </a:lnSpc>
                  <a:buFont typeface="+mj-lt"/>
                  <a:buAutoNum type="arabicPeriod"/>
                </a:pPr>
                <a:r>
                  <a:rPr lang="zh-CN" altLang="en-US" sz="1800" dirty="0">
                    <a:latin typeface="思源黑体 CN Bold" panose="020B0800000000000000" pitchFamily="34" charset="-122"/>
                    <a:ea typeface="思源黑体 CN Bold" panose="020B0800000000000000" pitchFamily="34" charset="-122"/>
                  </a:rPr>
                  <a:t>因为</a:t>
                </a:r>
                <a:r>
                  <a:rPr lang="en-US" altLang="zh-CN" sz="1800" dirty="0">
                    <a:latin typeface="思源黑体 CN Bold" panose="020B0800000000000000" pitchFamily="34" charset="-122"/>
                    <a:ea typeface="思源黑体 CN Bold" panose="020B0800000000000000" pitchFamily="34" charset="-122"/>
                  </a:rPr>
                  <a:t>hidden unit</a:t>
                </a:r>
                <a:r>
                  <a:rPr lang="zh-CN" altLang="en-US" sz="1800" dirty="0">
                    <a:latin typeface="思源黑体 CN Bold" panose="020B0800000000000000" pitchFamily="34" charset="-122"/>
                    <a:ea typeface="思源黑体 CN Bold" panose="020B0800000000000000" pitchFamily="34" charset="-122"/>
                  </a:rPr>
                  <a:t>的位置可交换，因此有</a:t>
                </a:r>
                <a:r>
                  <a:rPr lang="en-US" altLang="zh-CN" sz="1800" dirty="0">
                    <a:latin typeface="思源黑体 CN Bold" panose="020B0800000000000000" pitchFamily="34" charset="-122"/>
                    <a:ea typeface="思源黑体 CN Bold" panose="020B0800000000000000" pitchFamily="34" charset="-122"/>
                  </a:rPr>
                  <a:t>M</a:t>
                </a:r>
                <a:r>
                  <a:rPr lang="zh-CN" altLang="en-US" sz="1800" dirty="0">
                    <a:latin typeface="思源黑体 CN Bold" panose="020B0800000000000000" pitchFamily="34" charset="-122"/>
                    <a:ea typeface="思源黑体 CN Bold" panose="020B0800000000000000" pitchFamily="34" charset="-122"/>
                  </a:rPr>
                  <a:t>的全排列个组合，即</a:t>
                </a:r>
                <a:r>
                  <a:rPr lang="en-US" altLang="zh-CN" sz="1800" dirty="0">
                    <a:latin typeface="思源黑体 CN Bold" panose="020B0800000000000000" pitchFamily="34" charset="-122"/>
                    <a:ea typeface="思源黑体 CN Bold" panose="020B0800000000000000" pitchFamily="34" charset="-122"/>
                  </a:rPr>
                  <a:t>M</a:t>
                </a:r>
                <a:r>
                  <a:rPr lang="zh-CN" altLang="en-US" sz="1800" dirty="0">
                    <a:latin typeface="思源黑体 CN Bold" panose="020B0800000000000000" pitchFamily="34" charset="-122"/>
                    <a:ea typeface="思源黑体 CN Bold" panose="020B0800000000000000" pitchFamily="34" charset="-122"/>
                  </a:rPr>
                  <a:t>！</a:t>
                </a:r>
                <a:endParaRPr lang="en-US" altLang="zh-CN" sz="1800" dirty="0">
                  <a:latin typeface="思源黑体 CN Bold" panose="020B0800000000000000" pitchFamily="34" charset="-122"/>
                  <a:ea typeface="思源黑体 CN Bold" panose="020B0800000000000000" pitchFamily="34" charset="-122"/>
                </a:endParaRPr>
              </a:p>
              <a:p>
                <a:pPr marL="342900" indent="-342900">
                  <a:lnSpc>
                    <a:spcPct val="150000"/>
                  </a:lnSpc>
                  <a:buFont typeface="+mj-lt"/>
                  <a:buAutoNum type="arabicPeriod"/>
                </a:pPr>
                <a:r>
                  <a:rPr lang="zh-CN" altLang="en-US" sz="1800" dirty="0">
                    <a:latin typeface="思源黑体 CN Bold" panose="020B0800000000000000" pitchFamily="34" charset="-122"/>
                    <a:ea typeface="思源黑体 CN Bold" panose="020B0800000000000000" pitchFamily="34" charset="-122"/>
                  </a:rPr>
                  <a:t>每个</a:t>
                </a:r>
                <a:r>
                  <a:rPr lang="en-US" altLang="zh-CN" sz="1800" dirty="0">
                    <a:latin typeface="思源黑体 CN Bold" panose="020B0800000000000000" pitchFamily="34" charset="-122"/>
                    <a:ea typeface="思源黑体 CN Bold" panose="020B0800000000000000" pitchFamily="34" charset="-122"/>
                  </a:rPr>
                  <a:t>w</a:t>
                </a:r>
                <a:r>
                  <a:rPr lang="zh-CN" altLang="en-US" sz="1800" dirty="0">
                    <a:latin typeface="思源黑体 CN Bold" panose="020B0800000000000000" pitchFamily="34" charset="-122"/>
                    <a:ea typeface="思源黑体 CN Bold" panose="020B0800000000000000" pitchFamily="34" charset="-122"/>
                  </a:rPr>
                  <a:t>的等价权个数为</a:t>
                </a:r>
                <a14:m>
                  <m:oMath xmlns:m="http://schemas.openxmlformats.org/officeDocument/2006/math">
                    <m:r>
                      <a:rPr lang="en-US" altLang="zh-CN" sz="1800" b="0" i="1" smtClean="0">
                        <a:latin typeface="Cambria Math" panose="02040503050406030204" pitchFamily="18" charset="0"/>
                      </a:rPr>
                      <m:t>𝑀</m:t>
                    </m:r>
                    <m:r>
                      <a:rPr lang="en-US" altLang="zh-CN" sz="1800" b="0" i="1" smtClean="0">
                        <a:latin typeface="Cambria Math" panose="02040503050406030204" pitchFamily="18" charset="0"/>
                      </a:rPr>
                      <m:t>!</m:t>
                    </m:r>
                    <m:sSup>
                      <m:sSupPr>
                        <m:ctrlPr>
                          <a:rPr lang="en-US" altLang="zh-CN" sz="1800" i="1">
                            <a:latin typeface="Cambria Math" panose="02040503050406030204" pitchFamily="18" charset="0"/>
                          </a:rPr>
                        </m:ctrlPr>
                      </m:sSupPr>
                      <m:e>
                        <m:r>
                          <a:rPr lang="en-US" altLang="zh-CN" sz="1800" i="1">
                            <a:latin typeface="Cambria Math" panose="02040503050406030204" pitchFamily="18" charset="0"/>
                          </a:rPr>
                          <m:t>2</m:t>
                        </m:r>
                      </m:e>
                      <m:sup>
                        <m:r>
                          <a:rPr lang="en-US" altLang="zh-CN" sz="1800" i="1">
                            <a:latin typeface="Cambria Math" panose="02040503050406030204" pitchFamily="18" charset="0"/>
                          </a:rPr>
                          <m:t>𝑀</m:t>
                        </m:r>
                      </m:sup>
                    </m:sSup>
                  </m:oMath>
                </a14:m>
                <a:endParaRPr lang="en-US" altLang="zh-CN" sz="1800" dirty="0">
                  <a:latin typeface="思源黑体 CN Bold" panose="020B0800000000000000" pitchFamily="34" charset="-122"/>
                  <a:ea typeface="思源黑体 CN Bold" panose="020B0800000000000000" pitchFamily="34" charset="-122"/>
                </a:endParaRPr>
              </a:p>
            </p:txBody>
          </p:sp>
        </mc:Choice>
        <mc:Fallback xmlns="">
          <p:sp>
            <p:nvSpPr>
              <p:cNvPr id="3" name="内容占位符 2">
                <a:extLst>
                  <a:ext uri="{FF2B5EF4-FFF2-40B4-BE49-F238E27FC236}">
                    <a16:creationId xmlns:a16="http://schemas.microsoft.com/office/drawing/2014/main" id="{7EEEC64B-E976-4035-A04D-3686D86D7852}"/>
                  </a:ext>
                </a:extLst>
              </p:cNvPr>
              <p:cNvSpPr>
                <a:spLocks noGrp="1" noRot="1" noChangeAspect="1" noMove="1" noResize="1" noEditPoints="1" noAdjustHandles="1" noChangeArrowheads="1" noChangeShapeType="1" noTextEdit="1"/>
              </p:cNvSpPr>
              <p:nvPr>
                <p:ph idx="4294967295"/>
              </p:nvPr>
            </p:nvSpPr>
            <p:spPr>
              <a:xfrm>
                <a:off x="759823" y="1069895"/>
                <a:ext cx="10515600" cy="4718210"/>
              </a:xfrm>
              <a:blipFill>
                <a:blip r:embed="rId3"/>
                <a:stretch>
                  <a:fillRect l="-812" t="-1164"/>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6BF8C774-5B6E-4966-BBDA-A81D3E60356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078743" y="934958"/>
            <a:ext cx="2807208" cy="2298192"/>
          </a:xfrm>
          <a:prstGeom prst="rect">
            <a:avLst/>
          </a:prstGeom>
        </p:spPr>
      </p:pic>
    </p:spTree>
    <p:extLst>
      <p:ext uri="{BB962C8B-B14F-4D97-AF65-F5344CB8AC3E}">
        <p14:creationId xmlns:p14="http://schemas.microsoft.com/office/powerpoint/2010/main" val="4725481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6AF3F0-4352-4D79-A227-6FCBA2EBA88A}"/>
              </a:ext>
            </a:extLst>
          </p:cNvPr>
          <p:cNvSpPr>
            <a:spLocks noGrp="1"/>
          </p:cNvSpPr>
          <p:nvPr>
            <p:ph type="title" idx="4294967295"/>
          </p:nvPr>
        </p:nvSpPr>
        <p:spPr>
          <a:xfrm>
            <a:off x="292608" y="72518"/>
            <a:ext cx="8255725" cy="706029"/>
          </a:xfrm>
        </p:spPr>
        <p:txBody>
          <a:bodyPr>
            <a:noAutofit/>
          </a:bodyPr>
          <a:lstStyle/>
          <a:p>
            <a:r>
              <a:rPr lang="en-US" altLang="zh-CN" sz="3600" dirty="0">
                <a:latin typeface="思源黑体 CN Bold" panose="020B0800000000000000" pitchFamily="34" charset="-122"/>
                <a:ea typeface="思源黑体 CN Bold" panose="020B0800000000000000" pitchFamily="34" charset="-122"/>
              </a:rPr>
              <a:t>3 </a:t>
            </a:r>
            <a:r>
              <a:rPr lang="zh-CN" altLang="en-US" sz="3600" dirty="0">
                <a:latin typeface="思源黑体 CN Bold" panose="020B0800000000000000" pitchFamily="34" charset="-122"/>
                <a:ea typeface="思源黑体 CN Bold" panose="020B0800000000000000" pitchFamily="34" charset="-122"/>
              </a:rPr>
              <a:t>前馈神经网络的训练：</a:t>
            </a:r>
            <a:r>
              <a:rPr lang="zh-CN" altLang="en-US" sz="2800" dirty="0">
                <a:latin typeface="思源黑体 CN Bold" panose="020B0800000000000000" pitchFamily="34" charset="-122"/>
                <a:ea typeface="思源黑体 CN Bold" panose="020B0800000000000000" pitchFamily="34" charset="-122"/>
              </a:rPr>
              <a:t>线性模型损失函数</a:t>
            </a:r>
            <a:endParaRPr lang="zh-CN" altLang="en-US" sz="3600" dirty="0"/>
          </a:p>
        </p:txBody>
      </p:sp>
      <p:sp>
        <p:nvSpPr>
          <p:cNvPr id="3" name="内容占位符 2">
            <a:extLst>
              <a:ext uri="{FF2B5EF4-FFF2-40B4-BE49-F238E27FC236}">
                <a16:creationId xmlns:a16="http://schemas.microsoft.com/office/drawing/2014/main" id="{B5F15897-98F0-4E08-931A-45E1DC23C6B6}"/>
              </a:ext>
            </a:extLst>
          </p:cNvPr>
          <p:cNvSpPr>
            <a:spLocks noGrp="1"/>
          </p:cNvSpPr>
          <p:nvPr>
            <p:ph idx="4294967295"/>
          </p:nvPr>
        </p:nvSpPr>
        <p:spPr>
          <a:xfrm>
            <a:off x="770273" y="1303111"/>
            <a:ext cx="10515600" cy="4351338"/>
          </a:xfrm>
        </p:spPr>
        <p:txBody>
          <a:bodyPr>
            <a:normAutofit/>
          </a:bodyPr>
          <a:lstStyle/>
          <a:p>
            <a:pPr>
              <a:lnSpc>
                <a:spcPct val="150000"/>
              </a:lnSpc>
            </a:pPr>
            <a:r>
              <a:rPr lang="zh-CN" altLang="en-US" sz="2000" u="sng" dirty="0">
                <a:latin typeface="思源黑体 CN Bold" panose="020B0800000000000000" pitchFamily="34" charset="-122"/>
                <a:ea typeface="思源黑体 CN Bold" panose="020B0800000000000000" pitchFamily="34" charset="-122"/>
                <a:cs typeface="+mj-cs"/>
              </a:rPr>
              <a:t>线性回归</a:t>
            </a:r>
            <a:r>
              <a:rPr lang="zh-CN" altLang="en-US" sz="2000" dirty="0">
                <a:latin typeface="思源黑体 CN Bold" panose="020B0800000000000000" pitchFamily="34" charset="-122"/>
                <a:ea typeface="思源黑体 CN Bold" panose="020B0800000000000000" pitchFamily="34" charset="-122"/>
                <a:cs typeface="+mj-cs"/>
              </a:rPr>
              <a:t>：平方差损失函数，凸，线性优化（是凸规划的一个特例）。</a:t>
            </a:r>
            <a:endParaRPr lang="en-US" altLang="zh-CN" sz="2000" dirty="0">
              <a:latin typeface="思源黑体 CN Bold" panose="020B0800000000000000" pitchFamily="34" charset="-122"/>
              <a:ea typeface="思源黑体 CN Bold" panose="020B0800000000000000" pitchFamily="34" charset="-122"/>
              <a:cs typeface="+mj-cs"/>
            </a:endParaRPr>
          </a:p>
          <a:p>
            <a:pPr>
              <a:lnSpc>
                <a:spcPct val="150000"/>
              </a:lnSpc>
            </a:pPr>
            <a:r>
              <a:rPr lang="en-US" altLang="zh-CN" sz="2000" u="sng" dirty="0">
                <a:latin typeface="思源黑体 CN Bold" panose="020B0800000000000000" pitchFamily="34" charset="-122"/>
                <a:ea typeface="思源黑体 CN Bold" panose="020B0800000000000000" pitchFamily="34" charset="-122"/>
                <a:cs typeface="+mj-cs"/>
              </a:rPr>
              <a:t>Logistic</a:t>
            </a:r>
            <a:r>
              <a:rPr lang="zh-CN" altLang="en-US" sz="2000" u="sng" dirty="0">
                <a:latin typeface="思源黑体 CN Bold" panose="020B0800000000000000" pitchFamily="34" charset="-122"/>
                <a:ea typeface="思源黑体 CN Bold" panose="020B0800000000000000" pitchFamily="34" charset="-122"/>
                <a:cs typeface="+mj-cs"/>
              </a:rPr>
              <a:t>回归</a:t>
            </a:r>
            <a:r>
              <a:rPr lang="zh-CN" altLang="en-US" sz="2000" dirty="0">
                <a:latin typeface="思源黑体 CN Bold" panose="020B0800000000000000" pitchFamily="34" charset="-122"/>
                <a:ea typeface="思源黑体 CN Bold" panose="020B0800000000000000" pitchFamily="34" charset="-122"/>
                <a:cs typeface="+mj-cs"/>
              </a:rPr>
              <a:t>：交叉熵损失函数，凸，非线性优化</a:t>
            </a:r>
            <a:r>
              <a:rPr lang="zh-CN" altLang="en-US" sz="2000" dirty="0">
                <a:latin typeface="思源黑体 CN Bold" panose="020B0800000000000000" pitchFamily="34" charset="-122"/>
                <a:ea typeface="思源黑体 CN Bold" panose="020B0800000000000000" pitchFamily="34" charset="-122"/>
              </a:rPr>
              <a:t>。极值为全局极小值。</a:t>
            </a:r>
            <a:endParaRPr lang="en-US" altLang="zh-CN" sz="2000" dirty="0">
              <a:latin typeface="思源黑体 CN Bold" panose="020B0800000000000000" pitchFamily="34" charset="-122"/>
              <a:ea typeface="思源黑体 CN Bold" panose="020B0800000000000000" pitchFamily="34" charset="-122"/>
            </a:endParaRPr>
          </a:p>
          <a:p>
            <a:pPr>
              <a:lnSpc>
                <a:spcPct val="150000"/>
              </a:lnSpc>
            </a:pPr>
            <a:r>
              <a:rPr lang="zh-CN" altLang="en-US" sz="2000" dirty="0">
                <a:latin typeface="思源黑体 CN Bold" panose="020B0800000000000000" pitchFamily="34" charset="-122"/>
                <a:ea typeface="思源黑体 CN Bold" panose="020B0800000000000000" pitchFamily="34" charset="-122"/>
              </a:rPr>
              <a:t>凸：全程二阶导数</a:t>
            </a:r>
            <a:r>
              <a:rPr lang="en-US" altLang="zh-CN" sz="2000" dirty="0">
                <a:latin typeface="思源黑体 CN Bold" panose="020B0800000000000000" pitchFamily="34" charset="-122"/>
                <a:ea typeface="思源黑体 CN Bold" panose="020B0800000000000000" pitchFamily="34" charset="-122"/>
              </a:rPr>
              <a:t>&gt;0</a:t>
            </a:r>
            <a:r>
              <a:rPr lang="zh-CN" altLang="en-US" sz="2000" dirty="0">
                <a:latin typeface="思源黑体 CN Bold" panose="020B0800000000000000" pitchFamily="34" charset="-122"/>
                <a:ea typeface="思源黑体 CN Bold" panose="020B0800000000000000" pitchFamily="34" charset="-122"/>
              </a:rPr>
              <a:t>，极值为全局极小值。</a:t>
            </a:r>
            <a:endParaRPr lang="en-US" altLang="zh-CN" sz="2000" dirty="0">
              <a:latin typeface="思源黑体 CN Bold" panose="020B0800000000000000" pitchFamily="34" charset="-122"/>
              <a:ea typeface="思源黑体 CN Bold" panose="020B0800000000000000" pitchFamily="34" charset="-122"/>
            </a:endParaRPr>
          </a:p>
          <a:p>
            <a:pPr>
              <a:lnSpc>
                <a:spcPct val="150000"/>
              </a:lnSpc>
            </a:pPr>
            <a:r>
              <a:rPr lang="zh-CN" altLang="en-US" sz="2000" dirty="0">
                <a:latin typeface="思源黑体 CN Bold" panose="020B0800000000000000" pitchFamily="34" charset="-122"/>
                <a:ea typeface="思源黑体 CN Bold" panose="020B0800000000000000" pitchFamily="34" charset="-122"/>
              </a:rPr>
              <a:t>极值点</a:t>
            </a:r>
            <a:r>
              <a:rPr lang="en-US" altLang="zh-CN" sz="2000" dirty="0">
                <a:latin typeface="思源黑体 CN Bold" panose="020B0800000000000000" pitchFamily="34" charset="-122"/>
                <a:ea typeface="思源黑体 CN Bold" panose="020B0800000000000000" pitchFamily="34" charset="-122"/>
              </a:rPr>
              <a:t>(</a:t>
            </a:r>
            <a:r>
              <a:rPr lang="zh-CN" altLang="en-US" sz="2000" dirty="0">
                <a:latin typeface="思源黑体 CN Bold" panose="020B0800000000000000" pitchFamily="34" charset="-122"/>
                <a:ea typeface="思源黑体 CN Bold" panose="020B0800000000000000" pitchFamily="34" charset="-122"/>
              </a:rPr>
              <a:t>驻点</a:t>
            </a:r>
            <a:r>
              <a:rPr lang="en-US" altLang="zh-CN" sz="2000" dirty="0">
                <a:latin typeface="思源黑体 CN Bold" panose="020B0800000000000000" pitchFamily="34" charset="-122"/>
                <a:ea typeface="思源黑体 CN Bold" panose="020B0800000000000000" pitchFamily="34" charset="-122"/>
              </a:rPr>
              <a:t>)</a:t>
            </a:r>
            <a:r>
              <a:rPr lang="zh-CN" altLang="en-US" sz="2000" dirty="0">
                <a:latin typeface="思源黑体 CN Bold" panose="020B0800000000000000" pitchFamily="34" charset="-122"/>
                <a:ea typeface="思源黑体 CN Bold" panose="020B0800000000000000" pitchFamily="34" charset="-122"/>
              </a:rPr>
              <a:t>，一阶导数</a:t>
            </a:r>
            <a:r>
              <a:rPr lang="en-US" altLang="zh-CN" sz="2000" dirty="0">
                <a:latin typeface="思源黑体 CN Bold" panose="020B0800000000000000" pitchFamily="34" charset="-122"/>
                <a:ea typeface="思源黑体 CN Bold" panose="020B0800000000000000" pitchFamily="34" charset="-122"/>
              </a:rPr>
              <a:t>=0</a:t>
            </a:r>
            <a:r>
              <a:rPr lang="zh-CN" altLang="en-US" sz="2000" dirty="0">
                <a:latin typeface="思源黑体 CN Bold" panose="020B0800000000000000" pitchFamily="34" charset="-122"/>
                <a:ea typeface="思源黑体 CN Bold" panose="020B0800000000000000" pitchFamily="34" charset="-122"/>
              </a:rPr>
              <a:t>，二阶导数</a:t>
            </a:r>
            <a:r>
              <a:rPr lang="en-US" altLang="zh-CN" sz="2000" dirty="0">
                <a:latin typeface="思源黑体 CN Bold" panose="020B0800000000000000" pitchFamily="34" charset="-122"/>
                <a:ea typeface="思源黑体 CN Bold" panose="020B0800000000000000" pitchFamily="34" charset="-122"/>
              </a:rPr>
              <a:t>&gt;0</a:t>
            </a:r>
            <a:r>
              <a:rPr lang="zh-CN" altLang="en-US" sz="2000" dirty="0">
                <a:latin typeface="思源黑体 CN Bold" panose="020B0800000000000000" pitchFamily="34" charset="-122"/>
                <a:ea typeface="思源黑体 CN Bold" panose="020B0800000000000000" pitchFamily="34" charset="-122"/>
              </a:rPr>
              <a:t>，极小值。</a:t>
            </a:r>
            <a:endParaRPr lang="en-US" altLang="zh-CN" sz="2000" dirty="0">
              <a:latin typeface="思源黑体 CN Bold" panose="020B0800000000000000" pitchFamily="34" charset="-122"/>
              <a:ea typeface="思源黑体 CN Bold" panose="020B0800000000000000" pitchFamily="34" charset="-122"/>
            </a:endParaRPr>
          </a:p>
          <a:p>
            <a:pPr marL="0" indent="0">
              <a:lnSpc>
                <a:spcPct val="150000"/>
              </a:lnSpc>
              <a:buNone/>
            </a:pPr>
            <a:endParaRPr lang="en-US" altLang="zh-CN" sz="2000" dirty="0">
              <a:latin typeface="思源黑体 CN Bold" panose="020B0800000000000000" pitchFamily="34" charset="-122"/>
              <a:ea typeface="思源黑体 CN Bold" panose="020B0800000000000000" pitchFamily="34" charset="-122"/>
              <a:cs typeface="+mj-cs"/>
            </a:endParaRPr>
          </a:p>
          <a:p>
            <a:pPr>
              <a:lnSpc>
                <a:spcPct val="150000"/>
              </a:lnSpc>
            </a:pPr>
            <a:r>
              <a:rPr lang="zh-CN" altLang="en-US" sz="1800" dirty="0">
                <a:solidFill>
                  <a:srgbClr val="FF0000"/>
                </a:solidFill>
                <a:latin typeface="思源黑体 CN Bold" panose="020B0800000000000000" pitchFamily="34" charset="-122"/>
                <a:ea typeface="思源黑体 CN Bold" panose="020B0800000000000000" pitchFamily="34" charset="-122"/>
                <a:cs typeface="+mj-cs"/>
              </a:rPr>
              <a:t>注意：如果</a:t>
            </a:r>
            <a:r>
              <a:rPr lang="en-US" altLang="zh-CN" sz="1800" dirty="0">
                <a:solidFill>
                  <a:srgbClr val="FF0000"/>
                </a:solidFill>
                <a:latin typeface="思源黑体 CN Bold" panose="020B0800000000000000" pitchFamily="34" charset="-122"/>
                <a:ea typeface="思源黑体 CN Bold" panose="020B0800000000000000" pitchFamily="34" charset="-122"/>
                <a:cs typeface="+mj-cs"/>
              </a:rPr>
              <a:t>Logistic</a:t>
            </a:r>
            <a:r>
              <a:rPr lang="zh-CN" altLang="en-US" sz="1800" dirty="0">
                <a:solidFill>
                  <a:srgbClr val="FF0000"/>
                </a:solidFill>
                <a:latin typeface="思源黑体 CN Bold" panose="020B0800000000000000" pitchFamily="34" charset="-122"/>
                <a:ea typeface="思源黑体 CN Bold" panose="020B0800000000000000" pitchFamily="34" charset="-122"/>
                <a:cs typeface="+mj-cs"/>
              </a:rPr>
              <a:t>回归使用预测值与观测值的平方差损失函数，由于激活函数的存在，损失函数将是非凸的，存在局部极小。</a:t>
            </a:r>
            <a:endParaRPr lang="en-US" altLang="zh-CN" sz="2000" dirty="0">
              <a:solidFill>
                <a:srgbClr val="FF0000"/>
              </a:solidFill>
              <a:latin typeface="思源黑体 CN Bold" panose="020B0800000000000000" pitchFamily="34" charset="-122"/>
              <a:ea typeface="思源黑体 CN Bold" panose="020B0800000000000000" pitchFamily="34" charset="-122"/>
              <a:cs typeface="+mj-cs"/>
            </a:endParaRPr>
          </a:p>
        </p:txBody>
      </p:sp>
    </p:spTree>
    <p:extLst>
      <p:ext uri="{BB962C8B-B14F-4D97-AF65-F5344CB8AC3E}">
        <p14:creationId xmlns:p14="http://schemas.microsoft.com/office/powerpoint/2010/main" val="26860990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B5F15897-98F0-4E08-931A-45E1DC23C6B6}"/>
                  </a:ext>
                </a:extLst>
              </p:cNvPr>
              <p:cNvSpPr>
                <a:spLocks noGrp="1"/>
              </p:cNvSpPr>
              <p:nvPr>
                <p:ph idx="4294967295"/>
              </p:nvPr>
            </p:nvSpPr>
            <p:spPr>
              <a:xfrm>
                <a:off x="812074" y="1250860"/>
                <a:ext cx="8642953" cy="4881678"/>
              </a:xfrm>
            </p:spPr>
            <p:txBody>
              <a:bodyPr>
                <a:normAutofit/>
              </a:bodyPr>
              <a:lstStyle/>
              <a:p>
                <a:pPr marL="457200" indent="-457200">
                  <a:lnSpc>
                    <a:spcPct val="150000"/>
                  </a:lnSpc>
                  <a:buFont typeface="+mj-lt"/>
                  <a:buAutoNum type="arabicPeriod"/>
                </a:pPr>
                <a:r>
                  <a:rPr lang="zh-CN" altLang="en-US" sz="1800" dirty="0">
                    <a:latin typeface="思源黑体 CN Bold" panose="020B0800000000000000" pitchFamily="34" charset="-122"/>
                    <a:ea typeface="思源黑体 CN Bold" panose="020B0800000000000000" pitchFamily="34" charset="-122"/>
                    <a:cs typeface="+mj-cs"/>
                  </a:rPr>
                  <a:t>回归，平方差损失函数</a:t>
                </a:r>
                <a:endParaRPr lang="en-US" altLang="zh-CN" sz="1800" dirty="0">
                  <a:latin typeface="思源黑体 CN Bold" panose="020B0800000000000000" pitchFamily="34" charset="-122"/>
                  <a:ea typeface="思源黑体 CN Bold" panose="020B0800000000000000" pitchFamily="34" charset="-122"/>
                  <a:cs typeface="+mj-cs"/>
                </a:endParaRPr>
              </a:p>
              <a:p>
                <a:pPr marL="457200" indent="-457200">
                  <a:lnSpc>
                    <a:spcPct val="150000"/>
                  </a:lnSpc>
                  <a:buFont typeface="+mj-lt"/>
                  <a:buAutoNum type="arabicPeriod"/>
                </a:pPr>
                <a:r>
                  <a:rPr lang="zh-CN" altLang="en-US" sz="1800" dirty="0">
                    <a:latin typeface="思源黑体 CN Bold" panose="020B0800000000000000" pitchFamily="34" charset="-122"/>
                    <a:ea typeface="思源黑体 CN Bold" panose="020B0800000000000000" pitchFamily="34" charset="-122"/>
                    <a:cs typeface="+mj-cs"/>
                  </a:rPr>
                  <a:t>分类，交叉熵损失函数</a:t>
                </a:r>
                <a:endParaRPr lang="en-US" altLang="zh-CN" sz="1800" dirty="0">
                  <a:latin typeface="思源黑体 CN Bold" panose="020B0800000000000000" pitchFamily="34" charset="-122"/>
                  <a:ea typeface="思源黑体 CN Bold" panose="020B0800000000000000" pitchFamily="34" charset="-122"/>
                  <a:cs typeface="+mj-cs"/>
                </a:endParaRPr>
              </a:p>
              <a:p>
                <a:pPr marL="457200" indent="-457200">
                  <a:lnSpc>
                    <a:spcPct val="150000"/>
                  </a:lnSpc>
                  <a:buFont typeface="+mj-lt"/>
                  <a:buAutoNum type="arabicPeriod"/>
                </a:pPr>
                <a:r>
                  <a:rPr lang="zh-CN" altLang="en-US" sz="1800" dirty="0">
                    <a:latin typeface="思源黑体 CN Bold" panose="020B0800000000000000" pitchFamily="34" charset="-122"/>
                    <a:ea typeface="思源黑体 CN Bold" panose="020B0800000000000000" pitchFamily="34" charset="-122"/>
                    <a:cs typeface="+mj-cs"/>
                  </a:rPr>
                  <a:t>基函数的非线性程度高，上述两者均为</a:t>
                </a:r>
                <a:r>
                  <a:rPr lang="zh-CN" altLang="en-US" sz="1800" dirty="0">
                    <a:latin typeface="思源黑体 CN Bold" panose="020B0800000000000000" pitchFamily="34" charset="-122"/>
                    <a:ea typeface="思源黑体 CN Bold" panose="020B0800000000000000" pitchFamily="34" charset="-122"/>
                  </a:rPr>
                  <a:t>非线性、非凸（存在局部极小点）</a:t>
                </a:r>
                <a:endParaRPr lang="en-US" altLang="zh-CN" sz="1800" dirty="0">
                  <a:latin typeface="思源黑体 CN Bold" panose="020B0800000000000000" pitchFamily="34" charset="-122"/>
                  <a:ea typeface="思源黑体 CN Bold" panose="020B0800000000000000" pitchFamily="34" charset="-122"/>
                </a:endParaRPr>
              </a:p>
              <a:p>
                <a:pPr marL="457200" indent="-457200">
                  <a:lnSpc>
                    <a:spcPct val="150000"/>
                  </a:lnSpc>
                  <a:buFont typeface="+mj-lt"/>
                  <a:buAutoNum type="arabicPeriod"/>
                </a:pPr>
                <a:r>
                  <a:rPr lang="zh-CN" altLang="en-US" sz="1800" dirty="0">
                    <a:latin typeface="思源黑体 CN Bold" panose="020B0800000000000000" pitchFamily="34" charset="-122"/>
                    <a:ea typeface="思源黑体 CN Bold" panose="020B0800000000000000" pitchFamily="34" charset="-122"/>
                    <a:cs typeface="+mj-cs"/>
                  </a:rPr>
                  <a:t>权值对称性（系统不可辨识性）也会导致多个相同的局部极小点</a:t>
                </a:r>
                <a14:m>
                  <m:oMath xmlns:m="http://schemas.openxmlformats.org/officeDocument/2006/math">
                    <m:r>
                      <a:rPr lang="en-US" altLang="zh-CN" sz="1800" i="1">
                        <a:latin typeface="Cambria Math" panose="02040503050406030204" pitchFamily="18" charset="0"/>
                      </a:rPr>
                      <m:t>𝑀</m:t>
                    </m:r>
                    <m:r>
                      <a:rPr lang="en-US" altLang="zh-CN" sz="1800" i="1">
                        <a:latin typeface="Cambria Math" panose="02040503050406030204" pitchFamily="18" charset="0"/>
                      </a:rPr>
                      <m:t>!</m:t>
                    </m:r>
                    <m:sSup>
                      <m:sSupPr>
                        <m:ctrlPr>
                          <a:rPr lang="en-US" altLang="zh-CN" sz="1800" i="1">
                            <a:latin typeface="Cambria Math" panose="02040503050406030204" pitchFamily="18" charset="0"/>
                          </a:rPr>
                        </m:ctrlPr>
                      </m:sSupPr>
                      <m:e>
                        <m:r>
                          <a:rPr lang="en-US" altLang="zh-CN" sz="1800" i="1">
                            <a:latin typeface="Cambria Math" panose="02040503050406030204" pitchFamily="18" charset="0"/>
                          </a:rPr>
                          <m:t>2</m:t>
                        </m:r>
                      </m:e>
                      <m:sup>
                        <m:r>
                          <a:rPr lang="en-US" altLang="zh-CN" sz="1800" i="1">
                            <a:latin typeface="Cambria Math" panose="02040503050406030204" pitchFamily="18" charset="0"/>
                          </a:rPr>
                          <m:t>𝑀</m:t>
                        </m:r>
                      </m:sup>
                    </m:sSup>
                    <m:r>
                      <a:rPr lang="en-US" altLang="zh-CN" sz="1800" i="1">
                        <a:latin typeface="Cambria Math" panose="02040503050406030204" pitchFamily="18" charset="0"/>
                      </a:rPr>
                      <m:t> </m:t>
                    </m:r>
                  </m:oMath>
                </a14:m>
                <a:r>
                  <a:rPr lang="zh-CN" altLang="en-US" sz="1800" dirty="0">
                    <a:latin typeface="思源黑体 CN Bold" panose="020B0800000000000000" pitchFamily="34" charset="-122"/>
                    <a:ea typeface="思源黑体 CN Bold" panose="020B0800000000000000" pitchFamily="34" charset="-122"/>
                    <a:cs typeface="+mj-cs"/>
                  </a:rPr>
                  <a:t>。</a:t>
                </a:r>
                <a:endParaRPr lang="en-US" altLang="zh-CN" sz="1800" dirty="0">
                  <a:latin typeface="思源黑体 CN Bold" panose="020B0800000000000000" pitchFamily="34" charset="-122"/>
                  <a:ea typeface="思源黑体 CN Bold" panose="020B0800000000000000" pitchFamily="34" charset="-122"/>
                  <a:cs typeface="+mj-cs"/>
                </a:endParaRPr>
              </a:p>
              <a:p>
                <a:pPr marL="457200" indent="-457200">
                  <a:lnSpc>
                    <a:spcPct val="150000"/>
                  </a:lnSpc>
                  <a:buFont typeface="+mj-lt"/>
                  <a:buAutoNum type="arabicPeriod"/>
                </a:pPr>
                <a:r>
                  <a:rPr lang="zh-CN" altLang="en-US" sz="1800" dirty="0">
                    <a:latin typeface="思源黑体 CN Bold" panose="020B0800000000000000" pitchFamily="34" charset="-122"/>
                    <a:ea typeface="思源黑体 CN Bold" panose="020B0800000000000000" pitchFamily="34" charset="-122"/>
                    <a:cs typeface="+mj-cs"/>
                  </a:rPr>
                  <a:t>依据</a:t>
                </a:r>
                <a:r>
                  <a:rPr lang="en-US" altLang="zh-CN" sz="1800" dirty="0">
                    <a:latin typeface="思源黑体 CN Bold" panose="020B0800000000000000" pitchFamily="34" charset="-122"/>
                    <a:ea typeface="思源黑体 CN Bold" panose="020B0800000000000000" pitchFamily="34" charset="-122"/>
                    <a:cs typeface="+mj-cs"/>
                  </a:rPr>
                  <a:t>Hessian</a:t>
                </a:r>
                <a:r>
                  <a:rPr lang="zh-CN" altLang="en-US" sz="1800" dirty="0">
                    <a:latin typeface="思源黑体 CN Bold" panose="020B0800000000000000" pitchFamily="34" charset="-122"/>
                    <a:ea typeface="思源黑体 CN Bold" panose="020B0800000000000000" pitchFamily="34" charset="-122"/>
                    <a:cs typeface="+mj-cs"/>
                  </a:rPr>
                  <a:t>矩阵正定性（</a:t>
                </a:r>
                <a14:m>
                  <m:oMath xmlns:m="http://schemas.openxmlformats.org/officeDocument/2006/math">
                    <m:sSup>
                      <m:sSupPr>
                        <m:ctrlPr>
                          <a:rPr lang="en-US" altLang="zh-CN" sz="1800" b="0" i="1" smtClean="0">
                            <a:latin typeface="Cambria Math" panose="02040503050406030204" pitchFamily="18" charset="0"/>
                            <a:ea typeface="思源黑体 CN Bold" panose="020B0800000000000000" pitchFamily="34" charset="-122"/>
                            <a:cs typeface="+mj-cs"/>
                          </a:rPr>
                        </m:ctrlPr>
                      </m:sSupPr>
                      <m:e>
                        <m:r>
                          <a:rPr lang="en-US" altLang="zh-CN" sz="1800" b="1" i="0" smtClean="0">
                            <a:latin typeface="Cambria Math" panose="02040503050406030204" pitchFamily="18" charset="0"/>
                            <a:ea typeface="思源黑体 CN Bold" panose="020B0800000000000000" pitchFamily="34" charset="-122"/>
                            <a:cs typeface="+mj-cs"/>
                          </a:rPr>
                          <m:t>𝐚</m:t>
                        </m:r>
                      </m:e>
                      <m:sup>
                        <m:r>
                          <a:rPr lang="en-US" altLang="zh-CN" sz="1800" b="0" i="1" smtClean="0">
                            <a:latin typeface="Cambria Math" panose="02040503050406030204" pitchFamily="18" charset="0"/>
                            <a:ea typeface="思源黑体 CN Bold" panose="020B0800000000000000" pitchFamily="34" charset="-122"/>
                            <a:cs typeface="+mj-cs"/>
                          </a:rPr>
                          <m:t>𝑇</m:t>
                        </m:r>
                      </m:sup>
                    </m:sSup>
                    <m:r>
                      <a:rPr lang="en-US" altLang="zh-CN" sz="1800" b="1" i="0" smtClean="0">
                        <a:latin typeface="Cambria Math" panose="02040503050406030204" pitchFamily="18" charset="0"/>
                        <a:ea typeface="思源黑体 CN Bold" panose="020B0800000000000000" pitchFamily="34" charset="-122"/>
                        <a:cs typeface="+mj-cs"/>
                      </a:rPr>
                      <m:t>𝐇𝐚</m:t>
                    </m:r>
                    <m:r>
                      <a:rPr lang="en-US" altLang="zh-CN" sz="1800" b="0" i="1" smtClean="0">
                        <a:latin typeface="Cambria Math" panose="02040503050406030204" pitchFamily="18" charset="0"/>
                        <a:ea typeface="思源黑体 CN Bold" panose="020B0800000000000000" pitchFamily="34" charset="-122"/>
                        <a:cs typeface="+mj-cs"/>
                      </a:rPr>
                      <m:t>&gt;0</m:t>
                    </m:r>
                  </m:oMath>
                </a14:m>
                <a:r>
                  <a:rPr lang="zh-CN" altLang="en-US" sz="1800" dirty="0">
                    <a:latin typeface="思源黑体 CN Bold" panose="020B0800000000000000" pitchFamily="34" charset="-122"/>
                    <a:ea typeface="思源黑体 CN Bold" panose="020B0800000000000000" pitchFamily="34" charset="-122"/>
                    <a:cs typeface="+mj-cs"/>
                  </a:rPr>
                  <a:t>，</a:t>
                </a:r>
                <a:r>
                  <a:rPr lang="en-US" altLang="zh-CN" sz="1800" dirty="0">
                    <a:latin typeface="思源黑体 CN Bold" panose="020B0800000000000000" pitchFamily="34" charset="-122"/>
                    <a:ea typeface="思源黑体 CN Bold" panose="020B0800000000000000" pitchFamily="34" charset="-122"/>
                    <a:cs typeface="+mj-cs"/>
                  </a:rPr>
                  <a:t>a</a:t>
                </a:r>
                <a:r>
                  <a:rPr lang="zh-CN" altLang="en-US" sz="1800" dirty="0">
                    <a:latin typeface="思源黑体 CN Bold" panose="020B0800000000000000" pitchFamily="34" charset="-122"/>
                    <a:ea typeface="思源黑体 CN Bold" panose="020B0800000000000000" pitchFamily="34" charset="-122"/>
                    <a:cs typeface="+mj-cs"/>
                  </a:rPr>
                  <a:t>为任意向量）</a:t>
                </a:r>
                <a:r>
                  <a:rPr lang="en-US" altLang="zh-CN" sz="1800" dirty="0">
                    <a:latin typeface="思源黑体 CN Bold" panose="020B0800000000000000" pitchFamily="34" charset="-122"/>
                    <a:ea typeface="思源黑体 CN Bold" panose="020B0800000000000000" pitchFamily="34" charset="-122"/>
                    <a:cs typeface="+mj-cs"/>
                  </a:rPr>
                  <a:t> </a:t>
                </a:r>
                <a:r>
                  <a:rPr lang="zh-CN" altLang="en-US" sz="1800" dirty="0">
                    <a:latin typeface="思源黑体 CN Bold" panose="020B0800000000000000" pitchFamily="34" charset="-122"/>
                    <a:ea typeface="思源黑体 CN Bold" panose="020B0800000000000000" pitchFamily="34" charset="-122"/>
                    <a:cs typeface="+mj-cs"/>
                  </a:rPr>
                  <a:t>判断驻点是否为极小点</a:t>
                </a:r>
                <a:endParaRPr lang="en-US" altLang="zh-CN" sz="1800" dirty="0">
                  <a:latin typeface="思源黑体 CN Bold" panose="020B0800000000000000" pitchFamily="34" charset="-122"/>
                  <a:ea typeface="思源黑体 CN Bold" panose="020B0800000000000000" pitchFamily="34" charset="-122"/>
                  <a:cs typeface="+mj-cs"/>
                </a:endParaRPr>
              </a:p>
              <a:p>
                <a:pPr marL="914400" lvl="1" indent="-457200">
                  <a:lnSpc>
                    <a:spcPct val="200000"/>
                  </a:lnSpc>
                  <a:buFont typeface="+mj-lt"/>
                  <a:buAutoNum type="arabicPeriod"/>
                </a:pPr>
                <a:r>
                  <a:rPr lang="zh-CN" altLang="en-US" sz="1800" dirty="0">
                    <a:latin typeface="思源黑体 CN Bold" panose="020B0800000000000000" pitchFamily="34" charset="-122"/>
                    <a:ea typeface="思源黑体 CN Bold" panose="020B0800000000000000" pitchFamily="34" charset="-122"/>
                    <a:cs typeface="+mj-cs"/>
                  </a:rPr>
                  <a:t>极小点</a:t>
                </a:r>
                <a:endParaRPr lang="en-US" altLang="zh-CN" sz="1800" dirty="0">
                  <a:latin typeface="思源黑体 CN Bold" panose="020B0800000000000000" pitchFamily="34" charset="-122"/>
                  <a:ea typeface="思源黑体 CN Bold" panose="020B0800000000000000" pitchFamily="34" charset="-122"/>
                  <a:cs typeface="+mj-cs"/>
                </a:endParaRPr>
              </a:p>
              <a:p>
                <a:pPr marL="914400" lvl="1" indent="-457200">
                  <a:lnSpc>
                    <a:spcPct val="200000"/>
                  </a:lnSpc>
                  <a:buFont typeface="+mj-lt"/>
                  <a:buAutoNum type="arabicPeriod"/>
                </a:pPr>
                <a:r>
                  <a:rPr lang="zh-CN" altLang="en-US" sz="1800" dirty="0">
                    <a:latin typeface="思源黑体 CN Bold" panose="020B0800000000000000" pitchFamily="34" charset="-122"/>
                    <a:ea typeface="思源黑体 CN Bold" panose="020B0800000000000000" pitchFamily="34" charset="-122"/>
                    <a:cs typeface="+mj-cs"/>
                  </a:rPr>
                  <a:t>鞍点</a:t>
                </a:r>
                <a:endParaRPr lang="en-US" altLang="zh-CN" sz="1800" dirty="0">
                  <a:latin typeface="思源黑体 CN Bold" panose="020B0800000000000000" pitchFamily="34" charset="-122"/>
                  <a:ea typeface="思源黑体 CN Bold" panose="020B0800000000000000" pitchFamily="34" charset="-122"/>
                  <a:cs typeface="+mj-cs"/>
                </a:endParaRPr>
              </a:p>
              <a:p>
                <a:pPr marL="914400" lvl="1" indent="-457200">
                  <a:lnSpc>
                    <a:spcPct val="200000"/>
                  </a:lnSpc>
                  <a:buFont typeface="+mj-lt"/>
                  <a:buAutoNum type="arabicPeriod"/>
                </a:pPr>
                <a:r>
                  <a:rPr lang="zh-CN" altLang="en-US" sz="1800" dirty="0">
                    <a:latin typeface="思源黑体 CN Bold" panose="020B0800000000000000" pitchFamily="34" charset="-122"/>
                    <a:ea typeface="思源黑体 CN Bold" panose="020B0800000000000000" pitchFamily="34" charset="-122"/>
                    <a:cs typeface="+mj-cs"/>
                  </a:rPr>
                  <a:t>极大点</a:t>
                </a:r>
                <a:endParaRPr lang="en-US" altLang="zh-CN" sz="1800" dirty="0">
                  <a:latin typeface="思源黑体 CN Bold" panose="020B0800000000000000" pitchFamily="34" charset="-122"/>
                  <a:ea typeface="思源黑体 CN Bold" panose="020B0800000000000000" pitchFamily="34" charset="-122"/>
                  <a:cs typeface="+mj-cs"/>
                </a:endParaRPr>
              </a:p>
            </p:txBody>
          </p:sp>
        </mc:Choice>
        <mc:Fallback xmlns="">
          <p:sp>
            <p:nvSpPr>
              <p:cNvPr id="3" name="内容占位符 2">
                <a:extLst>
                  <a:ext uri="{FF2B5EF4-FFF2-40B4-BE49-F238E27FC236}">
                    <a16:creationId xmlns:a16="http://schemas.microsoft.com/office/drawing/2014/main" id="{B5F15897-98F0-4E08-931A-45E1DC23C6B6}"/>
                  </a:ext>
                </a:extLst>
              </p:cNvPr>
              <p:cNvSpPr>
                <a:spLocks noGrp="1" noRot="1" noChangeAspect="1" noMove="1" noResize="1" noEditPoints="1" noAdjustHandles="1" noChangeArrowheads="1" noChangeShapeType="1" noTextEdit="1"/>
              </p:cNvSpPr>
              <p:nvPr>
                <p:ph idx="4294967295"/>
              </p:nvPr>
            </p:nvSpPr>
            <p:spPr>
              <a:xfrm>
                <a:off x="812074" y="1250860"/>
                <a:ext cx="8642953" cy="4881678"/>
              </a:xfrm>
              <a:blipFill>
                <a:blip r:embed="rId3"/>
                <a:stretch>
                  <a:fillRect l="-987" t="-999"/>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3AB267FB-4158-4378-9CCA-E9DFBC1D3BD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46978" y="2040188"/>
            <a:ext cx="2472456" cy="2507388"/>
          </a:xfrm>
          <a:prstGeom prst="rect">
            <a:avLst/>
          </a:prstGeom>
        </p:spPr>
      </p:pic>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C5D60A87-D115-4D02-B3B8-2B5EED699923}"/>
                  </a:ext>
                </a:extLst>
              </p:cNvPr>
              <p:cNvSpPr/>
              <p:nvPr/>
            </p:nvSpPr>
            <p:spPr>
              <a:xfrm>
                <a:off x="8126848" y="3668935"/>
                <a:ext cx="3531807" cy="1281376"/>
              </a:xfrm>
              <a:prstGeom prst="rect">
                <a:avLst/>
              </a:prstGeom>
            </p:spPr>
            <p:txBody>
              <a:bodyPr wrap="square">
                <a:spAutoFit/>
              </a:bodyPr>
              <a:lstStyle/>
              <a:p>
                <a:pPr algn="just">
                  <a:lnSpc>
                    <a:spcPct val="150000"/>
                  </a:lnSpc>
                </a:pPr>
                <a14:m>
                  <m:oMath xmlns:m="http://schemas.openxmlformats.org/officeDocument/2006/math">
                    <m:sSub>
                      <m:sSubPr>
                        <m:ctrlPr>
                          <a:rPr lang="en-US" altLang="zh-CN" b="1" i="1" smtClean="0">
                            <a:latin typeface="Cambria Math" panose="02040503050406030204" pitchFamily="18" charset="0"/>
                          </a:rPr>
                        </m:ctrlPr>
                      </m:sSubPr>
                      <m:e>
                        <m:r>
                          <m:rPr>
                            <m:sty m:val="p"/>
                          </m:rPr>
                          <a:rPr lang="en-US" altLang="zh-CN" b="1" i="1" smtClean="0">
                            <a:latin typeface="Cambria Math" panose="02040503050406030204" pitchFamily="18" charset="0"/>
                          </a:rPr>
                          <m:t>w</m:t>
                        </m:r>
                      </m:e>
                      <m:sub>
                        <m:r>
                          <a:rPr lang="en-US" altLang="zh-CN" b="0" i="1" smtClean="0">
                            <a:latin typeface="Cambria Math" panose="02040503050406030204" pitchFamily="18" charset="0"/>
                          </a:rPr>
                          <m:t>𝐴</m:t>
                        </m:r>
                      </m:sub>
                    </m:sSub>
                    <m:r>
                      <a:rPr lang="en-US" altLang="zh-CN" b="1" i="1">
                        <a:latin typeface="Cambria Math" panose="02040503050406030204" pitchFamily="18" charset="0"/>
                      </a:rPr>
                      <m:t> </m:t>
                    </m:r>
                  </m:oMath>
                </a14:m>
                <a:r>
                  <a:rPr lang="zh-CN" altLang="en-US" dirty="0">
                    <a:latin typeface="思源黑体 CN Bold" panose="020B0800000000000000" pitchFamily="34" charset="-122"/>
                    <a:ea typeface="思源黑体 CN Bold" panose="020B0800000000000000" pitchFamily="34" charset="-122"/>
                  </a:rPr>
                  <a:t>局部极小</a:t>
                </a:r>
                <a:endParaRPr lang="en-US" altLang="zh-CN" dirty="0">
                  <a:latin typeface="思源黑体 CN Bold" panose="020B0800000000000000" pitchFamily="34" charset="-122"/>
                  <a:ea typeface="思源黑体 CN Bold" panose="020B0800000000000000" pitchFamily="34" charset="-122"/>
                </a:endParaRPr>
              </a:p>
              <a:p>
                <a:pPr algn="just">
                  <a:lnSpc>
                    <a:spcPct val="150000"/>
                  </a:lnSpc>
                </a:pPr>
                <a14:m>
                  <m:oMath xmlns:m="http://schemas.openxmlformats.org/officeDocument/2006/math">
                    <m:sSub>
                      <m:sSubPr>
                        <m:ctrlPr>
                          <a:rPr lang="en-US" altLang="zh-CN" b="1" i="1">
                            <a:latin typeface="Cambria Math" panose="02040503050406030204" pitchFamily="18" charset="0"/>
                          </a:rPr>
                        </m:ctrlPr>
                      </m:sSubPr>
                      <m:e>
                        <m:r>
                          <m:rPr>
                            <m:sty m:val="p"/>
                          </m:rPr>
                          <a:rPr lang="en-US" altLang="zh-CN" b="1" i="1">
                            <a:latin typeface="Cambria Math" panose="02040503050406030204" pitchFamily="18" charset="0"/>
                          </a:rPr>
                          <m:t>w</m:t>
                        </m:r>
                      </m:e>
                      <m:sub>
                        <m:r>
                          <a:rPr lang="en-US" altLang="zh-CN" b="0" i="1" smtClean="0">
                            <a:latin typeface="Cambria Math" panose="02040503050406030204" pitchFamily="18" charset="0"/>
                          </a:rPr>
                          <m:t>𝐵</m:t>
                        </m:r>
                      </m:sub>
                    </m:sSub>
                    <m:r>
                      <a:rPr lang="en-US" altLang="zh-CN" b="1" i="1">
                        <a:latin typeface="Cambria Math" panose="02040503050406030204" pitchFamily="18" charset="0"/>
                      </a:rPr>
                      <m:t> </m:t>
                    </m:r>
                  </m:oMath>
                </a14:m>
                <a:r>
                  <a:rPr lang="zh-CN" altLang="en-US" dirty="0">
                    <a:latin typeface="思源黑体 CN Bold" panose="020B0800000000000000" pitchFamily="34" charset="-122"/>
                    <a:ea typeface="思源黑体 CN Bold" panose="020B0800000000000000" pitchFamily="34" charset="-122"/>
                  </a:rPr>
                  <a:t>全局极小</a:t>
                </a:r>
                <a:endParaRPr lang="en-US" altLang="zh-CN" dirty="0">
                  <a:latin typeface="思源黑体 CN Bold" panose="020B0800000000000000" pitchFamily="34" charset="-122"/>
                  <a:ea typeface="思源黑体 CN Bold" panose="020B0800000000000000" pitchFamily="34" charset="-122"/>
                </a:endParaRPr>
              </a:p>
              <a:p>
                <a:pPr algn="just">
                  <a:lnSpc>
                    <a:spcPct val="150000"/>
                  </a:lnSpc>
                </a:pPr>
                <a14:m>
                  <m:oMath xmlns:m="http://schemas.openxmlformats.org/officeDocument/2006/math">
                    <m:sSub>
                      <m:sSubPr>
                        <m:ctrlPr>
                          <a:rPr lang="en-US" altLang="zh-CN" b="1" i="1">
                            <a:latin typeface="Cambria Math" panose="02040503050406030204" pitchFamily="18" charset="0"/>
                          </a:rPr>
                        </m:ctrlPr>
                      </m:sSubPr>
                      <m:e>
                        <m:r>
                          <m:rPr>
                            <m:sty m:val="p"/>
                          </m:rPr>
                          <a:rPr lang="en-US" altLang="zh-CN" b="1" i="1">
                            <a:latin typeface="Cambria Math" panose="02040503050406030204" pitchFamily="18" charset="0"/>
                          </a:rPr>
                          <m:t>w</m:t>
                        </m:r>
                      </m:e>
                      <m:sub>
                        <m:r>
                          <a:rPr lang="en-US" altLang="zh-CN" b="0" i="1" smtClean="0">
                            <a:latin typeface="Cambria Math" panose="02040503050406030204" pitchFamily="18" charset="0"/>
                          </a:rPr>
                          <m:t>𝐶</m:t>
                        </m:r>
                      </m:sub>
                    </m:sSub>
                    <m:r>
                      <a:rPr lang="en-US" altLang="zh-CN" b="1" i="1">
                        <a:latin typeface="Cambria Math" panose="02040503050406030204" pitchFamily="18" charset="0"/>
                      </a:rPr>
                      <m:t> </m:t>
                    </m:r>
                  </m:oMath>
                </a14:m>
                <a:r>
                  <a:rPr lang="zh-CN" altLang="en-US" dirty="0">
                    <a:latin typeface="思源黑体 CN Bold" panose="020B0800000000000000" pitchFamily="34" charset="-122"/>
                    <a:ea typeface="思源黑体 CN Bold" panose="020B0800000000000000" pitchFamily="34" charset="-122"/>
                  </a:rPr>
                  <a:t>处梯度指向函数值上升的方向</a:t>
                </a:r>
                <a:endParaRPr lang="en-US" altLang="zh-CN" dirty="0">
                  <a:latin typeface="思源黑体 CN Bold" panose="020B0800000000000000" pitchFamily="34" charset="-122"/>
                  <a:ea typeface="思源黑体 CN Bold" panose="020B0800000000000000" pitchFamily="34" charset="-122"/>
                </a:endParaRPr>
              </a:p>
            </p:txBody>
          </p:sp>
        </mc:Choice>
        <mc:Fallback xmlns="">
          <p:sp>
            <p:nvSpPr>
              <p:cNvPr id="5" name="矩形 4">
                <a:extLst>
                  <a:ext uri="{FF2B5EF4-FFF2-40B4-BE49-F238E27FC236}">
                    <a16:creationId xmlns:a16="http://schemas.microsoft.com/office/drawing/2014/main" id="{C5D60A87-D115-4D02-B3B8-2B5EED699923}"/>
                  </a:ext>
                </a:extLst>
              </p:cNvPr>
              <p:cNvSpPr>
                <a:spLocks noRot="1" noChangeAspect="1" noMove="1" noResize="1" noEditPoints="1" noAdjustHandles="1" noChangeArrowheads="1" noChangeShapeType="1" noTextEdit="1"/>
              </p:cNvSpPr>
              <p:nvPr/>
            </p:nvSpPr>
            <p:spPr>
              <a:xfrm>
                <a:off x="8126848" y="3668935"/>
                <a:ext cx="3531807" cy="1281376"/>
              </a:xfrm>
              <a:prstGeom prst="rect">
                <a:avLst/>
              </a:prstGeom>
              <a:blipFill>
                <a:blip r:embed="rId5"/>
                <a:stretch>
                  <a:fillRect r="-1034" b="-5238"/>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DF363C14-B3C2-4F14-BDC1-F053151BEF56}"/>
              </a:ext>
            </a:extLst>
          </p:cNvPr>
          <p:cNvPicPr>
            <a:picLocks noChangeAspect="1"/>
          </p:cNvPicPr>
          <p:nvPr/>
        </p:nvPicPr>
        <p:blipFill rotWithShape="1">
          <a:blip r:embed="rId6"/>
          <a:srcRect l="84132" t="47481" r="953" b="39847"/>
          <a:stretch/>
        </p:blipFill>
        <p:spPr>
          <a:xfrm>
            <a:off x="2684721" y="3876971"/>
            <a:ext cx="950158" cy="623223"/>
          </a:xfrm>
          <a:prstGeom prst="rect">
            <a:avLst/>
          </a:prstGeom>
        </p:spPr>
      </p:pic>
      <p:pic>
        <p:nvPicPr>
          <p:cNvPr id="7" name="图片 6">
            <a:extLst>
              <a:ext uri="{FF2B5EF4-FFF2-40B4-BE49-F238E27FC236}">
                <a16:creationId xmlns:a16="http://schemas.microsoft.com/office/drawing/2014/main" id="{1C958D2F-7CA9-4A6A-90A9-44235DFFF420}"/>
              </a:ext>
            </a:extLst>
          </p:cNvPr>
          <p:cNvPicPr>
            <a:picLocks noChangeAspect="1"/>
          </p:cNvPicPr>
          <p:nvPr/>
        </p:nvPicPr>
        <p:blipFill rotWithShape="1">
          <a:blip r:embed="rId6"/>
          <a:srcRect l="84132" t="62886" r="953" b="24442"/>
          <a:stretch/>
        </p:blipFill>
        <p:spPr>
          <a:xfrm>
            <a:off x="2684721" y="5290585"/>
            <a:ext cx="950158" cy="623223"/>
          </a:xfrm>
          <a:prstGeom prst="rect">
            <a:avLst/>
          </a:prstGeom>
        </p:spPr>
      </p:pic>
      <p:pic>
        <p:nvPicPr>
          <p:cNvPr id="8" name="图片 7">
            <a:extLst>
              <a:ext uri="{FF2B5EF4-FFF2-40B4-BE49-F238E27FC236}">
                <a16:creationId xmlns:a16="http://schemas.microsoft.com/office/drawing/2014/main" id="{5EC687A6-5093-4C5F-A901-D6F70BF07D68}"/>
              </a:ext>
            </a:extLst>
          </p:cNvPr>
          <p:cNvPicPr>
            <a:picLocks noChangeAspect="1"/>
          </p:cNvPicPr>
          <p:nvPr/>
        </p:nvPicPr>
        <p:blipFill rotWithShape="1">
          <a:blip r:embed="rId6"/>
          <a:srcRect l="84132" t="79971" r="953" b="7874"/>
          <a:stretch/>
        </p:blipFill>
        <p:spPr>
          <a:xfrm>
            <a:off x="2684721" y="4596487"/>
            <a:ext cx="950158" cy="597805"/>
          </a:xfrm>
          <a:prstGeom prst="rect">
            <a:avLst/>
          </a:prstGeom>
        </p:spPr>
      </p:pic>
      <p:sp>
        <p:nvSpPr>
          <p:cNvPr id="9" name="标题 1">
            <a:extLst>
              <a:ext uri="{FF2B5EF4-FFF2-40B4-BE49-F238E27FC236}">
                <a16:creationId xmlns:a16="http://schemas.microsoft.com/office/drawing/2014/main" id="{B70BE76F-7C7C-4B28-8E21-EFB1E6592951}"/>
              </a:ext>
            </a:extLst>
          </p:cNvPr>
          <p:cNvSpPr txBox="1">
            <a:spLocks/>
          </p:cNvSpPr>
          <p:nvPr/>
        </p:nvSpPr>
        <p:spPr>
          <a:xfrm>
            <a:off x="292608" y="72518"/>
            <a:ext cx="8255725" cy="70602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600">
                <a:latin typeface="思源黑体 CN Bold" panose="020B0800000000000000" pitchFamily="34" charset="-122"/>
                <a:ea typeface="思源黑体 CN Bold" panose="020B0800000000000000" pitchFamily="34" charset="-122"/>
              </a:rPr>
              <a:t>3 </a:t>
            </a:r>
            <a:r>
              <a:rPr lang="zh-CN" altLang="en-US" sz="3600">
                <a:latin typeface="思源黑体 CN Bold" panose="020B0800000000000000" pitchFamily="34" charset="-122"/>
                <a:ea typeface="思源黑体 CN Bold" panose="020B0800000000000000" pitchFamily="34" charset="-122"/>
              </a:rPr>
              <a:t>前馈神经网络的训练：</a:t>
            </a:r>
            <a:r>
              <a:rPr lang="zh-CN" altLang="en-US" sz="2800">
                <a:latin typeface="思源黑体 CN Bold" panose="020B0800000000000000" pitchFamily="34" charset="-122"/>
                <a:ea typeface="思源黑体 CN Bold" panose="020B0800000000000000" pitchFamily="34" charset="-122"/>
              </a:rPr>
              <a:t>线性模型损失函数</a:t>
            </a:r>
            <a:endParaRPr lang="zh-CN" altLang="en-US" sz="3600" dirty="0"/>
          </a:p>
        </p:txBody>
      </p:sp>
    </p:spTree>
    <p:extLst>
      <p:ext uri="{BB962C8B-B14F-4D97-AF65-F5344CB8AC3E}">
        <p14:creationId xmlns:p14="http://schemas.microsoft.com/office/powerpoint/2010/main" val="3465334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9E3BDB-ED08-490B-8E33-ED6DFC323090}"/>
              </a:ext>
            </a:extLst>
          </p:cNvPr>
          <p:cNvSpPr>
            <a:spLocks noGrp="1"/>
          </p:cNvSpPr>
          <p:nvPr>
            <p:ph type="title" idx="4294967295"/>
          </p:nvPr>
        </p:nvSpPr>
        <p:spPr>
          <a:xfrm>
            <a:off x="331361" y="179070"/>
            <a:ext cx="9042545" cy="497024"/>
          </a:xfrm>
        </p:spPr>
        <p:txBody>
          <a:bodyPr>
            <a:noAutofit/>
          </a:bodyPr>
          <a:lstStyle/>
          <a:p>
            <a:r>
              <a:rPr lang="en-US" altLang="zh-CN" sz="3600" dirty="0">
                <a:latin typeface="思源黑体 CN Bold" panose="020B0800000000000000" pitchFamily="34" charset="-122"/>
                <a:ea typeface="思源黑体 CN Bold" panose="020B0800000000000000" pitchFamily="34" charset="-122"/>
              </a:rPr>
              <a:t>3 </a:t>
            </a:r>
            <a:r>
              <a:rPr lang="zh-CN" altLang="en-US" sz="3600" dirty="0">
                <a:latin typeface="思源黑体 CN Bold" panose="020B0800000000000000" pitchFamily="34" charset="-122"/>
                <a:ea typeface="思源黑体 CN Bold" panose="020B0800000000000000" pitchFamily="34" charset="-122"/>
              </a:rPr>
              <a:t>前馈神经网络的训练：</a:t>
            </a:r>
            <a:r>
              <a:rPr lang="zh-CN" altLang="en-US" sz="2800" dirty="0">
                <a:latin typeface="思源黑体 CN Bold" panose="020B0800000000000000" pitchFamily="34" charset="-122"/>
                <a:ea typeface="思源黑体 CN Bold" panose="020B0800000000000000" pitchFamily="34" charset="-122"/>
              </a:rPr>
              <a:t>梯度和海森矩阵</a:t>
            </a:r>
            <a:endParaRPr lang="zh-CN" altLang="en-US" sz="3600" dirty="0"/>
          </a:p>
        </p:txBody>
      </p:sp>
      <p:sp>
        <p:nvSpPr>
          <p:cNvPr id="3" name="内容占位符 2">
            <a:extLst>
              <a:ext uri="{FF2B5EF4-FFF2-40B4-BE49-F238E27FC236}">
                <a16:creationId xmlns:a16="http://schemas.microsoft.com/office/drawing/2014/main" id="{889B605C-6F40-414B-8324-41D366820733}"/>
              </a:ext>
            </a:extLst>
          </p:cNvPr>
          <p:cNvSpPr>
            <a:spLocks noGrp="1"/>
          </p:cNvSpPr>
          <p:nvPr>
            <p:ph idx="4294967295"/>
          </p:nvPr>
        </p:nvSpPr>
        <p:spPr>
          <a:xfrm>
            <a:off x="707572" y="1339687"/>
            <a:ext cx="10515600" cy="1760458"/>
          </a:xfrm>
        </p:spPr>
        <p:txBody>
          <a:bodyPr>
            <a:normAutofit/>
          </a:bodyPr>
          <a:lstStyle/>
          <a:p>
            <a:pPr>
              <a:lnSpc>
                <a:spcPct val="150000"/>
              </a:lnSpc>
            </a:pPr>
            <a:r>
              <a:rPr lang="zh-CN" altLang="en-US" sz="2400" dirty="0">
                <a:latin typeface="思源黑体 CN Bold" panose="020B0800000000000000" pitchFamily="34" charset="-122"/>
                <a:ea typeface="思源黑体 CN Bold" panose="020B0800000000000000" pitchFamily="34" charset="-122"/>
              </a:rPr>
              <a:t>梯度向量（一阶导数）</a:t>
            </a:r>
            <a:endParaRPr lang="en-US" altLang="zh-CN" sz="2400" dirty="0">
              <a:latin typeface="思源黑体 CN Bold" panose="020B0800000000000000" pitchFamily="34" charset="-122"/>
              <a:ea typeface="思源黑体 CN Bold" panose="020B0800000000000000" pitchFamily="34" charset="-122"/>
            </a:endParaRPr>
          </a:p>
          <a:p>
            <a:pPr>
              <a:lnSpc>
                <a:spcPct val="150000"/>
              </a:lnSpc>
            </a:pPr>
            <a:r>
              <a:rPr lang="en-US" altLang="zh-CN" sz="2400" dirty="0">
                <a:latin typeface="思源黑体 CN Bold" panose="020B0800000000000000" pitchFamily="34" charset="-122"/>
                <a:ea typeface="思源黑体 CN Bold" panose="020B0800000000000000" pitchFamily="34" charset="-122"/>
              </a:rPr>
              <a:t>Hessian</a:t>
            </a:r>
            <a:r>
              <a:rPr lang="zh-CN" altLang="en-US" sz="2400" dirty="0">
                <a:latin typeface="思源黑体 CN Bold" panose="020B0800000000000000" pitchFamily="34" charset="-122"/>
                <a:ea typeface="思源黑体 CN Bold" panose="020B0800000000000000" pitchFamily="34" charset="-122"/>
              </a:rPr>
              <a:t>矩阵（二阶导数）</a:t>
            </a:r>
          </a:p>
        </p:txBody>
      </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0A6EBF9F-8E7F-412F-B4D1-C1D1C63C93AE}"/>
                  </a:ext>
                </a:extLst>
              </p:cNvPr>
              <p:cNvSpPr/>
              <p:nvPr/>
            </p:nvSpPr>
            <p:spPr>
              <a:xfrm>
                <a:off x="6379151" y="1508106"/>
                <a:ext cx="257339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altLang="zh-CN" smtClean="0">
                          <a:latin typeface="Cambria Math" panose="02040503050406030204" pitchFamily="18" charset="0"/>
                          <a:ea typeface="思源黑体 CN Bold" panose="020B0800000000000000" pitchFamily="34" charset="-122"/>
                        </a:rPr>
                        <m:t>Loss</m:t>
                      </m:r>
                      <m:d>
                        <m:dPr>
                          <m:ctrlPr>
                            <a:rPr lang="en-US" altLang="zh-CN" i="1">
                              <a:latin typeface="Cambria Math" panose="02040503050406030204" pitchFamily="18" charset="0"/>
                              <a:ea typeface="思源黑体 CN Bold" panose="020B0800000000000000" pitchFamily="34" charset="-122"/>
                            </a:rPr>
                          </m:ctrlPr>
                        </m:dPr>
                        <m:e>
                          <m:r>
                            <a:rPr lang="en-US" altLang="zh-CN" b="1">
                              <a:latin typeface="Cambria Math" panose="02040503050406030204" pitchFamily="18" charset="0"/>
                              <a:ea typeface="思源黑体 CN Bold" panose="020B0800000000000000" pitchFamily="34" charset="-122"/>
                            </a:rPr>
                            <m:t>𝐰</m:t>
                          </m:r>
                        </m:e>
                      </m:d>
                      <m:r>
                        <a:rPr lang="en-US" altLang="zh-CN" b="0" i="0" smtClean="0">
                          <a:latin typeface="Cambria Math" panose="02040503050406030204" pitchFamily="18" charset="0"/>
                          <a:ea typeface="思源黑体 CN Bold" panose="020B0800000000000000" pitchFamily="34" charset="-122"/>
                        </a:rPr>
                        <m:t>,</m:t>
                      </m:r>
                      <m:r>
                        <a:rPr lang="en-US" altLang="zh-CN" b="1">
                          <a:latin typeface="Cambria Math" panose="02040503050406030204" pitchFamily="18" charset="0"/>
                          <a:ea typeface="思源黑体 CN Bold" panose="020B0800000000000000" pitchFamily="34" charset="-122"/>
                        </a:rPr>
                        <m:t>𝐰</m:t>
                      </m:r>
                      <m:r>
                        <a:rPr lang="en-US" altLang="zh-CN" b="1" i="0" smtClean="0">
                          <a:latin typeface="Cambria Math" panose="02040503050406030204" pitchFamily="18" charset="0"/>
                          <a:ea typeface="思源黑体 CN Bold" panose="020B0800000000000000" pitchFamily="34" charset="-122"/>
                        </a:rPr>
                        <m:t>=</m:t>
                      </m:r>
                      <m:sSup>
                        <m:sSupPr>
                          <m:ctrlPr>
                            <a:rPr lang="en-US" altLang="zh-CN" b="1" i="1" smtClean="0">
                              <a:latin typeface="Cambria Math" panose="02040503050406030204" pitchFamily="18" charset="0"/>
                              <a:ea typeface="思源黑体 CN Bold" panose="020B0800000000000000" pitchFamily="34" charset="-122"/>
                            </a:rPr>
                          </m:ctrlPr>
                        </m:sSupPr>
                        <m:e>
                          <m:d>
                            <m:dPr>
                              <m:ctrlPr>
                                <a:rPr lang="en-US" altLang="zh-CN" b="1" i="1" smtClean="0">
                                  <a:latin typeface="Cambria Math" panose="02040503050406030204" pitchFamily="18" charset="0"/>
                                  <a:ea typeface="思源黑体 CN Bold" panose="020B0800000000000000" pitchFamily="34" charset="-122"/>
                                </a:rPr>
                              </m:ctrlPr>
                            </m:dPr>
                            <m:e>
                              <m:sSub>
                                <m:sSubPr>
                                  <m:ctrlPr>
                                    <a:rPr lang="en-US" altLang="zh-CN" i="1">
                                      <a:latin typeface="Cambria Math" panose="02040503050406030204" pitchFamily="18" charset="0"/>
                                      <a:ea typeface="思源黑体 CN Bold" panose="020B0800000000000000" pitchFamily="34" charset="-122"/>
                                    </a:rPr>
                                  </m:ctrlPr>
                                </m:sSubPr>
                                <m:e>
                                  <m:r>
                                    <a:rPr lang="en-US" altLang="zh-CN" i="1">
                                      <a:latin typeface="Cambria Math" panose="02040503050406030204" pitchFamily="18" charset="0"/>
                                      <a:ea typeface="思源黑体 CN Bold" panose="020B0800000000000000" pitchFamily="34" charset="-122"/>
                                    </a:rPr>
                                    <m:t>𝑤</m:t>
                                  </m:r>
                                </m:e>
                                <m:sub>
                                  <m:r>
                                    <a:rPr lang="en-US" altLang="zh-CN" i="1">
                                      <a:latin typeface="Cambria Math" panose="02040503050406030204" pitchFamily="18" charset="0"/>
                                      <a:ea typeface="思源黑体 CN Bold" panose="020B0800000000000000" pitchFamily="34" charset="-122"/>
                                    </a:rPr>
                                    <m:t>1</m:t>
                                  </m:r>
                                </m:sub>
                              </m:sSub>
                              <m:r>
                                <a:rPr lang="en-US" altLang="zh-CN" i="1">
                                  <a:latin typeface="Cambria Math" panose="02040503050406030204" pitchFamily="18" charset="0"/>
                                  <a:ea typeface="思源黑体 CN Bold" panose="020B0800000000000000" pitchFamily="34" charset="-122"/>
                                </a:rPr>
                                <m:t>,</m:t>
                              </m:r>
                              <m:sSub>
                                <m:sSubPr>
                                  <m:ctrlPr>
                                    <a:rPr lang="en-US" altLang="zh-CN" i="1">
                                      <a:latin typeface="Cambria Math" panose="02040503050406030204" pitchFamily="18" charset="0"/>
                                      <a:ea typeface="思源黑体 CN Bold" panose="020B0800000000000000" pitchFamily="34" charset="-122"/>
                                    </a:rPr>
                                  </m:ctrlPr>
                                </m:sSubPr>
                                <m:e>
                                  <m:r>
                                    <a:rPr lang="en-US" altLang="zh-CN" i="1">
                                      <a:latin typeface="Cambria Math" panose="02040503050406030204" pitchFamily="18" charset="0"/>
                                      <a:ea typeface="思源黑体 CN Bold" panose="020B0800000000000000" pitchFamily="34" charset="-122"/>
                                    </a:rPr>
                                    <m:t>𝑤</m:t>
                                  </m:r>
                                </m:e>
                                <m:sub>
                                  <m:r>
                                    <a:rPr lang="en-US" altLang="zh-CN" i="1">
                                      <a:latin typeface="Cambria Math" panose="02040503050406030204" pitchFamily="18" charset="0"/>
                                      <a:ea typeface="思源黑体 CN Bold" panose="020B0800000000000000" pitchFamily="34" charset="-122"/>
                                    </a:rPr>
                                    <m:t>2</m:t>
                                  </m:r>
                                </m:sub>
                              </m:sSub>
                            </m:e>
                          </m:d>
                        </m:e>
                        <m:sup>
                          <m:r>
                            <a:rPr lang="en-US" altLang="zh-CN" b="0" i="1" smtClean="0">
                              <a:latin typeface="Cambria Math" panose="02040503050406030204" pitchFamily="18" charset="0"/>
                              <a:ea typeface="思源黑体 CN Bold" panose="020B0800000000000000" pitchFamily="34" charset="-122"/>
                            </a:rPr>
                            <m:t>𝑇</m:t>
                          </m:r>
                        </m:sup>
                      </m:sSup>
                    </m:oMath>
                  </m:oMathPara>
                </a14:m>
                <a:endParaRPr lang="zh-CN" altLang="en-US" dirty="0"/>
              </a:p>
            </p:txBody>
          </p:sp>
        </mc:Choice>
        <mc:Fallback xmlns="">
          <p:sp>
            <p:nvSpPr>
              <p:cNvPr id="8" name="矩形 7">
                <a:extLst>
                  <a:ext uri="{FF2B5EF4-FFF2-40B4-BE49-F238E27FC236}">
                    <a16:creationId xmlns:a16="http://schemas.microsoft.com/office/drawing/2014/main" id="{0A6EBF9F-8E7F-412F-B4D1-C1D1C63C93AE}"/>
                  </a:ext>
                </a:extLst>
              </p:cNvPr>
              <p:cNvSpPr>
                <a:spLocks noRot="1" noChangeAspect="1" noMove="1" noResize="1" noEditPoints="1" noAdjustHandles="1" noChangeArrowheads="1" noChangeShapeType="1" noTextEdit="1"/>
              </p:cNvSpPr>
              <p:nvPr/>
            </p:nvSpPr>
            <p:spPr>
              <a:xfrm>
                <a:off x="6379151" y="1508106"/>
                <a:ext cx="2573397" cy="369332"/>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53C55A28-7104-4F83-93E9-C498E7B6CC7A}"/>
                  </a:ext>
                </a:extLst>
              </p:cNvPr>
              <p:cNvSpPr/>
              <p:nvPr/>
            </p:nvSpPr>
            <p:spPr>
              <a:xfrm>
                <a:off x="5363736" y="2434468"/>
                <a:ext cx="4209036" cy="140737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altLang="zh-CN" i="1" smtClean="0">
                          <a:latin typeface="Cambria Math" panose="02040503050406030204" pitchFamily="18" charset="0"/>
                          <a:ea typeface="Cambria Math" panose="02040503050406030204" pitchFamily="18" charset="0"/>
                        </a:rPr>
                        <m:t>∇</m:t>
                      </m:r>
                      <m:r>
                        <m:rPr>
                          <m:sty m:val="p"/>
                        </m:rPr>
                        <a:rPr lang="en-US" altLang="zh-CN">
                          <a:latin typeface="Cambria Math" panose="02040503050406030204" pitchFamily="18" charset="0"/>
                          <a:ea typeface="思源黑体 CN Bold" panose="020B0800000000000000" pitchFamily="34" charset="-122"/>
                        </a:rPr>
                        <m:t>Loss</m:t>
                      </m:r>
                      <m:d>
                        <m:dPr>
                          <m:ctrlPr>
                            <a:rPr lang="en-US" altLang="zh-CN" i="1">
                              <a:latin typeface="Cambria Math" panose="02040503050406030204" pitchFamily="18" charset="0"/>
                              <a:ea typeface="思源黑体 CN Bold" panose="020B0800000000000000" pitchFamily="34" charset="-122"/>
                            </a:rPr>
                          </m:ctrlPr>
                        </m:dPr>
                        <m:e>
                          <m:r>
                            <a:rPr lang="en-US" altLang="zh-CN" b="1">
                              <a:latin typeface="Cambria Math" panose="02040503050406030204" pitchFamily="18" charset="0"/>
                              <a:ea typeface="思源黑体 CN Bold" panose="020B0800000000000000" pitchFamily="34" charset="-122"/>
                            </a:rPr>
                            <m:t>𝐰</m:t>
                          </m:r>
                        </m:e>
                      </m:d>
                      <m:r>
                        <a:rPr lang="en-US" altLang="zh-CN" b="1" i="1" smtClean="0">
                          <a:latin typeface="Cambria Math" panose="02040503050406030204" pitchFamily="18" charset="0"/>
                          <a:ea typeface="思源黑体 CN Bold" panose="020B0800000000000000" pitchFamily="34" charset="-122"/>
                        </a:rPr>
                        <m:t>=</m:t>
                      </m:r>
                      <m:f>
                        <m:fPr>
                          <m:ctrlPr>
                            <a:rPr lang="en-US" altLang="zh-CN" i="1" smtClean="0">
                              <a:latin typeface="Cambria Math" panose="02040503050406030204" pitchFamily="18" charset="0"/>
                              <a:ea typeface="Cambria Math" panose="02040503050406030204" pitchFamily="18" charset="0"/>
                            </a:rPr>
                          </m:ctrlPr>
                        </m:fPr>
                        <m:num>
                          <m:r>
                            <a:rPr lang="en-US" altLang="zh-CN" i="1" smtClean="0">
                              <a:latin typeface="Cambria Math" panose="02040503050406030204" pitchFamily="18" charset="0"/>
                              <a:ea typeface="Cambria Math" panose="02040503050406030204" pitchFamily="18" charset="0"/>
                            </a:rPr>
                            <m:t>𝑑</m:t>
                          </m:r>
                          <m:r>
                            <m:rPr>
                              <m:sty m:val="p"/>
                            </m:rPr>
                            <a:rPr lang="en-US" altLang="zh-CN" i="1">
                              <a:latin typeface="Cambria Math" panose="02040503050406030204" pitchFamily="18" charset="0"/>
                              <a:ea typeface="Cambria Math" panose="02040503050406030204" pitchFamily="18" charset="0"/>
                            </a:rPr>
                            <m:t>∇</m:t>
                          </m:r>
                          <m:r>
                            <m:rPr>
                              <m:sty m:val="p"/>
                            </m:rPr>
                            <a:rPr lang="en-US" altLang="zh-CN">
                              <a:latin typeface="Cambria Math" panose="02040503050406030204" pitchFamily="18" charset="0"/>
                              <a:ea typeface="思源黑体 CN Bold" panose="020B0800000000000000" pitchFamily="34" charset="-122"/>
                            </a:rPr>
                            <m:t>Loss</m:t>
                          </m:r>
                          <m:d>
                            <m:dPr>
                              <m:ctrlPr>
                                <a:rPr lang="en-US" altLang="zh-CN" i="1">
                                  <a:latin typeface="Cambria Math" panose="02040503050406030204" pitchFamily="18" charset="0"/>
                                  <a:ea typeface="思源黑体 CN Bold" panose="020B0800000000000000" pitchFamily="34" charset="-122"/>
                                </a:rPr>
                              </m:ctrlPr>
                            </m:dPr>
                            <m:e>
                              <m:r>
                                <a:rPr lang="en-US" altLang="zh-CN" b="1">
                                  <a:latin typeface="Cambria Math" panose="02040503050406030204" pitchFamily="18" charset="0"/>
                                  <a:ea typeface="思源黑体 CN Bold" panose="020B0800000000000000" pitchFamily="34" charset="-122"/>
                                </a:rPr>
                                <m:t>𝐰</m:t>
                              </m:r>
                            </m:e>
                          </m:d>
                        </m:num>
                        <m:den>
                          <m:r>
                            <a:rPr lang="en-US" altLang="zh-CN" i="1" smtClean="0">
                              <a:latin typeface="Cambria Math" panose="02040503050406030204" pitchFamily="18" charset="0"/>
                              <a:ea typeface="Cambria Math" panose="02040503050406030204" pitchFamily="18" charset="0"/>
                            </a:rPr>
                            <m:t>𝑑</m:t>
                          </m:r>
                          <m:r>
                            <a:rPr lang="en-US" altLang="zh-CN" b="1">
                              <a:latin typeface="Cambria Math" panose="02040503050406030204" pitchFamily="18" charset="0"/>
                              <a:ea typeface="思源黑体 CN Bold" panose="020B0800000000000000" pitchFamily="34" charset="-122"/>
                            </a:rPr>
                            <m:t>𝐰</m:t>
                          </m:r>
                        </m:den>
                      </m:f>
                      <m:r>
                        <a:rPr lang="en-US" altLang="zh-CN" b="1" i="1" smtClean="0">
                          <a:latin typeface="Cambria Math" panose="02040503050406030204" pitchFamily="18" charset="0"/>
                          <a:ea typeface="思源黑体 CN Bold" panose="020B0800000000000000" pitchFamily="34" charset="-122"/>
                        </a:rPr>
                        <m:t>=</m:t>
                      </m:r>
                      <m:d>
                        <m:dPr>
                          <m:ctrlPr>
                            <a:rPr lang="en-US" altLang="zh-CN" b="1" i="1">
                              <a:latin typeface="Cambria Math" panose="02040503050406030204" pitchFamily="18" charset="0"/>
                              <a:ea typeface="思源黑体 CN Bold" panose="020B0800000000000000" pitchFamily="34" charset="-122"/>
                            </a:rPr>
                          </m:ctrlPr>
                        </m:dPr>
                        <m:e>
                          <m:eqArr>
                            <m:eqArrPr>
                              <m:ctrlPr>
                                <a:rPr lang="en-US" altLang="zh-CN" b="1" i="1" smtClean="0">
                                  <a:latin typeface="Cambria Math" panose="02040503050406030204" pitchFamily="18" charset="0"/>
                                  <a:ea typeface="思源黑体 CN Bold" panose="020B0800000000000000" pitchFamily="34" charset="-122"/>
                                </a:rPr>
                              </m:ctrlPr>
                            </m:eqArrPr>
                            <m:e>
                              <m:f>
                                <m:fPr>
                                  <m:ctrlPr>
                                    <a:rPr lang="en-US" altLang="zh-CN" b="1" i="1" smtClean="0">
                                      <a:latin typeface="Cambria Math" panose="02040503050406030204" pitchFamily="18" charset="0"/>
                                      <a:ea typeface="思源黑体 CN Bold" panose="020B0800000000000000" pitchFamily="34" charset="-122"/>
                                    </a:rPr>
                                  </m:ctrlPr>
                                </m:fPr>
                                <m:num>
                                  <m:r>
                                    <a:rPr lang="en-US" altLang="zh-CN" b="0" i="1" smtClean="0">
                                      <a:latin typeface="Cambria Math" panose="02040503050406030204" pitchFamily="18" charset="0"/>
                                      <a:ea typeface="思源黑体 CN Bold" panose="020B0800000000000000" pitchFamily="34" charset="-122"/>
                                    </a:rPr>
                                    <m:t>𝜕</m:t>
                                  </m:r>
                                  <m:r>
                                    <m:rPr>
                                      <m:sty m:val="p"/>
                                    </m:rPr>
                                    <a:rPr lang="en-US" altLang="zh-CN">
                                      <a:latin typeface="Cambria Math" panose="02040503050406030204" pitchFamily="18" charset="0"/>
                                      <a:ea typeface="思源黑体 CN Bold" panose="020B0800000000000000" pitchFamily="34" charset="-122"/>
                                    </a:rPr>
                                    <m:t>Loss</m:t>
                                  </m:r>
                                  <m:d>
                                    <m:dPr>
                                      <m:ctrlPr>
                                        <a:rPr lang="en-US" altLang="zh-CN" i="1">
                                          <a:latin typeface="Cambria Math" panose="02040503050406030204" pitchFamily="18" charset="0"/>
                                          <a:ea typeface="思源黑体 CN Bold" panose="020B0800000000000000" pitchFamily="34" charset="-122"/>
                                        </a:rPr>
                                      </m:ctrlPr>
                                    </m:dPr>
                                    <m:e>
                                      <m:r>
                                        <a:rPr lang="en-US" altLang="zh-CN" b="1">
                                          <a:latin typeface="Cambria Math" panose="02040503050406030204" pitchFamily="18" charset="0"/>
                                          <a:ea typeface="思源黑体 CN Bold" panose="020B0800000000000000" pitchFamily="34" charset="-122"/>
                                        </a:rPr>
                                        <m:t>𝐰</m:t>
                                      </m:r>
                                    </m:e>
                                  </m:d>
                                </m:num>
                                <m:den>
                                  <m:r>
                                    <a:rPr lang="en-US" altLang="zh-CN" b="0" i="1" smtClean="0">
                                      <a:latin typeface="Cambria Math" panose="02040503050406030204" pitchFamily="18" charset="0"/>
                                      <a:ea typeface="思源黑体 CN Bold" panose="020B0800000000000000" pitchFamily="34" charset="-122"/>
                                    </a:rPr>
                                    <m:t>𝜕</m:t>
                                  </m:r>
                                  <m:sSub>
                                    <m:sSubPr>
                                      <m:ctrlPr>
                                        <a:rPr lang="en-US" altLang="zh-CN" i="1">
                                          <a:latin typeface="Cambria Math" panose="02040503050406030204" pitchFamily="18" charset="0"/>
                                          <a:ea typeface="思源黑体 CN Bold" panose="020B0800000000000000" pitchFamily="34" charset="-122"/>
                                        </a:rPr>
                                      </m:ctrlPr>
                                    </m:sSubPr>
                                    <m:e>
                                      <m:r>
                                        <a:rPr lang="en-US" altLang="zh-CN" i="1">
                                          <a:latin typeface="Cambria Math" panose="02040503050406030204" pitchFamily="18" charset="0"/>
                                          <a:ea typeface="思源黑体 CN Bold" panose="020B0800000000000000" pitchFamily="34" charset="-122"/>
                                        </a:rPr>
                                        <m:t>𝑤</m:t>
                                      </m:r>
                                    </m:e>
                                    <m:sub>
                                      <m:r>
                                        <a:rPr lang="en-US" altLang="zh-CN" i="1">
                                          <a:latin typeface="Cambria Math" panose="02040503050406030204" pitchFamily="18" charset="0"/>
                                          <a:ea typeface="思源黑体 CN Bold" panose="020B0800000000000000" pitchFamily="34" charset="-122"/>
                                        </a:rPr>
                                        <m:t>1</m:t>
                                      </m:r>
                                    </m:sub>
                                  </m:sSub>
                                </m:den>
                              </m:f>
                            </m:e>
                            <m:e>
                              <m:f>
                                <m:fPr>
                                  <m:ctrlPr>
                                    <a:rPr lang="en-US" altLang="zh-CN" b="1" i="1">
                                      <a:latin typeface="Cambria Math" panose="02040503050406030204" pitchFamily="18" charset="0"/>
                                      <a:ea typeface="思源黑体 CN Bold" panose="020B0800000000000000" pitchFamily="34" charset="-122"/>
                                    </a:rPr>
                                  </m:ctrlPr>
                                </m:fPr>
                                <m:num>
                                  <m:r>
                                    <a:rPr lang="en-US" altLang="zh-CN" i="1">
                                      <a:latin typeface="Cambria Math" panose="02040503050406030204" pitchFamily="18" charset="0"/>
                                      <a:ea typeface="思源黑体 CN Bold" panose="020B0800000000000000" pitchFamily="34" charset="-122"/>
                                    </a:rPr>
                                    <m:t>𝜕</m:t>
                                  </m:r>
                                  <m:r>
                                    <m:rPr>
                                      <m:sty m:val="p"/>
                                    </m:rPr>
                                    <a:rPr lang="en-US" altLang="zh-CN">
                                      <a:latin typeface="Cambria Math" panose="02040503050406030204" pitchFamily="18" charset="0"/>
                                      <a:ea typeface="思源黑体 CN Bold" panose="020B0800000000000000" pitchFamily="34" charset="-122"/>
                                    </a:rPr>
                                    <m:t>Loss</m:t>
                                  </m:r>
                                  <m:d>
                                    <m:dPr>
                                      <m:ctrlPr>
                                        <a:rPr lang="en-US" altLang="zh-CN" i="1">
                                          <a:latin typeface="Cambria Math" panose="02040503050406030204" pitchFamily="18" charset="0"/>
                                          <a:ea typeface="思源黑体 CN Bold" panose="020B0800000000000000" pitchFamily="34" charset="-122"/>
                                        </a:rPr>
                                      </m:ctrlPr>
                                    </m:dPr>
                                    <m:e>
                                      <m:r>
                                        <a:rPr lang="en-US" altLang="zh-CN" b="1">
                                          <a:latin typeface="Cambria Math" panose="02040503050406030204" pitchFamily="18" charset="0"/>
                                          <a:ea typeface="思源黑体 CN Bold" panose="020B0800000000000000" pitchFamily="34" charset="-122"/>
                                        </a:rPr>
                                        <m:t>𝐰</m:t>
                                      </m:r>
                                    </m:e>
                                  </m:d>
                                </m:num>
                                <m:den>
                                  <m:r>
                                    <a:rPr lang="en-US" altLang="zh-CN" i="1">
                                      <a:latin typeface="Cambria Math" panose="02040503050406030204" pitchFamily="18" charset="0"/>
                                      <a:ea typeface="思源黑体 CN Bold" panose="020B0800000000000000" pitchFamily="34" charset="-122"/>
                                    </a:rPr>
                                    <m:t>𝜕</m:t>
                                  </m:r>
                                  <m:sSub>
                                    <m:sSubPr>
                                      <m:ctrlPr>
                                        <a:rPr lang="en-US" altLang="zh-CN" i="1">
                                          <a:latin typeface="Cambria Math" panose="02040503050406030204" pitchFamily="18" charset="0"/>
                                          <a:ea typeface="思源黑体 CN Bold" panose="020B0800000000000000" pitchFamily="34" charset="-122"/>
                                        </a:rPr>
                                      </m:ctrlPr>
                                    </m:sSubPr>
                                    <m:e>
                                      <m:r>
                                        <a:rPr lang="en-US" altLang="zh-CN" i="1">
                                          <a:latin typeface="Cambria Math" panose="02040503050406030204" pitchFamily="18" charset="0"/>
                                          <a:ea typeface="思源黑体 CN Bold" panose="020B0800000000000000" pitchFamily="34" charset="-122"/>
                                        </a:rPr>
                                        <m:t>𝑤</m:t>
                                      </m:r>
                                    </m:e>
                                    <m:sub>
                                      <m:r>
                                        <a:rPr lang="en-US" altLang="zh-CN" b="0" i="1" smtClean="0">
                                          <a:latin typeface="Cambria Math" panose="02040503050406030204" pitchFamily="18" charset="0"/>
                                          <a:ea typeface="思源黑体 CN Bold" panose="020B0800000000000000" pitchFamily="34" charset="-122"/>
                                        </a:rPr>
                                        <m:t>2</m:t>
                                      </m:r>
                                    </m:sub>
                                  </m:sSub>
                                </m:den>
                              </m:f>
                            </m:e>
                          </m:eqArr>
                        </m:e>
                      </m:d>
                    </m:oMath>
                  </m:oMathPara>
                </a14:m>
                <a:endParaRPr lang="zh-CN" altLang="en-US" dirty="0"/>
              </a:p>
            </p:txBody>
          </p:sp>
        </mc:Choice>
        <mc:Fallback xmlns="">
          <p:sp>
            <p:nvSpPr>
              <p:cNvPr id="9" name="矩形 8">
                <a:extLst>
                  <a:ext uri="{FF2B5EF4-FFF2-40B4-BE49-F238E27FC236}">
                    <a16:creationId xmlns:a16="http://schemas.microsoft.com/office/drawing/2014/main" id="{53C55A28-7104-4F83-93E9-C498E7B6CC7A}"/>
                  </a:ext>
                </a:extLst>
              </p:cNvPr>
              <p:cNvSpPr>
                <a:spLocks noRot="1" noChangeAspect="1" noMove="1" noResize="1" noEditPoints="1" noAdjustHandles="1" noChangeArrowheads="1" noChangeShapeType="1" noTextEdit="1"/>
              </p:cNvSpPr>
              <p:nvPr/>
            </p:nvSpPr>
            <p:spPr>
              <a:xfrm>
                <a:off x="5363736" y="2434468"/>
                <a:ext cx="4209036" cy="1407373"/>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56CC8930-E54A-4A6D-949E-1A8D9792D2A8}"/>
                  </a:ext>
                </a:extLst>
              </p:cNvPr>
              <p:cNvSpPr/>
              <p:nvPr/>
            </p:nvSpPr>
            <p:spPr>
              <a:xfrm>
                <a:off x="3417918" y="4288595"/>
                <a:ext cx="6251711" cy="140737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1" i="0" smtClean="0">
                          <a:latin typeface="Cambria Math" panose="02040503050406030204" pitchFamily="18" charset="0"/>
                          <a:ea typeface="Cambria Math" panose="02040503050406030204" pitchFamily="18" charset="0"/>
                        </a:rPr>
                        <m:t>𝐇</m:t>
                      </m:r>
                      <m:r>
                        <a:rPr lang="en-US" altLang="zh-CN" b="1" i="0" smtClean="0">
                          <a:latin typeface="Cambria Math" panose="02040503050406030204" pitchFamily="18" charset="0"/>
                          <a:ea typeface="Cambria Math" panose="02040503050406030204" pitchFamily="18" charset="0"/>
                        </a:rPr>
                        <m:t>=</m:t>
                      </m:r>
                      <m:r>
                        <m:rPr>
                          <m:sty m:val="p"/>
                        </m:rPr>
                        <a:rPr lang="zh-CN" altLang="en-US" b="0" i="0" smtClean="0">
                          <a:latin typeface="Cambria Math" panose="02040503050406030204" pitchFamily="18" charset="0"/>
                          <a:ea typeface="Cambria Math" panose="02040503050406030204" pitchFamily="18" charset="0"/>
                        </a:rPr>
                        <m:t>∇</m:t>
                      </m:r>
                      <m:r>
                        <m:rPr>
                          <m:sty m:val="p"/>
                        </m:rPr>
                        <a:rPr lang="en-US" altLang="zh-CN" i="1" smtClean="0">
                          <a:latin typeface="Cambria Math" panose="02040503050406030204" pitchFamily="18" charset="0"/>
                          <a:ea typeface="Cambria Math" panose="02040503050406030204" pitchFamily="18" charset="0"/>
                        </a:rPr>
                        <m:t>∇</m:t>
                      </m:r>
                      <m:r>
                        <m:rPr>
                          <m:sty m:val="p"/>
                        </m:rPr>
                        <a:rPr lang="en-US" altLang="zh-CN">
                          <a:latin typeface="Cambria Math" panose="02040503050406030204" pitchFamily="18" charset="0"/>
                          <a:ea typeface="思源黑体 CN Bold" panose="020B0800000000000000" pitchFamily="34" charset="-122"/>
                        </a:rPr>
                        <m:t>Loss</m:t>
                      </m:r>
                      <m:d>
                        <m:dPr>
                          <m:ctrlPr>
                            <a:rPr lang="en-US" altLang="zh-CN" i="1">
                              <a:latin typeface="Cambria Math" panose="02040503050406030204" pitchFamily="18" charset="0"/>
                              <a:ea typeface="思源黑体 CN Bold" panose="020B0800000000000000" pitchFamily="34" charset="-122"/>
                            </a:rPr>
                          </m:ctrlPr>
                        </m:dPr>
                        <m:e>
                          <m:r>
                            <a:rPr lang="en-US" altLang="zh-CN" b="1">
                              <a:latin typeface="Cambria Math" panose="02040503050406030204" pitchFamily="18" charset="0"/>
                              <a:ea typeface="思源黑体 CN Bold" panose="020B0800000000000000" pitchFamily="34" charset="-122"/>
                            </a:rPr>
                            <m:t>𝐰</m:t>
                          </m:r>
                        </m:e>
                      </m:d>
                      <m:r>
                        <a:rPr lang="en-US" altLang="zh-CN" b="1" i="1" smtClean="0">
                          <a:latin typeface="Cambria Math" panose="02040503050406030204" pitchFamily="18" charset="0"/>
                          <a:ea typeface="思源黑体 CN Bold" panose="020B0800000000000000" pitchFamily="34" charset="-122"/>
                        </a:rPr>
                        <m:t>=</m:t>
                      </m:r>
                      <m:f>
                        <m:fPr>
                          <m:ctrlPr>
                            <a:rPr lang="en-US" altLang="zh-CN" i="1" smtClean="0">
                              <a:latin typeface="Cambria Math" panose="02040503050406030204" pitchFamily="18" charset="0"/>
                              <a:ea typeface="Cambria Math" panose="02040503050406030204" pitchFamily="18" charset="0"/>
                            </a:rPr>
                          </m:ctrlPr>
                        </m:fPr>
                        <m:num>
                          <m:sSup>
                            <m:sSupPr>
                              <m:ctrlPr>
                                <a:rPr lang="en-US" altLang="zh-CN"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𝑑</m:t>
                              </m:r>
                            </m:e>
                            <m:sup>
                              <m:r>
                                <a:rPr lang="en-US" altLang="zh-CN" b="0" i="1" smtClean="0">
                                  <a:latin typeface="Cambria Math" panose="02040503050406030204" pitchFamily="18" charset="0"/>
                                  <a:ea typeface="Cambria Math" panose="02040503050406030204" pitchFamily="18" charset="0"/>
                                </a:rPr>
                                <m:t>2</m:t>
                              </m:r>
                            </m:sup>
                          </m:sSup>
                          <m:r>
                            <m:rPr>
                              <m:sty m:val="p"/>
                            </m:rPr>
                            <a:rPr lang="en-US" altLang="zh-CN" i="1">
                              <a:latin typeface="Cambria Math" panose="02040503050406030204" pitchFamily="18" charset="0"/>
                              <a:ea typeface="Cambria Math" panose="02040503050406030204" pitchFamily="18" charset="0"/>
                            </a:rPr>
                            <m:t>∇</m:t>
                          </m:r>
                          <m:r>
                            <m:rPr>
                              <m:sty m:val="p"/>
                            </m:rPr>
                            <a:rPr lang="en-US" altLang="zh-CN">
                              <a:latin typeface="Cambria Math" panose="02040503050406030204" pitchFamily="18" charset="0"/>
                              <a:ea typeface="思源黑体 CN Bold" panose="020B0800000000000000" pitchFamily="34" charset="-122"/>
                            </a:rPr>
                            <m:t>Loss</m:t>
                          </m:r>
                          <m:d>
                            <m:dPr>
                              <m:ctrlPr>
                                <a:rPr lang="en-US" altLang="zh-CN" i="1">
                                  <a:latin typeface="Cambria Math" panose="02040503050406030204" pitchFamily="18" charset="0"/>
                                  <a:ea typeface="思源黑体 CN Bold" panose="020B0800000000000000" pitchFamily="34" charset="-122"/>
                                </a:rPr>
                              </m:ctrlPr>
                            </m:dPr>
                            <m:e>
                              <m:r>
                                <a:rPr lang="en-US" altLang="zh-CN" b="1">
                                  <a:latin typeface="Cambria Math" panose="02040503050406030204" pitchFamily="18" charset="0"/>
                                  <a:ea typeface="思源黑体 CN Bold" panose="020B0800000000000000" pitchFamily="34" charset="-122"/>
                                </a:rPr>
                                <m:t>𝐰</m:t>
                              </m:r>
                            </m:e>
                          </m:d>
                        </m:num>
                        <m:den>
                          <m:r>
                            <a:rPr lang="en-US" altLang="zh-CN" i="1" smtClean="0">
                              <a:latin typeface="Cambria Math" panose="02040503050406030204" pitchFamily="18" charset="0"/>
                              <a:ea typeface="Cambria Math" panose="02040503050406030204" pitchFamily="18" charset="0"/>
                            </a:rPr>
                            <m:t>𝑑</m:t>
                          </m:r>
                          <m:sSup>
                            <m:sSupPr>
                              <m:ctrlPr>
                                <a:rPr lang="en-US" altLang="zh-CN" b="1" i="1" smtClean="0">
                                  <a:latin typeface="Cambria Math" panose="02040503050406030204" pitchFamily="18" charset="0"/>
                                  <a:ea typeface="思源黑体 CN Bold" panose="020B0800000000000000" pitchFamily="34" charset="-122"/>
                                </a:rPr>
                              </m:ctrlPr>
                            </m:sSupPr>
                            <m:e>
                              <m:r>
                                <a:rPr lang="en-US" altLang="zh-CN" b="1">
                                  <a:latin typeface="Cambria Math" panose="02040503050406030204" pitchFamily="18" charset="0"/>
                                  <a:ea typeface="思源黑体 CN Bold" panose="020B0800000000000000" pitchFamily="34" charset="-122"/>
                                </a:rPr>
                                <m:t>𝐰</m:t>
                              </m:r>
                            </m:e>
                            <m:sup>
                              <m:r>
                                <a:rPr lang="en-US" altLang="zh-CN" b="0" i="0" smtClean="0">
                                  <a:latin typeface="Cambria Math" panose="02040503050406030204" pitchFamily="18" charset="0"/>
                                  <a:ea typeface="思源黑体 CN Bold" panose="020B0800000000000000" pitchFamily="34" charset="-122"/>
                                </a:rPr>
                                <m:t>2</m:t>
                              </m:r>
                            </m:sup>
                          </m:sSup>
                        </m:den>
                      </m:f>
                      <m:r>
                        <a:rPr lang="en-US" altLang="zh-CN" b="1" i="1" smtClean="0">
                          <a:latin typeface="Cambria Math" panose="02040503050406030204" pitchFamily="18" charset="0"/>
                          <a:ea typeface="思源黑体 CN Bold" panose="020B0800000000000000" pitchFamily="34" charset="-122"/>
                        </a:rPr>
                        <m:t>=</m:t>
                      </m:r>
                      <m:d>
                        <m:dPr>
                          <m:ctrlPr>
                            <a:rPr lang="en-US" altLang="zh-CN" b="1" i="1">
                              <a:latin typeface="Cambria Math" panose="02040503050406030204" pitchFamily="18" charset="0"/>
                              <a:ea typeface="思源黑体 CN Bold" panose="020B0800000000000000" pitchFamily="34" charset="-122"/>
                            </a:rPr>
                          </m:ctrlPr>
                        </m:dPr>
                        <m:e>
                          <m:eqArr>
                            <m:eqArrPr>
                              <m:ctrlPr>
                                <a:rPr lang="en-US" altLang="zh-CN" b="1" i="1" smtClean="0">
                                  <a:latin typeface="Cambria Math" panose="02040503050406030204" pitchFamily="18" charset="0"/>
                                  <a:ea typeface="思源黑体 CN Bold" panose="020B0800000000000000" pitchFamily="34" charset="-122"/>
                                </a:rPr>
                              </m:ctrlPr>
                            </m:eqArrPr>
                            <m:e>
                              <m:f>
                                <m:fPr>
                                  <m:ctrlPr>
                                    <a:rPr lang="en-US" altLang="zh-CN" b="1" i="1" smtClean="0">
                                      <a:latin typeface="Cambria Math" panose="02040503050406030204" pitchFamily="18" charset="0"/>
                                      <a:ea typeface="思源黑体 CN Bold" panose="020B0800000000000000" pitchFamily="34" charset="-122"/>
                                    </a:rPr>
                                  </m:ctrlPr>
                                </m:fPr>
                                <m:num>
                                  <m:sSup>
                                    <m:sSupPr>
                                      <m:ctrlPr>
                                        <a:rPr lang="en-US" altLang="zh-CN" b="0" i="1" smtClean="0">
                                          <a:latin typeface="Cambria Math" panose="02040503050406030204" pitchFamily="18" charset="0"/>
                                          <a:ea typeface="思源黑体 CN Bold" panose="020B0800000000000000" pitchFamily="34" charset="-122"/>
                                        </a:rPr>
                                      </m:ctrlPr>
                                    </m:sSupPr>
                                    <m:e>
                                      <m:r>
                                        <a:rPr lang="en-US" altLang="zh-CN" i="1">
                                          <a:latin typeface="Cambria Math" panose="02040503050406030204" pitchFamily="18" charset="0"/>
                                          <a:ea typeface="思源黑体 CN Bold" panose="020B0800000000000000" pitchFamily="34" charset="-122"/>
                                        </a:rPr>
                                        <m:t>𝜕</m:t>
                                      </m:r>
                                    </m:e>
                                    <m:sup>
                                      <m:r>
                                        <a:rPr lang="en-US" altLang="zh-CN" b="0" i="1" smtClean="0">
                                          <a:latin typeface="Cambria Math" panose="02040503050406030204" pitchFamily="18" charset="0"/>
                                          <a:ea typeface="思源黑体 CN Bold" panose="020B0800000000000000" pitchFamily="34" charset="-122"/>
                                        </a:rPr>
                                        <m:t>2</m:t>
                                      </m:r>
                                    </m:sup>
                                  </m:sSup>
                                  <m:r>
                                    <m:rPr>
                                      <m:sty m:val="p"/>
                                    </m:rPr>
                                    <a:rPr lang="en-US" altLang="zh-CN">
                                      <a:latin typeface="Cambria Math" panose="02040503050406030204" pitchFamily="18" charset="0"/>
                                      <a:ea typeface="思源黑体 CN Bold" panose="020B0800000000000000" pitchFamily="34" charset="-122"/>
                                    </a:rPr>
                                    <m:t>Loss</m:t>
                                  </m:r>
                                  <m:d>
                                    <m:dPr>
                                      <m:ctrlPr>
                                        <a:rPr lang="en-US" altLang="zh-CN" i="1">
                                          <a:latin typeface="Cambria Math" panose="02040503050406030204" pitchFamily="18" charset="0"/>
                                          <a:ea typeface="思源黑体 CN Bold" panose="020B0800000000000000" pitchFamily="34" charset="-122"/>
                                        </a:rPr>
                                      </m:ctrlPr>
                                    </m:dPr>
                                    <m:e>
                                      <m:r>
                                        <a:rPr lang="en-US" altLang="zh-CN" b="1">
                                          <a:latin typeface="Cambria Math" panose="02040503050406030204" pitchFamily="18" charset="0"/>
                                          <a:ea typeface="思源黑体 CN Bold" panose="020B0800000000000000" pitchFamily="34" charset="-122"/>
                                        </a:rPr>
                                        <m:t>𝐰</m:t>
                                      </m:r>
                                    </m:e>
                                  </m:d>
                                </m:num>
                                <m:den>
                                  <m:r>
                                    <a:rPr lang="en-US" altLang="zh-CN" b="0" i="1" smtClean="0">
                                      <a:latin typeface="Cambria Math" panose="02040503050406030204" pitchFamily="18" charset="0"/>
                                      <a:ea typeface="思源黑体 CN Bold" panose="020B0800000000000000" pitchFamily="34" charset="-122"/>
                                    </a:rPr>
                                    <m:t>𝜕</m:t>
                                  </m:r>
                                  <m:sSup>
                                    <m:sSupPr>
                                      <m:ctrlPr>
                                        <a:rPr lang="en-US" altLang="zh-CN" b="0" i="1" smtClean="0">
                                          <a:latin typeface="Cambria Math" panose="02040503050406030204" pitchFamily="18" charset="0"/>
                                          <a:ea typeface="思源黑体 CN Bold" panose="020B0800000000000000" pitchFamily="34" charset="-122"/>
                                        </a:rPr>
                                      </m:ctrlPr>
                                    </m:sSupPr>
                                    <m:e>
                                      <m:sSub>
                                        <m:sSubPr>
                                          <m:ctrlPr>
                                            <a:rPr lang="en-US" altLang="zh-CN" i="1">
                                              <a:latin typeface="Cambria Math" panose="02040503050406030204" pitchFamily="18" charset="0"/>
                                              <a:ea typeface="思源黑体 CN Bold" panose="020B0800000000000000" pitchFamily="34" charset="-122"/>
                                            </a:rPr>
                                          </m:ctrlPr>
                                        </m:sSubPr>
                                        <m:e>
                                          <m:r>
                                            <a:rPr lang="en-US" altLang="zh-CN" i="1">
                                              <a:latin typeface="Cambria Math" panose="02040503050406030204" pitchFamily="18" charset="0"/>
                                              <a:ea typeface="思源黑体 CN Bold" panose="020B0800000000000000" pitchFamily="34" charset="-122"/>
                                            </a:rPr>
                                            <m:t>𝑤</m:t>
                                          </m:r>
                                        </m:e>
                                        <m:sub>
                                          <m:r>
                                            <a:rPr lang="en-US" altLang="zh-CN" i="1">
                                              <a:latin typeface="Cambria Math" panose="02040503050406030204" pitchFamily="18" charset="0"/>
                                              <a:ea typeface="思源黑体 CN Bold" panose="020B0800000000000000" pitchFamily="34" charset="-122"/>
                                            </a:rPr>
                                            <m:t>1</m:t>
                                          </m:r>
                                        </m:sub>
                                      </m:sSub>
                                    </m:e>
                                    <m:sup>
                                      <m:r>
                                        <a:rPr lang="en-US" altLang="zh-CN" b="0" i="1" smtClean="0">
                                          <a:latin typeface="Cambria Math" panose="02040503050406030204" pitchFamily="18" charset="0"/>
                                          <a:ea typeface="思源黑体 CN Bold" panose="020B0800000000000000" pitchFamily="34" charset="-122"/>
                                        </a:rPr>
                                        <m:t>2</m:t>
                                      </m:r>
                                    </m:sup>
                                  </m:sSup>
                                </m:den>
                              </m:f>
                              <m:r>
                                <a:rPr lang="en-US" altLang="zh-CN" b="1" i="1" smtClean="0">
                                  <a:latin typeface="Cambria Math" panose="02040503050406030204" pitchFamily="18" charset="0"/>
                                  <a:ea typeface="思源黑体 CN Bold" panose="020B0800000000000000" pitchFamily="34" charset="-122"/>
                                </a:rPr>
                                <m:t>  </m:t>
                              </m:r>
                              <m:f>
                                <m:fPr>
                                  <m:ctrlPr>
                                    <a:rPr lang="en-US" altLang="zh-CN" b="1" i="1">
                                      <a:latin typeface="Cambria Math" panose="02040503050406030204" pitchFamily="18" charset="0"/>
                                      <a:ea typeface="思源黑体 CN Bold" panose="020B0800000000000000" pitchFamily="34" charset="-122"/>
                                    </a:rPr>
                                  </m:ctrlPr>
                                </m:fPr>
                                <m:num>
                                  <m:sSup>
                                    <m:sSupPr>
                                      <m:ctrlPr>
                                        <a:rPr lang="en-US" altLang="zh-CN" i="1">
                                          <a:latin typeface="Cambria Math" panose="02040503050406030204" pitchFamily="18" charset="0"/>
                                          <a:ea typeface="思源黑体 CN Bold" panose="020B0800000000000000" pitchFamily="34" charset="-122"/>
                                        </a:rPr>
                                      </m:ctrlPr>
                                    </m:sSupPr>
                                    <m:e>
                                      <m:r>
                                        <a:rPr lang="en-US" altLang="zh-CN" i="1">
                                          <a:latin typeface="Cambria Math" panose="02040503050406030204" pitchFamily="18" charset="0"/>
                                          <a:ea typeface="思源黑体 CN Bold" panose="020B0800000000000000" pitchFamily="34" charset="-122"/>
                                        </a:rPr>
                                        <m:t>𝜕</m:t>
                                      </m:r>
                                    </m:e>
                                    <m:sup>
                                      <m:r>
                                        <a:rPr lang="en-US" altLang="zh-CN" i="1">
                                          <a:latin typeface="Cambria Math" panose="02040503050406030204" pitchFamily="18" charset="0"/>
                                          <a:ea typeface="思源黑体 CN Bold" panose="020B0800000000000000" pitchFamily="34" charset="-122"/>
                                        </a:rPr>
                                        <m:t>2</m:t>
                                      </m:r>
                                    </m:sup>
                                  </m:sSup>
                                  <m:r>
                                    <m:rPr>
                                      <m:sty m:val="p"/>
                                    </m:rPr>
                                    <a:rPr lang="en-US" altLang="zh-CN">
                                      <a:latin typeface="Cambria Math" panose="02040503050406030204" pitchFamily="18" charset="0"/>
                                      <a:ea typeface="思源黑体 CN Bold" panose="020B0800000000000000" pitchFamily="34" charset="-122"/>
                                    </a:rPr>
                                    <m:t>Loss</m:t>
                                  </m:r>
                                  <m:d>
                                    <m:dPr>
                                      <m:ctrlPr>
                                        <a:rPr lang="en-US" altLang="zh-CN" i="1">
                                          <a:latin typeface="Cambria Math" panose="02040503050406030204" pitchFamily="18" charset="0"/>
                                          <a:ea typeface="思源黑体 CN Bold" panose="020B0800000000000000" pitchFamily="34" charset="-122"/>
                                        </a:rPr>
                                      </m:ctrlPr>
                                    </m:dPr>
                                    <m:e>
                                      <m:r>
                                        <a:rPr lang="en-US" altLang="zh-CN" b="1">
                                          <a:latin typeface="Cambria Math" panose="02040503050406030204" pitchFamily="18" charset="0"/>
                                          <a:ea typeface="思源黑体 CN Bold" panose="020B0800000000000000" pitchFamily="34" charset="-122"/>
                                        </a:rPr>
                                        <m:t>𝐰</m:t>
                                      </m:r>
                                    </m:e>
                                  </m:d>
                                </m:num>
                                <m:den>
                                  <m:r>
                                    <a:rPr lang="en-US" altLang="zh-CN" i="1">
                                      <a:latin typeface="Cambria Math" panose="02040503050406030204" pitchFamily="18" charset="0"/>
                                      <a:ea typeface="思源黑体 CN Bold" panose="020B0800000000000000" pitchFamily="34" charset="-122"/>
                                    </a:rPr>
                                    <m:t>𝜕</m:t>
                                  </m:r>
                                  <m:sSub>
                                    <m:sSubPr>
                                      <m:ctrlPr>
                                        <a:rPr lang="en-US" altLang="zh-CN" i="1">
                                          <a:latin typeface="Cambria Math" panose="02040503050406030204" pitchFamily="18" charset="0"/>
                                          <a:ea typeface="思源黑体 CN Bold" panose="020B0800000000000000" pitchFamily="34" charset="-122"/>
                                        </a:rPr>
                                      </m:ctrlPr>
                                    </m:sSubPr>
                                    <m:e>
                                      <m:r>
                                        <a:rPr lang="en-US" altLang="zh-CN" i="1">
                                          <a:latin typeface="Cambria Math" panose="02040503050406030204" pitchFamily="18" charset="0"/>
                                          <a:ea typeface="思源黑体 CN Bold" panose="020B0800000000000000" pitchFamily="34" charset="-122"/>
                                        </a:rPr>
                                        <m:t>𝑤</m:t>
                                      </m:r>
                                    </m:e>
                                    <m:sub>
                                      <m:r>
                                        <a:rPr lang="en-US" altLang="zh-CN" i="1">
                                          <a:latin typeface="Cambria Math" panose="02040503050406030204" pitchFamily="18" charset="0"/>
                                          <a:ea typeface="思源黑体 CN Bold" panose="020B0800000000000000" pitchFamily="34" charset="-122"/>
                                        </a:rPr>
                                        <m:t>1</m:t>
                                      </m:r>
                                    </m:sub>
                                  </m:sSub>
                                  <m:r>
                                    <a:rPr lang="en-US" altLang="zh-CN" i="1">
                                      <a:latin typeface="Cambria Math" panose="02040503050406030204" pitchFamily="18" charset="0"/>
                                      <a:ea typeface="思源黑体 CN Bold" panose="020B0800000000000000" pitchFamily="34" charset="-122"/>
                                    </a:rPr>
                                    <m:t>𝜕</m:t>
                                  </m:r>
                                  <m:sSub>
                                    <m:sSubPr>
                                      <m:ctrlPr>
                                        <a:rPr lang="en-US" altLang="zh-CN" i="1">
                                          <a:latin typeface="Cambria Math" panose="02040503050406030204" pitchFamily="18" charset="0"/>
                                          <a:ea typeface="思源黑体 CN Bold" panose="020B0800000000000000" pitchFamily="34" charset="-122"/>
                                        </a:rPr>
                                      </m:ctrlPr>
                                    </m:sSubPr>
                                    <m:e>
                                      <m:r>
                                        <a:rPr lang="en-US" altLang="zh-CN" i="1">
                                          <a:latin typeface="Cambria Math" panose="02040503050406030204" pitchFamily="18" charset="0"/>
                                          <a:ea typeface="思源黑体 CN Bold" panose="020B0800000000000000" pitchFamily="34" charset="-122"/>
                                        </a:rPr>
                                        <m:t>𝑤</m:t>
                                      </m:r>
                                    </m:e>
                                    <m:sub>
                                      <m:r>
                                        <a:rPr lang="en-US" altLang="zh-CN" b="0" i="1" smtClean="0">
                                          <a:latin typeface="Cambria Math" panose="02040503050406030204" pitchFamily="18" charset="0"/>
                                          <a:ea typeface="思源黑体 CN Bold" panose="020B0800000000000000" pitchFamily="34" charset="-122"/>
                                        </a:rPr>
                                        <m:t>2</m:t>
                                      </m:r>
                                    </m:sub>
                                  </m:sSub>
                                </m:den>
                              </m:f>
                            </m:e>
                            <m:e>
                              <m:f>
                                <m:fPr>
                                  <m:ctrlPr>
                                    <a:rPr lang="en-US" altLang="zh-CN" b="1" i="1">
                                      <a:latin typeface="Cambria Math" panose="02040503050406030204" pitchFamily="18" charset="0"/>
                                      <a:ea typeface="思源黑体 CN Bold" panose="020B0800000000000000" pitchFamily="34" charset="-122"/>
                                    </a:rPr>
                                  </m:ctrlPr>
                                </m:fPr>
                                <m:num>
                                  <m:sSup>
                                    <m:sSupPr>
                                      <m:ctrlPr>
                                        <a:rPr lang="en-US" altLang="zh-CN" i="1">
                                          <a:latin typeface="Cambria Math" panose="02040503050406030204" pitchFamily="18" charset="0"/>
                                          <a:ea typeface="思源黑体 CN Bold" panose="020B0800000000000000" pitchFamily="34" charset="-122"/>
                                        </a:rPr>
                                      </m:ctrlPr>
                                    </m:sSupPr>
                                    <m:e>
                                      <m:r>
                                        <a:rPr lang="en-US" altLang="zh-CN" i="1">
                                          <a:latin typeface="Cambria Math" panose="02040503050406030204" pitchFamily="18" charset="0"/>
                                          <a:ea typeface="思源黑体 CN Bold" panose="020B0800000000000000" pitchFamily="34" charset="-122"/>
                                        </a:rPr>
                                        <m:t>𝜕</m:t>
                                      </m:r>
                                    </m:e>
                                    <m:sup>
                                      <m:r>
                                        <a:rPr lang="en-US" altLang="zh-CN" i="1">
                                          <a:latin typeface="Cambria Math" panose="02040503050406030204" pitchFamily="18" charset="0"/>
                                          <a:ea typeface="思源黑体 CN Bold" panose="020B0800000000000000" pitchFamily="34" charset="-122"/>
                                        </a:rPr>
                                        <m:t>2</m:t>
                                      </m:r>
                                    </m:sup>
                                  </m:sSup>
                                  <m:r>
                                    <m:rPr>
                                      <m:sty m:val="p"/>
                                    </m:rPr>
                                    <a:rPr lang="en-US" altLang="zh-CN">
                                      <a:latin typeface="Cambria Math" panose="02040503050406030204" pitchFamily="18" charset="0"/>
                                      <a:ea typeface="思源黑体 CN Bold" panose="020B0800000000000000" pitchFamily="34" charset="-122"/>
                                    </a:rPr>
                                    <m:t>Loss</m:t>
                                  </m:r>
                                  <m:d>
                                    <m:dPr>
                                      <m:ctrlPr>
                                        <a:rPr lang="en-US" altLang="zh-CN" i="1">
                                          <a:latin typeface="Cambria Math" panose="02040503050406030204" pitchFamily="18" charset="0"/>
                                          <a:ea typeface="思源黑体 CN Bold" panose="020B0800000000000000" pitchFamily="34" charset="-122"/>
                                        </a:rPr>
                                      </m:ctrlPr>
                                    </m:dPr>
                                    <m:e>
                                      <m:r>
                                        <a:rPr lang="en-US" altLang="zh-CN" b="1">
                                          <a:latin typeface="Cambria Math" panose="02040503050406030204" pitchFamily="18" charset="0"/>
                                          <a:ea typeface="思源黑体 CN Bold" panose="020B0800000000000000" pitchFamily="34" charset="-122"/>
                                        </a:rPr>
                                        <m:t>𝐰</m:t>
                                      </m:r>
                                    </m:e>
                                  </m:d>
                                </m:num>
                                <m:den>
                                  <m:r>
                                    <a:rPr lang="en-US" altLang="zh-CN" i="1">
                                      <a:latin typeface="Cambria Math" panose="02040503050406030204" pitchFamily="18" charset="0"/>
                                      <a:ea typeface="思源黑体 CN Bold" panose="020B0800000000000000" pitchFamily="34" charset="-122"/>
                                    </a:rPr>
                                    <m:t>𝜕</m:t>
                                  </m:r>
                                  <m:sSub>
                                    <m:sSubPr>
                                      <m:ctrlPr>
                                        <a:rPr lang="en-US" altLang="zh-CN" i="1">
                                          <a:latin typeface="Cambria Math" panose="02040503050406030204" pitchFamily="18" charset="0"/>
                                          <a:ea typeface="思源黑体 CN Bold" panose="020B0800000000000000" pitchFamily="34" charset="-122"/>
                                        </a:rPr>
                                      </m:ctrlPr>
                                    </m:sSubPr>
                                    <m:e>
                                      <m:r>
                                        <a:rPr lang="en-US" altLang="zh-CN" i="1">
                                          <a:latin typeface="Cambria Math" panose="02040503050406030204" pitchFamily="18" charset="0"/>
                                          <a:ea typeface="思源黑体 CN Bold" panose="020B0800000000000000" pitchFamily="34" charset="-122"/>
                                        </a:rPr>
                                        <m:t>𝑤</m:t>
                                      </m:r>
                                    </m:e>
                                    <m:sub>
                                      <m:r>
                                        <a:rPr lang="en-US" altLang="zh-CN" b="0" i="1" smtClean="0">
                                          <a:latin typeface="Cambria Math" panose="02040503050406030204" pitchFamily="18" charset="0"/>
                                          <a:ea typeface="思源黑体 CN Bold" panose="020B0800000000000000" pitchFamily="34" charset="-122"/>
                                        </a:rPr>
                                        <m:t>2</m:t>
                                      </m:r>
                                    </m:sub>
                                  </m:sSub>
                                  <m:r>
                                    <a:rPr lang="en-US" altLang="zh-CN" i="1">
                                      <a:latin typeface="Cambria Math" panose="02040503050406030204" pitchFamily="18" charset="0"/>
                                      <a:ea typeface="思源黑体 CN Bold" panose="020B0800000000000000" pitchFamily="34" charset="-122"/>
                                    </a:rPr>
                                    <m:t>𝜕</m:t>
                                  </m:r>
                                  <m:sSub>
                                    <m:sSubPr>
                                      <m:ctrlPr>
                                        <a:rPr lang="en-US" altLang="zh-CN" i="1">
                                          <a:latin typeface="Cambria Math" panose="02040503050406030204" pitchFamily="18" charset="0"/>
                                          <a:ea typeface="思源黑体 CN Bold" panose="020B0800000000000000" pitchFamily="34" charset="-122"/>
                                        </a:rPr>
                                      </m:ctrlPr>
                                    </m:sSubPr>
                                    <m:e>
                                      <m:r>
                                        <a:rPr lang="en-US" altLang="zh-CN" i="1">
                                          <a:latin typeface="Cambria Math" panose="02040503050406030204" pitchFamily="18" charset="0"/>
                                          <a:ea typeface="思源黑体 CN Bold" panose="020B0800000000000000" pitchFamily="34" charset="-122"/>
                                        </a:rPr>
                                        <m:t>𝑤</m:t>
                                      </m:r>
                                    </m:e>
                                    <m:sub>
                                      <m:r>
                                        <a:rPr lang="en-US" altLang="zh-CN" i="1">
                                          <a:latin typeface="Cambria Math" panose="02040503050406030204" pitchFamily="18" charset="0"/>
                                          <a:ea typeface="思源黑体 CN Bold" panose="020B0800000000000000" pitchFamily="34" charset="-122"/>
                                        </a:rPr>
                                        <m:t>1</m:t>
                                      </m:r>
                                    </m:sub>
                                  </m:sSub>
                                </m:den>
                              </m:f>
                              <m:r>
                                <a:rPr lang="en-US" altLang="zh-CN" b="1" i="1" smtClean="0">
                                  <a:latin typeface="Cambria Math" panose="02040503050406030204" pitchFamily="18" charset="0"/>
                                  <a:ea typeface="思源黑体 CN Bold" panose="020B0800000000000000" pitchFamily="34" charset="-122"/>
                                </a:rPr>
                                <m:t>  </m:t>
                              </m:r>
                              <m:f>
                                <m:fPr>
                                  <m:ctrlPr>
                                    <a:rPr lang="en-US" altLang="zh-CN" b="1" i="1">
                                      <a:latin typeface="Cambria Math" panose="02040503050406030204" pitchFamily="18" charset="0"/>
                                      <a:ea typeface="思源黑体 CN Bold" panose="020B0800000000000000" pitchFamily="34" charset="-122"/>
                                    </a:rPr>
                                  </m:ctrlPr>
                                </m:fPr>
                                <m:num>
                                  <m:sSup>
                                    <m:sSupPr>
                                      <m:ctrlPr>
                                        <a:rPr lang="en-US" altLang="zh-CN" i="1">
                                          <a:latin typeface="Cambria Math" panose="02040503050406030204" pitchFamily="18" charset="0"/>
                                          <a:ea typeface="思源黑体 CN Bold" panose="020B0800000000000000" pitchFamily="34" charset="-122"/>
                                        </a:rPr>
                                      </m:ctrlPr>
                                    </m:sSupPr>
                                    <m:e>
                                      <m:r>
                                        <a:rPr lang="en-US" altLang="zh-CN" i="1">
                                          <a:latin typeface="Cambria Math" panose="02040503050406030204" pitchFamily="18" charset="0"/>
                                          <a:ea typeface="思源黑体 CN Bold" panose="020B0800000000000000" pitchFamily="34" charset="-122"/>
                                        </a:rPr>
                                        <m:t>𝜕</m:t>
                                      </m:r>
                                    </m:e>
                                    <m:sup>
                                      <m:r>
                                        <a:rPr lang="en-US" altLang="zh-CN" i="1">
                                          <a:latin typeface="Cambria Math" panose="02040503050406030204" pitchFamily="18" charset="0"/>
                                          <a:ea typeface="思源黑体 CN Bold" panose="020B0800000000000000" pitchFamily="34" charset="-122"/>
                                        </a:rPr>
                                        <m:t>2</m:t>
                                      </m:r>
                                    </m:sup>
                                  </m:sSup>
                                  <m:r>
                                    <m:rPr>
                                      <m:sty m:val="p"/>
                                    </m:rPr>
                                    <a:rPr lang="en-US" altLang="zh-CN">
                                      <a:latin typeface="Cambria Math" panose="02040503050406030204" pitchFamily="18" charset="0"/>
                                      <a:ea typeface="思源黑体 CN Bold" panose="020B0800000000000000" pitchFamily="34" charset="-122"/>
                                    </a:rPr>
                                    <m:t>Loss</m:t>
                                  </m:r>
                                  <m:d>
                                    <m:dPr>
                                      <m:ctrlPr>
                                        <a:rPr lang="en-US" altLang="zh-CN" i="1">
                                          <a:latin typeface="Cambria Math" panose="02040503050406030204" pitchFamily="18" charset="0"/>
                                          <a:ea typeface="思源黑体 CN Bold" panose="020B0800000000000000" pitchFamily="34" charset="-122"/>
                                        </a:rPr>
                                      </m:ctrlPr>
                                    </m:dPr>
                                    <m:e>
                                      <m:r>
                                        <a:rPr lang="en-US" altLang="zh-CN" b="1">
                                          <a:latin typeface="Cambria Math" panose="02040503050406030204" pitchFamily="18" charset="0"/>
                                          <a:ea typeface="思源黑体 CN Bold" panose="020B0800000000000000" pitchFamily="34" charset="-122"/>
                                        </a:rPr>
                                        <m:t>𝐰</m:t>
                                      </m:r>
                                    </m:e>
                                  </m:d>
                                </m:num>
                                <m:den>
                                  <m:r>
                                    <a:rPr lang="en-US" altLang="zh-CN" i="1">
                                      <a:latin typeface="Cambria Math" panose="02040503050406030204" pitchFamily="18" charset="0"/>
                                      <a:ea typeface="思源黑体 CN Bold" panose="020B0800000000000000" pitchFamily="34" charset="-122"/>
                                    </a:rPr>
                                    <m:t>𝜕</m:t>
                                  </m:r>
                                  <m:sSup>
                                    <m:sSupPr>
                                      <m:ctrlPr>
                                        <a:rPr lang="en-US" altLang="zh-CN" i="1">
                                          <a:latin typeface="Cambria Math" panose="02040503050406030204" pitchFamily="18" charset="0"/>
                                          <a:ea typeface="思源黑体 CN Bold" panose="020B0800000000000000" pitchFamily="34" charset="-122"/>
                                        </a:rPr>
                                      </m:ctrlPr>
                                    </m:sSupPr>
                                    <m:e>
                                      <m:sSub>
                                        <m:sSubPr>
                                          <m:ctrlPr>
                                            <a:rPr lang="en-US" altLang="zh-CN" i="1">
                                              <a:latin typeface="Cambria Math" panose="02040503050406030204" pitchFamily="18" charset="0"/>
                                              <a:ea typeface="思源黑体 CN Bold" panose="020B0800000000000000" pitchFamily="34" charset="-122"/>
                                            </a:rPr>
                                          </m:ctrlPr>
                                        </m:sSubPr>
                                        <m:e>
                                          <m:r>
                                            <a:rPr lang="en-US" altLang="zh-CN" i="1">
                                              <a:latin typeface="Cambria Math" panose="02040503050406030204" pitchFamily="18" charset="0"/>
                                              <a:ea typeface="思源黑体 CN Bold" panose="020B0800000000000000" pitchFamily="34" charset="-122"/>
                                            </a:rPr>
                                            <m:t>𝑤</m:t>
                                          </m:r>
                                        </m:e>
                                        <m:sub>
                                          <m:r>
                                            <a:rPr lang="en-US" altLang="zh-CN" b="0" i="1" smtClean="0">
                                              <a:latin typeface="Cambria Math" panose="02040503050406030204" pitchFamily="18" charset="0"/>
                                              <a:ea typeface="思源黑体 CN Bold" panose="020B0800000000000000" pitchFamily="34" charset="-122"/>
                                            </a:rPr>
                                            <m:t>2</m:t>
                                          </m:r>
                                        </m:sub>
                                      </m:sSub>
                                    </m:e>
                                    <m:sup>
                                      <m:r>
                                        <a:rPr lang="en-US" altLang="zh-CN" i="1">
                                          <a:latin typeface="Cambria Math" panose="02040503050406030204" pitchFamily="18" charset="0"/>
                                          <a:ea typeface="思源黑体 CN Bold" panose="020B0800000000000000" pitchFamily="34" charset="-122"/>
                                        </a:rPr>
                                        <m:t>2</m:t>
                                      </m:r>
                                    </m:sup>
                                  </m:sSup>
                                </m:den>
                              </m:f>
                            </m:e>
                          </m:eqArr>
                        </m:e>
                      </m:d>
                    </m:oMath>
                  </m:oMathPara>
                </a14:m>
                <a:endParaRPr lang="zh-CN" altLang="en-US" dirty="0"/>
              </a:p>
            </p:txBody>
          </p:sp>
        </mc:Choice>
        <mc:Fallback xmlns="">
          <p:sp>
            <p:nvSpPr>
              <p:cNvPr id="10" name="矩形 9">
                <a:extLst>
                  <a:ext uri="{FF2B5EF4-FFF2-40B4-BE49-F238E27FC236}">
                    <a16:creationId xmlns:a16="http://schemas.microsoft.com/office/drawing/2014/main" id="{56CC8930-E54A-4A6D-949E-1A8D9792D2A8}"/>
                  </a:ext>
                </a:extLst>
              </p:cNvPr>
              <p:cNvSpPr>
                <a:spLocks noRot="1" noChangeAspect="1" noMove="1" noResize="1" noEditPoints="1" noAdjustHandles="1" noChangeArrowheads="1" noChangeShapeType="1" noTextEdit="1"/>
              </p:cNvSpPr>
              <p:nvPr/>
            </p:nvSpPr>
            <p:spPr>
              <a:xfrm>
                <a:off x="3417918" y="4288595"/>
                <a:ext cx="6251711" cy="1407373"/>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545644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0F7529-D435-49BF-8C4C-72F4173D5FF0}"/>
              </a:ext>
            </a:extLst>
          </p:cNvPr>
          <p:cNvSpPr>
            <a:spLocks noGrp="1"/>
          </p:cNvSpPr>
          <p:nvPr>
            <p:ph type="title" idx="4294967295"/>
          </p:nvPr>
        </p:nvSpPr>
        <p:spPr>
          <a:xfrm>
            <a:off x="247286" y="81482"/>
            <a:ext cx="9405257" cy="672523"/>
          </a:xfrm>
        </p:spPr>
        <p:txBody>
          <a:bodyPr>
            <a:normAutofit/>
          </a:bodyPr>
          <a:lstStyle/>
          <a:p>
            <a:r>
              <a:rPr lang="en-US" altLang="zh-CN" sz="3600" dirty="0">
                <a:latin typeface="思源黑体 CN Bold" panose="020B0800000000000000" pitchFamily="34" charset="-122"/>
                <a:ea typeface="思源黑体 CN Bold" panose="020B0800000000000000" pitchFamily="34" charset="-122"/>
              </a:rPr>
              <a:t>3 </a:t>
            </a:r>
            <a:r>
              <a:rPr lang="zh-CN" altLang="en-US" sz="3600" dirty="0">
                <a:latin typeface="思源黑体 CN Bold" panose="020B0800000000000000" pitchFamily="34" charset="-122"/>
                <a:ea typeface="思源黑体 CN Bold" panose="020B0800000000000000" pitchFamily="34" charset="-122"/>
              </a:rPr>
              <a:t>前馈神经网络的训练：</a:t>
            </a:r>
            <a:r>
              <a:rPr lang="zh-CN" altLang="en-US" sz="2800" dirty="0">
                <a:latin typeface="思源黑体 CN Bold" panose="020B0800000000000000" pitchFamily="34" charset="-122"/>
                <a:ea typeface="思源黑体 CN Bold" panose="020B0800000000000000" pitchFamily="34" charset="-122"/>
              </a:rPr>
              <a:t>全局极小与局部极小</a:t>
            </a:r>
            <a:endParaRPr lang="zh-CN" altLang="en-US" sz="3600" dirty="0"/>
          </a:p>
        </p:txBody>
      </p:sp>
      <p:sp>
        <p:nvSpPr>
          <p:cNvPr id="18" name="内容占位符 2">
            <a:extLst>
              <a:ext uri="{FF2B5EF4-FFF2-40B4-BE49-F238E27FC236}">
                <a16:creationId xmlns:a16="http://schemas.microsoft.com/office/drawing/2014/main" id="{DD30DF44-2D9A-4FFC-8BA2-655B125265E6}"/>
              </a:ext>
            </a:extLst>
          </p:cNvPr>
          <p:cNvSpPr txBox="1">
            <a:spLocks/>
          </p:cNvSpPr>
          <p:nvPr/>
        </p:nvSpPr>
        <p:spPr>
          <a:xfrm>
            <a:off x="785948" y="1223180"/>
            <a:ext cx="10515600" cy="45984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sz="1800" dirty="0">
                <a:latin typeface="思源黑体 CN Bold" panose="020B0800000000000000" pitchFamily="34" charset="-122"/>
                <a:ea typeface="思源黑体 CN Bold" panose="020B0800000000000000" pitchFamily="34" charset="-122"/>
              </a:rPr>
              <a:t>不一定非要找到全局极小，接近全局极小的局部极小值也可以</a:t>
            </a:r>
            <a:endParaRPr lang="en-US" altLang="zh-CN" sz="1800" dirty="0">
              <a:latin typeface="思源黑体 CN Bold" panose="020B0800000000000000" pitchFamily="34" charset="-122"/>
              <a:ea typeface="思源黑体 CN Bold" panose="020B0800000000000000" pitchFamily="34" charset="-122"/>
            </a:endParaRPr>
          </a:p>
          <a:p>
            <a:pPr marL="0" indent="0">
              <a:lnSpc>
                <a:spcPct val="150000"/>
              </a:lnSpc>
              <a:buNone/>
            </a:pPr>
            <a:r>
              <a:rPr lang="zh-CN" altLang="en-US" sz="1800" dirty="0">
                <a:latin typeface="思源黑体 CN Bold" panose="020B0800000000000000" pitchFamily="34" charset="-122"/>
                <a:ea typeface="思源黑体 CN Bold" panose="020B0800000000000000" pitchFamily="34" charset="-122"/>
              </a:rPr>
              <a:t>例如：学习到两个低维流形，但都能够完成欧式距离的分类和回归</a:t>
            </a:r>
          </a:p>
        </p:txBody>
      </p:sp>
      <p:grpSp>
        <p:nvGrpSpPr>
          <p:cNvPr id="4" name="组合 3">
            <a:extLst>
              <a:ext uri="{FF2B5EF4-FFF2-40B4-BE49-F238E27FC236}">
                <a16:creationId xmlns:a16="http://schemas.microsoft.com/office/drawing/2014/main" id="{97F5CCFE-E930-4618-BABF-E40F392B4727}"/>
              </a:ext>
            </a:extLst>
          </p:cNvPr>
          <p:cNvGrpSpPr/>
          <p:nvPr/>
        </p:nvGrpSpPr>
        <p:grpSpPr>
          <a:xfrm>
            <a:off x="1444737" y="3225068"/>
            <a:ext cx="1985997" cy="2045908"/>
            <a:chOff x="2961553" y="2816777"/>
            <a:chExt cx="1985997" cy="2045908"/>
          </a:xfrm>
        </p:grpSpPr>
        <p:pic>
          <p:nvPicPr>
            <p:cNvPr id="13" name="图片 12">
              <a:extLst>
                <a:ext uri="{FF2B5EF4-FFF2-40B4-BE49-F238E27FC236}">
                  <a16:creationId xmlns:a16="http://schemas.microsoft.com/office/drawing/2014/main" id="{56FA6959-73F5-41FD-908E-7E3D5FCB2B2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227" t="2717" r="3244" b="2556"/>
            <a:stretch/>
          </p:blipFill>
          <p:spPr>
            <a:xfrm>
              <a:off x="2974376" y="3136380"/>
              <a:ext cx="1973174" cy="1726305"/>
            </a:xfrm>
            <a:prstGeom prst="rect">
              <a:avLst/>
            </a:prstGeom>
          </p:spPr>
        </p:pic>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1712DE5B-04E8-4DC3-8B99-3ED99195BDA1}"/>
                    </a:ext>
                  </a:extLst>
                </p:cNvPr>
                <p:cNvSpPr/>
                <p:nvPr/>
              </p:nvSpPr>
              <p:spPr>
                <a:xfrm>
                  <a:off x="3521834" y="2816777"/>
                  <a:ext cx="73693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b="1" i="1">
                            <a:solidFill>
                              <a:srgbClr val="7030A0"/>
                            </a:solidFill>
                            <a:latin typeface="Cambria Math" panose="02040503050406030204" pitchFamily="18" charset="0"/>
                            <a:ea typeface="思源黑体 CN Bold" panose="020B0800000000000000" pitchFamily="34" charset="-122"/>
                          </a:rPr>
                          <m:t>𝝓</m:t>
                        </m:r>
                        <m:d>
                          <m:dPr>
                            <m:ctrlPr>
                              <a:rPr lang="en-US" altLang="zh-CN" i="1">
                                <a:solidFill>
                                  <a:srgbClr val="7030A0"/>
                                </a:solidFill>
                                <a:latin typeface="Cambria Math" panose="02040503050406030204" pitchFamily="18" charset="0"/>
                                <a:ea typeface="思源黑体 CN Bold" panose="020B0800000000000000" pitchFamily="34" charset="-122"/>
                              </a:rPr>
                            </m:ctrlPr>
                          </m:dPr>
                          <m:e>
                            <m:r>
                              <a:rPr lang="en-US" altLang="zh-CN" b="1">
                                <a:solidFill>
                                  <a:srgbClr val="7030A0"/>
                                </a:solidFill>
                                <a:latin typeface="Cambria Math" panose="02040503050406030204" pitchFamily="18" charset="0"/>
                                <a:ea typeface="思源黑体 CN Bold" panose="020B0800000000000000" pitchFamily="34" charset="-122"/>
                              </a:rPr>
                              <m:t>𝐱</m:t>
                            </m:r>
                          </m:e>
                        </m:d>
                      </m:oMath>
                    </m:oMathPara>
                  </a14:m>
                  <a:endParaRPr lang="zh-CN" altLang="en-US" dirty="0">
                    <a:solidFill>
                      <a:srgbClr val="7030A0"/>
                    </a:solidFill>
                  </a:endParaRPr>
                </a:p>
              </p:txBody>
            </p:sp>
          </mc:Choice>
          <mc:Fallback xmlns="">
            <p:sp>
              <p:nvSpPr>
                <p:cNvPr id="14" name="矩形 13">
                  <a:extLst>
                    <a:ext uri="{FF2B5EF4-FFF2-40B4-BE49-F238E27FC236}">
                      <a16:creationId xmlns:a16="http://schemas.microsoft.com/office/drawing/2014/main" id="{1712DE5B-04E8-4DC3-8B99-3ED99195BDA1}"/>
                    </a:ext>
                  </a:extLst>
                </p:cNvPr>
                <p:cNvSpPr>
                  <a:spLocks noRot="1" noChangeAspect="1" noMove="1" noResize="1" noEditPoints="1" noAdjustHandles="1" noChangeArrowheads="1" noChangeShapeType="1" noTextEdit="1"/>
                </p:cNvSpPr>
                <p:nvPr/>
              </p:nvSpPr>
              <p:spPr>
                <a:xfrm>
                  <a:off x="3521834" y="2816777"/>
                  <a:ext cx="736932" cy="369332"/>
                </a:xfrm>
                <a:prstGeom prst="rect">
                  <a:avLst/>
                </a:prstGeom>
                <a:blipFill>
                  <a:blip r:embed="rId4"/>
                  <a:stretch>
                    <a:fillRect b="-131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a:extLst>
                    <a:ext uri="{FF2B5EF4-FFF2-40B4-BE49-F238E27FC236}">
                      <a16:creationId xmlns:a16="http://schemas.microsoft.com/office/drawing/2014/main" id="{13AA7FEF-FBBC-478D-BCA4-91BF63D6EC43}"/>
                    </a:ext>
                  </a:extLst>
                </p:cNvPr>
                <p:cNvSpPr/>
                <p:nvPr/>
              </p:nvSpPr>
              <p:spPr>
                <a:xfrm>
                  <a:off x="2961553" y="3257539"/>
                  <a:ext cx="38504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1" i="1" smtClean="0">
                            <a:solidFill>
                              <a:srgbClr val="7030A0"/>
                            </a:solidFill>
                            <a:latin typeface="Cambria Math" panose="02040503050406030204" pitchFamily="18" charset="0"/>
                            <a:ea typeface="思源黑体 CN Bold" panose="020B0800000000000000" pitchFamily="34" charset="-122"/>
                          </a:rPr>
                          <m:t>𝟎</m:t>
                        </m:r>
                      </m:oMath>
                    </m:oMathPara>
                  </a14:m>
                  <a:endParaRPr lang="zh-CN" altLang="en-US" dirty="0">
                    <a:solidFill>
                      <a:srgbClr val="7030A0"/>
                    </a:solidFill>
                  </a:endParaRPr>
                </a:p>
              </p:txBody>
            </p:sp>
          </mc:Choice>
          <mc:Fallback xmlns="">
            <p:sp>
              <p:nvSpPr>
                <p:cNvPr id="15" name="矩形 14">
                  <a:extLst>
                    <a:ext uri="{FF2B5EF4-FFF2-40B4-BE49-F238E27FC236}">
                      <a16:creationId xmlns:a16="http://schemas.microsoft.com/office/drawing/2014/main" id="{13AA7FEF-FBBC-478D-BCA4-91BF63D6EC43}"/>
                    </a:ext>
                  </a:extLst>
                </p:cNvPr>
                <p:cNvSpPr>
                  <a:spLocks noRot="1" noChangeAspect="1" noMove="1" noResize="1" noEditPoints="1" noAdjustHandles="1" noChangeArrowheads="1" noChangeShapeType="1" noTextEdit="1"/>
                </p:cNvSpPr>
                <p:nvPr/>
              </p:nvSpPr>
              <p:spPr>
                <a:xfrm>
                  <a:off x="2961553" y="3257539"/>
                  <a:ext cx="385041" cy="369332"/>
                </a:xfrm>
                <a:prstGeom prst="rect">
                  <a:avLst/>
                </a:prstGeom>
                <a:blipFill>
                  <a:blip r:embed="rId5"/>
                  <a:stretch>
                    <a:fillRect/>
                  </a:stretch>
                </a:blipFill>
              </p:spPr>
              <p:txBody>
                <a:bodyPr/>
                <a:lstStyle/>
                <a:p>
                  <a:r>
                    <a:rPr lang="zh-CN" altLang="en-US">
                      <a:noFill/>
                    </a:rPr>
                    <a:t> </a:t>
                  </a:r>
                </a:p>
              </p:txBody>
            </p:sp>
          </mc:Fallback>
        </mc:AlternateContent>
      </p:grpSp>
      <p:grpSp>
        <p:nvGrpSpPr>
          <p:cNvPr id="7" name="组合 6">
            <a:extLst>
              <a:ext uri="{FF2B5EF4-FFF2-40B4-BE49-F238E27FC236}">
                <a16:creationId xmlns:a16="http://schemas.microsoft.com/office/drawing/2014/main" id="{A993BFF6-6D68-4024-A3E7-E1CC41BA4C21}"/>
              </a:ext>
            </a:extLst>
          </p:cNvPr>
          <p:cNvGrpSpPr/>
          <p:nvPr/>
        </p:nvGrpSpPr>
        <p:grpSpPr>
          <a:xfrm>
            <a:off x="9013372" y="3246419"/>
            <a:ext cx="2035464" cy="2056343"/>
            <a:chOff x="5219015" y="2806342"/>
            <a:chExt cx="2035464" cy="2056343"/>
          </a:xfrm>
        </p:grpSpPr>
        <p:pic>
          <p:nvPicPr>
            <p:cNvPr id="6" name="图片 5">
              <a:extLst>
                <a:ext uri="{FF2B5EF4-FFF2-40B4-BE49-F238E27FC236}">
                  <a16:creationId xmlns:a16="http://schemas.microsoft.com/office/drawing/2014/main" id="{8F0A99CE-9D8E-4DF9-AC00-593EA982A3E4}"/>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5588" t="2039" r="2397" b="8574"/>
            <a:stretch/>
          </p:blipFill>
          <p:spPr>
            <a:xfrm>
              <a:off x="5219015" y="3136380"/>
              <a:ext cx="2035464" cy="1726305"/>
            </a:xfrm>
            <a:prstGeom prst="rect">
              <a:avLst/>
            </a:prstGeom>
          </p:spPr>
        </p:pic>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id="{EFEDF506-7063-4B9F-8D61-1255F7D0BF93}"/>
                    </a:ext>
                  </a:extLst>
                </p:cNvPr>
                <p:cNvSpPr/>
                <p:nvPr/>
              </p:nvSpPr>
              <p:spPr>
                <a:xfrm>
                  <a:off x="5805934" y="2806342"/>
                  <a:ext cx="73693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b="1" i="1">
                            <a:solidFill>
                              <a:srgbClr val="7030A0"/>
                            </a:solidFill>
                            <a:latin typeface="Cambria Math" panose="02040503050406030204" pitchFamily="18" charset="0"/>
                            <a:ea typeface="思源黑体 CN Bold" panose="020B0800000000000000" pitchFamily="34" charset="-122"/>
                          </a:rPr>
                          <m:t>𝝓</m:t>
                        </m:r>
                        <m:d>
                          <m:dPr>
                            <m:ctrlPr>
                              <a:rPr lang="en-US" altLang="zh-CN" i="1">
                                <a:solidFill>
                                  <a:srgbClr val="7030A0"/>
                                </a:solidFill>
                                <a:latin typeface="Cambria Math" panose="02040503050406030204" pitchFamily="18" charset="0"/>
                                <a:ea typeface="思源黑体 CN Bold" panose="020B0800000000000000" pitchFamily="34" charset="-122"/>
                              </a:rPr>
                            </m:ctrlPr>
                          </m:dPr>
                          <m:e>
                            <m:r>
                              <a:rPr lang="en-US" altLang="zh-CN" b="1">
                                <a:solidFill>
                                  <a:srgbClr val="7030A0"/>
                                </a:solidFill>
                                <a:latin typeface="Cambria Math" panose="02040503050406030204" pitchFamily="18" charset="0"/>
                                <a:ea typeface="思源黑体 CN Bold" panose="020B0800000000000000" pitchFamily="34" charset="-122"/>
                              </a:rPr>
                              <m:t>𝐱</m:t>
                            </m:r>
                          </m:e>
                        </m:d>
                      </m:oMath>
                    </m:oMathPara>
                  </a14:m>
                  <a:endParaRPr lang="zh-CN" altLang="en-US" dirty="0">
                    <a:solidFill>
                      <a:srgbClr val="7030A0"/>
                    </a:solidFill>
                  </a:endParaRPr>
                </a:p>
              </p:txBody>
            </p:sp>
          </mc:Choice>
          <mc:Fallback xmlns="">
            <p:sp>
              <p:nvSpPr>
                <p:cNvPr id="16" name="矩形 15">
                  <a:extLst>
                    <a:ext uri="{FF2B5EF4-FFF2-40B4-BE49-F238E27FC236}">
                      <a16:creationId xmlns:a16="http://schemas.microsoft.com/office/drawing/2014/main" id="{EFEDF506-7063-4B9F-8D61-1255F7D0BF93}"/>
                    </a:ext>
                  </a:extLst>
                </p:cNvPr>
                <p:cNvSpPr>
                  <a:spLocks noRot="1" noChangeAspect="1" noMove="1" noResize="1" noEditPoints="1" noAdjustHandles="1" noChangeArrowheads="1" noChangeShapeType="1" noTextEdit="1"/>
                </p:cNvSpPr>
                <p:nvPr/>
              </p:nvSpPr>
              <p:spPr>
                <a:xfrm>
                  <a:off x="5805934" y="2806342"/>
                  <a:ext cx="736932" cy="369332"/>
                </a:xfrm>
                <a:prstGeom prst="rect">
                  <a:avLst/>
                </a:prstGeom>
                <a:blipFill>
                  <a:blip r:embed="rId7"/>
                  <a:stretch>
                    <a:fillRect b="-131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a:extLst>
                    <a:ext uri="{FF2B5EF4-FFF2-40B4-BE49-F238E27FC236}">
                      <a16:creationId xmlns:a16="http://schemas.microsoft.com/office/drawing/2014/main" id="{9869B78E-196C-4135-A6F4-5F028FF3D7C2}"/>
                    </a:ext>
                  </a:extLst>
                </p:cNvPr>
                <p:cNvSpPr/>
                <p:nvPr/>
              </p:nvSpPr>
              <p:spPr>
                <a:xfrm>
                  <a:off x="6276040" y="4068920"/>
                  <a:ext cx="38504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1" i="1" smtClean="0">
                            <a:solidFill>
                              <a:srgbClr val="7030A0"/>
                            </a:solidFill>
                            <a:latin typeface="Cambria Math" panose="02040503050406030204" pitchFamily="18" charset="0"/>
                            <a:ea typeface="思源黑体 CN Bold" panose="020B0800000000000000" pitchFamily="34" charset="-122"/>
                          </a:rPr>
                          <m:t>𝟎</m:t>
                        </m:r>
                      </m:oMath>
                    </m:oMathPara>
                  </a14:m>
                  <a:endParaRPr lang="zh-CN" altLang="en-US" dirty="0">
                    <a:solidFill>
                      <a:srgbClr val="7030A0"/>
                    </a:solidFill>
                  </a:endParaRPr>
                </a:p>
              </p:txBody>
            </p:sp>
          </mc:Choice>
          <mc:Fallback xmlns="">
            <p:sp>
              <p:nvSpPr>
                <p:cNvPr id="17" name="矩形 16">
                  <a:extLst>
                    <a:ext uri="{FF2B5EF4-FFF2-40B4-BE49-F238E27FC236}">
                      <a16:creationId xmlns:a16="http://schemas.microsoft.com/office/drawing/2014/main" id="{9869B78E-196C-4135-A6F4-5F028FF3D7C2}"/>
                    </a:ext>
                  </a:extLst>
                </p:cNvPr>
                <p:cNvSpPr>
                  <a:spLocks noRot="1" noChangeAspect="1" noMove="1" noResize="1" noEditPoints="1" noAdjustHandles="1" noChangeArrowheads="1" noChangeShapeType="1" noTextEdit="1"/>
                </p:cNvSpPr>
                <p:nvPr/>
              </p:nvSpPr>
              <p:spPr>
                <a:xfrm>
                  <a:off x="6276040" y="4068920"/>
                  <a:ext cx="385041" cy="369332"/>
                </a:xfrm>
                <a:prstGeom prst="rect">
                  <a:avLst/>
                </a:prstGeom>
                <a:blipFill>
                  <a:blip r:embed="rId8"/>
                  <a:stretch>
                    <a:fillRect/>
                  </a:stretch>
                </a:blipFill>
              </p:spPr>
              <p:txBody>
                <a:bodyPr/>
                <a:lstStyle/>
                <a:p>
                  <a:r>
                    <a:rPr lang="zh-CN" altLang="en-US">
                      <a:noFill/>
                    </a:rPr>
                    <a:t> </a:t>
                  </a:r>
                </a:p>
              </p:txBody>
            </p:sp>
          </mc:Fallback>
        </mc:AlternateContent>
      </p:grpSp>
      <p:pic>
        <p:nvPicPr>
          <p:cNvPr id="8" name="图片 7">
            <a:extLst>
              <a:ext uri="{FF2B5EF4-FFF2-40B4-BE49-F238E27FC236}">
                <a16:creationId xmlns:a16="http://schemas.microsoft.com/office/drawing/2014/main" id="{E4174882-E03B-4EC0-802D-106CDAF266A5}"/>
              </a:ext>
            </a:extLst>
          </p:cNvPr>
          <p:cNvPicPr>
            <a:picLocks noChangeAspect="1"/>
          </p:cNvPicPr>
          <p:nvPr/>
        </p:nvPicPr>
        <p:blipFill rotWithShape="1">
          <a:blip r:embed="rId9"/>
          <a:srcRect l="70955" t="14381" r="1565" b="67560"/>
          <a:stretch/>
        </p:blipFill>
        <p:spPr>
          <a:xfrm>
            <a:off x="4194617" y="2396831"/>
            <a:ext cx="3648793" cy="1851191"/>
          </a:xfrm>
          <a:prstGeom prst="rect">
            <a:avLst/>
          </a:prstGeom>
        </p:spPr>
      </p:pic>
      <p:pic>
        <p:nvPicPr>
          <p:cNvPr id="25" name="图片 24">
            <a:extLst>
              <a:ext uri="{FF2B5EF4-FFF2-40B4-BE49-F238E27FC236}">
                <a16:creationId xmlns:a16="http://schemas.microsoft.com/office/drawing/2014/main" id="{135BA696-5098-41A1-8F18-1A68E275FBF5}"/>
              </a:ext>
            </a:extLst>
          </p:cNvPr>
          <p:cNvPicPr>
            <a:picLocks noChangeAspect="1"/>
          </p:cNvPicPr>
          <p:nvPr/>
        </p:nvPicPr>
        <p:blipFill rotWithShape="1">
          <a:blip r:embed="rId9"/>
          <a:srcRect l="61100" t="34602" r="1599" b="40622"/>
          <a:stretch/>
        </p:blipFill>
        <p:spPr>
          <a:xfrm>
            <a:off x="4194618" y="4446238"/>
            <a:ext cx="3648792" cy="1870944"/>
          </a:xfrm>
          <a:prstGeom prst="rect">
            <a:avLst/>
          </a:prstGeom>
        </p:spPr>
      </p:pic>
      <p:cxnSp>
        <p:nvCxnSpPr>
          <p:cNvPr id="11" name="连接符: 曲线 10">
            <a:extLst>
              <a:ext uri="{FF2B5EF4-FFF2-40B4-BE49-F238E27FC236}">
                <a16:creationId xmlns:a16="http://schemas.microsoft.com/office/drawing/2014/main" id="{BB07ECE7-12DD-413B-B09A-59EA5C5FC2EF}"/>
              </a:ext>
            </a:extLst>
          </p:cNvPr>
          <p:cNvCxnSpPr>
            <a:cxnSpLocks/>
            <a:stCxn id="12" idx="2"/>
            <a:endCxn id="13" idx="2"/>
          </p:cNvCxnSpPr>
          <p:nvPr/>
        </p:nvCxnSpPr>
        <p:spPr>
          <a:xfrm rot="10800000">
            <a:off x="2444148" y="5270976"/>
            <a:ext cx="2606391" cy="884398"/>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椭圆 11">
            <a:extLst>
              <a:ext uri="{FF2B5EF4-FFF2-40B4-BE49-F238E27FC236}">
                <a16:creationId xmlns:a16="http://schemas.microsoft.com/office/drawing/2014/main" id="{5D722D41-4756-4DF0-A335-3FD0DEBD2889}"/>
              </a:ext>
            </a:extLst>
          </p:cNvPr>
          <p:cNvSpPr/>
          <p:nvPr/>
        </p:nvSpPr>
        <p:spPr>
          <a:xfrm>
            <a:off x="5050538" y="6083374"/>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45F506ED-53D4-40CA-90AF-0393764033E4}"/>
              </a:ext>
            </a:extLst>
          </p:cNvPr>
          <p:cNvSpPr/>
          <p:nvPr/>
        </p:nvSpPr>
        <p:spPr>
          <a:xfrm>
            <a:off x="5834151" y="6065566"/>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8" name="连接符: 曲线 27">
            <a:extLst>
              <a:ext uri="{FF2B5EF4-FFF2-40B4-BE49-F238E27FC236}">
                <a16:creationId xmlns:a16="http://schemas.microsoft.com/office/drawing/2014/main" id="{FF5B7979-371E-4689-BA8A-CCFEF16B9026}"/>
              </a:ext>
            </a:extLst>
          </p:cNvPr>
          <p:cNvCxnSpPr>
            <a:cxnSpLocks/>
            <a:endCxn id="6" idx="2"/>
          </p:cNvCxnSpPr>
          <p:nvPr/>
        </p:nvCxnSpPr>
        <p:spPr>
          <a:xfrm flipV="1">
            <a:off x="5978151" y="5302762"/>
            <a:ext cx="4052953" cy="852612"/>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35424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6D9081-ED9F-4986-B53E-E189724C6CE7}"/>
              </a:ext>
            </a:extLst>
          </p:cNvPr>
          <p:cNvSpPr>
            <a:spLocks noGrp="1"/>
          </p:cNvSpPr>
          <p:nvPr>
            <p:ph type="title" idx="4294967295"/>
          </p:nvPr>
        </p:nvSpPr>
        <p:spPr>
          <a:xfrm>
            <a:off x="214231" y="182881"/>
            <a:ext cx="9076073" cy="402335"/>
          </a:xfrm>
        </p:spPr>
        <p:txBody>
          <a:bodyPr>
            <a:noAutofit/>
          </a:bodyPr>
          <a:lstStyle/>
          <a:p>
            <a:r>
              <a:rPr lang="en-US" altLang="zh-CN" sz="3600" dirty="0">
                <a:latin typeface="思源黑体 CN Bold" panose="020B0800000000000000" pitchFamily="34" charset="-122"/>
                <a:ea typeface="思源黑体 CN Bold" panose="020B0800000000000000" pitchFamily="34" charset="-122"/>
              </a:rPr>
              <a:t>3 </a:t>
            </a:r>
            <a:r>
              <a:rPr lang="zh-CN" altLang="en-US" sz="3600" dirty="0">
                <a:latin typeface="思源黑体 CN Bold" panose="020B0800000000000000" pitchFamily="34" charset="-122"/>
                <a:ea typeface="思源黑体 CN Bold" panose="020B0800000000000000" pitchFamily="34" charset="-122"/>
              </a:rPr>
              <a:t>前馈神经网络的训练：</a:t>
            </a:r>
            <a:r>
              <a:rPr lang="zh-CN" altLang="en-US" sz="2800" dirty="0">
                <a:latin typeface="思源黑体 CN Bold" panose="020B0800000000000000" pitchFamily="34" charset="-122"/>
                <a:ea typeface="思源黑体 CN Bold" panose="020B0800000000000000" pitchFamily="34" charset="-122"/>
              </a:rPr>
              <a:t>极小值的判断</a:t>
            </a:r>
            <a:endParaRPr lang="zh-CN" altLang="en-US" sz="3600" dirty="0"/>
          </a:p>
        </p:txBody>
      </p:sp>
      <mc:AlternateContent xmlns:mc="http://schemas.openxmlformats.org/markup-compatibility/2006" xmlns:a14="http://schemas.microsoft.com/office/drawing/2010/main">
        <mc:Choice Requires="a14">
          <p:sp>
            <p:nvSpPr>
              <p:cNvPr id="9" name="内容占位符 8">
                <a:extLst>
                  <a:ext uri="{FF2B5EF4-FFF2-40B4-BE49-F238E27FC236}">
                    <a16:creationId xmlns:a16="http://schemas.microsoft.com/office/drawing/2014/main" id="{FC30A7BA-308D-41C9-992A-1DDABB3150F2}"/>
                  </a:ext>
                </a:extLst>
              </p:cNvPr>
              <p:cNvSpPr>
                <a:spLocks noGrp="1"/>
              </p:cNvSpPr>
              <p:nvPr>
                <p:ph idx="4294967295"/>
              </p:nvPr>
            </p:nvSpPr>
            <p:spPr>
              <a:xfrm>
                <a:off x="838200" y="1825625"/>
                <a:ext cx="10515600" cy="4351338"/>
              </a:xfrm>
            </p:spPr>
            <p:txBody>
              <a:bodyPr>
                <a:normAutofit/>
              </a:bodyPr>
              <a:lstStyle/>
              <a:p>
                <a:pPr>
                  <a:lnSpc>
                    <a:spcPct val="150000"/>
                  </a:lnSpc>
                </a:pPr>
                <a:r>
                  <a:rPr lang="zh-CN" altLang="en-US" sz="2000" b="1" dirty="0">
                    <a:latin typeface="思源黑体 CN Bold" panose="020B0800000000000000" pitchFamily="34" charset="-122"/>
                    <a:ea typeface="思源黑体 CN Bold" panose="020B0800000000000000" pitchFamily="34" charset="-122"/>
                  </a:rPr>
                  <a:t>非零向量</a:t>
                </a:r>
                <a14:m>
                  <m:oMath xmlns:m="http://schemas.openxmlformats.org/officeDocument/2006/math">
                    <m:r>
                      <a:rPr lang="en-US" altLang="zh-CN" sz="2000" b="1">
                        <a:latin typeface="Cambria Math" panose="02040503050406030204" pitchFamily="18" charset="0"/>
                      </a:rPr>
                      <m:t>𝐯</m:t>
                    </m:r>
                  </m:oMath>
                </a14:m>
                <a:r>
                  <a:rPr lang="zh-CN" altLang="en-US" sz="2000" dirty="0">
                    <a:latin typeface="思源黑体 CN Bold" panose="020B0800000000000000" pitchFamily="34" charset="-122"/>
                    <a:ea typeface="思源黑体 CN Bold" panose="020B0800000000000000" pitchFamily="34" charset="-122"/>
                  </a:rPr>
                  <a:t>可以展开为基向量的线性组合  </a:t>
                </a:r>
                <a14:m>
                  <m:oMath xmlns:m="http://schemas.openxmlformats.org/officeDocument/2006/math">
                    <m:r>
                      <a:rPr lang="en-US" altLang="zh-CN" sz="2000" b="1">
                        <a:latin typeface="Cambria Math" panose="02040503050406030204" pitchFamily="18" charset="0"/>
                      </a:rPr>
                      <m:t>𝐯</m:t>
                    </m:r>
                    <m:r>
                      <a:rPr lang="en-US" altLang="zh-CN" sz="2000" i="1">
                        <a:latin typeface="Cambria Math" panose="02040503050406030204" pitchFamily="18" charset="0"/>
                      </a:rPr>
                      <m:t>=</m:t>
                    </m:r>
                    <m:nary>
                      <m:naryPr>
                        <m:chr m:val="∑"/>
                        <m:limLoc m:val="subSup"/>
                        <m:supHide m:val="on"/>
                        <m:ctrlPr>
                          <a:rPr lang="en-US" altLang="zh-CN" sz="2000" i="1">
                            <a:latin typeface="Cambria Math" panose="02040503050406030204" pitchFamily="18" charset="0"/>
                          </a:rPr>
                        </m:ctrlPr>
                      </m:naryPr>
                      <m:sub>
                        <m:r>
                          <m:rPr>
                            <m:brk m:alnAt="9"/>
                          </m:rPr>
                          <a:rPr lang="en-US" altLang="zh-CN" sz="2000" i="1">
                            <a:latin typeface="Cambria Math" panose="02040503050406030204" pitchFamily="18" charset="0"/>
                          </a:rPr>
                          <m:t>𝑖</m:t>
                        </m:r>
                      </m:sub>
                      <m:sup/>
                      <m:e>
                        <m:sSub>
                          <m:sSubPr>
                            <m:ctrlPr>
                              <a:rPr lang="en-US" altLang="zh-CN" sz="2000" b="1"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𝑐</m:t>
                            </m:r>
                          </m:e>
                          <m:sub>
                            <m:r>
                              <a:rPr lang="en-US" altLang="zh-CN" sz="2000" i="1">
                                <a:latin typeface="Cambria Math" panose="02040503050406030204" pitchFamily="18" charset="0"/>
                                <a:ea typeface="Cambria Math" panose="02040503050406030204" pitchFamily="18" charset="0"/>
                              </a:rPr>
                              <m:t>𝑖</m:t>
                            </m:r>
                          </m:sub>
                        </m:sSub>
                        <m:sSub>
                          <m:sSubPr>
                            <m:ctrlPr>
                              <a:rPr lang="en-US" altLang="zh-CN" sz="2000" b="1" i="1">
                                <a:latin typeface="Cambria Math" panose="02040503050406030204" pitchFamily="18" charset="0"/>
                                <a:ea typeface="Cambria Math" panose="02040503050406030204" pitchFamily="18" charset="0"/>
                              </a:rPr>
                            </m:ctrlPr>
                          </m:sSubPr>
                          <m:e>
                            <m:r>
                              <a:rPr lang="en-US" altLang="zh-CN" sz="2000" b="1">
                                <a:latin typeface="Cambria Math" panose="02040503050406030204" pitchFamily="18" charset="0"/>
                                <a:ea typeface="Cambria Math" panose="02040503050406030204" pitchFamily="18" charset="0"/>
                              </a:rPr>
                              <m:t>𝐮</m:t>
                            </m:r>
                          </m:e>
                          <m:sub>
                            <m:r>
                              <a:rPr lang="en-US" altLang="zh-CN" sz="2000" i="1">
                                <a:latin typeface="Cambria Math" panose="02040503050406030204" pitchFamily="18" charset="0"/>
                                <a:ea typeface="Cambria Math" panose="02040503050406030204" pitchFamily="18" charset="0"/>
                              </a:rPr>
                              <m:t>𝑖</m:t>
                            </m:r>
                          </m:sub>
                        </m:sSub>
                      </m:e>
                    </m:nary>
                  </m:oMath>
                </a14:m>
                <a:r>
                  <a:rPr lang="zh-CN" altLang="en-US" sz="2000" dirty="0">
                    <a:latin typeface="思源黑体 CN Bold" panose="020B0800000000000000" pitchFamily="34" charset="-122"/>
                    <a:ea typeface="思源黑体 CN Bold" panose="020B0800000000000000" pitchFamily="34" charset="-122"/>
                  </a:rPr>
                  <a:t>，</a:t>
                </a:r>
                <a:r>
                  <a:rPr lang="en-US" altLang="zh-CN" sz="2000" dirty="0">
                    <a:latin typeface="思源黑体 CN Bold" panose="020B0800000000000000" pitchFamily="34" charset="-122"/>
                    <a:ea typeface="思源黑体 CN Bold" panose="020B0800000000000000" pitchFamily="34" charset="-122"/>
                  </a:rPr>
                  <a:t>Hessian</a:t>
                </a:r>
                <a:r>
                  <a:rPr lang="zh-CN" altLang="en-US" sz="2000" dirty="0">
                    <a:latin typeface="思源黑体 CN Bold" panose="020B0800000000000000" pitchFamily="34" charset="-122"/>
                    <a:ea typeface="思源黑体 CN Bold" panose="020B0800000000000000" pitchFamily="34" charset="-122"/>
                  </a:rPr>
                  <a:t>矩阵的二次型</a:t>
                </a:r>
                <a:endParaRPr lang="en-US" altLang="zh-CN" sz="2000" dirty="0">
                  <a:latin typeface="思源黑体 CN Bold" panose="020B0800000000000000" pitchFamily="34" charset="-122"/>
                  <a:ea typeface="思源黑体 CN Bold" panose="020B0800000000000000" pitchFamily="34" charset="-122"/>
                </a:endParaRPr>
              </a:p>
              <a:p>
                <a:pPr marL="0" indent="0">
                  <a:lnSpc>
                    <a:spcPct val="150000"/>
                  </a:lnSpc>
                  <a:buNone/>
                </a:pPr>
                <a14:m>
                  <m:oMathPara xmlns:m="http://schemas.openxmlformats.org/officeDocument/2006/math">
                    <m:oMathParaPr>
                      <m:jc m:val="center"/>
                    </m:oMathParaPr>
                    <m:oMath xmlns:m="http://schemas.openxmlformats.org/officeDocument/2006/math">
                      <m:sSup>
                        <m:sSupPr>
                          <m:ctrlPr>
                            <a:rPr lang="en-US" altLang="zh-CN" sz="2000" i="1">
                              <a:latin typeface="Cambria Math" panose="02040503050406030204" pitchFamily="18" charset="0"/>
                            </a:rPr>
                          </m:ctrlPr>
                        </m:sSupPr>
                        <m:e>
                          <m:r>
                            <a:rPr lang="en-US" altLang="zh-CN" sz="2000" b="1">
                              <a:latin typeface="Cambria Math" panose="02040503050406030204" pitchFamily="18" charset="0"/>
                            </a:rPr>
                            <m:t>𝐯</m:t>
                          </m:r>
                        </m:e>
                        <m:sup>
                          <m:r>
                            <a:rPr lang="en-US" altLang="zh-CN" sz="2000" i="1">
                              <a:latin typeface="Cambria Math" panose="02040503050406030204" pitchFamily="18" charset="0"/>
                            </a:rPr>
                            <m:t>𝑇</m:t>
                          </m:r>
                        </m:sup>
                      </m:sSup>
                      <m:r>
                        <a:rPr lang="en-US" altLang="zh-CN" sz="2000" b="1">
                          <a:latin typeface="Cambria Math" panose="02040503050406030204" pitchFamily="18" charset="0"/>
                        </a:rPr>
                        <m:t>𝐇𝐯</m:t>
                      </m:r>
                      <m:r>
                        <a:rPr lang="en-US" altLang="zh-CN" sz="2000" i="1">
                          <a:latin typeface="Cambria Math" panose="02040503050406030204" pitchFamily="18" charset="0"/>
                        </a:rPr>
                        <m:t>=</m:t>
                      </m:r>
                      <m:sSup>
                        <m:sSupPr>
                          <m:ctrlPr>
                            <a:rPr lang="en-US" altLang="zh-CN" sz="2000" i="1">
                              <a:latin typeface="Cambria Math" panose="02040503050406030204" pitchFamily="18" charset="0"/>
                            </a:rPr>
                          </m:ctrlPr>
                        </m:sSupPr>
                        <m:e>
                          <m:d>
                            <m:dPr>
                              <m:ctrlPr>
                                <a:rPr lang="en-US" altLang="zh-CN" sz="2000" i="1">
                                  <a:latin typeface="Cambria Math" panose="02040503050406030204" pitchFamily="18" charset="0"/>
                                </a:rPr>
                              </m:ctrlPr>
                            </m:dPr>
                            <m:e>
                              <m:nary>
                                <m:naryPr>
                                  <m:chr m:val="∑"/>
                                  <m:limLoc m:val="subSup"/>
                                  <m:supHide m:val="on"/>
                                  <m:ctrlPr>
                                    <a:rPr lang="en-US" altLang="zh-CN" sz="2000" i="1">
                                      <a:latin typeface="Cambria Math" panose="02040503050406030204" pitchFamily="18" charset="0"/>
                                    </a:rPr>
                                  </m:ctrlPr>
                                </m:naryPr>
                                <m:sub>
                                  <m:r>
                                    <m:rPr>
                                      <m:brk m:alnAt="9"/>
                                    </m:rPr>
                                    <a:rPr lang="en-US" altLang="zh-CN" sz="2000" i="1">
                                      <a:latin typeface="Cambria Math" panose="02040503050406030204" pitchFamily="18" charset="0"/>
                                    </a:rPr>
                                    <m:t>𝑖</m:t>
                                  </m:r>
                                </m:sub>
                                <m:sup/>
                                <m:e>
                                  <m:sSub>
                                    <m:sSubPr>
                                      <m:ctrlPr>
                                        <a:rPr lang="en-US" altLang="zh-CN" sz="2000" b="1"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𝑐</m:t>
                                      </m:r>
                                    </m:e>
                                    <m:sub>
                                      <m:r>
                                        <a:rPr lang="en-US" altLang="zh-CN" sz="2000" i="1">
                                          <a:latin typeface="Cambria Math" panose="02040503050406030204" pitchFamily="18" charset="0"/>
                                          <a:ea typeface="Cambria Math" panose="02040503050406030204" pitchFamily="18" charset="0"/>
                                        </a:rPr>
                                        <m:t>𝑖</m:t>
                                      </m:r>
                                    </m:sub>
                                  </m:sSub>
                                  <m:sSub>
                                    <m:sSubPr>
                                      <m:ctrlPr>
                                        <a:rPr lang="en-US" altLang="zh-CN" sz="2000" b="1" i="1">
                                          <a:latin typeface="Cambria Math" panose="02040503050406030204" pitchFamily="18" charset="0"/>
                                          <a:ea typeface="Cambria Math" panose="02040503050406030204" pitchFamily="18" charset="0"/>
                                        </a:rPr>
                                      </m:ctrlPr>
                                    </m:sSubPr>
                                    <m:e>
                                      <m:r>
                                        <a:rPr lang="en-US" altLang="zh-CN" sz="2000" b="1">
                                          <a:latin typeface="Cambria Math" panose="02040503050406030204" pitchFamily="18" charset="0"/>
                                          <a:ea typeface="Cambria Math" panose="02040503050406030204" pitchFamily="18" charset="0"/>
                                        </a:rPr>
                                        <m:t>𝐮</m:t>
                                      </m:r>
                                    </m:e>
                                    <m:sub>
                                      <m:r>
                                        <a:rPr lang="en-US" altLang="zh-CN" sz="2000" i="1">
                                          <a:latin typeface="Cambria Math" panose="02040503050406030204" pitchFamily="18" charset="0"/>
                                          <a:ea typeface="Cambria Math" panose="02040503050406030204" pitchFamily="18" charset="0"/>
                                        </a:rPr>
                                        <m:t>𝑖</m:t>
                                      </m:r>
                                    </m:sub>
                                  </m:sSub>
                                </m:e>
                              </m:nary>
                            </m:e>
                          </m:d>
                        </m:e>
                        <m:sup>
                          <m:r>
                            <a:rPr lang="en-US" altLang="zh-CN" sz="2000" i="1">
                              <a:latin typeface="Cambria Math" panose="02040503050406030204" pitchFamily="18" charset="0"/>
                            </a:rPr>
                            <m:t>𝑇</m:t>
                          </m:r>
                        </m:sup>
                      </m:sSup>
                      <m:r>
                        <a:rPr lang="en-US" altLang="zh-CN" sz="2000" b="1">
                          <a:latin typeface="Cambria Math" panose="02040503050406030204" pitchFamily="18" charset="0"/>
                        </a:rPr>
                        <m:t>𝐇</m:t>
                      </m:r>
                      <m:nary>
                        <m:naryPr>
                          <m:chr m:val="∑"/>
                          <m:limLoc m:val="subSup"/>
                          <m:supHide m:val="on"/>
                          <m:ctrlPr>
                            <a:rPr lang="en-US" altLang="zh-CN" sz="2000" i="1">
                              <a:latin typeface="Cambria Math" panose="02040503050406030204" pitchFamily="18" charset="0"/>
                            </a:rPr>
                          </m:ctrlPr>
                        </m:naryPr>
                        <m:sub>
                          <m:r>
                            <m:rPr>
                              <m:brk m:alnAt="9"/>
                            </m:rPr>
                            <a:rPr lang="en-US" altLang="zh-CN" sz="2000" i="1">
                              <a:latin typeface="Cambria Math" panose="02040503050406030204" pitchFamily="18" charset="0"/>
                            </a:rPr>
                            <m:t>𝑖</m:t>
                          </m:r>
                        </m:sub>
                        <m:sup/>
                        <m:e>
                          <m:sSub>
                            <m:sSubPr>
                              <m:ctrlPr>
                                <a:rPr lang="en-US" altLang="zh-CN" sz="2000" b="1"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𝑐</m:t>
                              </m:r>
                            </m:e>
                            <m:sub>
                              <m:r>
                                <a:rPr lang="en-US" altLang="zh-CN" sz="2000" i="1">
                                  <a:latin typeface="Cambria Math" panose="02040503050406030204" pitchFamily="18" charset="0"/>
                                  <a:ea typeface="Cambria Math" panose="02040503050406030204" pitchFamily="18" charset="0"/>
                                </a:rPr>
                                <m:t>𝑖</m:t>
                              </m:r>
                            </m:sub>
                          </m:sSub>
                          <m:sSub>
                            <m:sSubPr>
                              <m:ctrlPr>
                                <a:rPr lang="en-US" altLang="zh-CN" sz="2000" b="1" i="1">
                                  <a:latin typeface="Cambria Math" panose="02040503050406030204" pitchFamily="18" charset="0"/>
                                  <a:ea typeface="Cambria Math" panose="02040503050406030204" pitchFamily="18" charset="0"/>
                                </a:rPr>
                              </m:ctrlPr>
                            </m:sSubPr>
                            <m:e>
                              <m:r>
                                <a:rPr lang="en-US" altLang="zh-CN" sz="2000" b="1">
                                  <a:latin typeface="Cambria Math" panose="02040503050406030204" pitchFamily="18" charset="0"/>
                                  <a:ea typeface="Cambria Math" panose="02040503050406030204" pitchFamily="18" charset="0"/>
                                </a:rPr>
                                <m:t>𝐮</m:t>
                              </m:r>
                            </m:e>
                            <m:sub>
                              <m:r>
                                <a:rPr lang="en-US" altLang="zh-CN" sz="2000" i="1">
                                  <a:latin typeface="Cambria Math" panose="02040503050406030204" pitchFamily="18" charset="0"/>
                                  <a:ea typeface="Cambria Math" panose="02040503050406030204" pitchFamily="18" charset="0"/>
                                </a:rPr>
                                <m:t>𝑖</m:t>
                              </m:r>
                            </m:sub>
                          </m:sSub>
                        </m:e>
                      </m:nary>
                      <m:r>
                        <a:rPr lang="en-US" altLang="zh-CN" sz="2000" b="1" i="1">
                          <a:latin typeface="Cambria Math" panose="02040503050406030204" pitchFamily="18" charset="0"/>
                          <a:ea typeface="Cambria Math" panose="02040503050406030204" pitchFamily="18" charset="0"/>
                        </a:rPr>
                        <m:t>=</m:t>
                      </m:r>
                      <m:nary>
                        <m:naryPr>
                          <m:chr m:val="∑"/>
                          <m:limLoc m:val="subSup"/>
                          <m:supHide m:val="on"/>
                          <m:ctrlPr>
                            <a:rPr lang="en-US" altLang="zh-CN" sz="2000" i="1">
                              <a:latin typeface="Cambria Math" panose="02040503050406030204" pitchFamily="18" charset="0"/>
                            </a:rPr>
                          </m:ctrlPr>
                        </m:naryPr>
                        <m:sub>
                          <m:r>
                            <m:rPr>
                              <m:brk m:alnAt="9"/>
                            </m:rPr>
                            <a:rPr lang="en-US" altLang="zh-CN" sz="2000" i="1">
                              <a:latin typeface="Cambria Math" panose="02040503050406030204" pitchFamily="18" charset="0"/>
                            </a:rPr>
                            <m:t>𝑖</m:t>
                          </m:r>
                        </m:sub>
                        <m:sup/>
                        <m:e>
                          <m:sSub>
                            <m:sSubPr>
                              <m:ctrlPr>
                                <a:rPr lang="en-US" altLang="zh-CN" sz="2000" i="1">
                                  <a:latin typeface="Cambria Math" panose="02040503050406030204" pitchFamily="18" charset="0"/>
                                  <a:ea typeface="Cambria Math" panose="02040503050406030204" pitchFamily="18" charset="0"/>
                                </a:rPr>
                              </m:ctrlPr>
                            </m:sSubPr>
                            <m:e>
                              <m:r>
                                <a:rPr lang="zh-CN" altLang="en-US" sz="2000" i="1">
                                  <a:latin typeface="Cambria Math" panose="02040503050406030204" pitchFamily="18" charset="0"/>
                                  <a:ea typeface="Cambria Math" panose="02040503050406030204" pitchFamily="18" charset="0"/>
                                </a:rPr>
                                <m:t>𝜆</m:t>
                              </m:r>
                            </m:e>
                            <m:sub>
                              <m:r>
                                <a:rPr lang="en-US" altLang="zh-CN" sz="2000" i="1">
                                  <a:latin typeface="Cambria Math" panose="02040503050406030204" pitchFamily="18" charset="0"/>
                                  <a:ea typeface="Cambria Math" panose="02040503050406030204" pitchFamily="18" charset="0"/>
                                </a:rPr>
                                <m:t>𝑖</m:t>
                              </m:r>
                            </m:sub>
                          </m:sSub>
                          <m:sSup>
                            <m:sSupPr>
                              <m:ctrlPr>
                                <a:rPr lang="en-US" altLang="zh-CN" sz="2000" i="1">
                                  <a:latin typeface="Cambria Math" panose="02040503050406030204" pitchFamily="18" charset="0"/>
                                </a:rPr>
                              </m:ctrlPr>
                            </m:sSupPr>
                            <m:e>
                              <m:sSub>
                                <m:sSubPr>
                                  <m:ctrlPr>
                                    <a:rPr lang="en-US" altLang="zh-CN" sz="2000" b="1"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𝑐</m:t>
                                  </m:r>
                                </m:e>
                                <m:sub>
                                  <m:r>
                                    <a:rPr lang="en-US" altLang="zh-CN" sz="2000" i="1">
                                      <a:latin typeface="Cambria Math" panose="02040503050406030204" pitchFamily="18" charset="0"/>
                                      <a:ea typeface="Cambria Math" panose="02040503050406030204" pitchFamily="18" charset="0"/>
                                    </a:rPr>
                                    <m:t>𝑖</m:t>
                                  </m:r>
                                </m:sub>
                              </m:sSub>
                            </m:e>
                            <m:sup>
                              <m:r>
                                <a:rPr lang="en-US" altLang="zh-CN" sz="2000" i="1">
                                  <a:latin typeface="Cambria Math" panose="02040503050406030204" pitchFamily="18" charset="0"/>
                                </a:rPr>
                                <m:t>2</m:t>
                              </m:r>
                            </m:sup>
                          </m:sSup>
                        </m:e>
                      </m:nary>
                    </m:oMath>
                  </m:oMathPara>
                </a14:m>
                <a:endParaRPr lang="en-US" altLang="zh-CN" sz="2000" dirty="0">
                  <a:latin typeface="思源黑体 CN Bold" panose="020B0800000000000000" pitchFamily="34" charset="-122"/>
                  <a:ea typeface="思源黑体 CN Bold" panose="020B0800000000000000" pitchFamily="34" charset="-122"/>
                </a:endParaRPr>
              </a:p>
              <a:p>
                <a:pPr>
                  <a:lnSpc>
                    <a:spcPct val="150000"/>
                  </a:lnSpc>
                </a:pPr>
                <a:r>
                  <a:rPr lang="zh-CN" altLang="en-US" sz="2000" dirty="0">
                    <a:latin typeface="思源黑体 CN Bold" panose="020B0800000000000000" pitchFamily="34" charset="-122"/>
                    <a:ea typeface="思源黑体 CN Bold" panose="020B0800000000000000" pitchFamily="34" charset="-122"/>
                  </a:rPr>
                  <a:t>如果需要所有</a:t>
                </a:r>
                <a14:m>
                  <m:oMath xmlns:m="http://schemas.openxmlformats.org/officeDocument/2006/math">
                    <m:sSub>
                      <m:sSubPr>
                        <m:ctrlPr>
                          <a:rPr lang="en-US" altLang="zh-CN" sz="2000" b="1" i="1">
                            <a:latin typeface="Cambria Math" panose="02040503050406030204" pitchFamily="18" charset="0"/>
                            <a:ea typeface="Cambria Math" panose="02040503050406030204" pitchFamily="18" charset="0"/>
                          </a:rPr>
                        </m:ctrlPr>
                      </m:sSubPr>
                      <m:e>
                        <m:r>
                          <a:rPr lang="en-US" altLang="zh-CN" sz="2000" i="1" smtClean="0">
                            <a:latin typeface="Cambria Math" panose="02040503050406030204" pitchFamily="18" charset="0"/>
                            <a:ea typeface="Cambria Math" panose="02040503050406030204" pitchFamily="18" charset="0"/>
                          </a:rPr>
                          <m:t>𝑐</m:t>
                        </m:r>
                      </m:e>
                      <m:sub>
                        <m:r>
                          <a:rPr lang="en-US" altLang="zh-CN" sz="2000" i="1">
                            <a:latin typeface="Cambria Math" panose="02040503050406030204" pitchFamily="18" charset="0"/>
                            <a:ea typeface="Cambria Math" panose="02040503050406030204" pitchFamily="18" charset="0"/>
                          </a:rPr>
                          <m:t>𝑖</m:t>
                        </m:r>
                      </m:sub>
                    </m:sSub>
                  </m:oMath>
                </a14:m>
                <a:r>
                  <a:rPr lang="zh-CN" altLang="en-US" sz="2000" dirty="0">
                    <a:latin typeface="思源黑体 CN Bold" panose="020B0800000000000000" pitchFamily="34" charset="-122"/>
                    <a:ea typeface="思源黑体 CN Bold" panose="020B0800000000000000" pitchFamily="34" charset="-122"/>
                  </a:rPr>
                  <a:t>都能使上式</a:t>
                </a:r>
                <a14:m>
                  <m:oMath xmlns:m="http://schemas.openxmlformats.org/officeDocument/2006/math">
                    <m:sSup>
                      <m:sSupPr>
                        <m:ctrlPr>
                          <a:rPr lang="en-US" altLang="zh-CN" sz="2000" i="1">
                            <a:latin typeface="Cambria Math" panose="02040503050406030204" pitchFamily="18" charset="0"/>
                          </a:rPr>
                        </m:ctrlPr>
                      </m:sSupPr>
                      <m:e>
                        <m:r>
                          <a:rPr lang="en-US" altLang="zh-CN" sz="2000" b="1">
                            <a:latin typeface="Cambria Math" panose="02040503050406030204" pitchFamily="18" charset="0"/>
                          </a:rPr>
                          <m:t>𝐯</m:t>
                        </m:r>
                      </m:e>
                      <m:sup>
                        <m:r>
                          <a:rPr lang="en-US" altLang="zh-CN" sz="2000" i="1">
                            <a:latin typeface="Cambria Math" panose="02040503050406030204" pitchFamily="18" charset="0"/>
                          </a:rPr>
                          <m:t>𝑇</m:t>
                        </m:r>
                      </m:sup>
                    </m:sSup>
                    <m:r>
                      <a:rPr lang="en-US" altLang="zh-CN" sz="2000" b="1">
                        <a:latin typeface="Cambria Math" panose="02040503050406030204" pitchFamily="18" charset="0"/>
                      </a:rPr>
                      <m:t>𝐇𝐯</m:t>
                    </m:r>
                    <m:r>
                      <a:rPr lang="en-US" altLang="zh-CN" sz="2000" b="1" i="1" smtClean="0">
                        <a:latin typeface="Cambria Math" panose="02040503050406030204" pitchFamily="18" charset="0"/>
                      </a:rPr>
                      <m:t>&gt;</m:t>
                    </m:r>
                    <m:r>
                      <a:rPr lang="en-US" altLang="zh-CN" sz="2000" b="0" i="0" smtClean="0">
                        <a:latin typeface="Cambria Math" panose="02040503050406030204" pitchFamily="18" charset="0"/>
                      </a:rPr>
                      <m:t>0</m:t>
                    </m:r>
                  </m:oMath>
                </a14:m>
                <a:r>
                  <a:rPr lang="zh-CN" altLang="en-US" sz="2000" dirty="0">
                    <a:latin typeface="思源黑体 CN Bold" panose="020B0800000000000000" pitchFamily="34" charset="-122"/>
                    <a:ea typeface="思源黑体 CN Bold" panose="020B0800000000000000" pitchFamily="34" charset="-122"/>
                  </a:rPr>
                  <a:t>成立，</a:t>
                </a:r>
                <a:r>
                  <a:rPr lang="en-US" altLang="zh-CN" sz="2000" dirty="0">
                    <a:latin typeface="思源黑体 CN Bold" panose="020B0800000000000000" pitchFamily="34" charset="-122"/>
                    <a:ea typeface="思源黑体 CN Bold" panose="020B0800000000000000" pitchFamily="34" charset="-122"/>
                  </a:rPr>
                  <a:t>H</a:t>
                </a:r>
                <a:r>
                  <a:rPr lang="zh-CN" altLang="en-US" sz="2000" dirty="0">
                    <a:latin typeface="思源黑体 CN Bold" panose="020B0800000000000000" pitchFamily="34" charset="-122"/>
                    <a:ea typeface="思源黑体 CN Bold" panose="020B0800000000000000" pitchFamily="34" charset="-122"/>
                  </a:rPr>
                  <a:t>的特征值必须全部为正。</a:t>
                </a:r>
                <a:endParaRPr lang="en-US" altLang="zh-CN" sz="2000" dirty="0">
                  <a:latin typeface="思源黑体 CN Bold" panose="020B0800000000000000" pitchFamily="34" charset="-122"/>
                  <a:ea typeface="思源黑体 CN Bold" panose="020B0800000000000000" pitchFamily="34" charset="-122"/>
                </a:endParaRPr>
              </a:p>
              <a:p>
                <a:pPr>
                  <a:lnSpc>
                    <a:spcPct val="150000"/>
                  </a:lnSpc>
                </a:pPr>
                <a:r>
                  <a:rPr lang="zh-CN" altLang="en-US" sz="2000" dirty="0">
                    <a:latin typeface="思源黑体 CN Bold" panose="020B0800000000000000" pitchFamily="34" charset="-122"/>
                    <a:ea typeface="思源黑体 CN Bold" panose="020B0800000000000000" pitchFamily="34" charset="-122"/>
                  </a:rPr>
                  <a:t>即，当且仅当</a:t>
                </a:r>
                <a:r>
                  <a:rPr lang="en-US" altLang="zh-CN" sz="2000" dirty="0">
                    <a:latin typeface="思源黑体 CN Bold" panose="020B0800000000000000" pitchFamily="34" charset="-122"/>
                    <a:ea typeface="思源黑体 CN Bold" panose="020B0800000000000000" pitchFamily="34" charset="-122"/>
                  </a:rPr>
                  <a:t>H</a:t>
                </a:r>
                <a:r>
                  <a:rPr lang="zh-CN" altLang="en-US" sz="2000" dirty="0">
                    <a:latin typeface="思源黑体 CN Bold" panose="020B0800000000000000" pitchFamily="34" charset="-122"/>
                    <a:ea typeface="思源黑体 CN Bold" panose="020B0800000000000000" pitchFamily="34" charset="-122"/>
                  </a:rPr>
                  <a:t>的特征值都为正时，</a:t>
                </a:r>
                <a:r>
                  <a:rPr lang="en-US" altLang="zh-CN" sz="2000" dirty="0">
                    <a:latin typeface="思源黑体 CN Bold" panose="020B0800000000000000" pitchFamily="34" charset="-122"/>
                    <a:ea typeface="思源黑体 CN Bold" panose="020B0800000000000000" pitchFamily="34" charset="-122"/>
                  </a:rPr>
                  <a:t>H</a:t>
                </a:r>
                <a:r>
                  <a:rPr lang="zh-CN" altLang="en-US" sz="2000" dirty="0">
                    <a:latin typeface="思源黑体 CN Bold" panose="020B0800000000000000" pitchFamily="34" charset="-122"/>
                    <a:ea typeface="思源黑体 CN Bold" panose="020B0800000000000000" pitchFamily="34" charset="-122"/>
                  </a:rPr>
                  <a:t>正定！</a:t>
                </a:r>
                <a:endParaRPr lang="en-US" altLang="zh-CN" sz="2000" dirty="0">
                  <a:latin typeface="思源黑体 CN Bold" panose="020B0800000000000000" pitchFamily="34" charset="-122"/>
                  <a:ea typeface="思源黑体 CN Bold" panose="020B0800000000000000" pitchFamily="34" charset="-122"/>
                </a:endParaRPr>
              </a:p>
              <a:p>
                <a:endParaRPr lang="zh-CN" altLang="en-US" sz="2000" dirty="0"/>
              </a:p>
            </p:txBody>
          </p:sp>
        </mc:Choice>
        <mc:Fallback xmlns="">
          <p:sp>
            <p:nvSpPr>
              <p:cNvPr id="9" name="内容占位符 8">
                <a:extLst>
                  <a:ext uri="{FF2B5EF4-FFF2-40B4-BE49-F238E27FC236}">
                    <a16:creationId xmlns:a16="http://schemas.microsoft.com/office/drawing/2014/main" id="{FC30A7BA-308D-41C9-992A-1DDABB3150F2}"/>
                  </a:ext>
                </a:extLst>
              </p:cNvPr>
              <p:cNvSpPr>
                <a:spLocks noGrp="1" noRot="1" noChangeAspect="1" noMove="1" noResize="1" noEditPoints="1" noAdjustHandles="1" noChangeArrowheads="1" noChangeShapeType="1" noTextEdit="1"/>
              </p:cNvSpPr>
              <p:nvPr>
                <p:ph idx="1"/>
              </p:nvPr>
            </p:nvSpPr>
            <p:spPr>
              <a:blipFill>
                <a:blip r:embed="rId2"/>
                <a:stretch>
                  <a:fillRect l="-522" t="-8964"/>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E1B47714-2A1C-44ED-A44B-FD4354C5F252}"/>
              </a:ext>
            </a:extLst>
          </p:cNvPr>
          <p:cNvSpPr txBox="1"/>
          <p:nvPr/>
        </p:nvSpPr>
        <p:spPr>
          <a:xfrm>
            <a:off x="996494" y="1104863"/>
            <a:ext cx="6095158" cy="463204"/>
          </a:xfrm>
          <a:prstGeom prst="rect">
            <a:avLst/>
          </a:prstGeom>
          <a:noFill/>
        </p:spPr>
        <p:txBody>
          <a:bodyPr wrap="square">
            <a:spAutoFit/>
          </a:bodyPr>
          <a:lstStyle/>
          <a:p>
            <a:pPr>
              <a:lnSpc>
                <a:spcPct val="150000"/>
              </a:lnSpc>
            </a:pPr>
            <a:r>
              <a:rPr lang="zh-CN" altLang="en-US" sz="2000" dirty="0">
                <a:solidFill>
                  <a:srgbClr val="FF0000"/>
                </a:solidFill>
                <a:latin typeface="思源黑体 CN Bold" panose="020B0800000000000000" pitchFamily="34" charset="-122"/>
                <a:ea typeface="思源黑体 CN Bold" panose="020B0800000000000000" pitchFamily="34" charset="-122"/>
              </a:rPr>
              <a:t>极小值对应梯度为零，并且</a:t>
            </a:r>
            <a:r>
              <a:rPr lang="en-US" altLang="zh-CN" sz="2000" dirty="0">
                <a:solidFill>
                  <a:srgbClr val="FF0000"/>
                </a:solidFill>
                <a:latin typeface="思源黑体 CN Bold" panose="020B0800000000000000" pitchFamily="34" charset="-122"/>
                <a:ea typeface="思源黑体 CN Bold" panose="020B0800000000000000" pitchFamily="34" charset="-122"/>
              </a:rPr>
              <a:t>H</a:t>
            </a:r>
            <a:r>
              <a:rPr lang="zh-CN" altLang="en-US" sz="2000" dirty="0">
                <a:solidFill>
                  <a:srgbClr val="FF0000"/>
                </a:solidFill>
                <a:latin typeface="思源黑体 CN Bold" panose="020B0800000000000000" pitchFamily="34" charset="-122"/>
                <a:ea typeface="思源黑体 CN Bold" panose="020B0800000000000000" pitchFamily="34" charset="-122"/>
              </a:rPr>
              <a:t>正定，避开鞍点！</a:t>
            </a:r>
          </a:p>
        </p:txBody>
      </p:sp>
    </p:spTree>
    <p:extLst>
      <p:ext uri="{BB962C8B-B14F-4D97-AF65-F5344CB8AC3E}">
        <p14:creationId xmlns:p14="http://schemas.microsoft.com/office/powerpoint/2010/main" val="10377955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6AF3F0-4352-4D79-A227-6FCBA2EBA88A}"/>
              </a:ext>
            </a:extLst>
          </p:cNvPr>
          <p:cNvSpPr>
            <a:spLocks noGrp="1"/>
          </p:cNvSpPr>
          <p:nvPr>
            <p:ph type="title" idx="4294967295"/>
          </p:nvPr>
        </p:nvSpPr>
        <p:spPr>
          <a:xfrm>
            <a:off x="221633" y="250173"/>
            <a:ext cx="8870115" cy="235766"/>
          </a:xfrm>
        </p:spPr>
        <p:txBody>
          <a:bodyPr>
            <a:normAutofit fontScale="90000"/>
          </a:bodyPr>
          <a:lstStyle/>
          <a:p>
            <a:r>
              <a:rPr lang="en-US" altLang="zh-CN" dirty="0">
                <a:latin typeface="思源黑体 CN Bold" panose="020B0800000000000000" pitchFamily="34" charset="-122"/>
                <a:ea typeface="思源黑体 CN Bold" panose="020B0800000000000000" pitchFamily="34" charset="-122"/>
              </a:rPr>
              <a:t>3 </a:t>
            </a:r>
            <a:r>
              <a:rPr lang="zh-CN" altLang="en-US" dirty="0">
                <a:latin typeface="思源黑体 CN Bold" panose="020B0800000000000000" pitchFamily="34" charset="-122"/>
                <a:ea typeface="思源黑体 CN Bold" panose="020B0800000000000000" pitchFamily="34" charset="-122"/>
              </a:rPr>
              <a:t>前馈神经网络的训练：</a:t>
            </a:r>
            <a:r>
              <a:rPr lang="zh-CN" altLang="en-US" sz="3600" dirty="0">
                <a:latin typeface="思源黑体 CN Bold" panose="020B0800000000000000" pitchFamily="34" charset="-122"/>
                <a:ea typeface="思源黑体 CN Bold" panose="020B0800000000000000" pitchFamily="34" charset="-122"/>
              </a:rPr>
              <a:t>离线与在线方法</a:t>
            </a:r>
            <a:endParaRPr lang="zh-CN" altLang="en-US" dirty="0"/>
          </a:p>
        </p:txBody>
      </p:sp>
      <p:sp>
        <p:nvSpPr>
          <p:cNvPr id="3" name="内容占位符 2">
            <a:extLst>
              <a:ext uri="{FF2B5EF4-FFF2-40B4-BE49-F238E27FC236}">
                <a16:creationId xmlns:a16="http://schemas.microsoft.com/office/drawing/2014/main" id="{B5F15897-98F0-4E08-931A-45E1DC23C6B6}"/>
              </a:ext>
            </a:extLst>
          </p:cNvPr>
          <p:cNvSpPr>
            <a:spLocks noGrp="1"/>
          </p:cNvSpPr>
          <p:nvPr>
            <p:ph idx="4294967295"/>
          </p:nvPr>
        </p:nvSpPr>
        <p:spPr>
          <a:xfrm>
            <a:off x="780723" y="1182932"/>
            <a:ext cx="10515600" cy="4351338"/>
          </a:xfrm>
        </p:spPr>
        <p:txBody>
          <a:bodyPr>
            <a:normAutofit/>
          </a:bodyPr>
          <a:lstStyle/>
          <a:p>
            <a:pPr marL="0" indent="0">
              <a:lnSpc>
                <a:spcPct val="150000"/>
              </a:lnSpc>
              <a:buNone/>
            </a:pPr>
            <a:r>
              <a:rPr lang="zh-CN" altLang="en-US" sz="2000" dirty="0">
                <a:latin typeface="思源黑体 CN Bold" panose="020B0800000000000000" pitchFamily="34" charset="-122"/>
                <a:ea typeface="思源黑体 CN Bold" panose="020B0800000000000000" pitchFamily="34" charset="-122"/>
                <a:cs typeface="+mj-cs"/>
              </a:rPr>
              <a:t>整体（整批）优化方法，每次更新模型都使用所有训练数据</a:t>
            </a:r>
            <a:endParaRPr lang="en-US" altLang="zh-CN" sz="2000" dirty="0">
              <a:latin typeface="思源黑体 CN Bold" panose="020B0800000000000000" pitchFamily="34" charset="-122"/>
              <a:ea typeface="思源黑体 CN Bold" panose="020B0800000000000000" pitchFamily="34" charset="-122"/>
              <a:cs typeface="+mj-cs"/>
            </a:endParaRPr>
          </a:p>
          <a:p>
            <a:pPr marL="800100" lvl="1" indent="-342900">
              <a:lnSpc>
                <a:spcPct val="150000"/>
              </a:lnSpc>
              <a:buFont typeface="+mj-lt"/>
              <a:buAutoNum type="arabicPeriod"/>
            </a:pPr>
            <a:r>
              <a:rPr lang="zh-CN" altLang="en-US" sz="1600" dirty="0">
                <a:latin typeface="思源黑体 CN Bold" panose="020B0800000000000000" pitchFamily="34" charset="-122"/>
                <a:ea typeface="思源黑体 CN Bold" panose="020B0800000000000000" pitchFamily="34" charset="-122"/>
                <a:cs typeface="+mj-cs"/>
              </a:rPr>
              <a:t>梯度下降</a:t>
            </a:r>
            <a:r>
              <a:rPr lang="zh-CN" altLang="en-US" sz="1600" dirty="0">
                <a:latin typeface="思源黑体 CN Bold" panose="020B0800000000000000" pitchFamily="34" charset="-122"/>
                <a:ea typeface="思源黑体 CN Bold" panose="020B0800000000000000" pitchFamily="34" charset="-122"/>
              </a:rPr>
              <a:t>法</a:t>
            </a:r>
            <a:endParaRPr lang="en-US" altLang="zh-CN" sz="1600" dirty="0">
              <a:latin typeface="思源黑体 CN Bold" panose="020B0800000000000000" pitchFamily="34" charset="-122"/>
              <a:ea typeface="思源黑体 CN Bold" panose="020B0800000000000000" pitchFamily="34" charset="-122"/>
              <a:cs typeface="+mj-cs"/>
            </a:endParaRPr>
          </a:p>
          <a:p>
            <a:pPr marL="800100" lvl="1" indent="-342900">
              <a:lnSpc>
                <a:spcPct val="150000"/>
              </a:lnSpc>
              <a:buFont typeface="+mj-lt"/>
              <a:buAutoNum type="arabicPeriod"/>
            </a:pPr>
            <a:r>
              <a:rPr lang="zh-CN" altLang="en-US" sz="1600" dirty="0">
                <a:latin typeface="思源黑体 CN Bold" panose="020B0800000000000000" pitchFamily="34" charset="-122"/>
                <a:ea typeface="思源黑体 CN Bold" panose="020B0800000000000000" pitchFamily="34" charset="-122"/>
                <a:cs typeface="+mj-cs"/>
              </a:rPr>
              <a:t>共轭梯度法</a:t>
            </a:r>
            <a:endParaRPr lang="en-US" altLang="zh-CN" sz="1600" dirty="0">
              <a:latin typeface="思源黑体 CN Bold" panose="020B0800000000000000" pitchFamily="34" charset="-122"/>
              <a:ea typeface="思源黑体 CN Bold" panose="020B0800000000000000" pitchFamily="34" charset="-122"/>
              <a:cs typeface="+mj-cs"/>
            </a:endParaRPr>
          </a:p>
          <a:p>
            <a:pPr marL="800100" lvl="1" indent="-342900">
              <a:lnSpc>
                <a:spcPct val="150000"/>
              </a:lnSpc>
              <a:buFont typeface="+mj-lt"/>
              <a:buAutoNum type="arabicPeriod"/>
            </a:pPr>
            <a:r>
              <a:rPr lang="zh-CN" altLang="en-US" sz="1600" dirty="0">
                <a:latin typeface="思源黑体 CN Bold" panose="020B0800000000000000" pitchFamily="34" charset="-122"/>
                <a:ea typeface="思源黑体 CN Bold" panose="020B0800000000000000" pitchFamily="34" charset="-122"/>
                <a:cs typeface="+mj-cs"/>
              </a:rPr>
              <a:t>拟牛顿法</a:t>
            </a:r>
            <a:endParaRPr lang="en-US" altLang="zh-CN" sz="1600" dirty="0">
              <a:latin typeface="思源黑体 CN Bold" panose="020B0800000000000000" pitchFamily="34" charset="-122"/>
              <a:ea typeface="思源黑体 CN Bold" panose="020B0800000000000000" pitchFamily="34" charset="-122"/>
              <a:cs typeface="+mj-cs"/>
            </a:endParaRPr>
          </a:p>
          <a:p>
            <a:pPr marL="800100" lvl="1" indent="-342900">
              <a:lnSpc>
                <a:spcPct val="150000"/>
              </a:lnSpc>
              <a:buFont typeface="+mj-lt"/>
              <a:buAutoNum type="arabicPeriod"/>
            </a:pPr>
            <a:r>
              <a:rPr lang="zh-CN" altLang="en-US" sz="1600" dirty="0">
                <a:latin typeface="思源黑体 CN Bold" panose="020B0800000000000000" pitchFamily="34" charset="-122"/>
                <a:ea typeface="思源黑体 CN Bold" panose="020B0800000000000000" pitchFamily="34" charset="-122"/>
                <a:cs typeface="+mj-cs"/>
              </a:rPr>
              <a:t>牛顿法</a:t>
            </a:r>
            <a:endParaRPr lang="en-US" altLang="zh-CN" sz="1600" dirty="0">
              <a:latin typeface="思源黑体 CN Bold" panose="020B0800000000000000" pitchFamily="34" charset="-122"/>
              <a:ea typeface="思源黑体 CN Bold" panose="020B0800000000000000" pitchFamily="34" charset="-122"/>
              <a:cs typeface="+mj-cs"/>
            </a:endParaRPr>
          </a:p>
          <a:p>
            <a:pPr marL="0" lvl="1" indent="0">
              <a:lnSpc>
                <a:spcPct val="150000"/>
              </a:lnSpc>
              <a:spcBef>
                <a:spcPts val="1000"/>
              </a:spcBef>
              <a:buNone/>
            </a:pPr>
            <a:r>
              <a:rPr lang="zh-CN" altLang="en-US" sz="2000" dirty="0">
                <a:latin typeface="思源黑体 CN Bold" panose="020B0800000000000000" pitchFamily="34" charset="-122"/>
                <a:ea typeface="思源黑体 CN Bold" panose="020B0800000000000000" pitchFamily="34" charset="-122"/>
                <a:cs typeface="+mj-cs"/>
              </a:rPr>
              <a:t>在线优化方法，每次只是用小部分（</a:t>
            </a:r>
            <a:r>
              <a:rPr lang="en-US" altLang="zh-CN" sz="2000" dirty="0">
                <a:latin typeface="思源黑体 CN Bold" panose="020B0800000000000000" pitchFamily="34" charset="-122"/>
                <a:ea typeface="思源黑体 CN Bold" panose="020B0800000000000000" pitchFamily="34" charset="-122"/>
                <a:cs typeface="+mj-cs"/>
              </a:rPr>
              <a:t>Mini-Batch</a:t>
            </a:r>
            <a:r>
              <a:rPr lang="zh-CN" altLang="en-US" sz="2000" dirty="0">
                <a:latin typeface="思源黑体 CN Bold" panose="020B0800000000000000" pitchFamily="34" charset="-122"/>
                <a:ea typeface="思源黑体 CN Bold" panose="020B0800000000000000" pitchFamily="34" charset="-122"/>
                <a:cs typeface="+mj-cs"/>
              </a:rPr>
              <a:t>）或</a:t>
            </a:r>
            <a:r>
              <a:rPr lang="en-US" altLang="zh-CN" sz="2000" dirty="0">
                <a:latin typeface="思源黑体 CN Bold" panose="020B0800000000000000" pitchFamily="34" charset="-122"/>
                <a:ea typeface="思源黑体 CN Bold" panose="020B0800000000000000" pitchFamily="34" charset="-122"/>
                <a:cs typeface="+mj-cs"/>
              </a:rPr>
              <a:t>1</a:t>
            </a:r>
            <a:r>
              <a:rPr lang="zh-CN" altLang="en-US" sz="2000" dirty="0">
                <a:latin typeface="思源黑体 CN Bold" panose="020B0800000000000000" pitchFamily="34" charset="-122"/>
                <a:ea typeface="思源黑体 CN Bold" panose="020B0800000000000000" pitchFamily="34" charset="-122"/>
                <a:cs typeface="+mj-cs"/>
              </a:rPr>
              <a:t>个（</a:t>
            </a:r>
            <a:r>
              <a:rPr lang="en-US" altLang="zh-CN" sz="2000" dirty="0">
                <a:latin typeface="思源黑体 CN Bold" panose="020B0800000000000000" pitchFamily="34" charset="-122"/>
                <a:ea typeface="思源黑体 CN Bold" panose="020B0800000000000000" pitchFamily="34" charset="-122"/>
                <a:cs typeface="+mj-cs"/>
              </a:rPr>
              <a:t>Mini-Batch=1</a:t>
            </a:r>
            <a:r>
              <a:rPr lang="zh-CN" altLang="en-US" sz="2000" dirty="0">
                <a:latin typeface="思源黑体 CN Bold" panose="020B0800000000000000" pitchFamily="34" charset="-122"/>
                <a:ea typeface="思源黑体 CN Bold" panose="020B0800000000000000" pitchFamily="34" charset="-122"/>
                <a:cs typeface="+mj-cs"/>
              </a:rPr>
              <a:t>）训练数据</a:t>
            </a:r>
            <a:endParaRPr lang="en-US" altLang="zh-CN" sz="2000" dirty="0">
              <a:latin typeface="思源黑体 CN Bold" panose="020B0800000000000000" pitchFamily="34" charset="-122"/>
              <a:ea typeface="思源黑体 CN Bold" panose="020B0800000000000000" pitchFamily="34" charset="-122"/>
              <a:cs typeface="+mj-cs"/>
            </a:endParaRPr>
          </a:p>
          <a:p>
            <a:pPr marL="800100" lvl="1" indent="-342900">
              <a:lnSpc>
                <a:spcPct val="150000"/>
              </a:lnSpc>
              <a:buFont typeface="+mj-lt"/>
              <a:buAutoNum type="arabicPeriod"/>
            </a:pPr>
            <a:r>
              <a:rPr lang="zh-CN" altLang="en-US" sz="1600" dirty="0">
                <a:latin typeface="思源黑体 CN Bold" panose="020B0800000000000000" pitchFamily="34" charset="-122"/>
                <a:ea typeface="思源黑体 CN Bold" panose="020B0800000000000000" pitchFamily="34" charset="-122"/>
                <a:cs typeface="+mj-cs"/>
              </a:rPr>
              <a:t>随机梯度下降法（</a:t>
            </a:r>
            <a:r>
              <a:rPr lang="en-US" altLang="zh-CN" sz="1600" dirty="0">
                <a:latin typeface="思源黑体 CN Bold" panose="020B0800000000000000" pitchFamily="34" charset="-122"/>
                <a:ea typeface="思源黑体 CN Bold" panose="020B0800000000000000" pitchFamily="34" charset="-122"/>
                <a:cs typeface="+mj-cs"/>
              </a:rPr>
              <a:t>SGD</a:t>
            </a:r>
            <a:r>
              <a:rPr lang="zh-CN" altLang="en-US" sz="1600" dirty="0">
                <a:latin typeface="思源黑体 CN Bold" panose="020B0800000000000000" pitchFamily="34" charset="-122"/>
                <a:ea typeface="思源黑体 CN Bold" panose="020B0800000000000000" pitchFamily="34" charset="-122"/>
                <a:cs typeface="+mj-cs"/>
              </a:rPr>
              <a:t>）</a:t>
            </a:r>
            <a:endParaRPr lang="en-US" altLang="zh-CN" sz="1600" dirty="0">
              <a:latin typeface="思源黑体 CN Bold" panose="020B0800000000000000" pitchFamily="34" charset="-122"/>
              <a:ea typeface="思源黑体 CN Bold" panose="020B0800000000000000" pitchFamily="34" charset="-122"/>
              <a:cs typeface="+mj-cs"/>
            </a:endParaRPr>
          </a:p>
          <a:p>
            <a:pPr marL="1257300" lvl="2" indent="-342900">
              <a:lnSpc>
                <a:spcPct val="150000"/>
              </a:lnSpc>
              <a:buFont typeface="+mj-lt"/>
              <a:buAutoNum type="alphaLcParenR"/>
            </a:pPr>
            <a:r>
              <a:rPr lang="zh-CN" altLang="en-US" sz="1600" dirty="0">
                <a:latin typeface="思源黑体 CN Bold" panose="020B0800000000000000" pitchFamily="34" charset="-122"/>
                <a:ea typeface="思源黑体 CN Bold" panose="020B0800000000000000" pitchFamily="34" charset="-122"/>
                <a:cs typeface="+mj-cs"/>
              </a:rPr>
              <a:t>不受数据冗余的影响，因为不需要遍历所有数据，而是每个（或</a:t>
            </a:r>
            <a:r>
              <a:rPr lang="en-US" altLang="zh-CN" sz="1600" dirty="0">
                <a:latin typeface="思源黑体 CN Bold" panose="020B0800000000000000" pitchFamily="34" charset="-122"/>
                <a:ea typeface="思源黑体 CN Bold" panose="020B0800000000000000" pitchFamily="34" charset="-122"/>
                <a:cs typeface="+mj-cs"/>
              </a:rPr>
              <a:t>Mini-Batch</a:t>
            </a:r>
            <a:r>
              <a:rPr lang="zh-CN" altLang="en-US" sz="1600" dirty="0">
                <a:latin typeface="思源黑体 CN Bold" panose="020B0800000000000000" pitchFamily="34" charset="-122"/>
                <a:ea typeface="思源黑体 CN Bold" panose="020B0800000000000000" pitchFamily="34" charset="-122"/>
                <a:cs typeface="+mj-cs"/>
              </a:rPr>
              <a:t>）数据都更新模型</a:t>
            </a:r>
            <a:endParaRPr lang="en-US" altLang="zh-CN" sz="1600" dirty="0">
              <a:latin typeface="思源黑体 CN Bold" panose="020B0800000000000000" pitchFamily="34" charset="-122"/>
              <a:ea typeface="思源黑体 CN Bold" panose="020B0800000000000000" pitchFamily="34" charset="-122"/>
              <a:cs typeface="+mj-cs"/>
            </a:endParaRPr>
          </a:p>
          <a:p>
            <a:pPr marL="1257300" lvl="2" indent="-342900">
              <a:lnSpc>
                <a:spcPct val="150000"/>
              </a:lnSpc>
              <a:buFont typeface="+mj-lt"/>
              <a:buAutoNum type="alphaLcParenR"/>
            </a:pPr>
            <a:r>
              <a:rPr lang="zh-CN" altLang="en-US" sz="1600" dirty="0">
                <a:latin typeface="思源黑体 CN Bold" panose="020B0800000000000000" pitchFamily="34" charset="-122"/>
                <a:ea typeface="思源黑体 CN Bold" panose="020B0800000000000000" pitchFamily="34" charset="-122"/>
                <a:cs typeface="+mj-cs"/>
              </a:rPr>
              <a:t>可逃离局部极小，因为全体数据集的损失函数的局部极小通常不是当前</a:t>
            </a:r>
            <a:r>
              <a:rPr lang="en-US" altLang="zh-CN" sz="1600" dirty="0">
                <a:latin typeface="思源黑体 CN Bold" panose="020B0800000000000000" pitchFamily="34" charset="-122"/>
                <a:ea typeface="思源黑体 CN Bold" panose="020B0800000000000000" pitchFamily="34" charset="-122"/>
                <a:cs typeface="+mj-cs"/>
              </a:rPr>
              <a:t>Mini-Batch</a:t>
            </a:r>
            <a:r>
              <a:rPr lang="zh-CN" altLang="en-US" sz="1600" dirty="0">
                <a:latin typeface="思源黑体 CN Bold" panose="020B0800000000000000" pitchFamily="34" charset="-122"/>
                <a:ea typeface="思源黑体 CN Bold" panose="020B0800000000000000" pitchFamily="34" charset="-122"/>
                <a:cs typeface="+mj-cs"/>
              </a:rPr>
              <a:t>数据的局部极小</a:t>
            </a:r>
            <a:endParaRPr lang="en-US" altLang="zh-CN" sz="1200" dirty="0">
              <a:latin typeface="思源黑体 CN Bold" panose="020B0800000000000000" pitchFamily="34" charset="-122"/>
              <a:ea typeface="思源黑体 CN Bold" panose="020B0800000000000000" pitchFamily="34" charset="-122"/>
              <a:cs typeface="+mj-cs"/>
            </a:endParaRPr>
          </a:p>
        </p:txBody>
      </p:sp>
    </p:spTree>
    <p:extLst>
      <p:ext uri="{BB962C8B-B14F-4D97-AF65-F5344CB8AC3E}">
        <p14:creationId xmlns:p14="http://schemas.microsoft.com/office/powerpoint/2010/main" val="11295352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6AF3F0-4352-4D79-A227-6FCBA2EBA88A}"/>
              </a:ext>
            </a:extLst>
          </p:cNvPr>
          <p:cNvSpPr>
            <a:spLocks noGrp="1"/>
          </p:cNvSpPr>
          <p:nvPr>
            <p:ph type="title" idx="4294967295"/>
          </p:nvPr>
        </p:nvSpPr>
        <p:spPr>
          <a:xfrm>
            <a:off x="279545" y="103869"/>
            <a:ext cx="9956945" cy="627652"/>
          </a:xfrm>
        </p:spPr>
        <p:txBody>
          <a:bodyPr>
            <a:noAutofit/>
          </a:bodyPr>
          <a:lstStyle/>
          <a:p>
            <a:r>
              <a:rPr lang="en-US" altLang="zh-CN" sz="3600" dirty="0">
                <a:latin typeface="思源黑体 CN Bold" panose="020B0800000000000000" pitchFamily="34" charset="-122"/>
                <a:ea typeface="思源黑体 CN Bold" panose="020B0800000000000000" pitchFamily="34" charset="-122"/>
              </a:rPr>
              <a:t>3 </a:t>
            </a:r>
            <a:r>
              <a:rPr lang="zh-CN" altLang="en-US" sz="3600" dirty="0">
                <a:latin typeface="思源黑体 CN Bold" panose="020B0800000000000000" pitchFamily="34" charset="-122"/>
                <a:ea typeface="思源黑体 CN Bold" panose="020B0800000000000000" pitchFamily="34" charset="-122"/>
              </a:rPr>
              <a:t>前馈神经网络的训练：</a:t>
            </a:r>
            <a:r>
              <a:rPr lang="en-US" altLang="zh-CN" sz="2800" dirty="0">
                <a:latin typeface="思源黑体 CN Bold" panose="020B0800000000000000" pitchFamily="34" charset="-122"/>
                <a:ea typeface="思源黑体 CN Bold" panose="020B0800000000000000" pitchFamily="34" charset="-122"/>
              </a:rPr>
              <a:t>SGD</a:t>
            </a:r>
            <a:r>
              <a:rPr lang="zh-CN" altLang="en-US" sz="2800" dirty="0">
                <a:latin typeface="思源黑体 CN Bold" panose="020B0800000000000000" pitchFamily="34" charset="-122"/>
                <a:ea typeface="思源黑体 CN Bold" panose="020B0800000000000000" pitchFamily="34" charset="-122"/>
              </a:rPr>
              <a:t>不受冗余数据影响</a:t>
            </a:r>
            <a:endParaRPr lang="zh-CN" altLang="en-US" sz="3600" dirty="0"/>
          </a:p>
        </p:txBody>
      </p:sp>
      <mc:AlternateContent xmlns:mc="http://schemas.openxmlformats.org/markup-compatibility/2006" xmlns:a14="http://schemas.microsoft.com/office/drawing/2010/main">
        <mc:Choice Requires="a14">
          <p:sp>
            <p:nvSpPr>
              <p:cNvPr id="63" name="内容占位符 62">
                <a:extLst>
                  <a:ext uri="{FF2B5EF4-FFF2-40B4-BE49-F238E27FC236}">
                    <a16:creationId xmlns:a16="http://schemas.microsoft.com/office/drawing/2014/main" id="{BACD9EB0-DE9F-4F9F-9BF9-486C824B1D08}"/>
                  </a:ext>
                </a:extLst>
              </p:cNvPr>
              <p:cNvSpPr>
                <a:spLocks noGrp="1"/>
              </p:cNvSpPr>
              <p:nvPr>
                <p:ph idx="4294967295"/>
              </p:nvPr>
            </p:nvSpPr>
            <p:spPr>
              <a:xfrm>
                <a:off x="744147" y="1162032"/>
                <a:ext cx="10515600" cy="4351338"/>
              </a:xfrm>
            </p:spPr>
            <p:txBody>
              <a:bodyPr>
                <a:normAutofit/>
              </a:bodyPr>
              <a:lstStyle/>
              <a:p>
                <a:pPr marL="0" indent="0">
                  <a:lnSpc>
                    <a:spcPct val="150000"/>
                  </a:lnSpc>
                  <a:buNone/>
                </a:pPr>
                <a:r>
                  <a:rPr lang="zh-CN" altLang="en-US" sz="1800" dirty="0">
                    <a:latin typeface="思源黑体 CN Bold" panose="020B0800000000000000" pitchFamily="34" charset="-122"/>
                    <a:ea typeface="思源黑体 CN Bold" panose="020B0800000000000000" pitchFamily="34" charset="-122"/>
                  </a:rPr>
                  <a:t>考虑一种数据冗余的极端情况：把所有训练数据都复制一份，添加到训练集中。</a:t>
                </a:r>
                <a:endParaRPr lang="en-US" altLang="zh-CN" sz="1800" dirty="0">
                  <a:latin typeface="思源黑体 CN Bold" panose="020B0800000000000000" pitchFamily="34" charset="-122"/>
                  <a:ea typeface="思源黑体 CN Bold" panose="020B0800000000000000" pitchFamily="34" charset="-122"/>
                </a:endParaRPr>
              </a:p>
              <a:p>
                <a:pPr>
                  <a:lnSpc>
                    <a:spcPct val="150000"/>
                  </a:lnSpc>
                </a:pPr>
                <a:r>
                  <a:rPr lang="zh-CN" altLang="en-US" sz="1800" dirty="0">
                    <a:latin typeface="思源黑体 CN Bold" panose="020B0800000000000000" pitchFamily="34" charset="-122"/>
                    <a:ea typeface="思源黑体 CN Bold" panose="020B0800000000000000" pitchFamily="34" charset="-122"/>
                  </a:rPr>
                  <a:t>以所有数据的整体损失作为梯度更新依据的算法，梯度的计算量加倍。</a:t>
                </a:r>
                <a:endParaRPr lang="en-US" altLang="zh-CN" sz="1800" dirty="0">
                  <a:latin typeface="思源黑体 CN Bold" panose="020B0800000000000000" pitchFamily="34" charset="-122"/>
                  <a:ea typeface="思源黑体 CN Bold" panose="020B0800000000000000" pitchFamily="34" charset="-122"/>
                </a:endParaRPr>
              </a:p>
              <a:p>
                <a:pPr marL="0" lvl="1" indent="0" algn="ctr">
                  <a:lnSpc>
                    <a:spcPct val="100000"/>
                  </a:lnSpc>
                  <a:spcBef>
                    <a:spcPts val="1000"/>
                  </a:spcBef>
                  <a:buNone/>
                </a:pPr>
                <a14:m>
                  <m:oMath xmlns:m="http://schemas.openxmlformats.org/officeDocument/2006/math">
                    <m:r>
                      <m:rPr>
                        <m:sty m:val="p"/>
                      </m:rPr>
                      <a:rPr lang="en-US" altLang="zh-CN" sz="1600" i="1" dirty="0">
                        <a:latin typeface="Cambria Math" panose="02040503050406030204" pitchFamily="18" charset="0"/>
                      </a:rPr>
                      <m:t>Loss</m:t>
                    </m:r>
                    <m:d>
                      <m:dPr>
                        <m:ctrlPr>
                          <a:rPr lang="en-US" altLang="zh-CN" sz="1600" i="1" dirty="0">
                            <a:latin typeface="Cambria Math" panose="02040503050406030204" pitchFamily="18" charset="0"/>
                          </a:rPr>
                        </m:ctrlPr>
                      </m:dPr>
                      <m:e>
                        <m:r>
                          <a:rPr lang="en-US" altLang="zh-CN" sz="1600" b="1">
                            <a:latin typeface="Cambria Math" panose="02040503050406030204" pitchFamily="18" charset="0"/>
                          </a:rPr>
                          <m:t>𝐰</m:t>
                        </m:r>
                      </m:e>
                    </m:d>
                    <m:r>
                      <a:rPr lang="en-US" altLang="zh-CN" sz="1600" b="1" i="1">
                        <a:latin typeface="Cambria Math" panose="02040503050406030204" pitchFamily="18" charset="0"/>
                      </a:rPr>
                      <m:t>=−</m:t>
                    </m:r>
                    <m:nary>
                      <m:naryPr>
                        <m:chr m:val="∑"/>
                        <m:ctrlPr>
                          <a:rPr lang="en-US" altLang="zh-CN" sz="1600" b="1" i="1">
                            <a:latin typeface="Cambria Math" panose="02040503050406030204" pitchFamily="18" charset="0"/>
                          </a:rPr>
                        </m:ctrlPr>
                      </m:naryPr>
                      <m:sub>
                        <m:r>
                          <m:rPr>
                            <m:brk m:alnAt="23"/>
                          </m:rPr>
                          <a:rPr lang="en-US" altLang="zh-CN" sz="1600" i="1">
                            <a:latin typeface="Cambria Math" panose="02040503050406030204" pitchFamily="18" charset="0"/>
                          </a:rPr>
                          <m:t>𝑛</m:t>
                        </m:r>
                        <m:r>
                          <a:rPr lang="en-US" altLang="zh-CN" sz="1600" i="1">
                            <a:latin typeface="Cambria Math" panose="02040503050406030204" pitchFamily="18" charset="0"/>
                          </a:rPr>
                          <m:t>=1</m:t>
                        </m:r>
                      </m:sub>
                      <m:sup>
                        <m:r>
                          <a:rPr lang="en-US" altLang="zh-CN" sz="1600" i="1">
                            <a:latin typeface="Cambria Math" panose="02040503050406030204" pitchFamily="18" charset="0"/>
                          </a:rPr>
                          <m:t>𝑁</m:t>
                        </m:r>
                      </m:sup>
                      <m:e>
                        <m:nary>
                          <m:naryPr>
                            <m:chr m:val="∑"/>
                            <m:ctrlPr>
                              <a:rPr lang="en-US" altLang="zh-CN" sz="1600" i="1">
                                <a:latin typeface="Cambria Math" panose="02040503050406030204" pitchFamily="18" charset="0"/>
                              </a:rPr>
                            </m:ctrlPr>
                          </m:naryPr>
                          <m:sub>
                            <m:r>
                              <m:rPr>
                                <m:brk m:alnAt="23"/>
                              </m:rPr>
                              <a:rPr lang="en-US" altLang="zh-CN" sz="1600" i="1">
                                <a:latin typeface="Cambria Math" panose="02040503050406030204" pitchFamily="18" charset="0"/>
                              </a:rPr>
                              <m:t>𝑘</m:t>
                            </m:r>
                            <m:r>
                              <a:rPr lang="en-US" altLang="zh-CN" sz="1600" i="1">
                                <a:latin typeface="Cambria Math" panose="02040503050406030204" pitchFamily="18" charset="0"/>
                              </a:rPr>
                              <m:t>=1</m:t>
                            </m:r>
                          </m:sub>
                          <m:sup>
                            <m:r>
                              <a:rPr lang="en-US" altLang="zh-CN" sz="1600" i="1">
                                <a:latin typeface="Cambria Math" panose="02040503050406030204" pitchFamily="18" charset="0"/>
                              </a:rPr>
                              <m:t>𝐾</m:t>
                            </m:r>
                          </m:sup>
                          <m:e>
                            <m:sSub>
                              <m:sSubPr>
                                <m:ctrlPr>
                                  <a:rPr lang="en-US" altLang="zh-CN" sz="1600" b="1" i="1">
                                    <a:latin typeface="Cambria Math" panose="02040503050406030204" pitchFamily="18" charset="0"/>
                                  </a:rPr>
                                </m:ctrlPr>
                              </m:sSubPr>
                              <m:e>
                                <m:r>
                                  <a:rPr lang="en-US" altLang="zh-CN" sz="1600" i="1">
                                    <a:latin typeface="Cambria Math" panose="02040503050406030204" pitchFamily="18" charset="0"/>
                                  </a:rPr>
                                  <m:t>𝑦</m:t>
                                </m:r>
                              </m:e>
                              <m:sub>
                                <m:r>
                                  <a:rPr lang="en-US" altLang="zh-CN" sz="1600" i="1">
                                    <a:latin typeface="Cambria Math" panose="02040503050406030204" pitchFamily="18" charset="0"/>
                                  </a:rPr>
                                  <m:t>𝑛𝑘</m:t>
                                </m:r>
                              </m:sub>
                            </m:sSub>
                            <m:r>
                              <m:rPr>
                                <m:sty m:val="p"/>
                              </m:rPr>
                              <a:rPr lang="en-US" altLang="zh-CN" sz="1600">
                                <a:latin typeface="Cambria Math" panose="02040503050406030204" pitchFamily="18" charset="0"/>
                              </a:rPr>
                              <m:t>ln</m:t>
                            </m:r>
                            <m:d>
                              <m:dPr>
                                <m:begChr m:val="{"/>
                                <m:endChr m:val="}"/>
                                <m:ctrlPr>
                                  <a:rPr lang="en-US" altLang="zh-CN" sz="1600" i="1">
                                    <a:latin typeface="Cambria Math" panose="02040503050406030204" pitchFamily="18" charset="0"/>
                                  </a:rPr>
                                </m:ctrlPr>
                              </m:dPr>
                              <m:e>
                                <m:r>
                                  <m:rPr>
                                    <m:sty m:val="p"/>
                                  </m:rPr>
                                  <a:rPr lang="en-US" altLang="zh-CN" sz="1600">
                                    <a:latin typeface="Cambria Math" panose="02040503050406030204" pitchFamily="18" charset="0"/>
                                  </a:rPr>
                                  <m:t>softmax</m:t>
                                </m:r>
                                <m:d>
                                  <m:dPr>
                                    <m:ctrlPr>
                                      <a:rPr lang="en-US" altLang="zh-CN" sz="1600" i="1">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𝑛𝑘</m:t>
                                        </m:r>
                                      </m:sub>
                                    </m:sSub>
                                  </m:e>
                                </m:d>
                              </m:e>
                            </m:d>
                          </m:e>
                        </m:nary>
                      </m:e>
                    </m:nary>
                  </m:oMath>
                </a14:m>
                <a:r>
                  <a:rPr lang="zh-CN" altLang="en-US" sz="1600" dirty="0">
                    <a:latin typeface="思源黑体 CN Bold" panose="020B0800000000000000" pitchFamily="34" charset="-122"/>
                    <a:ea typeface="思源黑体 CN Bold" panose="020B0800000000000000" pitchFamily="34" charset="-122"/>
                  </a:rPr>
                  <a:t>，</a:t>
                </a:r>
                <a14:m>
                  <m:oMath xmlns:m="http://schemas.openxmlformats.org/officeDocument/2006/math">
                    <m:r>
                      <m:rPr>
                        <m:sty m:val="p"/>
                      </m:rPr>
                      <a:rPr lang="en-US" altLang="zh-CN" sz="1600" i="1" dirty="0">
                        <a:latin typeface="Cambria Math" panose="02040503050406030204" pitchFamily="18" charset="0"/>
                        <a:ea typeface="Cambria Math" panose="02040503050406030204" pitchFamily="18" charset="0"/>
                      </a:rPr>
                      <m:t>∇</m:t>
                    </m:r>
                    <m:r>
                      <m:rPr>
                        <m:sty m:val="p"/>
                      </m:rPr>
                      <a:rPr lang="en-US" altLang="zh-CN" sz="1600" i="1" dirty="0">
                        <a:latin typeface="Cambria Math" panose="02040503050406030204" pitchFamily="18" charset="0"/>
                      </a:rPr>
                      <m:t>Loss</m:t>
                    </m:r>
                    <m:d>
                      <m:dPr>
                        <m:ctrlPr>
                          <a:rPr lang="en-US" altLang="zh-CN" sz="1600" i="1" dirty="0">
                            <a:latin typeface="Cambria Math" panose="02040503050406030204" pitchFamily="18" charset="0"/>
                          </a:rPr>
                        </m:ctrlPr>
                      </m:dPr>
                      <m:e>
                        <m:r>
                          <a:rPr lang="en-US" altLang="zh-CN" sz="1600" b="1">
                            <a:latin typeface="Cambria Math" panose="02040503050406030204" pitchFamily="18" charset="0"/>
                          </a:rPr>
                          <m:t>𝐰</m:t>
                        </m:r>
                      </m:e>
                    </m:d>
                    <m:r>
                      <a:rPr lang="en-US" altLang="zh-CN" sz="1600" b="1" i="1">
                        <a:latin typeface="Cambria Math" panose="02040503050406030204" pitchFamily="18" charset="0"/>
                      </a:rPr>
                      <m:t>=</m:t>
                    </m:r>
                    <m:nary>
                      <m:naryPr>
                        <m:chr m:val="∑"/>
                        <m:ctrlPr>
                          <a:rPr lang="en-US" altLang="zh-CN" sz="1600" b="1" i="1">
                            <a:latin typeface="Cambria Math" panose="02040503050406030204" pitchFamily="18" charset="0"/>
                          </a:rPr>
                        </m:ctrlPr>
                      </m:naryPr>
                      <m:sub>
                        <m:r>
                          <m:rPr>
                            <m:brk m:alnAt="23"/>
                          </m:rPr>
                          <a:rPr lang="en-US" altLang="zh-CN" sz="1600" i="1">
                            <a:latin typeface="Cambria Math" panose="02040503050406030204" pitchFamily="18" charset="0"/>
                          </a:rPr>
                          <m:t>𝑛</m:t>
                        </m:r>
                        <m:r>
                          <a:rPr lang="en-US" altLang="zh-CN" sz="1600" i="1">
                            <a:latin typeface="Cambria Math" panose="02040503050406030204" pitchFamily="18" charset="0"/>
                          </a:rPr>
                          <m:t>=1</m:t>
                        </m:r>
                      </m:sub>
                      <m:sup>
                        <m:r>
                          <a:rPr lang="en-US" altLang="zh-CN" sz="1600" i="1">
                            <a:latin typeface="Cambria Math" panose="02040503050406030204" pitchFamily="18" charset="0"/>
                          </a:rPr>
                          <m:t>𝑁</m:t>
                        </m:r>
                      </m:sup>
                      <m:e>
                        <m:d>
                          <m:dPr>
                            <m:ctrlPr>
                              <a:rPr lang="en-US" altLang="zh-CN" sz="1600" i="1">
                                <a:latin typeface="Cambria Math" panose="02040503050406030204" pitchFamily="18" charset="0"/>
                              </a:rPr>
                            </m:ctrlPr>
                          </m:dPr>
                          <m:e>
                            <m:sSub>
                              <m:sSubPr>
                                <m:ctrlPr>
                                  <a:rPr lang="en-US" altLang="zh-CN" sz="1600" b="1" i="1">
                                    <a:latin typeface="Cambria Math" panose="02040503050406030204" pitchFamily="18" charset="0"/>
                                  </a:rPr>
                                </m:ctrlPr>
                              </m:sSubPr>
                              <m:e>
                                <m:r>
                                  <a:rPr lang="zh-CN" altLang="en-US" sz="1600" i="1">
                                    <a:latin typeface="Cambria Math" panose="02040503050406030204" pitchFamily="18" charset="0"/>
                                  </a:rPr>
                                  <m:t>𝜎</m:t>
                                </m:r>
                              </m:e>
                              <m:sub>
                                <m:r>
                                  <a:rPr lang="en-US" altLang="zh-CN" sz="1600" i="1">
                                    <a:latin typeface="Cambria Math" panose="02040503050406030204" pitchFamily="18" charset="0"/>
                                  </a:rPr>
                                  <m:t>𝑛</m:t>
                                </m:r>
                              </m:sub>
                            </m:sSub>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rPr>
                                  <m:t>−</m:t>
                                </m:r>
                                <m:r>
                                  <a:rPr lang="en-US" altLang="zh-CN" sz="1600" i="1">
                                    <a:latin typeface="Cambria Math" panose="02040503050406030204" pitchFamily="18" charset="0"/>
                                  </a:rPr>
                                  <m:t>𝑦</m:t>
                                </m:r>
                              </m:e>
                              <m:sub>
                                <m:r>
                                  <a:rPr lang="en-US" altLang="zh-CN" sz="1600" i="1">
                                    <a:latin typeface="Cambria Math" panose="02040503050406030204" pitchFamily="18" charset="0"/>
                                  </a:rPr>
                                  <m:t>𝑛</m:t>
                                </m:r>
                              </m:sub>
                            </m:sSub>
                          </m:e>
                        </m:d>
                        <m:r>
                          <a:rPr lang="zh-CN" altLang="en-US" sz="1600" b="1" i="1">
                            <a:latin typeface="Cambria Math" panose="02040503050406030204" pitchFamily="18" charset="0"/>
                          </a:rPr>
                          <m:t>𝝓</m:t>
                        </m:r>
                        <m:d>
                          <m:dPr>
                            <m:ctrlPr>
                              <a:rPr lang="en-US" altLang="zh-CN" sz="1600" i="1">
                                <a:latin typeface="Cambria Math" panose="02040503050406030204" pitchFamily="18" charset="0"/>
                              </a:rPr>
                            </m:ctrlPr>
                          </m:dPr>
                          <m:e>
                            <m:sSub>
                              <m:sSubPr>
                                <m:ctrlPr>
                                  <a:rPr lang="en-US" altLang="zh-CN" sz="1600" b="1" i="1">
                                    <a:latin typeface="Cambria Math" panose="02040503050406030204" pitchFamily="18" charset="0"/>
                                  </a:rPr>
                                </m:ctrlPr>
                              </m:sSubPr>
                              <m:e>
                                <m:r>
                                  <a:rPr lang="en-US" altLang="zh-CN" sz="1600" b="1">
                                    <a:latin typeface="Cambria Math" panose="02040503050406030204" pitchFamily="18" charset="0"/>
                                  </a:rPr>
                                  <m:t>𝐱</m:t>
                                </m:r>
                              </m:e>
                              <m:sub>
                                <m:r>
                                  <a:rPr lang="en-US" altLang="zh-CN" sz="1600" i="1">
                                    <a:latin typeface="Cambria Math" panose="02040503050406030204" pitchFamily="18" charset="0"/>
                                  </a:rPr>
                                  <m:t>𝑛</m:t>
                                </m:r>
                              </m:sub>
                            </m:sSub>
                          </m:e>
                        </m:d>
                      </m:e>
                    </m:nary>
                  </m:oMath>
                </a14:m>
                <a:endParaRPr lang="en-US" altLang="zh-CN" sz="1600" dirty="0"/>
              </a:p>
              <a:p>
                <a:pPr>
                  <a:lnSpc>
                    <a:spcPct val="150000"/>
                  </a:lnSpc>
                </a:pPr>
                <a:r>
                  <a:rPr lang="zh-CN" altLang="en-US" sz="1800" dirty="0">
                    <a:latin typeface="思源黑体 CN Bold" panose="020B0800000000000000" pitchFamily="34" charset="-122"/>
                    <a:ea typeface="思源黑体 CN Bold" panose="020B0800000000000000" pitchFamily="34" charset="-122"/>
                  </a:rPr>
                  <a:t>但是随机梯度下降法不会受此影响（考虑</a:t>
                </a:r>
                <a:r>
                  <a:rPr lang="en-US" altLang="zh-CN" sz="1800" dirty="0">
                    <a:latin typeface="思源黑体 CN Bold" panose="020B0800000000000000" pitchFamily="34" charset="-122"/>
                    <a:ea typeface="思源黑体 CN Bold" panose="020B0800000000000000" pitchFamily="34" charset="-122"/>
                  </a:rPr>
                  <a:t>mini-batch=1</a:t>
                </a:r>
                <a:r>
                  <a:rPr lang="zh-CN" altLang="en-US" sz="1800" dirty="0">
                    <a:latin typeface="思源黑体 CN Bold" panose="020B0800000000000000" pitchFamily="34" charset="-122"/>
                    <a:ea typeface="思源黑体 CN Bold" panose="020B0800000000000000" pitchFamily="34" charset="-122"/>
                  </a:rPr>
                  <a:t>的情况）：</a:t>
                </a:r>
                <a:endParaRPr lang="en-US" altLang="zh-CN" sz="1800" dirty="0">
                  <a:latin typeface="思源黑体 CN Bold" panose="020B0800000000000000" pitchFamily="34" charset="-122"/>
                  <a:ea typeface="思源黑体 CN Bold" panose="020B0800000000000000" pitchFamily="34" charset="-122"/>
                </a:endParaRPr>
              </a:p>
              <a:p>
                <a:pPr marL="800100" lvl="1" indent="-342900">
                  <a:lnSpc>
                    <a:spcPct val="150000"/>
                  </a:lnSpc>
                  <a:buFont typeface="+mj-lt"/>
                  <a:buAutoNum type="alphaLcParenR"/>
                </a:pPr>
                <a:r>
                  <a:rPr lang="zh-CN" altLang="en-US" sz="1800" dirty="0">
                    <a:latin typeface="思源黑体 CN Bold" panose="020B0800000000000000" pitchFamily="34" charset="-122"/>
                    <a:ea typeface="思源黑体 CN Bold" panose="020B0800000000000000" pitchFamily="34" charset="-122"/>
                  </a:rPr>
                  <a:t>随机选取，可一定程度避免重复使用同样的数据；</a:t>
                </a:r>
                <a:endParaRPr lang="en-US" altLang="zh-CN" sz="1800" dirty="0">
                  <a:latin typeface="思源黑体 CN Bold" panose="020B0800000000000000" pitchFamily="34" charset="-122"/>
                  <a:ea typeface="思源黑体 CN Bold" panose="020B0800000000000000" pitchFamily="34" charset="-122"/>
                </a:endParaRPr>
              </a:p>
              <a:p>
                <a:pPr marL="800100" lvl="1" indent="-342900">
                  <a:lnSpc>
                    <a:spcPct val="150000"/>
                  </a:lnSpc>
                  <a:buFont typeface="+mj-lt"/>
                  <a:buAutoNum type="alphaLcParenR"/>
                </a:pPr>
                <a:r>
                  <a:rPr lang="zh-CN" altLang="en-US" sz="1800" dirty="0">
                    <a:latin typeface="思源黑体 CN Bold" panose="020B0800000000000000" pitchFamily="34" charset="-122"/>
                    <a:ea typeface="思源黑体 CN Bold" panose="020B0800000000000000" pitchFamily="34" charset="-122"/>
                  </a:rPr>
                  <a:t>即使连续两次计算同一数据</a:t>
                </a:r>
                <a14:m>
                  <m:oMath xmlns:m="http://schemas.openxmlformats.org/officeDocument/2006/math">
                    <m:d>
                      <m:dPr>
                        <m:ctrlPr>
                          <a:rPr lang="en-US" altLang="zh-CN" sz="1800" i="1">
                            <a:latin typeface="Cambria Math" panose="02040503050406030204" pitchFamily="18" charset="0"/>
                          </a:rPr>
                        </m:ctrlPr>
                      </m:dPr>
                      <m:e>
                        <m:r>
                          <a:rPr lang="en-US" altLang="zh-CN" sz="1800" b="1" i="0" smtClean="0">
                            <a:latin typeface="Cambria Math" panose="02040503050406030204" pitchFamily="18" charset="0"/>
                          </a:rPr>
                          <m:t>𝐱</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𝑦</m:t>
                        </m:r>
                      </m:e>
                    </m:d>
                    <m:r>
                      <a:rPr lang="en-US" altLang="zh-CN" sz="1800" i="1">
                        <a:latin typeface="Cambria Math" panose="02040503050406030204" pitchFamily="18" charset="0"/>
                      </a:rPr>
                      <m:t> </m:t>
                    </m:r>
                  </m:oMath>
                </a14:m>
                <a:r>
                  <a:rPr lang="zh-CN" altLang="en-US" sz="1800" dirty="0">
                    <a:latin typeface="思源黑体 CN Bold" panose="020B0800000000000000" pitchFamily="34" charset="-122"/>
                    <a:ea typeface="思源黑体 CN Bold" panose="020B0800000000000000" pitchFamily="34" charset="-122"/>
                  </a:rPr>
                  <a:t>，每次计算也都会对神经网络权值（分类曲面）有贡献</a:t>
                </a:r>
                <a:endParaRPr lang="en-US" altLang="zh-CN" sz="1800" dirty="0">
                  <a:latin typeface="思源黑体 CN Bold" panose="020B0800000000000000" pitchFamily="34" charset="-122"/>
                  <a:ea typeface="思源黑体 CN Bold" panose="020B0800000000000000" pitchFamily="34" charset="-122"/>
                </a:endParaRPr>
              </a:p>
              <a:p>
                <a:pPr marL="800100" lvl="1" indent="-342900">
                  <a:lnSpc>
                    <a:spcPct val="150000"/>
                  </a:lnSpc>
                  <a:buFont typeface="+mj-lt"/>
                  <a:buAutoNum type="alphaLcParenR"/>
                </a:pPr>
                <a:r>
                  <a:rPr lang="zh-CN" altLang="en-US" sz="1800" dirty="0">
                    <a:latin typeface="思源黑体 CN Bold" panose="020B0800000000000000" pitchFamily="34" charset="-122"/>
                    <a:ea typeface="思源黑体 CN Bold" panose="020B0800000000000000" pitchFamily="34" charset="-122"/>
                  </a:rPr>
                  <a:t>使用</a:t>
                </a:r>
                <a14:m>
                  <m:oMath xmlns:m="http://schemas.openxmlformats.org/officeDocument/2006/math">
                    <m:d>
                      <m:dPr>
                        <m:ctrlPr>
                          <a:rPr lang="en-US" altLang="zh-CN" sz="1800" i="1">
                            <a:latin typeface="Cambria Math" panose="02040503050406030204" pitchFamily="18" charset="0"/>
                          </a:rPr>
                        </m:ctrlPr>
                      </m:dPr>
                      <m:e>
                        <m:r>
                          <a:rPr lang="en-US" altLang="zh-CN" sz="1800" b="1">
                            <a:latin typeface="Cambria Math" panose="02040503050406030204" pitchFamily="18" charset="0"/>
                          </a:rPr>
                          <m:t>𝐱</m:t>
                        </m:r>
                        <m:r>
                          <a:rPr lang="en-US" altLang="zh-CN" sz="1800" i="1">
                            <a:latin typeface="Cambria Math" panose="02040503050406030204" pitchFamily="18" charset="0"/>
                          </a:rPr>
                          <m:t>,</m:t>
                        </m:r>
                        <m:r>
                          <a:rPr lang="en-US" altLang="zh-CN" sz="1800" i="1">
                            <a:latin typeface="Cambria Math" panose="02040503050406030204" pitchFamily="18" charset="0"/>
                          </a:rPr>
                          <m:t>𝑦</m:t>
                        </m:r>
                      </m:e>
                    </m:d>
                  </m:oMath>
                </a14:m>
                <a:r>
                  <a:rPr lang="zh-CN" altLang="en-US" sz="1800" dirty="0">
                    <a:latin typeface="思源黑体 CN Bold" panose="020B0800000000000000" pitchFamily="34" charset="-122"/>
                    <a:ea typeface="思源黑体 CN Bold" panose="020B0800000000000000" pitchFamily="34" charset="-122"/>
                  </a:rPr>
                  <a:t>更新模型后，如果</a:t>
                </a:r>
                <a14:m>
                  <m:oMath xmlns:m="http://schemas.openxmlformats.org/officeDocument/2006/math">
                    <m:r>
                      <a:rPr lang="en-US" altLang="zh-CN" sz="1800" b="1">
                        <a:latin typeface="Cambria Math" panose="02040503050406030204" pitchFamily="18" charset="0"/>
                      </a:rPr>
                      <m:t>𝐱</m:t>
                    </m:r>
                  </m:oMath>
                </a14:m>
                <a:r>
                  <a:rPr lang="zh-CN" altLang="en-US" sz="1800" dirty="0">
                    <a:latin typeface="思源黑体 CN Bold" panose="020B0800000000000000" pitchFamily="34" charset="-122"/>
                    <a:ea typeface="思源黑体 CN Bold" panose="020B0800000000000000" pitchFamily="34" charset="-122"/>
                  </a:rPr>
                  <a:t>已经正确分类，则第二次更新时，梯度为</a:t>
                </a:r>
                <a:r>
                  <a:rPr lang="en-US" altLang="zh-CN" sz="1800" dirty="0">
                    <a:latin typeface="思源黑体 CN Bold" panose="020B0800000000000000" pitchFamily="34" charset="-122"/>
                    <a:ea typeface="思源黑体 CN Bold" panose="020B0800000000000000" pitchFamily="34" charset="-122"/>
                  </a:rPr>
                  <a:t>0</a:t>
                </a:r>
                <a:r>
                  <a:rPr lang="zh-CN" altLang="en-US" sz="1800" dirty="0">
                    <a:latin typeface="思源黑体 CN Bold" panose="020B0800000000000000" pitchFamily="34" charset="-122"/>
                    <a:ea typeface="思源黑体 CN Bold" panose="020B0800000000000000" pitchFamily="34" charset="-122"/>
                  </a:rPr>
                  <a:t>，权值不更新</a:t>
                </a:r>
                <a:endParaRPr lang="en-US" altLang="zh-CN" sz="1800" dirty="0">
                  <a:latin typeface="思源黑体 CN Bold" panose="020B0800000000000000" pitchFamily="34" charset="-122"/>
                  <a:ea typeface="思源黑体 CN Bold" panose="020B0800000000000000" pitchFamily="34" charset="-122"/>
                </a:endParaRPr>
              </a:p>
              <a:p>
                <a:pPr marL="800100" lvl="1" indent="-342900">
                  <a:lnSpc>
                    <a:spcPct val="150000"/>
                  </a:lnSpc>
                  <a:buFont typeface="+mj-lt"/>
                  <a:buAutoNum type="alphaLcParenR"/>
                </a:pPr>
                <a:r>
                  <a:rPr lang="zh-CN" altLang="en-US" sz="1800" dirty="0">
                    <a:latin typeface="思源黑体 CN Bold" panose="020B0800000000000000" pitchFamily="34" charset="-122"/>
                    <a:ea typeface="思源黑体 CN Bold" panose="020B0800000000000000" pitchFamily="34" charset="-122"/>
                  </a:rPr>
                  <a:t>使用</a:t>
                </a:r>
                <a14:m>
                  <m:oMath xmlns:m="http://schemas.openxmlformats.org/officeDocument/2006/math">
                    <m:d>
                      <m:dPr>
                        <m:ctrlPr>
                          <a:rPr lang="en-US" altLang="zh-CN" sz="1800" i="1">
                            <a:latin typeface="Cambria Math" panose="02040503050406030204" pitchFamily="18" charset="0"/>
                          </a:rPr>
                        </m:ctrlPr>
                      </m:dPr>
                      <m:e>
                        <m:r>
                          <a:rPr lang="en-US" altLang="zh-CN" sz="1800" b="1">
                            <a:latin typeface="Cambria Math" panose="02040503050406030204" pitchFamily="18" charset="0"/>
                          </a:rPr>
                          <m:t>𝐱</m:t>
                        </m:r>
                        <m:r>
                          <a:rPr lang="en-US" altLang="zh-CN" sz="1800" i="1">
                            <a:latin typeface="Cambria Math" panose="02040503050406030204" pitchFamily="18" charset="0"/>
                          </a:rPr>
                          <m:t>,</m:t>
                        </m:r>
                        <m:r>
                          <a:rPr lang="en-US" altLang="zh-CN" sz="1800" i="1">
                            <a:latin typeface="Cambria Math" panose="02040503050406030204" pitchFamily="18" charset="0"/>
                          </a:rPr>
                          <m:t>𝑦</m:t>
                        </m:r>
                      </m:e>
                    </m:d>
                  </m:oMath>
                </a14:m>
                <a:r>
                  <a:rPr lang="zh-CN" altLang="en-US" sz="1800" dirty="0">
                    <a:latin typeface="思源黑体 CN Bold" panose="020B0800000000000000" pitchFamily="34" charset="-122"/>
                    <a:ea typeface="思源黑体 CN Bold" panose="020B0800000000000000" pitchFamily="34" charset="-122"/>
                  </a:rPr>
                  <a:t>更新模型后，如果</a:t>
                </a:r>
                <a14:m>
                  <m:oMath xmlns:m="http://schemas.openxmlformats.org/officeDocument/2006/math">
                    <m:r>
                      <a:rPr lang="en-US" altLang="zh-CN" sz="1800" b="1">
                        <a:latin typeface="Cambria Math" panose="02040503050406030204" pitchFamily="18" charset="0"/>
                      </a:rPr>
                      <m:t>𝐱</m:t>
                    </m:r>
                  </m:oMath>
                </a14:m>
                <a:r>
                  <a:rPr lang="zh-CN" altLang="en-US" sz="1800" dirty="0">
                    <a:latin typeface="思源黑体 CN Bold" panose="020B0800000000000000" pitchFamily="34" charset="-122"/>
                    <a:ea typeface="思源黑体 CN Bold" panose="020B0800000000000000" pitchFamily="34" charset="-122"/>
                  </a:rPr>
                  <a:t>仍然错误分类，则第二次会继续更新，使分类面进一步变好。</a:t>
                </a:r>
                <a:endParaRPr lang="en-US" altLang="zh-CN" sz="1800" dirty="0">
                  <a:latin typeface="思源黑体 CN Bold" panose="020B0800000000000000" pitchFamily="34" charset="-122"/>
                  <a:ea typeface="思源黑体 CN Bold" panose="020B0800000000000000" pitchFamily="34" charset="-122"/>
                </a:endParaRPr>
              </a:p>
              <a:p>
                <a:pPr>
                  <a:lnSpc>
                    <a:spcPct val="150000"/>
                  </a:lnSpc>
                </a:pPr>
                <a:endParaRPr lang="zh-CN" altLang="en-US" sz="1800" dirty="0">
                  <a:latin typeface="思源黑体 CN Bold" panose="020B0800000000000000" pitchFamily="34" charset="-122"/>
                  <a:ea typeface="思源黑体 CN Bold" panose="020B0800000000000000" pitchFamily="34" charset="-122"/>
                </a:endParaRPr>
              </a:p>
            </p:txBody>
          </p:sp>
        </mc:Choice>
        <mc:Fallback xmlns="">
          <p:sp>
            <p:nvSpPr>
              <p:cNvPr id="63" name="内容占位符 62">
                <a:extLst>
                  <a:ext uri="{FF2B5EF4-FFF2-40B4-BE49-F238E27FC236}">
                    <a16:creationId xmlns:a16="http://schemas.microsoft.com/office/drawing/2014/main" id="{BACD9EB0-DE9F-4F9F-9BF9-486C824B1D08}"/>
                  </a:ext>
                </a:extLst>
              </p:cNvPr>
              <p:cNvSpPr>
                <a:spLocks noGrp="1" noRot="1" noChangeAspect="1" noMove="1" noResize="1" noEditPoints="1" noAdjustHandles="1" noChangeArrowheads="1" noChangeShapeType="1" noTextEdit="1"/>
              </p:cNvSpPr>
              <p:nvPr>
                <p:ph idx="4294967295"/>
              </p:nvPr>
            </p:nvSpPr>
            <p:spPr>
              <a:xfrm>
                <a:off x="744147" y="1162032"/>
                <a:ext cx="10515600" cy="4351338"/>
              </a:xfrm>
              <a:blipFill>
                <a:blip r:embed="rId3"/>
                <a:stretch>
                  <a:fillRect l="-46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669522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6AF3F0-4352-4D79-A227-6FCBA2EBA88A}"/>
              </a:ext>
            </a:extLst>
          </p:cNvPr>
          <p:cNvSpPr>
            <a:spLocks noGrp="1"/>
          </p:cNvSpPr>
          <p:nvPr>
            <p:ph type="title" idx="4294967295"/>
          </p:nvPr>
        </p:nvSpPr>
        <p:spPr>
          <a:xfrm>
            <a:off x="355310" y="158709"/>
            <a:ext cx="9091748" cy="540000"/>
          </a:xfrm>
        </p:spPr>
        <p:txBody>
          <a:bodyPr>
            <a:noAutofit/>
          </a:bodyPr>
          <a:lstStyle/>
          <a:p>
            <a:r>
              <a:rPr lang="en-US" altLang="zh-CN" sz="3600" dirty="0">
                <a:latin typeface="思源黑体 CN Bold" panose="020B0800000000000000" pitchFamily="34" charset="-122"/>
                <a:ea typeface="思源黑体 CN Bold" panose="020B0800000000000000" pitchFamily="34" charset="-122"/>
              </a:rPr>
              <a:t>3 </a:t>
            </a:r>
            <a:r>
              <a:rPr lang="zh-CN" altLang="en-US" sz="3600" dirty="0">
                <a:latin typeface="思源黑体 CN Bold" panose="020B0800000000000000" pitchFamily="34" charset="-122"/>
                <a:ea typeface="思源黑体 CN Bold" panose="020B0800000000000000" pitchFamily="34" charset="-122"/>
              </a:rPr>
              <a:t>前馈神经网络的训练：</a:t>
            </a:r>
            <a:r>
              <a:rPr lang="en-US" altLang="zh-CN" sz="2800" dirty="0">
                <a:latin typeface="思源黑体 CN Bold" panose="020B0800000000000000" pitchFamily="34" charset="-122"/>
                <a:ea typeface="思源黑体 CN Bold" panose="020B0800000000000000" pitchFamily="34" charset="-122"/>
              </a:rPr>
              <a:t>SGD</a:t>
            </a:r>
            <a:r>
              <a:rPr lang="zh-CN" altLang="en-US" sz="2800" dirty="0">
                <a:latin typeface="思源黑体 CN Bold" panose="020B0800000000000000" pitchFamily="34" charset="-122"/>
                <a:ea typeface="思源黑体 CN Bold" panose="020B0800000000000000" pitchFamily="34" charset="-122"/>
              </a:rPr>
              <a:t>不受冗余数据影响</a:t>
            </a:r>
            <a:endParaRPr lang="zh-CN" altLang="en-US" sz="3600" dirty="0"/>
          </a:p>
        </p:txBody>
      </p:sp>
      <p:pic>
        <p:nvPicPr>
          <p:cNvPr id="11" name="内容占位符 10">
            <a:extLst>
              <a:ext uri="{FF2B5EF4-FFF2-40B4-BE49-F238E27FC236}">
                <a16:creationId xmlns:a16="http://schemas.microsoft.com/office/drawing/2014/main" id="{81738292-C210-4640-A8D2-9553B79F4AD3}"/>
              </a:ext>
            </a:extLst>
          </p:cNvPr>
          <p:cNvPicPr>
            <a:picLocks noGrp="1" noChangeAspect="1"/>
          </p:cNvPicPr>
          <p:nvPr>
            <p:ph idx="4294967295"/>
          </p:nvPr>
        </p:nvPicPr>
        <p:blipFill>
          <a:blip r:embed="rId3" cstate="print">
            <a:extLst>
              <a:ext uri="{28A0092B-C50C-407E-A947-70E740481C1C}">
                <a14:useLocalDpi xmlns:a14="http://schemas.microsoft.com/office/drawing/2010/main" val="0"/>
              </a:ext>
            </a:extLst>
          </a:blip>
          <a:stretch>
            <a:fillRect/>
          </a:stretch>
        </p:blipFill>
        <p:spPr>
          <a:xfrm>
            <a:off x="2797824" y="3952094"/>
            <a:ext cx="2203868" cy="2160000"/>
          </a:xfrm>
        </p:spPr>
      </p:pic>
      <p:pic>
        <p:nvPicPr>
          <p:cNvPr id="7" name="图片 6">
            <a:extLst>
              <a:ext uri="{FF2B5EF4-FFF2-40B4-BE49-F238E27FC236}">
                <a16:creationId xmlns:a16="http://schemas.microsoft.com/office/drawing/2014/main" id="{345DE215-29ED-421C-8894-2BF719BF90B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6472" y="885401"/>
            <a:ext cx="2387523" cy="2340000"/>
          </a:xfrm>
          <a:prstGeom prst="rect">
            <a:avLst/>
          </a:prstGeom>
        </p:spPr>
      </p:pic>
      <p:pic>
        <p:nvPicPr>
          <p:cNvPr id="8" name="图片 7">
            <a:extLst>
              <a:ext uri="{FF2B5EF4-FFF2-40B4-BE49-F238E27FC236}">
                <a16:creationId xmlns:a16="http://schemas.microsoft.com/office/drawing/2014/main" id="{291DA58A-AA69-4C52-BB3E-F349F2187E0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705997" y="885401"/>
            <a:ext cx="2387523" cy="2340000"/>
          </a:xfrm>
          <a:prstGeom prst="rect">
            <a:avLst/>
          </a:prstGeom>
        </p:spPr>
      </p:pic>
      <p:pic>
        <p:nvPicPr>
          <p:cNvPr id="26" name="图片 25">
            <a:extLst>
              <a:ext uri="{FF2B5EF4-FFF2-40B4-BE49-F238E27FC236}">
                <a16:creationId xmlns:a16="http://schemas.microsoft.com/office/drawing/2014/main" id="{C795C615-C996-4FF9-BEB7-C169E0A77CE7}"/>
              </a:ext>
            </a:extLst>
          </p:cNvPr>
          <p:cNvPicPr>
            <a:picLocks noChangeAspect="1"/>
          </p:cNvPicPr>
          <p:nvPr/>
        </p:nvPicPr>
        <p:blipFill rotWithShape="1">
          <a:blip r:embed="rId6"/>
          <a:srcRect r="21245" b="13809"/>
          <a:stretch/>
        </p:blipFill>
        <p:spPr>
          <a:xfrm>
            <a:off x="5076750" y="3952094"/>
            <a:ext cx="2209208" cy="2160000"/>
          </a:xfrm>
          <a:prstGeom prst="rect">
            <a:avLst/>
          </a:prstGeom>
        </p:spPr>
      </p:pic>
      <p:grpSp>
        <p:nvGrpSpPr>
          <p:cNvPr id="55" name="组合 54">
            <a:extLst>
              <a:ext uri="{FF2B5EF4-FFF2-40B4-BE49-F238E27FC236}">
                <a16:creationId xmlns:a16="http://schemas.microsoft.com/office/drawing/2014/main" id="{6A66BDAA-ED09-4332-92B3-4B2F74C8BE5D}"/>
              </a:ext>
            </a:extLst>
          </p:cNvPr>
          <p:cNvGrpSpPr>
            <a:grpSpLocks noChangeAspect="1"/>
          </p:cNvGrpSpPr>
          <p:nvPr/>
        </p:nvGrpSpPr>
        <p:grpSpPr>
          <a:xfrm>
            <a:off x="7361016" y="3952094"/>
            <a:ext cx="2209208" cy="2160000"/>
            <a:chOff x="3527222" y="623722"/>
            <a:chExt cx="2602993" cy="2545011"/>
          </a:xfrm>
        </p:grpSpPr>
        <p:pic>
          <p:nvPicPr>
            <p:cNvPr id="32" name="图片 31">
              <a:extLst>
                <a:ext uri="{FF2B5EF4-FFF2-40B4-BE49-F238E27FC236}">
                  <a16:creationId xmlns:a16="http://schemas.microsoft.com/office/drawing/2014/main" id="{F493B7F1-E805-4415-9D21-F45C1FC66F0D}"/>
                </a:ext>
              </a:extLst>
            </p:cNvPr>
            <p:cNvPicPr>
              <a:picLocks noChangeAspect="1"/>
            </p:cNvPicPr>
            <p:nvPr/>
          </p:nvPicPr>
          <p:blipFill rotWithShape="1">
            <a:blip r:embed="rId6"/>
            <a:srcRect r="21245" b="13809"/>
            <a:stretch/>
          </p:blipFill>
          <p:spPr>
            <a:xfrm>
              <a:off x="3527222" y="623722"/>
              <a:ext cx="2602993" cy="2545011"/>
            </a:xfrm>
            <a:prstGeom prst="rect">
              <a:avLst/>
            </a:prstGeom>
          </p:spPr>
        </p:pic>
        <p:cxnSp>
          <p:nvCxnSpPr>
            <p:cNvPr id="22" name="直接箭头连接符 21">
              <a:extLst>
                <a:ext uri="{FF2B5EF4-FFF2-40B4-BE49-F238E27FC236}">
                  <a16:creationId xmlns:a16="http://schemas.microsoft.com/office/drawing/2014/main" id="{A090788D-9D8F-4405-9637-D68E1FB8BA4F}"/>
                </a:ext>
              </a:extLst>
            </p:cNvPr>
            <p:cNvCxnSpPr>
              <a:cxnSpLocks/>
            </p:cNvCxnSpPr>
            <p:nvPr/>
          </p:nvCxnSpPr>
          <p:spPr>
            <a:xfrm>
              <a:off x="4893828" y="1883970"/>
              <a:ext cx="404043" cy="553626"/>
            </a:xfrm>
            <a:prstGeom prst="straightConnector1">
              <a:avLst/>
            </a:prstGeom>
            <a:ln w="19050">
              <a:solidFill>
                <a:srgbClr val="FF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33" name="椭圆 32">
              <a:extLst>
                <a:ext uri="{FF2B5EF4-FFF2-40B4-BE49-F238E27FC236}">
                  <a16:creationId xmlns:a16="http://schemas.microsoft.com/office/drawing/2014/main" id="{C9A3FDED-C678-4558-8F09-47D58CAB5169}"/>
                </a:ext>
              </a:extLst>
            </p:cNvPr>
            <p:cNvSpPr/>
            <p:nvPr/>
          </p:nvSpPr>
          <p:spPr>
            <a:xfrm>
              <a:off x="5225871" y="2365596"/>
              <a:ext cx="144000" cy="144000"/>
            </a:xfrm>
            <a:prstGeom prst="ellipse">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6" name="直接箭头连接符 35">
              <a:extLst>
                <a:ext uri="{FF2B5EF4-FFF2-40B4-BE49-F238E27FC236}">
                  <a16:creationId xmlns:a16="http://schemas.microsoft.com/office/drawing/2014/main" id="{59770FD3-C46B-4C94-B8F5-54F6C1FC787C}"/>
                </a:ext>
              </a:extLst>
            </p:cNvPr>
            <p:cNvCxnSpPr>
              <a:cxnSpLocks/>
            </p:cNvCxnSpPr>
            <p:nvPr/>
          </p:nvCxnSpPr>
          <p:spPr>
            <a:xfrm>
              <a:off x="4949169" y="1351848"/>
              <a:ext cx="404043" cy="553626"/>
            </a:xfrm>
            <a:prstGeom prst="straightConnector1">
              <a:avLst/>
            </a:prstGeom>
            <a:ln w="19050">
              <a:solidFill>
                <a:srgbClr val="FF0000"/>
              </a:solidFill>
              <a:tailEnd type="triangle" w="med" len="lg"/>
            </a:ln>
          </p:spPr>
          <p:style>
            <a:lnRef idx="1">
              <a:schemeClr val="accent1"/>
            </a:lnRef>
            <a:fillRef idx="0">
              <a:schemeClr val="accent1"/>
            </a:fillRef>
            <a:effectRef idx="0">
              <a:schemeClr val="accent1"/>
            </a:effectRef>
            <a:fontRef idx="minor">
              <a:schemeClr val="tx1"/>
            </a:fontRef>
          </p:style>
        </p:cxnSp>
      </p:grpSp>
      <p:pic>
        <p:nvPicPr>
          <p:cNvPr id="54" name="图片 53">
            <a:extLst>
              <a:ext uri="{FF2B5EF4-FFF2-40B4-BE49-F238E27FC236}">
                <a16:creationId xmlns:a16="http://schemas.microsoft.com/office/drawing/2014/main" id="{003B52DB-9836-476A-9AA8-C595947018B1}"/>
              </a:ext>
            </a:extLst>
          </p:cNvPr>
          <p:cNvPicPr>
            <a:picLocks noChangeAspect="1"/>
          </p:cNvPicPr>
          <p:nvPr/>
        </p:nvPicPr>
        <p:blipFill>
          <a:blip r:embed="rId7"/>
          <a:stretch>
            <a:fillRect/>
          </a:stretch>
        </p:blipFill>
        <p:spPr>
          <a:xfrm>
            <a:off x="9645283" y="3952094"/>
            <a:ext cx="2208359" cy="2160000"/>
          </a:xfrm>
          <a:prstGeom prst="rect">
            <a:avLst/>
          </a:prstGeom>
        </p:spPr>
      </p:pic>
      <p:pic>
        <p:nvPicPr>
          <p:cNvPr id="56" name="图片 55">
            <a:extLst>
              <a:ext uri="{FF2B5EF4-FFF2-40B4-BE49-F238E27FC236}">
                <a16:creationId xmlns:a16="http://schemas.microsoft.com/office/drawing/2014/main" id="{81A62634-C6BB-4103-A595-29CF73ABFCAD}"/>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650478" y="975401"/>
            <a:ext cx="2203873" cy="2160000"/>
          </a:xfrm>
          <a:prstGeom prst="rect">
            <a:avLst/>
          </a:prstGeom>
        </p:spPr>
      </p:pic>
      <p:pic>
        <p:nvPicPr>
          <p:cNvPr id="57" name="图片 56">
            <a:extLst>
              <a:ext uri="{FF2B5EF4-FFF2-40B4-BE49-F238E27FC236}">
                <a16:creationId xmlns:a16="http://schemas.microsoft.com/office/drawing/2014/main" id="{3FAEEFAB-6E70-4B80-8AFB-4CB0566AD3E6}"/>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972592" y="975401"/>
            <a:ext cx="2203873" cy="2160000"/>
          </a:xfrm>
          <a:prstGeom prst="rect">
            <a:avLst/>
          </a:prstGeom>
        </p:spPr>
      </p:pic>
      <p:sp>
        <p:nvSpPr>
          <p:cNvPr id="58" name="箭头: 右 57">
            <a:extLst>
              <a:ext uri="{FF2B5EF4-FFF2-40B4-BE49-F238E27FC236}">
                <a16:creationId xmlns:a16="http://schemas.microsoft.com/office/drawing/2014/main" id="{49B39C9C-F35F-414E-9E16-72B2BCCC1C1F}"/>
              </a:ext>
            </a:extLst>
          </p:cNvPr>
          <p:cNvSpPr/>
          <p:nvPr/>
        </p:nvSpPr>
        <p:spPr>
          <a:xfrm>
            <a:off x="5633822" y="1515401"/>
            <a:ext cx="798467" cy="1080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箭头: 下 58">
            <a:extLst>
              <a:ext uri="{FF2B5EF4-FFF2-40B4-BE49-F238E27FC236}">
                <a16:creationId xmlns:a16="http://schemas.microsoft.com/office/drawing/2014/main" id="{8AFE3CCC-17B1-48C5-AC41-349A81BF3A32}"/>
              </a:ext>
            </a:extLst>
          </p:cNvPr>
          <p:cNvSpPr/>
          <p:nvPr/>
        </p:nvSpPr>
        <p:spPr>
          <a:xfrm>
            <a:off x="3359758" y="3318747"/>
            <a:ext cx="1080000" cy="540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59">
            <a:extLst>
              <a:ext uri="{FF2B5EF4-FFF2-40B4-BE49-F238E27FC236}">
                <a16:creationId xmlns:a16="http://schemas.microsoft.com/office/drawing/2014/main" id="{0614CDA8-E5CB-4D16-AF8B-93C871A2D6A7}"/>
              </a:ext>
            </a:extLst>
          </p:cNvPr>
          <p:cNvSpPr/>
          <p:nvPr/>
        </p:nvSpPr>
        <p:spPr>
          <a:xfrm>
            <a:off x="443839" y="4652656"/>
            <a:ext cx="2262158" cy="774571"/>
          </a:xfrm>
          <a:prstGeom prst="rect">
            <a:avLst/>
          </a:prstGeom>
        </p:spPr>
        <p:txBody>
          <a:bodyPr wrap="none">
            <a:spAutoFit/>
          </a:bodyPr>
          <a:lstStyle/>
          <a:p>
            <a:pPr algn="ctr">
              <a:spcBef>
                <a:spcPts val="1000"/>
              </a:spcBef>
            </a:pPr>
            <a:r>
              <a:rPr lang="zh-CN" altLang="en-US" dirty="0">
                <a:latin typeface="思源黑体 CN Bold" panose="020B0800000000000000" pitchFamily="34" charset="-122"/>
                <a:ea typeface="思源黑体 CN Bold" panose="020B0800000000000000" pitchFamily="34" charset="-122"/>
              </a:rPr>
              <a:t>连续两次使用</a:t>
            </a:r>
            <a:endParaRPr lang="en-US" altLang="zh-CN" dirty="0">
              <a:latin typeface="思源黑体 CN Bold" panose="020B0800000000000000" pitchFamily="34" charset="-122"/>
              <a:ea typeface="思源黑体 CN Bold" panose="020B0800000000000000" pitchFamily="34" charset="-122"/>
            </a:endParaRPr>
          </a:p>
          <a:p>
            <a:pPr algn="ctr">
              <a:spcBef>
                <a:spcPts val="1000"/>
              </a:spcBef>
            </a:pPr>
            <a:r>
              <a:rPr lang="zh-CN" altLang="en-US" dirty="0">
                <a:latin typeface="思源黑体 CN Bold" panose="020B0800000000000000" pitchFamily="34" charset="-122"/>
                <a:ea typeface="思源黑体 CN Bold" panose="020B0800000000000000" pitchFamily="34" charset="-122"/>
              </a:rPr>
              <a:t>同一个数据更新权值</a:t>
            </a:r>
            <a:endParaRPr lang="zh-CN" altLang="en-US" dirty="0"/>
          </a:p>
        </p:txBody>
      </p:sp>
    </p:spTree>
    <p:extLst>
      <p:ext uri="{BB962C8B-B14F-4D97-AF65-F5344CB8AC3E}">
        <p14:creationId xmlns:p14="http://schemas.microsoft.com/office/powerpoint/2010/main" val="21548663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E241BD-1EE9-45A1-BD36-CE0FF35490BC}"/>
              </a:ext>
            </a:extLst>
          </p:cNvPr>
          <p:cNvSpPr>
            <a:spLocks noGrp="1"/>
          </p:cNvSpPr>
          <p:nvPr>
            <p:ph type="title" idx="4294967295"/>
          </p:nvPr>
        </p:nvSpPr>
        <p:spPr>
          <a:xfrm>
            <a:off x="211183" y="147437"/>
            <a:ext cx="9983071" cy="533600"/>
          </a:xfrm>
        </p:spPr>
        <p:txBody>
          <a:bodyPr>
            <a:normAutofit fontScale="90000"/>
          </a:bodyPr>
          <a:lstStyle/>
          <a:p>
            <a:r>
              <a:rPr lang="en-US" altLang="zh-CN" dirty="0">
                <a:latin typeface="思源黑体 CN Bold" panose="020B0800000000000000" pitchFamily="34" charset="-122"/>
                <a:ea typeface="思源黑体 CN Bold" panose="020B0800000000000000" pitchFamily="34" charset="-122"/>
              </a:rPr>
              <a:t>3 </a:t>
            </a:r>
            <a:r>
              <a:rPr lang="zh-CN" altLang="en-US" dirty="0">
                <a:latin typeface="思源黑体 CN Bold" panose="020B0800000000000000" pitchFamily="34" charset="-122"/>
                <a:ea typeface="思源黑体 CN Bold" panose="020B0800000000000000" pitchFamily="34" charset="-122"/>
              </a:rPr>
              <a:t>前馈神经网络的训练：</a:t>
            </a:r>
            <a:r>
              <a:rPr lang="en-US" altLang="zh-CN" sz="3200" dirty="0">
                <a:latin typeface="思源黑体 CN Bold" panose="020B0800000000000000" pitchFamily="34" charset="-122"/>
                <a:ea typeface="思源黑体 CN Bold" panose="020B0800000000000000" pitchFamily="34" charset="-122"/>
              </a:rPr>
              <a:t>SGD</a:t>
            </a:r>
            <a:r>
              <a:rPr lang="zh-CN" altLang="en-US" sz="3200" dirty="0">
                <a:latin typeface="思源黑体 CN Bold" panose="020B0800000000000000" pitchFamily="34" charset="-122"/>
                <a:ea typeface="思源黑体 CN Bold" panose="020B0800000000000000" pitchFamily="34" charset="-122"/>
              </a:rPr>
              <a:t>可逃离局部极小</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180D8BF-A98D-4CFB-BA02-243072C789BD}"/>
                  </a:ext>
                </a:extLst>
              </p:cNvPr>
              <p:cNvSpPr>
                <a:spLocks noGrp="1"/>
              </p:cNvSpPr>
              <p:nvPr>
                <p:ph idx="4294967295"/>
              </p:nvPr>
            </p:nvSpPr>
            <p:spPr>
              <a:xfrm>
                <a:off x="760510" y="1253331"/>
                <a:ext cx="10670980" cy="4351338"/>
              </a:xfrm>
            </p:spPr>
            <p:txBody>
              <a:bodyPr>
                <a:noAutofit/>
              </a:bodyPr>
              <a:lstStyle/>
              <a:p>
                <a:pPr marL="342900" lvl="1" indent="-342900">
                  <a:lnSpc>
                    <a:spcPct val="100000"/>
                  </a:lnSpc>
                  <a:spcBef>
                    <a:spcPts val="1000"/>
                  </a:spcBef>
                  <a:spcAft>
                    <a:spcPts val="1000"/>
                  </a:spcAft>
                </a:pPr>
                <a:r>
                  <a:rPr lang="zh-CN" altLang="en-US" sz="1800" dirty="0">
                    <a:latin typeface="思源黑体 CN Bold" panose="020B0800000000000000" pitchFamily="34" charset="-122"/>
                    <a:ea typeface="思源黑体 CN Bold" panose="020B0800000000000000" pitchFamily="34" charset="-122"/>
                  </a:rPr>
                  <a:t>整体损失函数</a:t>
                </a:r>
                <a:endParaRPr lang="en-US" altLang="zh-CN" sz="1800" dirty="0">
                  <a:latin typeface="思源黑体 CN Bold" panose="020B0800000000000000" pitchFamily="34" charset="-122"/>
                  <a:ea typeface="思源黑体 CN Bold" panose="020B0800000000000000" pitchFamily="34" charset="-122"/>
                </a:endParaRPr>
              </a:p>
              <a:p>
                <a:pPr marL="0" lvl="1" indent="0">
                  <a:lnSpc>
                    <a:spcPct val="100000"/>
                  </a:lnSpc>
                  <a:spcBef>
                    <a:spcPts val="1000"/>
                  </a:spcBef>
                  <a:spcAft>
                    <a:spcPts val="1000"/>
                  </a:spcAft>
                  <a:buNone/>
                </a:pPr>
                <a14:m>
                  <m:oMathPara xmlns:m="http://schemas.openxmlformats.org/officeDocument/2006/math">
                    <m:oMathParaPr>
                      <m:jc m:val="center"/>
                    </m:oMathParaPr>
                    <m:oMath xmlns:m="http://schemas.openxmlformats.org/officeDocument/2006/math">
                      <m:r>
                        <m:rPr>
                          <m:sty m:val="p"/>
                        </m:rPr>
                        <a:rPr lang="en-US" altLang="zh-CN" sz="1800" i="1" dirty="0">
                          <a:latin typeface="Cambria Math" panose="02040503050406030204" pitchFamily="18" charset="0"/>
                        </a:rPr>
                        <m:t>Loss</m:t>
                      </m:r>
                      <m:d>
                        <m:dPr>
                          <m:ctrlPr>
                            <a:rPr lang="en-US" altLang="zh-CN" sz="1800" i="1" dirty="0">
                              <a:latin typeface="Cambria Math" panose="02040503050406030204" pitchFamily="18" charset="0"/>
                            </a:rPr>
                          </m:ctrlPr>
                        </m:dPr>
                        <m:e>
                          <m:r>
                            <a:rPr lang="en-US" altLang="zh-CN" sz="1800" b="1">
                              <a:latin typeface="Cambria Math" panose="02040503050406030204" pitchFamily="18" charset="0"/>
                            </a:rPr>
                            <m:t>𝐰</m:t>
                          </m:r>
                        </m:e>
                      </m:d>
                      <m:r>
                        <a:rPr lang="en-US" altLang="zh-CN" sz="1800" b="1" i="1">
                          <a:latin typeface="Cambria Math" panose="02040503050406030204" pitchFamily="18" charset="0"/>
                        </a:rPr>
                        <m:t>=−</m:t>
                      </m:r>
                      <m:nary>
                        <m:naryPr>
                          <m:chr m:val="∑"/>
                          <m:ctrlPr>
                            <a:rPr lang="en-US" altLang="zh-CN" sz="1800" b="1" i="1">
                              <a:latin typeface="Cambria Math" panose="02040503050406030204" pitchFamily="18" charset="0"/>
                            </a:rPr>
                          </m:ctrlPr>
                        </m:naryPr>
                        <m:sub>
                          <m:r>
                            <m:rPr>
                              <m:brk m:alnAt="23"/>
                            </m:rPr>
                            <a:rPr lang="en-US" altLang="zh-CN" sz="1800" i="1">
                              <a:latin typeface="Cambria Math" panose="02040503050406030204" pitchFamily="18" charset="0"/>
                            </a:rPr>
                            <m:t>𝑛</m:t>
                          </m:r>
                          <m:r>
                            <a:rPr lang="en-US" altLang="zh-CN" sz="1800" i="1">
                              <a:latin typeface="Cambria Math" panose="02040503050406030204" pitchFamily="18" charset="0"/>
                            </a:rPr>
                            <m:t>=1</m:t>
                          </m:r>
                        </m:sub>
                        <m:sup>
                          <m:r>
                            <a:rPr lang="en-US" altLang="zh-CN" sz="1800" i="1">
                              <a:latin typeface="Cambria Math" panose="02040503050406030204" pitchFamily="18" charset="0"/>
                            </a:rPr>
                            <m:t>𝑁</m:t>
                          </m:r>
                        </m:sup>
                        <m:e>
                          <m:nary>
                            <m:naryPr>
                              <m:chr m:val="∑"/>
                              <m:ctrlPr>
                                <a:rPr lang="en-US" altLang="zh-CN" sz="1800" i="1">
                                  <a:latin typeface="Cambria Math" panose="02040503050406030204" pitchFamily="18" charset="0"/>
                                </a:rPr>
                              </m:ctrlPr>
                            </m:naryPr>
                            <m:sub>
                              <m:r>
                                <m:rPr>
                                  <m:brk m:alnAt="23"/>
                                </m:rPr>
                                <a:rPr lang="en-US" altLang="zh-CN" sz="1800" i="1">
                                  <a:latin typeface="Cambria Math" panose="02040503050406030204" pitchFamily="18" charset="0"/>
                                </a:rPr>
                                <m:t>𝑘</m:t>
                              </m:r>
                              <m:r>
                                <a:rPr lang="en-US" altLang="zh-CN" sz="1800" i="1">
                                  <a:latin typeface="Cambria Math" panose="02040503050406030204" pitchFamily="18" charset="0"/>
                                </a:rPr>
                                <m:t>=1</m:t>
                              </m:r>
                            </m:sub>
                            <m:sup>
                              <m:r>
                                <a:rPr lang="en-US" altLang="zh-CN" sz="1800" i="1">
                                  <a:latin typeface="Cambria Math" panose="02040503050406030204" pitchFamily="18" charset="0"/>
                                </a:rPr>
                                <m:t>𝐾</m:t>
                              </m:r>
                            </m:sup>
                            <m:e>
                              <m:sSub>
                                <m:sSubPr>
                                  <m:ctrlPr>
                                    <a:rPr lang="en-US" altLang="zh-CN" sz="1800" b="1" i="1">
                                      <a:latin typeface="Cambria Math" panose="02040503050406030204" pitchFamily="18" charset="0"/>
                                    </a:rPr>
                                  </m:ctrlPr>
                                </m:sSubPr>
                                <m:e>
                                  <m:r>
                                    <a:rPr lang="en-US" altLang="zh-CN" sz="1800" b="0" i="1" smtClean="0">
                                      <a:latin typeface="Cambria Math" panose="02040503050406030204" pitchFamily="18" charset="0"/>
                                    </a:rPr>
                                    <m:t>𝑡</m:t>
                                  </m:r>
                                </m:e>
                                <m:sub>
                                  <m:r>
                                    <a:rPr lang="en-US" altLang="zh-CN" sz="1800" i="1">
                                      <a:latin typeface="Cambria Math" panose="02040503050406030204" pitchFamily="18" charset="0"/>
                                    </a:rPr>
                                    <m:t>𝑛𝑘</m:t>
                                  </m:r>
                                </m:sub>
                              </m:sSub>
                              <m:r>
                                <m:rPr>
                                  <m:sty m:val="p"/>
                                </m:rPr>
                                <a:rPr lang="en-US" altLang="zh-CN" sz="1800">
                                  <a:latin typeface="Cambria Math" panose="02040503050406030204" pitchFamily="18" charset="0"/>
                                </a:rPr>
                                <m:t>ln</m:t>
                              </m:r>
                              <m:d>
                                <m:dPr>
                                  <m:begChr m:val="{"/>
                                  <m:endChr m:val="}"/>
                                  <m:ctrlPr>
                                    <a:rPr lang="en-US" altLang="zh-CN" sz="1800" i="1">
                                      <a:latin typeface="Cambria Math" panose="02040503050406030204" pitchFamily="18" charset="0"/>
                                    </a:rPr>
                                  </m:ctrlPr>
                                </m:dPr>
                                <m:e>
                                  <m:r>
                                    <m:rPr>
                                      <m:sty m:val="p"/>
                                    </m:rPr>
                                    <a:rPr lang="en-US" altLang="zh-CN" sz="1800">
                                      <a:latin typeface="Cambria Math" panose="02040503050406030204" pitchFamily="18" charset="0"/>
                                    </a:rPr>
                                    <m:t>softmax</m:t>
                                  </m:r>
                                  <m:d>
                                    <m:dPr>
                                      <m:ctrlPr>
                                        <a:rPr lang="en-US" altLang="zh-CN" sz="1800" i="1">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𝑎</m:t>
                                          </m:r>
                                        </m:e>
                                        <m:sub>
                                          <m:r>
                                            <a:rPr lang="en-US" altLang="zh-CN" sz="1800" i="1">
                                              <a:latin typeface="Cambria Math" panose="02040503050406030204" pitchFamily="18" charset="0"/>
                                            </a:rPr>
                                            <m:t>𝑛𝑘</m:t>
                                          </m:r>
                                        </m:sub>
                                      </m:sSub>
                                    </m:e>
                                  </m:d>
                                </m:e>
                              </m:d>
                            </m:e>
                          </m:nary>
                        </m:e>
                      </m:nary>
                    </m:oMath>
                  </m:oMathPara>
                </a14:m>
                <a:endParaRPr lang="en-US" altLang="zh-CN" sz="1800" dirty="0">
                  <a:latin typeface="思源黑体 CN Bold" panose="020B0800000000000000" pitchFamily="34" charset="-122"/>
                  <a:ea typeface="思源黑体 CN Bold" panose="020B0800000000000000" pitchFamily="34" charset="-122"/>
                </a:endParaRPr>
              </a:p>
              <a:p>
                <a:pPr marL="0" lvl="1" indent="0">
                  <a:lnSpc>
                    <a:spcPct val="100000"/>
                  </a:lnSpc>
                  <a:spcBef>
                    <a:spcPts val="1000"/>
                  </a:spcBef>
                  <a:spcAft>
                    <a:spcPts val="1000"/>
                  </a:spcAft>
                  <a:buNone/>
                </a:pPr>
                <a:r>
                  <a:rPr lang="zh-CN" altLang="en-US" sz="1800" dirty="0">
                    <a:latin typeface="思源黑体 CN Bold" panose="020B0800000000000000" pitchFamily="34" charset="-122"/>
                    <a:ea typeface="思源黑体 CN Bold" panose="020B0800000000000000" pitchFamily="34" charset="-122"/>
                  </a:rPr>
                  <a:t>       在局部极小</a:t>
                </a:r>
                <a14:m>
                  <m:oMath xmlns:m="http://schemas.openxmlformats.org/officeDocument/2006/math">
                    <m:sSub>
                      <m:sSubPr>
                        <m:ctrlPr>
                          <a:rPr lang="en-US" altLang="zh-CN" sz="1800" b="1" i="1" smtClean="0">
                            <a:latin typeface="Cambria Math" panose="02040503050406030204" pitchFamily="18" charset="0"/>
                          </a:rPr>
                        </m:ctrlPr>
                      </m:sSubPr>
                      <m:e>
                        <m:r>
                          <a:rPr lang="en-US" altLang="zh-CN" sz="1800" b="1">
                            <a:latin typeface="Cambria Math" panose="02040503050406030204" pitchFamily="18" charset="0"/>
                          </a:rPr>
                          <m:t>𝐰</m:t>
                        </m:r>
                      </m:e>
                      <m:sub>
                        <m:r>
                          <a:rPr lang="en-US" altLang="zh-CN" sz="1800" b="1" i="1" smtClean="0">
                            <a:latin typeface="Cambria Math" panose="02040503050406030204" pitchFamily="18" charset="0"/>
                          </a:rPr>
                          <m:t>𝑴𝒊𝒏𝒊𝒎𝒂</m:t>
                        </m:r>
                      </m:sub>
                    </m:sSub>
                  </m:oMath>
                </a14:m>
                <a:r>
                  <a:rPr lang="zh-CN" altLang="en-US" sz="1800" dirty="0">
                    <a:latin typeface="思源黑体 CN Bold" panose="020B0800000000000000" pitchFamily="34" charset="-122"/>
                    <a:ea typeface="思源黑体 CN Bold" panose="020B0800000000000000" pitchFamily="34" charset="-122"/>
                  </a:rPr>
                  <a:t>处，</a:t>
                </a:r>
                <a14:m>
                  <m:oMath xmlns:m="http://schemas.openxmlformats.org/officeDocument/2006/math">
                    <m:r>
                      <m:rPr>
                        <m:sty m:val="p"/>
                      </m:rPr>
                      <a:rPr lang="en-US" altLang="zh-CN" sz="1800" i="1" dirty="0">
                        <a:latin typeface="Cambria Math" panose="02040503050406030204" pitchFamily="18" charset="0"/>
                        <a:ea typeface="Cambria Math" panose="02040503050406030204" pitchFamily="18" charset="0"/>
                      </a:rPr>
                      <m:t>∇</m:t>
                    </m:r>
                    <m:r>
                      <m:rPr>
                        <m:sty m:val="p"/>
                      </m:rPr>
                      <a:rPr lang="en-US" altLang="zh-CN" sz="1800" i="1" dirty="0">
                        <a:latin typeface="Cambria Math" panose="02040503050406030204" pitchFamily="18" charset="0"/>
                      </a:rPr>
                      <m:t>Loss</m:t>
                    </m:r>
                    <m:d>
                      <m:dPr>
                        <m:ctrlPr>
                          <a:rPr lang="en-US" altLang="zh-CN" sz="1800" i="1" dirty="0">
                            <a:latin typeface="Cambria Math" panose="02040503050406030204" pitchFamily="18" charset="0"/>
                          </a:rPr>
                        </m:ctrlPr>
                      </m:dPr>
                      <m:e>
                        <m:r>
                          <a:rPr lang="en-US" altLang="zh-CN" sz="1800" b="1">
                            <a:latin typeface="Cambria Math" panose="02040503050406030204" pitchFamily="18" charset="0"/>
                          </a:rPr>
                          <m:t>𝐰</m:t>
                        </m:r>
                      </m:e>
                    </m:d>
                    <m:r>
                      <a:rPr lang="en-US" altLang="zh-CN" sz="1800" b="1" i="1">
                        <a:latin typeface="Cambria Math" panose="02040503050406030204" pitchFamily="18" charset="0"/>
                      </a:rPr>
                      <m:t>=</m:t>
                    </m:r>
                    <m:nary>
                      <m:naryPr>
                        <m:chr m:val="∑"/>
                        <m:ctrlPr>
                          <a:rPr lang="en-US" altLang="zh-CN" sz="1800" b="1" i="1">
                            <a:latin typeface="Cambria Math" panose="02040503050406030204" pitchFamily="18" charset="0"/>
                          </a:rPr>
                        </m:ctrlPr>
                      </m:naryPr>
                      <m:sub>
                        <m:r>
                          <m:rPr>
                            <m:brk m:alnAt="23"/>
                          </m:rPr>
                          <a:rPr lang="en-US" altLang="zh-CN" sz="1800" i="1">
                            <a:latin typeface="Cambria Math" panose="02040503050406030204" pitchFamily="18" charset="0"/>
                          </a:rPr>
                          <m:t>𝑛</m:t>
                        </m:r>
                        <m:r>
                          <a:rPr lang="en-US" altLang="zh-CN" sz="1800" i="1">
                            <a:latin typeface="Cambria Math" panose="02040503050406030204" pitchFamily="18" charset="0"/>
                          </a:rPr>
                          <m:t>=1</m:t>
                        </m:r>
                      </m:sub>
                      <m:sup>
                        <m:r>
                          <a:rPr lang="en-US" altLang="zh-CN" sz="1800" i="1">
                            <a:latin typeface="Cambria Math" panose="02040503050406030204" pitchFamily="18" charset="0"/>
                          </a:rPr>
                          <m:t>𝑁</m:t>
                        </m:r>
                      </m:sup>
                      <m:e>
                        <m:d>
                          <m:dPr>
                            <m:ctrlPr>
                              <a:rPr lang="en-US" altLang="zh-CN" sz="1800" i="1">
                                <a:latin typeface="Cambria Math" panose="02040503050406030204" pitchFamily="18" charset="0"/>
                              </a:rPr>
                            </m:ctrlPr>
                          </m:dPr>
                          <m:e>
                            <m:sSub>
                              <m:sSubPr>
                                <m:ctrlPr>
                                  <a:rPr lang="en-US" altLang="zh-CN" sz="1800" b="1" i="1">
                                    <a:latin typeface="Cambria Math" panose="02040503050406030204" pitchFamily="18" charset="0"/>
                                  </a:rPr>
                                </m:ctrlPr>
                              </m:sSubPr>
                              <m:e>
                                <m:r>
                                  <a:rPr lang="zh-CN" altLang="en-US" sz="1800" i="1">
                                    <a:latin typeface="Cambria Math" panose="02040503050406030204" pitchFamily="18" charset="0"/>
                                  </a:rPr>
                                  <m:t>𝜎</m:t>
                                </m:r>
                              </m:e>
                              <m:sub>
                                <m:r>
                                  <a:rPr lang="en-US" altLang="zh-CN" sz="1800" i="1">
                                    <a:latin typeface="Cambria Math" panose="02040503050406030204" pitchFamily="18" charset="0"/>
                                  </a:rPr>
                                  <m:t>𝑛</m:t>
                                </m:r>
                              </m:sub>
                            </m:sSub>
                            <m:sSub>
                              <m:sSubPr>
                                <m:ctrlPr>
                                  <a:rPr lang="en-US" altLang="zh-CN" sz="1800" b="1" i="1">
                                    <a:latin typeface="Cambria Math" panose="02040503050406030204" pitchFamily="18" charset="0"/>
                                  </a:rPr>
                                </m:ctrlPr>
                              </m:sSubPr>
                              <m:e>
                                <m:r>
                                  <a:rPr lang="en-US" altLang="zh-CN" sz="1800" b="1" i="1">
                                    <a:latin typeface="Cambria Math" panose="02040503050406030204" pitchFamily="18" charset="0"/>
                                  </a:rPr>
                                  <m:t>−</m:t>
                                </m:r>
                                <m:r>
                                  <a:rPr lang="en-US" altLang="zh-CN" sz="1800" b="0" i="1" smtClean="0">
                                    <a:latin typeface="Cambria Math" panose="02040503050406030204" pitchFamily="18" charset="0"/>
                                  </a:rPr>
                                  <m:t>𝑡</m:t>
                                </m:r>
                              </m:e>
                              <m:sub>
                                <m:r>
                                  <a:rPr lang="en-US" altLang="zh-CN" sz="1800" i="1">
                                    <a:latin typeface="Cambria Math" panose="02040503050406030204" pitchFamily="18" charset="0"/>
                                  </a:rPr>
                                  <m:t>𝑛</m:t>
                                </m:r>
                              </m:sub>
                            </m:sSub>
                          </m:e>
                        </m:d>
                        <m:r>
                          <a:rPr lang="zh-CN" altLang="en-US" sz="1800" b="1" i="1">
                            <a:latin typeface="Cambria Math" panose="02040503050406030204" pitchFamily="18" charset="0"/>
                          </a:rPr>
                          <m:t>𝝓</m:t>
                        </m:r>
                        <m:d>
                          <m:dPr>
                            <m:ctrlPr>
                              <a:rPr lang="en-US" altLang="zh-CN" sz="1800" i="1">
                                <a:latin typeface="Cambria Math" panose="02040503050406030204" pitchFamily="18" charset="0"/>
                              </a:rPr>
                            </m:ctrlPr>
                          </m:dPr>
                          <m:e>
                            <m:sSub>
                              <m:sSubPr>
                                <m:ctrlPr>
                                  <a:rPr lang="en-US" altLang="zh-CN" sz="1800" b="1" i="1">
                                    <a:latin typeface="Cambria Math" panose="02040503050406030204" pitchFamily="18" charset="0"/>
                                  </a:rPr>
                                </m:ctrlPr>
                              </m:sSubPr>
                              <m:e>
                                <m:r>
                                  <a:rPr lang="en-US" altLang="zh-CN" sz="1800" b="1">
                                    <a:latin typeface="Cambria Math" panose="02040503050406030204" pitchFamily="18" charset="0"/>
                                  </a:rPr>
                                  <m:t>𝐱</m:t>
                                </m:r>
                              </m:e>
                              <m:sub>
                                <m:r>
                                  <a:rPr lang="en-US" altLang="zh-CN" sz="1800" i="1">
                                    <a:latin typeface="Cambria Math" panose="02040503050406030204" pitchFamily="18" charset="0"/>
                                  </a:rPr>
                                  <m:t>𝑛</m:t>
                                </m:r>
                              </m:sub>
                            </m:sSub>
                          </m:e>
                        </m:d>
                      </m:e>
                    </m:nary>
                    <m:r>
                      <a:rPr lang="en-US" altLang="zh-CN" sz="1800" b="1" i="1" smtClean="0">
                        <a:latin typeface="Cambria Math" panose="02040503050406030204" pitchFamily="18" charset="0"/>
                      </a:rPr>
                      <m:t>=</m:t>
                    </m:r>
                    <m:r>
                      <a:rPr lang="en-US" altLang="zh-CN" sz="1800" b="0" i="1" smtClean="0">
                        <a:latin typeface="Cambria Math" panose="02040503050406030204" pitchFamily="18" charset="0"/>
                      </a:rPr>
                      <m:t>0</m:t>
                    </m:r>
                  </m:oMath>
                </a14:m>
                <a:endParaRPr lang="en-US" altLang="zh-CN" sz="1800" dirty="0"/>
              </a:p>
              <a:p>
                <a:pPr marL="0" lvl="1" indent="0">
                  <a:lnSpc>
                    <a:spcPct val="100000"/>
                  </a:lnSpc>
                  <a:spcBef>
                    <a:spcPts val="1000"/>
                  </a:spcBef>
                  <a:spcAft>
                    <a:spcPts val="1000"/>
                  </a:spcAft>
                  <a:buNone/>
                </a:pPr>
                <a:endParaRPr lang="en-US" altLang="zh-CN" sz="100" dirty="0"/>
              </a:p>
              <a:p>
                <a:pPr marL="285750" lvl="1" indent="-285750">
                  <a:lnSpc>
                    <a:spcPct val="100000"/>
                  </a:lnSpc>
                  <a:spcBef>
                    <a:spcPts val="1000"/>
                  </a:spcBef>
                  <a:spcAft>
                    <a:spcPts val="1000"/>
                  </a:spcAft>
                </a:pPr>
                <a:r>
                  <a:rPr lang="zh-CN" altLang="en-US" sz="1800" dirty="0">
                    <a:ea typeface="思源黑体 CN Bold" panose="020B0800000000000000" pitchFamily="34" charset="-122"/>
                  </a:rPr>
                  <a:t>局部损失函数（单个点或</a:t>
                </a:r>
                <a:r>
                  <a:rPr lang="en-US" altLang="zh-CN" sz="1800" dirty="0">
                    <a:latin typeface="思源黑体 CN Bold" panose="020B0800000000000000" pitchFamily="34" charset="-122"/>
                    <a:ea typeface="思源黑体 CN Bold" panose="020B0800000000000000" pitchFamily="34" charset="-122"/>
                  </a:rPr>
                  <a:t>mini-batch</a:t>
                </a:r>
                <a:r>
                  <a:rPr lang="zh-CN" altLang="en-US" sz="1800" dirty="0">
                    <a:ea typeface="思源黑体 CN Bold" panose="020B0800000000000000" pitchFamily="34" charset="-122"/>
                  </a:rPr>
                  <a:t>）</a:t>
                </a:r>
                <a:endParaRPr lang="en-US" altLang="zh-CN" sz="1800" dirty="0">
                  <a:ea typeface="思源黑体 CN Bold" panose="020B0800000000000000" pitchFamily="34" charset="-122"/>
                </a:endParaRPr>
              </a:p>
              <a:p>
                <a:pPr marL="0" lvl="1" indent="0">
                  <a:lnSpc>
                    <a:spcPct val="100000"/>
                  </a:lnSpc>
                  <a:spcBef>
                    <a:spcPts val="1000"/>
                  </a:spcBef>
                  <a:spcAft>
                    <a:spcPts val="1000"/>
                  </a:spcAft>
                  <a:buNone/>
                </a:pPr>
                <a14:m>
                  <m:oMathPara xmlns:m="http://schemas.openxmlformats.org/officeDocument/2006/math">
                    <m:oMathParaPr>
                      <m:jc m:val="center"/>
                    </m:oMathParaPr>
                    <m:oMath xmlns:m="http://schemas.openxmlformats.org/officeDocument/2006/math">
                      <m:sSub>
                        <m:sSubPr>
                          <m:ctrlPr>
                            <a:rPr lang="en-US" altLang="zh-CN" sz="1800" i="1" dirty="0">
                              <a:latin typeface="Cambria Math" panose="02040503050406030204" pitchFamily="18" charset="0"/>
                              <a:ea typeface="思源黑体 CN Bold" panose="020B0800000000000000" pitchFamily="34" charset="-122"/>
                            </a:rPr>
                          </m:ctrlPr>
                        </m:sSubPr>
                        <m:e>
                          <m:r>
                            <m:rPr>
                              <m:sty m:val="p"/>
                            </m:rPr>
                            <a:rPr lang="en-US" altLang="zh-CN" sz="1800" dirty="0">
                              <a:latin typeface="Cambria Math" panose="02040503050406030204" pitchFamily="18" charset="0"/>
                              <a:ea typeface="思源黑体 CN Bold" panose="020B0800000000000000" pitchFamily="34" charset="-122"/>
                            </a:rPr>
                            <m:t>Loss</m:t>
                          </m:r>
                          <m:d>
                            <m:dPr>
                              <m:ctrlPr>
                                <a:rPr lang="en-US" altLang="zh-CN" sz="1800" i="1" dirty="0">
                                  <a:latin typeface="Cambria Math" panose="02040503050406030204" pitchFamily="18" charset="0"/>
                                  <a:ea typeface="思源黑体 CN Bold" panose="020B0800000000000000" pitchFamily="34" charset="-122"/>
                                </a:rPr>
                              </m:ctrlPr>
                            </m:dPr>
                            <m:e>
                              <m:r>
                                <a:rPr lang="en-US" altLang="zh-CN" sz="1800">
                                  <a:latin typeface="Cambria Math" panose="02040503050406030204" pitchFamily="18" charset="0"/>
                                  <a:ea typeface="思源黑体 CN Bold" panose="020B0800000000000000" pitchFamily="34" charset="-122"/>
                                </a:rPr>
                                <m:t>𝐰</m:t>
                              </m:r>
                            </m:e>
                          </m:d>
                        </m:e>
                        <m:sub>
                          <m:r>
                            <a:rPr lang="en-US" altLang="zh-CN" sz="1800" dirty="0">
                              <a:latin typeface="Cambria Math" panose="02040503050406030204" pitchFamily="18" charset="0"/>
                              <a:ea typeface="思源黑体 CN Bold" panose="020B0800000000000000" pitchFamily="34" charset="-122"/>
                            </a:rPr>
                            <m:t>𝑛</m:t>
                          </m:r>
                        </m:sub>
                      </m:sSub>
                      <m:r>
                        <a:rPr lang="en-US" altLang="zh-CN" sz="1800">
                          <a:latin typeface="Cambria Math" panose="02040503050406030204" pitchFamily="18" charset="0"/>
                          <a:ea typeface="思源黑体 CN Bold" panose="020B0800000000000000" pitchFamily="34" charset="-122"/>
                        </a:rPr>
                        <m:t>=−</m:t>
                      </m:r>
                      <m:nary>
                        <m:naryPr>
                          <m:chr m:val="∑"/>
                          <m:ctrlPr>
                            <a:rPr lang="en-US" altLang="zh-CN" sz="1800" i="1">
                              <a:latin typeface="Cambria Math" panose="02040503050406030204" pitchFamily="18" charset="0"/>
                              <a:ea typeface="思源黑体 CN Bold" panose="020B0800000000000000" pitchFamily="34" charset="-122"/>
                            </a:rPr>
                          </m:ctrlPr>
                        </m:naryPr>
                        <m:sub>
                          <m:r>
                            <m:rPr>
                              <m:brk m:alnAt="23"/>
                            </m:rPr>
                            <a:rPr lang="en-US" altLang="zh-CN" sz="1800">
                              <a:latin typeface="Cambria Math" panose="02040503050406030204" pitchFamily="18" charset="0"/>
                              <a:ea typeface="思源黑体 CN Bold" panose="020B0800000000000000" pitchFamily="34" charset="-122"/>
                            </a:rPr>
                            <m:t>𝑘</m:t>
                          </m:r>
                          <m:r>
                            <a:rPr lang="en-US" altLang="zh-CN" sz="1800">
                              <a:latin typeface="Cambria Math" panose="02040503050406030204" pitchFamily="18" charset="0"/>
                              <a:ea typeface="思源黑体 CN Bold" panose="020B0800000000000000" pitchFamily="34" charset="-122"/>
                            </a:rPr>
                            <m:t>=1</m:t>
                          </m:r>
                        </m:sub>
                        <m:sup>
                          <m:r>
                            <a:rPr lang="en-US" altLang="zh-CN" sz="1800">
                              <a:latin typeface="Cambria Math" panose="02040503050406030204" pitchFamily="18" charset="0"/>
                              <a:ea typeface="思源黑体 CN Bold" panose="020B0800000000000000" pitchFamily="34" charset="-122"/>
                            </a:rPr>
                            <m:t>𝐾</m:t>
                          </m:r>
                        </m:sup>
                        <m:e>
                          <m:sSub>
                            <m:sSubPr>
                              <m:ctrlPr>
                                <a:rPr lang="en-US" altLang="zh-CN" sz="1800" i="1">
                                  <a:latin typeface="Cambria Math" panose="02040503050406030204" pitchFamily="18" charset="0"/>
                                  <a:ea typeface="思源黑体 CN Bold" panose="020B0800000000000000" pitchFamily="34" charset="-122"/>
                                </a:rPr>
                              </m:ctrlPr>
                            </m:sSubPr>
                            <m:e>
                              <m:r>
                                <a:rPr lang="en-US" altLang="zh-CN" sz="1800" b="0" i="1" smtClean="0">
                                  <a:latin typeface="Cambria Math" panose="02040503050406030204" pitchFamily="18" charset="0"/>
                                  <a:ea typeface="思源黑体 CN Bold" panose="020B0800000000000000" pitchFamily="34" charset="-122"/>
                                </a:rPr>
                                <m:t>𝑡</m:t>
                              </m:r>
                            </m:e>
                            <m:sub>
                              <m:r>
                                <a:rPr lang="en-US" altLang="zh-CN" sz="1800">
                                  <a:latin typeface="Cambria Math" panose="02040503050406030204" pitchFamily="18" charset="0"/>
                                  <a:ea typeface="思源黑体 CN Bold" panose="020B0800000000000000" pitchFamily="34" charset="-122"/>
                                </a:rPr>
                                <m:t>𝑛𝑘</m:t>
                              </m:r>
                            </m:sub>
                          </m:sSub>
                          <m:r>
                            <m:rPr>
                              <m:sty m:val="p"/>
                            </m:rPr>
                            <a:rPr lang="en-US" altLang="zh-CN" sz="1800">
                              <a:latin typeface="Cambria Math" panose="02040503050406030204" pitchFamily="18" charset="0"/>
                              <a:ea typeface="思源黑体 CN Bold" panose="020B0800000000000000" pitchFamily="34" charset="-122"/>
                            </a:rPr>
                            <m:t>ln</m:t>
                          </m:r>
                          <m:d>
                            <m:dPr>
                              <m:begChr m:val="{"/>
                              <m:endChr m:val="}"/>
                              <m:ctrlPr>
                                <a:rPr lang="en-US" altLang="zh-CN" sz="1800" i="1">
                                  <a:latin typeface="Cambria Math" panose="02040503050406030204" pitchFamily="18" charset="0"/>
                                  <a:ea typeface="思源黑体 CN Bold" panose="020B0800000000000000" pitchFamily="34" charset="-122"/>
                                </a:rPr>
                              </m:ctrlPr>
                            </m:dPr>
                            <m:e>
                              <m:r>
                                <m:rPr>
                                  <m:sty m:val="p"/>
                                </m:rPr>
                                <a:rPr lang="en-US" altLang="zh-CN" sz="1800">
                                  <a:latin typeface="Cambria Math" panose="02040503050406030204" pitchFamily="18" charset="0"/>
                                  <a:ea typeface="思源黑体 CN Bold" panose="020B0800000000000000" pitchFamily="34" charset="-122"/>
                                </a:rPr>
                                <m:t>softmax</m:t>
                              </m:r>
                              <m:d>
                                <m:dPr>
                                  <m:ctrlPr>
                                    <a:rPr lang="en-US" altLang="zh-CN" sz="1800" i="1">
                                      <a:latin typeface="Cambria Math" panose="02040503050406030204" pitchFamily="18" charset="0"/>
                                      <a:ea typeface="思源黑体 CN Bold" panose="020B0800000000000000" pitchFamily="34" charset="-122"/>
                                    </a:rPr>
                                  </m:ctrlPr>
                                </m:dPr>
                                <m:e>
                                  <m:sSub>
                                    <m:sSubPr>
                                      <m:ctrlPr>
                                        <a:rPr lang="en-US" altLang="zh-CN" sz="1800" i="1">
                                          <a:latin typeface="Cambria Math" panose="02040503050406030204" pitchFamily="18" charset="0"/>
                                          <a:ea typeface="思源黑体 CN Bold" panose="020B0800000000000000" pitchFamily="34" charset="-122"/>
                                        </a:rPr>
                                      </m:ctrlPr>
                                    </m:sSubPr>
                                    <m:e>
                                      <m:r>
                                        <a:rPr lang="en-US" altLang="zh-CN" sz="1800">
                                          <a:latin typeface="Cambria Math" panose="02040503050406030204" pitchFamily="18" charset="0"/>
                                          <a:ea typeface="思源黑体 CN Bold" panose="020B0800000000000000" pitchFamily="34" charset="-122"/>
                                        </a:rPr>
                                        <m:t>𝑎</m:t>
                                      </m:r>
                                    </m:e>
                                    <m:sub>
                                      <m:r>
                                        <a:rPr lang="en-US" altLang="zh-CN" sz="1800">
                                          <a:latin typeface="Cambria Math" panose="02040503050406030204" pitchFamily="18" charset="0"/>
                                          <a:ea typeface="思源黑体 CN Bold" panose="020B0800000000000000" pitchFamily="34" charset="-122"/>
                                        </a:rPr>
                                        <m:t>𝑛𝑘</m:t>
                                      </m:r>
                                    </m:sub>
                                  </m:sSub>
                                </m:e>
                              </m:d>
                            </m:e>
                          </m:d>
                        </m:e>
                      </m:nary>
                    </m:oMath>
                  </m:oMathPara>
                </a14:m>
                <a:endParaRPr lang="en-US" altLang="zh-CN" sz="1800" dirty="0">
                  <a:latin typeface="思源黑体 CN Bold" panose="020B0800000000000000" pitchFamily="34" charset="-122"/>
                  <a:ea typeface="思源黑体 CN Bold" panose="020B0800000000000000" pitchFamily="34" charset="-122"/>
                </a:endParaRPr>
              </a:p>
              <a:p>
                <a:pPr marL="0" lvl="1" indent="0">
                  <a:lnSpc>
                    <a:spcPct val="100000"/>
                  </a:lnSpc>
                  <a:spcBef>
                    <a:spcPts val="1000"/>
                  </a:spcBef>
                  <a:spcAft>
                    <a:spcPts val="1000"/>
                  </a:spcAft>
                  <a:buNone/>
                </a:pPr>
                <a:r>
                  <a:rPr lang="zh-CN" altLang="en-US" sz="1800" dirty="0">
                    <a:latin typeface="思源黑体 CN Bold" panose="020B0800000000000000" pitchFamily="34" charset="-122"/>
                    <a:ea typeface="思源黑体 CN Bold" panose="020B0800000000000000" pitchFamily="34" charset="-122"/>
                  </a:rPr>
                  <a:t>      在</a:t>
                </a:r>
                <a14:m>
                  <m:oMath xmlns:m="http://schemas.openxmlformats.org/officeDocument/2006/math">
                    <m:sSub>
                      <m:sSubPr>
                        <m:ctrlPr>
                          <a:rPr lang="en-US" altLang="zh-CN" sz="1800" b="1" i="1">
                            <a:latin typeface="Cambria Math" panose="02040503050406030204" pitchFamily="18" charset="0"/>
                          </a:rPr>
                        </m:ctrlPr>
                      </m:sSubPr>
                      <m:e>
                        <m:r>
                          <a:rPr lang="en-US" altLang="zh-CN" sz="1800" b="1">
                            <a:latin typeface="Cambria Math" panose="02040503050406030204" pitchFamily="18" charset="0"/>
                          </a:rPr>
                          <m:t>𝐰</m:t>
                        </m:r>
                      </m:e>
                      <m:sub>
                        <m:r>
                          <a:rPr lang="en-US" altLang="zh-CN" sz="1800" b="1" i="1">
                            <a:latin typeface="Cambria Math" panose="02040503050406030204" pitchFamily="18" charset="0"/>
                          </a:rPr>
                          <m:t>𝑴𝒊𝒏𝒊𝒎𝒂</m:t>
                        </m:r>
                      </m:sub>
                    </m:sSub>
                  </m:oMath>
                </a14:m>
                <a:r>
                  <a:rPr lang="zh-CN" altLang="en-US" sz="1800" dirty="0">
                    <a:latin typeface="思源黑体 CN Bold" panose="020B0800000000000000" pitchFamily="34" charset="-122"/>
                    <a:ea typeface="思源黑体 CN Bold" panose="020B0800000000000000" pitchFamily="34" charset="-122"/>
                  </a:rPr>
                  <a:t>处，</a:t>
                </a:r>
                <a14:m>
                  <m:oMath xmlns:m="http://schemas.openxmlformats.org/officeDocument/2006/math">
                    <m:sSub>
                      <m:sSubPr>
                        <m:ctrlPr>
                          <a:rPr lang="en-US" altLang="zh-CN" sz="1800" i="1" dirty="0">
                            <a:latin typeface="Cambria Math" panose="02040503050406030204" pitchFamily="18" charset="0"/>
                            <a:ea typeface="Cambria Math" panose="02040503050406030204" pitchFamily="18" charset="0"/>
                          </a:rPr>
                        </m:ctrlPr>
                      </m:sSubPr>
                      <m:e>
                        <m:r>
                          <m:rPr>
                            <m:sty m:val="p"/>
                          </m:rPr>
                          <a:rPr lang="en-US" altLang="zh-CN" sz="1800" i="1" dirty="0">
                            <a:latin typeface="Cambria Math" panose="02040503050406030204" pitchFamily="18" charset="0"/>
                            <a:ea typeface="Cambria Math" panose="02040503050406030204" pitchFamily="18" charset="0"/>
                          </a:rPr>
                          <m:t>∇</m:t>
                        </m:r>
                        <m:r>
                          <m:rPr>
                            <m:sty m:val="p"/>
                          </m:rPr>
                          <a:rPr lang="en-US" altLang="zh-CN" sz="1800" i="1" dirty="0">
                            <a:latin typeface="Cambria Math" panose="02040503050406030204" pitchFamily="18" charset="0"/>
                          </a:rPr>
                          <m:t>Loss</m:t>
                        </m:r>
                        <m:d>
                          <m:dPr>
                            <m:ctrlPr>
                              <a:rPr lang="en-US" altLang="zh-CN" sz="1800" i="1" dirty="0">
                                <a:latin typeface="Cambria Math" panose="02040503050406030204" pitchFamily="18" charset="0"/>
                              </a:rPr>
                            </m:ctrlPr>
                          </m:dPr>
                          <m:e>
                            <m:r>
                              <a:rPr lang="en-US" altLang="zh-CN" sz="1800" b="1">
                                <a:latin typeface="Cambria Math" panose="02040503050406030204" pitchFamily="18" charset="0"/>
                              </a:rPr>
                              <m:t>𝐰</m:t>
                            </m:r>
                          </m:e>
                        </m:d>
                      </m:e>
                      <m:sub>
                        <m:r>
                          <a:rPr lang="en-US" altLang="zh-CN" sz="1800" i="1" dirty="0">
                            <a:latin typeface="Cambria Math" panose="02040503050406030204" pitchFamily="18" charset="0"/>
                            <a:ea typeface="Cambria Math" panose="02040503050406030204" pitchFamily="18" charset="0"/>
                          </a:rPr>
                          <m:t>𝑛</m:t>
                        </m:r>
                      </m:sub>
                    </m:sSub>
                    <m:r>
                      <a:rPr lang="en-US" altLang="zh-CN" sz="1800" i="1" dirty="0">
                        <a:latin typeface="Cambria Math" panose="02040503050406030204" pitchFamily="18" charset="0"/>
                        <a:ea typeface="Cambria Math" panose="02040503050406030204" pitchFamily="18" charset="0"/>
                      </a:rPr>
                      <m:t>=</m:t>
                    </m:r>
                    <m:d>
                      <m:dPr>
                        <m:ctrlPr>
                          <a:rPr lang="en-US" altLang="zh-CN" sz="1800" i="1">
                            <a:latin typeface="Cambria Math" panose="02040503050406030204" pitchFamily="18" charset="0"/>
                          </a:rPr>
                        </m:ctrlPr>
                      </m:dPr>
                      <m:e>
                        <m:sSub>
                          <m:sSubPr>
                            <m:ctrlPr>
                              <a:rPr lang="en-US" altLang="zh-CN" sz="1800" b="1" i="1">
                                <a:latin typeface="Cambria Math" panose="02040503050406030204" pitchFamily="18" charset="0"/>
                              </a:rPr>
                            </m:ctrlPr>
                          </m:sSubPr>
                          <m:e>
                            <m:r>
                              <a:rPr lang="zh-CN" altLang="en-US" sz="1800" i="1">
                                <a:latin typeface="Cambria Math" panose="02040503050406030204" pitchFamily="18" charset="0"/>
                              </a:rPr>
                              <m:t>𝜎</m:t>
                            </m:r>
                          </m:e>
                          <m:sub>
                            <m:r>
                              <a:rPr lang="en-US" altLang="zh-CN" sz="1800" i="1">
                                <a:latin typeface="Cambria Math" panose="02040503050406030204" pitchFamily="18" charset="0"/>
                              </a:rPr>
                              <m:t>𝑛</m:t>
                            </m:r>
                          </m:sub>
                        </m:sSub>
                        <m:sSub>
                          <m:sSubPr>
                            <m:ctrlPr>
                              <a:rPr lang="en-US" altLang="zh-CN" sz="1800" b="1" i="1">
                                <a:latin typeface="Cambria Math" panose="02040503050406030204" pitchFamily="18" charset="0"/>
                              </a:rPr>
                            </m:ctrlPr>
                          </m:sSubPr>
                          <m:e>
                            <m:r>
                              <a:rPr lang="en-US" altLang="zh-CN" sz="1800" b="1" i="1">
                                <a:latin typeface="Cambria Math" panose="02040503050406030204" pitchFamily="18" charset="0"/>
                              </a:rPr>
                              <m:t>−</m:t>
                            </m:r>
                            <m:r>
                              <a:rPr lang="en-US" altLang="zh-CN" sz="1800" b="0" i="1" smtClean="0">
                                <a:latin typeface="Cambria Math" panose="02040503050406030204" pitchFamily="18" charset="0"/>
                              </a:rPr>
                              <m:t>𝑡</m:t>
                            </m:r>
                          </m:e>
                          <m:sub>
                            <m:r>
                              <a:rPr lang="en-US" altLang="zh-CN" sz="1800" i="1">
                                <a:latin typeface="Cambria Math" panose="02040503050406030204" pitchFamily="18" charset="0"/>
                              </a:rPr>
                              <m:t>𝑛</m:t>
                            </m:r>
                          </m:sub>
                        </m:sSub>
                      </m:e>
                    </m:d>
                    <m:r>
                      <a:rPr lang="zh-CN" altLang="en-US" sz="1800" b="1" i="1">
                        <a:latin typeface="Cambria Math" panose="02040503050406030204" pitchFamily="18" charset="0"/>
                      </a:rPr>
                      <m:t>𝝓</m:t>
                    </m:r>
                    <m:d>
                      <m:dPr>
                        <m:ctrlPr>
                          <a:rPr lang="en-US" altLang="zh-CN" sz="1800" i="1">
                            <a:latin typeface="Cambria Math" panose="02040503050406030204" pitchFamily="18" charset="0"/>
                          </a:rPr>
                        </m:ctrlPr>
                      </m:dPr>
                      <m:e>
                        <m:sSub>
                          <m:sSubPr>
                            <m:ctrlPr>
                              <a:rPr lang="en-US" altLang="zh-CN" sz="1800" b="1" i="1">
                                <a:latin typeface="Cambria Math" panose="02040503050406030204" pitchFamily="18" charset="0"/>
                              </a:rPr>
                            </m:ctrlPr>
                          </m:sSubPr>
                          <m:e>
                            <m:r>
                              <a:rPr lang="en-US" altLang="zh-CN" sz="1800" b="1">
                                <a:latin typeface="Cambria Math" panose="02040503050406030204" pitchFamily="18" charset="0"/>
                              </a:rPr>
                              <m:t>𝐱</m:t>
                            </m:r>
                          </m:e>
                          <m:sub>
                            <m:r>
                              <a:rPr lang="en-US" altLang="zh-CN" sz="1800" i="1">
                                <a:latin typeface="Cambria Math" panose="02040503050406030204" pitchFamily="18" charset="0"/>
                              </a:rPr>
                              <m:t>𝑛</m:t>
                            </m:r>
                          </m:sub>
                        </m:sSub>
                      </m:e>
                    </m:d>
                  </m:oMath>
                </a14:m>
                <a:r>
                  <a:rPr lang="zh-CN" altLang="en-US" sz="1800" dirty="0">
                    <a:latin typeface="思源黑体 CN Bold" panose="020B0800000000000000" pitchFamily="34" charset="-122"/>
                    <a:ea typeface="思源黑体 CN Bold" panose="020B0800000000000000" pitchFamily="34" charset="-122"/>
                  </a:rPr>
                  <a:t>不一定为</a:t>
                </a:r>
                <a:r>
                  <a:rPr lang="en-US" altLang="zh-CN" sz="1800" dirty="0">
                    <a:latin typeface="思源黑体 CN Bold" panose="020B0800000000000000" pitchFamily="34" charset="-122"/>
                    <a:ea typeface="思源黑体 CN Bold" panose="020B0800000000000000" pitchFamily="34" charset="-122"/>
                  </a:rPr>
                  <a:t>0</a:t>
                </a:r>
                <a:endParaRPr lang="zh-CN" altLang="en-US" sz="1800" dirty="0"/>
              </a:p>
            </p:txBody>
          </p:sp>
        </mc:Choice>
        <mc:Fallback xmlns="">
          <p:sp>
            <p:nvSpPr>
              <p:cNvPr id="3" name="内容占位符 2">
                <a:extLst>
                  <a:ext uri="{FF2B5EF4-FFF2-40B4-BE49-F238E27FC236}">
                    <a16:creationId xmlns:a16="http://schemas.microsoft.com/office/drawing/2014/main" id="{9180D8BF-A98D-4CFB-BA02-243072C789BD}"/>
                  </a:ext>
                </a:extLst>
              </p:cNvPr>
              <p:cNvSpPr>
                <a:spLocks noGrp="1" noRot="1" noChangeAspect="1" noMove="1" noResize="1" noEditPoints="1" noAdjustHandles="1" noChangeArrowheads="1" noChangeShapeType="1" noTextEdit="1"/>
              </p:cNvSpPr>
              <p:nvPr>
                <p:ph idx="4294967295"/>
              </p:nvPr>
            </p:nvSpPr>
            <p:spPr>
              <a:xfrm>
                <a:off x="760510" y="1253331"/>
                <a:ext cx="10670980" cy="4351338"/>
              </a:xfrm>
              <a:blipFill>
                <a:blip r:embed="rId2"/>
                <a:stretch>
                  <a:fillRect l="-400" t="-84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00221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6AF3F0-4352-4D79-A227-6FCBA2EBA88A}"/>
              </a:ext>
            </a:extLst>
          </p:cNvPr>
          <p:cNvSpPr>
            <a:spLocks noGrp="1"/>
          </p:cNvSpPr>
          <p:nvPr>
            <p:ph type="title" idx="4294967295"/>
          </p:nvPr>
        </p:nvSpPr>
        <p:spPr>
          <a:xfrm>
            <a:off x="266483" y="148073"/>
            <a:ext cx="8924544" cy="532964"/>
          </a:xfrm>
        </p:spPr>
        <p:txBody>
          <a:bodyPr>
            <a:noAutofit/>
          </a:bodyPr>
          <a:lstStyle/>
          <a:p>
            <a:r>
              <a:rPr lang="en-US" altLang="zh-CN" sz="3600" dirty="0">
                <a:latin typeface="思源黑体 CN Bold" panose="020B0800000000000000" pitchFamily="34" charset="-122"/>
                <a:ea typeface="思源黑体 CN Bold" panose="020B0800000000000000" pitchFamily="34" charset="-122"/>
              </a:rPr>
              <a:t>4 </a:t>
            </a:r>
            <a:r>
              <a:rPr lang="zh-CN" altLang="en-US" sz="3600" dirty="0">
                <a:latin typeface="思源黑体 CN Bold" panose="020B0800000000000000" pitchFamily="34" charset="-122"/>
                <a:ea typeface="思源黑体 CN Bold" panose="020B0800000000000000" pitchFamily="34" charset="-122"/>
              </a:rPr>
              <a:t>误差后向传播</a:t>
            </a:r>
            <a:endParaRPr lang="zh-CN" altLang="en-US" sz="3600"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B5F15897-98F0-4E08-931A-45E1DC23C6B6}"/>
                  </a:ext>
                </a:extLst>
              </p:cNvPr>
              <p:cNvSpPr>
                <a:spLocks noGrp="1"/>
              </p:cNvSpPr>
              <p:nvPr>
                <p:ph idx="4294967295"/>
              </p:nvPr>
            </p:nvSpPr>
            <p:spPr>
              <a:xfrm>
                <a:off x="655320" y="1253331"/>
                <a:ext cx="10515600" cy="4351338"/>
              </a:xfrm>
            </p:spPr>
            <p:txBody>
              <a:bodyPr>
                <a:normAutofit fontScale="92500" lnSpcReduction="10000"/>
              </a:bodyPr>
              <a:lstStyle/>
              <a:p>
                <a:pPr>
                  <a:lnSpc>
                    <a:spcPct val="120000"/>
                  </a:lnSpc>
                  <a:spcBef>
                    <a:spcPts val="0"/>
                  </a:spcBef>
                </a:pPr>
                <a:r>
                  <a:rPr lang="zh-CN" altLang="en-US" sz="2000" dirty="0">
                    <a:latin typeface="思源黑体 CN Bold" panose="020B0800000000000000" pitchFamily="34" charset="-122"/>
                    <a:ea typeface="思源黑体 CN Bold" panose="020B0800000000000000" pitchFamily="34" charset="-122"/>
                  </a:rPr>
                  <a:t>用于多类分类的神经网络</a:t>
                </a:r>
                <a:endParaRPr lang="en-US" altLang="zh-CN" sz="2000" dirty="0">
                  <a:latin typeface="思源黑体 CN Bold" panose="020B0800000000000000" pitchFamily="34" charset="-122"/>
                  <a:ea typeface="思源黑体 CN Bold" panose="020B0800000000000000" pitchFamily="34" charset="-122"/>
                </a:endParaRPr>
              </a:p>
              <a:p>
                <a:pPr marL="0" indent="0">
                  <a:lnSpc>
                    <a:spcPct val="120000"/>
                  </a:lnSpc>
                  <a:spcBef>
                    <a:spcPts val="0"/>
                  </a:spcBef>
                  <a:buNone/>
                </a:pPr>
                <a14:m>
                  <m:oMathPara xmlns:m="http://schemas.openxmlformats.org/officeDocument/2006/math">
                    <m:oMathParaPr>
                      <m:jc m:val="centerGroup"/>
                    </m:oMathParaPr>
                    <m:oMath xmlns:m="http://schemas.openxmlformats.org/officeDocument/2006/math">
                      <m:sSub>
                        <m:sSubPr>
                          <m:ctrlPr>
                            <a:rPr lang="en-US" altLang="zh-CN" sz="2000" i="1">
                              <a:latin typeface="Cambria Math" panose="02040503050406030204" pitchFamily="18" charset="0"/>
                            </a:rPr>
                          </m:ctrlPr>
                        </m:sSubPr>
                        <m:e>
                          <m:r>
                            <a:rPr lang="en-US" altLang="zh-CN" sz="2000" b="0" i="1" smtClean="0">
                              <a:latin typeface="Cambria Math" panose="02040503050406030204" pitchFamily="18" charset="0"/>
                            </a:rPr>
                            <m:t>𝑦</m:t>
                          </m:r>
                        </m:e>
                        <m:sub>
                          <m:r>
                            <a:rPr lang="en-US" altLang="zh-CN" sz="2000" i="1">
                              <a:latin typeface="Cambria Math" panose="02040503050406030204" pitchFamily="18" charset="0"/>
                            </a:rPr>
                            <m:t>𝑘</m:t>
                          </m:r>
                        </m:sub>
                      </m:sSub>
                      <m:r>
                        <a:rPr lang="en-US" altLang="zh-CN" sz="2000" i="1">
                          <a:latin typeface="Cambria Math" panose="02040503050406030204" pitchFamily="18" charset="0"/>
                        </a:rPr>
                        <m:t>=</m:t>
                      </m:r>
                      <m:r>
                        <a:rPr lang="en-US" altLang="zh-CN" sz="2000" i="1">
                          <a:latin typeface="Cambria Math" panose="02040503050406030204" pitchFamily="18" charset="0"/>
                        </a:rPr>
                        <m:t>𝑠𝑜𝑓𝑡𝑚𝑎𝑥</m:t>
                      </m:r>
                      <m:d>
                        <m:dPr>
                          <m:ctrlPr>
                            <a:rPr lang="en-US" altLang="zh-CN" sz="2000" i="1">
                              <a:latin typeface="Cambria Math" panose="02040503050406030204" pitchFamily="18" charset="0"/>
                            </a:rPr>
                          </m:ctrlPr>
                        </m:dPr>
                        <m:e>
                          <m:nary>
                            <m:naryPr>
                              <m:chr m:val="∑"/>
                              <m:ctrlPr>
                                <a:rPr lang="en-US" altLang="zh-CN" sz="2000" i="1">
                                  <a:latin typeface="Cambria Math" panose="02040503050406030204" pitchFamily="18" charset="0"/>
                                </a:rPr>
                              </m:ctrlPr>
                            </m:naryPr>
                            <m:sub>
                              <m:r>
                                <m:rPr>
                                  <m:brk m:alnAt="23"/>
                                </m:rPr>
                                <a:rPr lang="en-US" altLang="zh-CN" sz="2000" i="1">
                                  <a:latin typeface="Cambria Math" panose="02040503050406030204" pitchFamily="18" charset="0"/>
                                </a:rPr>
                                <m:t>𝑗</m:t>
                              </m:r>
                              <m:r>
                                <a:rPr lang="en-US" altLang="zh-CN" sz="2000" i="1">
                                  <a:latin typeface="Cambria Math" panose="02040503050406030204" pitchFamily="18" charset="0"/>
                                </a:rPr>
                                <m:t>=1</m:t>
                              </m:r>
                            </m:sub>
                            <m:sup>
                              <m:r>
                                <a:rPr lang="en-US" altLang="zh-CN" sz="2000" i="1">
                                  <a:latin typeface="Cambria Math" panose="02040503050406030204" pitchFamily="18" charset="0"/>
                                </a:rPr>
                                <m:t>𝑀</m:t>
                              </m:r>
                            </m:sup>
                            <m:e>
                              <m:sSup>
                                <m:sSupPr>
                                  <m:ctrlPr>
                                    <a:rPr lang="en-US" altLang="zh-CN" sz="2000" i="1">
                                      <a:latin typeface="Cambria Math" panose="02040503050406030204" pitchFamily="18" charset="0"/>
                                    </a:rPr>
                                  </m:ctrlPr>
                                </m:sSupPr>
                                <m:e>
                                  <m:r>
                                    <a:rPr lang="en-US" altLang="zh-CN" sz="2000" i="1">
                                      <a:latin typeface="Cambria Math" panose="02040503050406030204" pitchFamily="18" charset="0"/>
                                    </a:rPr>
                                    <m:t>𝑤</m:t>
                                  </m:r>
                                </m:e>
                                <m:sup>
                                  <m:d>
                                    <m:dPr>
                                      <m:ctrlPr>
                                        <a:rPr lang="en-US" altLang="zh-CN" sz="2000" b="1" i="1">
                                          <a:latin typeface="Cambria Math" panose="02040503050406030204" pitchFamily="18" charset="0"/>
                                        </a:rPr>
                                      </m:ctrlPr>
                                    </m:dPr>
                                    <m:e>
                                      <m:r>
                                        <a:rPr lang="en-US" altLang="zh-CN" sz="2000" i="1">
                                          <a:latin typeface="Cambria Math" panose="02040503050406030204" pitchFamily="18" charset="0"/>
                                        </a:rPr>
                                        <m:t>2</m:t>
                                      </m:r>
                                    </m:e>
                                  </m:d>
                                </m:sup>
                              </m:sSup>
                            </m:e>
                          </m:nary>
                          <m:r>
                            <a:rPr lang="en-US" altLang="zh-CN" sz="2000" i="1">
                              <a:latin typeface="Cambria Math" panose="02040503050406030204" pitchFamily="18" charset="0"/>
                            </a:rPr>
                            <m:t>h</m:t>
                          </m:r>
                          <m:d>
                            <m:dPr>
                              <m:ctrlPr>
                                <a:rPr lang="en-US" altLang="zh-CN" sz="2000" b="1" i="1">
                                  <a:latin typeface="Cambria Math" panose="02040503050406030204" pitchFamily="18" charset="0"/>
                                </a:rPr>
                              </m:ctrlPr>
                            </m:dPr>
                            <m:e>
                              <m:nary>
                                <m:naryPr>
                                  <m:chr m:val="∑"/>
                                  <m:ctrlPr>
                                    <a:rPr lang="en-US" altLang="zh-CN" sz="2000" i="1">
                                      <a:latin typeface="Cambria Math" panose="02040503050406030204" pitchFamily="18" charset="0"/>
                                    </a:rPr>
                                  </m:ctrlPr>
                                </m:naryPr>
                                <m:sub>
                                  <m:r>
                                    <a:rPr lang="en-US" altLang="zh-CN" sz="2000" i="1">
                                      <a:latin typeface="Cambria Math" panose="02040503050406030204" pitchFamily="18" charset="0"/>
                                    </a:rPr>
                                    <m:t>𝑖</m:t>
                                  </m:r>
                                  <m:r>
                                    <a:rPr lang="en-US" altLang="zh-CN" sz="2000" i="1">
                                      <a:latin typeface="Cambria Math" panose="02040503050406030204" pitchFamily="18" charset="0"/>
                                    </a:rPr>
                                    <m:t>=1</m:t>
                                  </m:r>
                                </m:sub>
                                <m:sup>
                                  <m:r>
                                    <a:rPr lang="en-US" altLang="zh-CN" sz="2000" i="1">
                                      <a:latin typeface="Cambria Math" panose="02040503050406030204" pitchFamily="18" charset="0"/>
                                    </a:rPr>
                                    <m:t>𝐷</m:t>
                                  </m:r>
                                </m:sup>
                                <m:e>
                                  <m:sSup>
                                    <m:sSupPr>
                                      <m:ctrlPr>
                                        <a:rPr lang="en-US" altLang="zh-CN" sz="2000" i="1">
                                          <a:latin typeface="Cambria Math" panose="02040503050406030204" pitchFamily="18" charset="0"/>
                                        </a:rPr>
                                      </m:ctrlPr>
                                    </m:sSupPr>
                                    <m:e>
                                      <m:r>
                                        <a:rPr lang="en-US" altLang="zh-CN" sz="2000" i="1">
                                          <a:latin typeface="Cambria Math" panose="02040503050406030204" pitchFamily="18" charset="0"/>
                                        </a:rPr>
                                        <m:t>𝑤</m:t>
                                      </m:r>
                                    </m:e>
                                    <m:sup>
                                      <m:d>
                                        <m:dPr>
                                          <m:ctrlPr>
                                            <a:rPr lang="en-US" altLang="zh-CN" sz="2000" b="1" i="1">
                                              <a:latin typeface="Cambria Math" panose="02040503050406030204" pitchFamily="18" charset="0"/>
                                            </a:rPr>
                                          </m:ctrlPr>
                                        </m:dPr>
                                        <m:e>
                                          <m:r>
                                            <a:rPr lang="en-US" altLang="zh-CN" sz="2000" i="1">
                                              <a:latin typeface="Cambria Math" panose="02040503050406030204" pitchFamily="18" charset="0"/>
                                            </a:rPr>
                                            <m:t>1</m:t>
                                          </m:r>
                                        </m:e>
                                      </m:d>
                                    </m:sup>
                                  </m:sSup>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𝑖</m:t>
                                      </m:r>
                                    </m:sub>
                                  </m:sSub>
                                </m:e>
                              </m:nary>
                            </m:e>
                          </m:d>
                        </m:e>
                      </m:d>
                    </m:oMath>
                  </m:oMathPara>
                </a14:m>
                <a:endParaRPr lang="en-US" altLang="zh-CN" sz="2000" dirty="0">
                  <a:latin typeface="思源黑体 CN Bold" panose="020B0800000000000000" pitchFamily="34" charset="-122"/>
                  <a:ea typeface="思源黑体 CN Bold" panose="020B0800000000000000" pitchFamily="34" charset="-122"/>
                </a:endParaRPr>
              </a:p>
              <a:p>
                <a:pPr>
                  <a:lnSpc>
                    <a:spcPct val="120000"/>
                  </a:lnSpc>
                  <a:spcBef>
                    <a:spcPts val="0"/>
                  </a:spcBef>
                </a:pPr>
                <a:r>
                  <a:rPr lang="zh-CN" altLang="en-US" sz="2000" dirty="0">
                    <a:latin typeface="思源黑体 CN Bold" panose="020B0800000000000000" pitchFamily="34" charset="-122"/>
                    <a:ea typeface="思源黑体 CN Bold" panose="020B0800000000000000" pitchFamily="34" charset="-122"/>
                  </a:rPr>
                  <a:t>损失函数</a:t>
                </a:r>
                <a:endParaRPr lang="en-US" altLang="zh-CN" sz="2000" dirty="0">
                  <a:latin typeface="思源黑体 CN Bold" panose="020B0800000000000000" pitchFamily="34" charset="-122"/>
                  <a:ea typeface="思源黑体 CN Bold" panose="020B0800000000000000" pitchFamily="34" charset="-122"/>
                </a:endParaRPr>
              </a:p>
              <a:p>
                <a:pPr marL="0" indent="0">
                  <a:lnSpc>
                    <a:spcPct val="120000"/>
                  </a:lnSpc>
                  <a:spcBef>
                    <a:spcPts val="0"/>
                  </a:spcBef>
                  <a:buNone/>
                </a:pPr>
                <a14:m>
                  <m:oMathPara xmlns:m="http://schemas.openxmlformats.org/officeDocument/2006/math">
                    <m:oMathParaPr>
                      <m:jc m:val="centerGroup"/>
                    </m:oMathParaPr>
                    <m:oMath xmlns:m="http://schemas.openxmlformats.org/officeDocument/2006/math">
                      <m:r>
                        <m:rPr>
                          <m:sty m:val="p"/>
                        </m:rPr>
                        <a:rPr lang="en-US" altLang="zh-CN" sz="2000" i="1" dirty="0">
                          <a:latin typeface="Cambria Math" panose="02040503050406030204" pitchFamily="18" charset="0"/>
                        </a:rPr>
                        <m:t>Loss</m:t>
                      </m:r>
                      <m:d>
                        <m:dPr>
                          <m:ctrlPr>
                            <a:rPr lang="en-US" altLang="zh-CN" sz="2000" i="1" dirty="0">
                              <a:latin typeface="Cambria Math" panose="02040503050406030204" pitchFamily="18" charset="0"/>
                            </a:rPr>
                          </m:ctrlPr>
                        </m:dPr>
                        <m:e>
                          <m:r>
                            <a:rPr lang="en-US" altLang="zh-CN" sz="2000" b="1">
                              <a:latin typeface="Cambria Math" panose="02040503050406030204" pitchFamily="18" charset="0"/>
                            </a:rPr>
                            <m:t>𝐰</m:t>
                          </m:r>
                        </m:e>
                      </m:d>
                      <m:r>
                        <a:rPr lang="en-US" altLang="zh-CN" sz="2000" b="1" i="1">
                          <a:latin typeface="Cambria Math" panose="02040503050406030204" pitchFamily="18" charset="0"/>
                        </a:rPr>
                        <m:t>=−</m:t>
                      </m:r>
                      <m:nary>
                        <m:naryPr>
                          <m:chr m:val="∑"/>
                          <m:ctrlPr>
                            <a:rPr lang="en-US" altLang="zh-CN" sz="2000" b="1" i="1">
                              <a:latin typeface="Cambria Math" panose="02040503050406030204" pitchFamily="18" charset="0"/>
                            </a:rPr>
                          </m:ctrlPr>
                        </m:naryPr>
                        <m:sub>
                          <m:r>
                            <m:rPr>
                              <m:brk m:alnAt="23"/>
                            </m:rPr>
                            <a:rPr lang="en-US" altLang="zh-CN" sz="2000" i="1">
                              <a:latin typeface="Cambria Math" panose="02040503050406030204" pitchFamily="18" charset="0"/>
                            </a:rPr>
                            <m:t>𝑛</m:t>
                          </m:r>
                          <m:r>
                            <a:rPr lang="en-US" altLang="zh-CN" sz="2000" i="1">
                              <a:latin typeface="Cambria Math" panose="02040503050406030204" pitchFamily="18" charset="0"/>
                            </a:rPr>
                            <m:t>=1</m:t>
                          </m:r>
                        </m:sub>
                        <m:sup>
                          <m:r>
                            <a:rPr lang="en-US" altLang="zh-CN" sz="2000" i="1">
                              <a:latin typeface="Cambria Math" panose="02040503050406030204" pitchFamily="18" charset="0"/>
                            </a:rPr>
                            <m:t>𝑁</m:t>
                          </m:r>
                        </m:sup>
                        <m:e>
                          <m:nary>
                            <m:naryPr>
                              <m:chr m:val="∑"/>
                              <m:ctrlPr>
                                <a:rPr lang="en-US" altLang="zh-CN" sz="2000" i="1">
                                  <a:latin typeface="Cambria Math" panose="02040503050406030204" pitchFamily="18" charset="0"/>
                                </a:rPr>
                              </m:ctrlPr>
                            </m:naryPr>
                            <m:sub>
                              <m:r>
                                <m:rPr>
                                  <m:brk m:alnAt="23"/>
                                </m:rPr>
                                <a:rPr lang="en-US" altLang="zh-CN" sz="2000" i="1">
                                  <a:latin typeface="Cambria Math" panose="02040503050406030204" pitchFamily="18" charset="0"/>
                                </a:rPr>
                                <m:t>𝑘</m:t>
                              </m:r>
                              <m:r>
                                <a:rPr lang="en-US" altLang="zh-CN" sz="2000" i="1">
                                  <a:latin typeface="Cambria Math" panose="02040503050406030204" pitchFamily="18" charset="0"/>
                                </a:rPr>
                                <m:t>=1</m:t>
                              </m:r>
                            </m:sub>
                            <m:sup>
                              <m:r>
                                <a:rPr lang="en-US" altLang="zh-CN" sz="2000" i="1">
                                  <a:latin typeface="Cambria Math" panose="02040503050406030204" pitchFamily="18" charset="0"/>
                                </a:rPr>
                                <m:t>𝐾</m:t>
                              </m:r>
                            </m:sup>
                            <m:e>
                              <m:sSub>
                                <m:sSubPr>
                                  <m:ctrlPr>
                                    <a:rPr lang="en-US" altLang="zh-CN" sz="2000" b="1" i="1">
                                      <a:latin typeface="Cambria Math" panose="02040503050406030204" pitchFamily="18" charset="0"/>
                                    </a:rPr>
                                  </m:ctrlPr>
                                </m:sSubPr>
                                <m:e>
                                  <m:r>
                                    <a:rPr lang="en-US" altLang="zh-CN" sz="2000" b="0" i="1" smtClean="0">
                                      <a:latin typeface="Cambria Math" panose="02040503050406030204" pitchFamily="18" charset="0"/>
                                    </a:rPr>
                                    <m:t>𝑡</m:t>
                                  </m:r>
                                </m:e>
                                <m:sub>
                                  <m:r>
                                    <a:rPr lang="en-US" altLang="zh-CN" sz="2000" i="1">
                                      <a:latin typeface="Cambria Math" panose="02040503050406030204" pitchFamily="18" charset="0"/>
                                    </a:rPr>
                                    <m:t>𝑛𝑘</m:t>
                                  </m:r>
                                </m:sub>
                              </m:sSub>
                              <m:r>
                                <m:rPr>
                                  <m:sty m:val="p"/>
                                </m:rPr>
                                <a:rPr lang="en-US" altLang="zh-CN" sz="2000">
                                  <a:latin typeface="Cambria Math" panose="02040503050406030204" pitchFamily="18" charset="0"/>
                                </a:rPr>
                                <m:t>ln</m:t>
                              </m:r>
                              <m:d>
                                <m:dPr>
                                  <m:begChr m:val="{"/>
                                  <m:endChr m:val="}"/>
                                  <m:ctrlPr>
                                    <a:rPr lang="en-US" altLang="zh-CN" sz="2000" i="1">
                                      <a:latin typeface="Cambria Math" panose="02040503050406030204" pitchFamily="18" charset="0"/>
                                    </a:rPr>
                                  </m:ctrlPr>
                                </m:dPr>
                                <m:e>
                                  <m:sSub>
                                    <m:sSubPr>
                                      <m:ctrlPr>
                                        <a:rPr lang="en-US" altLang="zh-CN" sz="2000" i="1">
                                          <a:latin typeface="Cambria Math" panose="02040503050406030204" pitchFamily="18" charset="0"/>
                                        </a:rPr>
                                      </m:ctrlPr>
                                    </m:sSubPr>
                                    <m:e>
                                      <m:r>
                                        <a:rPr lang="en-US" altLang="zh-CN" sz="2000" b="0" i="1" smtClean="0">
                                          <a:latin typeface="Cambria Math" panose="02040503050406030204" pitchFamily="18" charset="0"/>
                                        </a:rPr>
                                        <m:t>𝑦</m:t>
                                      </m:r>
                                    </m:e>
                                    <m:sub>
                                      <m:r>
                                        <a:rPr lang="en-US" altLang="zh-CN" sz="2000" i="1">
                                          <a:latin typeface="Cambria Math" panose="02040503050406030204" pitchFamily="18" charset="0"/>
                                        </a:rPr>
                                        <m:t>𝑛𝑘</m:t>
                                      </m:r>
                                    </m:sub>
                                  </m:sSub>
                                </m:e>
                              </m:d>
                            </m:e>
                          </m:nary>
                        </m:e>
                      </m:nary>
                    </m:oMath>
                  </m:oMathPara>
                </a14:m>
                <a:endParaRPr lang="en-US" altLang="zh-CN" sz="2000" dirty="0">
                  <a:latin typeface="Monaco" panose="020B0509030404040204" pitchFamily="49" charset="0"/>
                  <a:ea typeface="思源黑体 CN Bold" panose="020B0800000000000000" pitchFamily="34" charset="-122"/>
                  <a:cs typeface="+mj-cs"/>
                </a:endParaRPr>
              </a:p>
              <a:p>
                <a:pPr>
                  <a:lnSpc>
                    <a:spcPct val="120000"/>
                  </a:lnSpc>
                  <a:spcBef>
                    <a:spcPts val="0"/>
                  </a:spcBef>
                </a:pPr>
                <a:r>
                  <a:rPr lang="zh-CN" altLang="en-US" sz="2000" dirty="0">
                    <a:latin typeface="Monaco" panose="020B0509030404040204" pitchFamily="49" charset="0"/>
                    <a:ea typeface="思源黑体 CN Bold" panose="020B0800000000000000" pitchFamily="34" charset="-122"/>
                    <a:cs typeface="+mj-cs"/>
                  </a:rPr>
                  <a:t>单个数据的损失，可省略下标</a:t>
                </a:r>
                <a14:m>
                  <m:oMath xmlns:m="http://schemas.openxmlformats.org/officeDocument/2006/math">
                    <m:r>
                      <a:rPr lang="en-US" altLang="zh-CN" sz="2000" b="0" i="1" smtClean="0">
                        <a:latin typeface="Cambria Math" panose="02040503050406030204" pitchFamily="18" charset="0"/>
                      </a:rPr>
                      <m:t>𝑛</m:t>
                    </m:r>
                  </m:oMath>
                </a14:m>
                <a:endParaRPr lang="en-US" altLang="zh-CN" sz="2000" i="1" dirty="0">
                  <a:latin typeface="Monaco" panose="020B0509030404040204" pitchFamily="49" charset="0"/>
                  <a:ea typeface="思源黑体 CN Bold" panose="020B0800000000000000" pitchFamily="34" charset="-122"/>
                  <a:cs typeface="+mj-cs"/>
                </a:endParaRPr>
              </a:p>
              <a:p>
                <a:pPr marL="0" indent="0">
                  <a:lnSpc>
                    <a:spcPct val="120000"/>
                  </a:lnSpc>
                  <a:spcBef>
                    <a:spcPts val="0"/>
                  </a:spcBef>
                  <a:buNone/>
                </a:pPr>
                <a14:m>
                  <m:oMathPara xmlns:m="http://schemas.openxmlformats.org/officeDocument/2006/math">
                    <m:oMathParaPr>
                      <m:jc m:val="centerGroup"/>
                    </m:oMathParaPr>
                    <m:oMath xmlns:m="http://schemas.openxmlformats.org/officeDocument/2006/math">
                      <m:r>
                        <m:rPr>
                          <m:sty m:val="p"/>
                        </m:rPr>
                        <a:rPr lang="en-US" altLang="zh-CN" sz="2000" i="1" dirty="0">
                          <a:latin typeface="Cambria Math" panose="02040503050406030204" pitchFamily="18" charset="0"/>
                        </a:rPr>
                        <m:t>Loss</m:t>
                      </m:r>
                      <m:d>
                        <m:dPr>
                          <m:ctrlPr>
                            <a:rPr lang="en-US" altLang="zh-CN" sz="2000" i="1" dirty="0">
                              <a:latin typeface="Cambria Math" panose="02040503050406030204" pitchFamily="18" charset="0"/>
                            </a:rPr>
                          </m:ctrlPr>
                        </m:dPr>
                        <m:e>
                          <m:r>
                            <a:rPr lang="en-US" altLang="zh-CN" sz="2000" b="1">
                              <a:latin typeface="Cambria Math" panose="02040503050406030204" pitchFamily="18" charset="0"/>
                            </a:rPr>
                            <m:t>𝐰</m:t>
                          </m:r>
                        </m:e>
                      </m:d>
                      <m:r>
                        <a:rPr lang="en-US" altLang="zh-CN" sz="2000" b="1" i="1">
                          <a:latin typeface="Cambria Math" panose="02040503050406030204" pitchFamily="18" charset="0"/>
                        </a:rPr>
                        <m:t>=−</m:t>
                      </m:r>
                      <m:nary>
                        <m:naryPr>
                          <m:chr m:val="∑"/>
                          <m:ctrlPr>
                            <a:rPr lang="en-US" altLang="zh-CN" sz="2000" i="1">
                              <a:latin typeface="Cambria Math" panose="02040503050406030204" pitchFamily="18" charset="0"/>
                            </a:rPr>
                          </m:ctrlPr>
                        </m:naryPr>
                        <m:sub>
                          <m:r>
                            <m:rPr>
                              <m:brk m:alnAt="23"/>
                            </m:rPr>
                            <a:rPr lang="en-US" altLang="zh-CN" sz="2000" i="1">
                              <a:latin typeface="Cambria Math" panose="02040503050406030204" pitchFamily="18" charset="0"/>
                            </a:rPr>
                            <m:t>𝑘</m:t>
                          </m:r>
                          <m:r>
                            <a:rPr lang="en-US" altLang="zh-CN" sz="2000" i="1">
                              <a:latin typeface="Cambria Math" panose="02040503050406030204" pitchFamily="18" charset="0"/>
                            </a:rPr>
                            <m:t>=1</m:t>
                          </m:r>
                        </m:sub>
                        <m:sup>
                          <m:r>
                            <a:rPr lang="en-US" altLang="zh-CN" sz="2000" i="1">
                              <a:latin typeface="Cambria Math" panose="02040503050406030204" pitchFamily="18" charset="0"/>
                            </a:rPr>
                            <m:t>𝐾</m:t>
                          </m:r>
                        </m:sup>
                        <m:e>
                          <m:sSub>
                            <m:sSubPr>
                              <m:ctrlPr>
                                <a:rPr lang="en-US" altLang="zh-CN" sz="2000" b="1" i="1">
                                  <a:latin typeface="Cambria Math" panose="02040503050406030204" pitchFamily="18" charset="0"/>
                                </a:rPr>
                              </m:ctrlPr>
                            </m:sSubPr>
                            <m:e>
                              <m:r>
                                <a:rPr lang="en-US" altLang="zh-CN" sz="2000" i="1">
                                  <a:latin typeface="Cambria Math" panose="02040503050406030204" pitchFamily="18" charset="0"/>
                                </a:rPr>
                                <m:t>𝑡</m:t>
                              </m:r>
                            </m:e>
                            <m:sub>
                              <m:r>
                                <a:rPr lang="en-US" altLang="zh-CN" sz="2000" i="1" smtClean="0">
                                  <a:latin typeface="Cambria Math" panose="02040503050406030204" pitchFamily="18" charset="0"/>
                                </a:rPr>
                                <m:t>𝑛</m:t>
                              </m:r>
                              <m:r>
                                <a:rPr lang="en-US" altLang="zh-CN" sz="2000" i="1">
                                  <a:latin typeface="Cambria Math" panose="02040503050406030204" pitchFamily="18" charset="0"/>
                                </a:rPr>
                                <m:t>𝑘</m:t>
                              </m:r>
                            </m:sub>
                          </m:sSub>
                          <m:r>
                            <m:rPr>
                              <m:sty m:val="p"/>
                            </m:rPr>
                            <a:rPr lang="en-US" altLang="zh-CN" sz="2000">
                              <a:latin typeface="Cambria Math" panose="02040503050406030204" pitchFamily="18" charset="0"/>
                            </a:rPr>
                            <m:t>ln</m:t>
                          </m:r>
                          <m:d>
                            <m:dPr>
                              <m:begChr m:val="{"/>
                              <m:endChr m:val="}"/>
                              <m:ctrlPr>
                                <a:rPr lang="en-US" altLang="zh-CN" sz="2000" i="1">
                                  <a:latin typeface="Cambria Math" panose="02040503050406030204" pitchFamily="18" charset="0"/>
                                </a:rPr>
                              </m:ctrlPr>
                            </m:dPr>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𝑦</m:t>
                                  </m:r>
                                </m:e>
                                <m:sub>
                                  <m:r>
                                    <a:rPr lang="en-US" altLang="zh-CN" sz="2000" i="1">
                                      <a:latin typeface="Cambria Math" panose="02040503050406030204" pitchFamily="18" charset="0"/>
                                    </a:rPr>
                                    <m:t>𝑛𝑘</m:t>
                                  </m:r>
                                </m:sub>
                              </m:sSub>
                            </m:e>
                          </m:d>
                        </m:e>
                      </m:nary>
                      <m:r>
                        <a:rPr lang="en-US" altLang="zh-CN" sz="2000" i="1">
                          <a:latin typeface="Cambria Math" panose="02040503050406030204" pitchFamily="18" charset="0"/>
                        </a:rPr>
                        <m:t>=</m:t>
                      </m:r>
                      <m:r>
                        <a:rPr lang="en-US" altLang="zh-CN" sz="2000" b="1" i="1">
                          <a:latin typeface="Cambria Math" panose="02040503050406030204" pitchFamily="18" charset="0"/>
                        </a:rPr>
                        <m:t>−</m:t>
                      </m:r>
                      <m:nary>
                        <m:naryPr>
                          <m:chr m:val="∑"/>
                          <m:ctrlPr>
                            <a:rPr lang="en-US" altLang="zh-CN" sz="2000" i="1">
                              <a:latin typeface="Cambria Math" panose="02040503050406030204" pitchFamily="18" charset="0"/>
                            </a:rPr>
                          </m:ctrlPr>
                        </m:naryPr>
                        <m:sub>
                          <m:r>
                            <m:rPr>
                              <m:brk m:alnAt="23"/>
                            </m:rPr>
                            <a:rPr lang="en-US" altLang="zh-CN" sz="2000" i="1">
                              <a:latin typeface="Cambria Math" panose="02040503050406030204" pitchFamily="18" charset="0"/>
                            </a:rPr>
                            <m:t>𝑘</m:t>
                          </m:r>
                          <m:r>
                            <a:rPr lang="en-US" altLang="zh-CN" sz="2000" i="1">
                              <a:latin typeface="Cambria Math" panose="02040503050406030204" pitchFamily="18" charset="0"/>
                            </a:rPr>
                            <m:t>=1</m:t>
                          </m:r>
                        </m:sub>
                        <m:sup>
                          <m:r>
                            <a:rPr lang="en-US" altLang="zh-CN" sz="2000" i="1">
                              <a:latin typeface="Cambria Math" panose="02040503050406030204" pitchFamily="18" charset="0"/>
                            </a:rPr>
                            <m:t>𝐾</m:t>
                          </m:r>
                        </m:sup>
                        <m:e>
                          <m:sSub>
                            <m:sSubPr>
                              <m:ctrlPr>
                                <a:rPr lang="en-US" altLang="zh-CN" sz="2000" b="1" i="1">
                                  <a:latin typeface="Cambria Math" panose="02040503050406030204" pitchFamily="18" charset="0"/>
                                </a:rPr>
                              </m:ctrlPr>
                            </m:sSubPr>
                            <m:e>
                              <m:r>
                                <a:rPr lang="en-US" altLang="zh-CN" sz="2000" i="1">
                                  <a:latin typeface="Cambria Math" panose="02040503050406030204" pitchFamily="18" charset="0"/>
                                </a:rPr>
                                <m:t>𝑡</m:t>
                              </m:r>
                            </m:e>
                            <m:sub>
                              <m:r>
                                <a:rPr lang="en-US" altLang="zh-CN" sz="2000" i="1">
                                  <a:latin typeface="Cambria Math" panose="02040503050406030204" pitchFamily="18" charset="0"/>
                                </a:rPr>
                                <m:t>𝑘</m:t>
                              </m:r>
                            </m:sub>
                          </m:sSub>
                          <m:r>
                            <m:rPr>
                              <m:sty m:val="p"/>
                            </m:rPr>
                            <a:rPr lang="en-US" altLang="zh-CN" sz="2000">
                              <a:latin typeface="Cambria Math" panose="02040503050406030204" pitchFamily="18" charset="0"/>
                            </a:rPr>
                            <m:t>ln</m:t>
                          </m:r>
                          <m:d>
                            <m:dPr>
                              <m:begChr m:val="{"/>
                              <m:endChr m:val="}"/>
                              <m:ctrlPr>
                                <a:rPr lang="en-US" altLang="zh-CN" sz="2000" i="1">
                                  <a:latin typeface="Cambria Math" panose="02040503050406030204" pitchFamily="18" charset="0"/>
                                </a:rPr>
                              </m:ctrlPr>
                            </m:dPr>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𝑦</m:t>
                                  </m:r>
                                </m:e>
                                <m:sub>
                                  <m:r>
                                    <a:rPr lang="en-US" altLang="zh-CN" sz="2000" i="1">
                                      <a:latin typeface="Cambria Math" panose="02040503050406030204" pitchFamily="18" charset="0"/>
                                    </a:rPr>
                                    <m:t>𝑘</m:t>
                                  </m:r>
                                </m:sub>
                              </m:sSub>
                            </m:e>
                          </m:d>
                        </m:e>
                      </m:nary>
                    </m:oMath>
                  </m:oMathPara>
                </a14:m>
                <a:endParaRPr lang="en-US" altLang="zh-CN" sz="2000" dirty="0">
                  <a:latin typeface="Monaco" panose="020B0509030404040204" pitchFamily="49" charset="0"/>
                  <a:ea typeface="思源黑体 CN Bold" panose="020B0800000000000000" pitchFamily="34" charset="-122"/>
                  <a:cs typeface="+mj-cs"/>
                </a:endParaRPr>
              </a:p>
            </p:txBody>
          </p:sp>
        </mc:Choice>
        <mc:Fallback xmlns="">
          <p:sp>
            <p:nvSpPr>
              <p:cNvPr id="3" name="内容占位符 2">
                <a:extLst>
                  <a:ext uri="{FF2B5EF4-FFF2-40B4-BE49-F238E27FC236}">
                    <a16:creationId xmlns:a16="http://schemas.microsoft.com/office/drawing/2014/main" id="{B5F15897-98F0-4E08-931A-45E1DC23C6B6}"/>
                  </a:ext>
                </a:extLst>
              </p:cNvPr>
              <p:cNvSpPr>
                <a:spLocks noGrp="1" noRot="1" noChangeAspect="1" noMove="1" noResize="1" noEditPoints="1" noAdjustHandles="1" noChangeArrowheads="1" noChangeShapeType="1" noTextEdit="1"/>
              </p:cNvSpPr>
              <p:nvPr>
                <p:ph idx="4294967295"/>
              </p:nvPr>
            </p:nvSpPr>
            <p:spPr>
              <a:xfrm>
                <a:off x="655320" y="1253331"/>
                <a:ext cx="10515600" cy="4351338"/>
              </a:xfrm>
              <a:blipFill>
                <a:blip r:embed="rId3"/>
                <a:stretch>
                  <a:fillRect l="-464" t="-140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469148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B5F15897-98F0-4E08-931A-45E1DC23C6B6}"/>
                  </a:ext>
                </a:extLst>
              </p:cNvPr>
              <p:cNvSpPr>
                <a:spLocks noGrp="1"/>
              </p:cNvSpPr>
              <p:nvPr>
                <p:ph idx="4294967295"/>
              </p:nvPr>
            </p:nvSpPr>
            <p:spPr>
              <a:xfrm>
                <a:off x="838200" y="1825625"/>
                <a:ext cx="10515600" cy="4351338"/>
              </a:xfrm>
            </p:spPr>
            <p:txBody>
              <a:bodyPr>
                <a:normAutofit fontScale="92500"/>
              </a:bodyPr>
              <a:lstStyle/>
              <a:p>
                <a:pPr>
                  <a:lnSpc>
                    <a:spcPct val="120000"/>
                  </a:lnSpc>
                  <a:spcBef>
                    <a:spcPts val="0"/>
                  </a:spcBef>
                </a:pPr>
                <a:r>
                  <a:rPr lang="zh-CN" altLang="en-US" sz="2000" dirty="0">
                    <a:latin typeface="思源黑体 CN Bold" panose="020B0800000000000000" pitchFamily="34" charset="-122"/>
                    <a:ea typeface="思源黑体 CN Bold" panose="020B0800000000000000" pitchFamily="34" charset="-122"/>
                  </a:rPr>
                  <a:t>用于多类分类的神经网络</a:t>
                </a:r>
                <a:endParaRPr lang="en-US" altLang="zh-CN" sz="2000" dirty="0">
                  <a:latin typeface="思源黑体 CN Bold" panose="020B0800000000000000" pitchFamily="34" charset="-122"/>
                  <a:ea typeface="思源黑体 CN Bold" panose="020B0800000000000000" pitchFamily="34" charset="-122"/>
                </a:endParaRPr>
              </a:p>
              <a:p>
                <a:pPr marL="0" indent="0">
                  <a:lnSpc>
                    <a:spcPct val="120000"/>
                  </a:lnSpc>
                  <a:spcBef>
                    <a:spcPts val="0"/>
                  </a:spcBef>
                  <a:buNone/>
                </a:pPr>
                <a14:m>
                  <m:oMathPara xmlns:m="http://schemas.openxmlformats.org/officeDocument/2006/math">
                    <m:oMathParaPr>
                      <m:jc m:val="centerGroup"/>
                    </m:oMathParaPr>
                    <m:oMath xmlns:m="http://schemas.openxmlformats.org/officeDocument/2006/math">
                      <m:sSub>
                        <m:sSubPr>
                          <m:ctrlPr>
                            <a:rPr lang="en-US" altLang="zh-CN" sz="2000" i="1">
                              <a:latin typeface="Cambria Math" panose="02040503050406030204" pitchFamily="18" charset="0"/>
                            </a:rPr>
                          </m:ctrlPr>
                        </m:sSubPr>
                        <m:e>
                          <m:r>
                            <a:rPr lang="en-US" altLang="zh-CN" sz="2000" b="0" i="1" smtClean="0">
                              <a:latin typeface="Cambria Math" panose="02040503050406030204" pitchFamily="18" charset="0"/>
                            </a:rPr>
                            <m:t>𝑦</m:t>
                          </m:r>
                        </m:e>
                        <m:sub>
                          <m:r>
                            <a:rPr lang="en-US" altLang="zh-CN" sz="2000" i="1">
                              <a:latin typeface="Cambria Math" panose="02040503050406030204" pitchFamily="18" charset="0"/>
                            </a:rPr>
                            <m:t>𝑘</m:t>
                          </m:r>
                        </m:sub>
                      </m:sSub>
                      <m:r>
                        <a:rPr lang="en-US" altLang="zh-CN" sz="2000" i="1">
                          <a:latin typeface="Cambria Math" panose="02040503050406030204" pitchFamily="18" charset="0"/>
                        </a:rPr>
                        <m:t>=</m:t>
                      </m:r>
                      <m:r>
                        <a:rPr lang="en-US" altLang="zh-CN" sz="2000" i="1">
                          <a:latin typeface="Cambria Math" panose="02040503050406030204" pitchFamily="18" charset="0"/>
                        </a:rPr>
                        <m:t>𝑠𝑜𝑓𝑡𝑚𝑎𝑥</m:t>
                      </m:r>
                      <m:d>
                        <m:dPr>
                          <m:ctrlPr>
                            <a:rPr lang="en-US" altLang="zh-CN" sz="2000" i="1">
                              <a:latin typeface="Cambria Math" panose="02040503050406030204" pitchFamily="18" charset="0"/>
                            </a:rPr>
                          </m:ctrlPr>
                        </m:dPr>
                        <m:e>
                          <m:nary>
                            <m:naryPr>
                              <m:chr m:val="∑"/>
                              <m:ctrlPr>
                                <a:rPr lang="en-US" altLang="zh-CN" sz="2000" i="1">
                                  <a:latin typeface="Cambria Math" panose="02040503050406030204" pitchFamily="18" charset="0"/>
                                </a:rPr>
                              </m:ctrlPr>
                            </m:naryPr>
                            <m:sub>
                              <m:r>
                                <m:rPr>
                                  <m:brk m:alnAt="23"/>
                                </m:rPr>
                                <a:rPr lang="en-US" altLang="zh-CN" sz="2000" i="1">
                                  <a:latin typeface="Cambria Math" panose="02040503050406030204" pitchFamily="18" charset="0"/>
                                </a:rPr>
                                <m:t>𝑗</m:t>
                              </m:r>
                              <m:r>
                                <a:rPr lang="en-US" altLang="zh-CN" sz="2000" i="1">
                                  <a:latin typeface="Cambria Math" panose="02040503050406030204" pitchFamily="18" charset="0"/>
                                </a:rPr>
                                <m:t>=1</m:t>
                              </m:r>
                            </m:sub>
                            <m:sup>
                              <m:r>
                                <a:rPr lang="en-US" altLang="zh-CN" sz="2000" i="1">
                                  <a:latin typeface="Cambria Math" panose="02040503050406030204" pitchFamily="18" charset="0"/>
                                </a:rPr>
                                <m:t>𝑀</m:t>
                              </m:r>
                            </m:sup>
                            <m:e>
                              <m:sSubSup>
                                <m:sSubSupPr>
                                  <m:ctrlPr>
                                    <a:rPr lang="en-US" altLang="zh-CN" sz="2000" i="1" smtClean="0">
                                      <a:latin typeface="Cambria Math" panose="02040503050406030204" pitchFamily="18" charset="0"/>
                                    </a:rPr>
                                  </m:ctrlPr>
                                </m:sSubSupPr>
                                <m:e>
                                  <m:r>
                                    <a:rPr lang="en-US" altLang="zh-CN" sz="2000" i="1">
                                      <a:latin typeface="Cambria Math" panose="02040503050406030204" pitchFamily="18" charset="0"/>
                                    </a:rPr>
                                    <m:t>𝑤</m:t>
                                  </m:r>
                                </m:e>
                                <m:sub>
                                  <m:r>
                                    <a:rPr lang="en-US" altLang="zh-CN" sz="2000" b="0" i="1" smtClean="0">
                                      <a:latin typeface="Cambria Math" panose="02040503050406030204" pitchFamily="18" charset="0"/>
                                    </a:rPr>
                                    <m:t>𝑘𝑗</m:t>
                                  </m:r>
                                </m:sub>
                                <m:sup>
                                  <m:d>
                                    <m:dPr>
                                      <m:ctrlPr>
                                        <a:rPr lang="en-US" altLang="zh-CN" sz="2000" b="1" i="1">
                                          <a:latin typeface="Cambria Math" panose="02040503050406030204" pitchFamily="18" charset="0"/>
                                        </a:rPr>
                                      </m:ctrlPr>
                                    </m:dPr>
                                    <m:e>
                                      <m:r>
                                        <a:rPr lang="en-US" altLang="zh-CN" sz="2000" i="1">
                                          <a:latin typeface="Cambria Math" panose="02040503050406030204" pitchFamily="18" charset="0"/>
                                        </a:rPr>
                                        <m:t>2</m:t>
                                      </m:r>
                                    </m:e>
                                  </m:d>
                                </m:sup>
                              </m:sSubSup>
                            </m:e>
                          </m:nary>
                          <m:r>
                            <a:rPr lang="en-US" altLang="zh-CN" sz="2000" i="1">
                              <a:latin typeface="Cambria Math" panose="02040503050406030204" pitchFamily="18" charset="0"/>
                            </a:rPr>
                            <m:t>h</m:t>
                          </m:r>
                          <m:d>
                            <m:dPr>
                              <m:ctrlPr>
                                <a:rPr lang="en-US" altLang="zh-CN" sz="2000" b="1" i="1">
                                  <a:latin typeface="Cambria Math" panose="02040503050406030204" pitchFamily="18" charset="0"/>
                                </a:rPr>
                              </m:ctrlPr>
                            </m:dPr>
                            <m:e>
                              <m:nary>
                                <m:naryPr>
                                  <m:chr m:val="∑"/>
                                  <m:ctrlPr>
                                    <a:rPr lang="en-US" altLang="zh-CN" sz="2000" i="1">
                                      <a:latin typeface="Cambria Math" panose="02040503050406030204" pitchFamily="18" charset="0"/>
                                    </a:rPr>
                                  </m:ctrlPr>
                                </m:naryPr>
                                <m:sub>
                                  <m:r>
                                    <a:rPr lang="en-US" altLang="zh-CN" sz="2000" i="1">
                                      <a:latin typeface="Cambria Math" panose="02040503050406030204" pitchFamily="18" charset="0"/>
                                    </a:rPr>
                                    <m:t>𝑖</m:t>
                                  </m:r>
                                  <m:r>
                                    <a:rPr lang="en-US" altLang="zh-CN" sz="2000" i="1">
                                      <a:latin typeface="Cambria Math" panose="02040503050406030204" pitchFamily="18" charset="0"/>
                                    </a:rPr>
                                    <m:t>=1</m:t>
                                  </m:r>
                                </m:sub>
                                <m:sup>
                                  <m:r>
                                    <a:rPr lang="en-US" altLang="zh-CN" sz="2000" i="1">
                                      <a:latin typeface="Cambria Math" panose="02040503050406030204" pitchFamily="18" charset="0"/>
                                    </a:rPr>
                                    <m:t>𝐷</m:t>
                                  </m:r>
                                </m:sup>
                                <m:e>
                                  <m:sSubSup>
                                    <m:sSubSupPr>
                                      <m:ctrlPr>
                                        <a:rPr lang="en-US" altLang="zh-CN" sz="2000" i="1" smtClean="0">
                                          <a:latin typeface="Cambria Math" panose="02040503050406030204" pitchFamily="18" charset="0"/>
                                        </a:rPr>
                                      </m:ctrlPr>
                                    </m:sSubSupPr>
                                    <m:e>
                                      <m:r>
                                        <a:rPr lang="en-US" altLang="zh-CN" sz="2000" i="1">
                                          <a:latin typeface="Cambria Math" panose="02040503050406030204" pitchFamily="18" charset="0"/>
                                        </a:rPr>
                                        <m:t>𝑤</m:t>
                                      </m:r>
                                    </m:e>
                                    <m:sub>
                                      <m:r>
                                        <a:rPr lang="en-US" altLang="zh-CN" sz="2000" b="0" i="1" smtClean="0">
                                          <a:latin typeface="Cambria Math" panose="02040503050406030204" pitchFamily="18" charset="0"/>
                                        </a:rPr>
                                        <m:t>𝑗𝑖</m:t>
                                      </m:r>
                                    </m:sub>
                                    <m:sup>
                                      <m:d>
                                        <m:dPr>
                                          <m:ctrlPr>
                                            <a:rPr lang="en-US" altLang="zh-CN" sz="2000" b="1" i="1">
                                              <a:latin typeface="Cambria Math" panose="02040503050406030204" pitchFamily="18" charset="0"/>
                                            </a:rPr>
                                          </m:ctrlPr>
                                        </m:dPr>
                                        <m:e>
                                          <m:r>
                                            <a:rPr lang="en-US" altLang="zh-CN" sz="2000" i="1">
                                              <a:latin typeface="Cambria Math" panose="02040503050406030204" pitchFamily="18" charset="0"/>
                                            </a:rPr>
                                            <m:t>1</m:t>
                                          </m:r>
                                        </m:e>
                                      </m:d>
                                    </m:sup>
                                  </m:sSubSup>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𝑖</m:t>
                                      </m:r>
                                    </m:sub>
                                  </m:sSub>
                                </m:e>
                              </m:nary>
                            </m:e>
                          </m:d>
                        </m:e>
                      </m:d>
                    </m:oMath>
                  </m:oMathPara>
                </a14:m>
                <a:endParaRPr lang="en-US" altLang="zh-CN" sz="2000" dirty="0">
                  <a:latin typeface="思源黑体 CN Bold" panose="020B0800000000000000" pitchFamily="34" charset="-122"/>
                  <a:ea typeface="思源黑体 CN Bold" panose="020B0800000000000000" pitchFamily="34" charset="-122"/>
                </a:endParaRPr>
              </a:p>
              <a:p>
                <a:pPr>
                  <a:lnSpc>
                    <a:spcPct val="120000"/>
                  </a:lnSpc>
                  <a:spcBef>
                    <a:spcPts val="0"/>
                  </a:spcBef>
                </a:pPr>
                <a:endParaRPr lang="en-US" altLang="zh-CN" sz="2000" dirty="0">
                  <a:latin typeface="Monaco" panose="020B0509030404040204" pitchFamily="49" charset="0"/>
                  <a:ea typeface="思源黑体 CN Bold" panose="020B0800000000000000" pitchFamily="34" charset="-122"/>
                  <a:cs typeface="+mj-cs"/>
                </a:endParaRPr>
              </a:p>
              <a:p>
                <a:pPr>
                  <a:lnSpc>
                    <a:spcPct val="120000"/>
                  </a:lnSpc>
                  <a:spcBef>
                    <a:spcPts val="0"/>
                  </a:spcBef>
                </a:pPr>
                <a:r>
                  <a:rPr lang="zh-CN" altLang="en-US" sz="2000" dirty="0">
                    <a:latin typeface="Monaco" panose="020B0509030404040204" pitchFamily="49" charset="0"/>
                    <a:ea typeface="思源黑体 CN Bold" panose="020B0800000000000000" pitchFamily="34" charset="-122"/>
                    <a:cs typeface="+mj-cs"/>
                  </a:rPr>
                  <a:t>单个数据的损失，可省略下标</a:t>
                </a:r>
                <a14:m>
                  <m:oMath xmlns:m="http://schemas.openxmlformats.org/officeDocument/2006/math">
                    <m:r>
                      <a:rPr lang="en-US" altLang="zh-CN" sz="2000" i="1" dirty="0">
                        <a:latin typeface="Cambria Math" panose="02040503050406030204" pitchFamily="18" charset="0"/>
                      </a:rPr>
                      <m:t>𝑛</m:t>
                    </m:r>
                  </m:oMath>
                </a14:m>
                <a:endParaRPr lang="en-US" altLang="zh-CN" sz="2000" i="1" dirty="0">
                  <a:latin typeface="Monaco" panose="020B0509030404040204" pitchFamily="49" charset="0"/>
                  <a:ea typeface="思源黑体 CN Bold" panose="020B0800000000000000" pitchFamily="34" charset="-122"/>
                  <a:cs typeface="+mj-cs"/>
                </a:endParaRPr>
              </a:p>
              <a:p>
                <a:pPr marL="0" indent="0">
                  <a:lnSpc>
                    <a:spcPct val="120000"/>
                  </a:lnSpc>
                  <a:spcBef>
                    <a:spcPts val="0"/>
                  </a:spcBef>
                  <a:buNone/>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m:rPr>
                              <m:sty m:val="p"/>
                            </m:rPr>
                            <a:rPr lang="en-US" altLang="zh-CN" sz="2000" i="1" dirty="0">
                              <a:latin typeface="Cambria Math" panose="02040503050406030204" pitchFamily="18" charset="0"/>
                            </a:rPr>
                            <m:t>Loss</m:t>
                          </m:r>
                        </m:e>
                        <m:sub>
                          <m:r>
                            <a:rPr lang="en-US" altLang="zh-CN" sz="2000" b="0" i="1" smtClean="0">
                              <a:latin typeface="Cambria Math" panose="02040503050406030204" pitchFamily="18" charset="0"/>
                            </a:rPr>
                            <m:t>𝑛</m:t>
                          </m:r>
                        </m:sub>
                      </m:sSub>
                      <m:d>
                        <m:dPr>
                          <m:ctrlPr>
                            <a:rPr lang="en-US" altLang="zh-CN" sz="2000" i="1" dirty="0">
                              <a:latin typeface="Cambria Math" panose="02040503050406030204" pitchFamily="18" charset="0"/>
                            </a:rPr>
                          </m:ctrlPr>
                        </m:dPr>
                        <m:e>
                          <m:r>
                            <a:rPr lang="en-US" altLang="zh-CN" sz="2000" b="1">
                              <a:latin typeface="Cambria Math" panose="02040503050406030204" pitchFamily="18" charset="0"/>
                            </a:rPr>
                            <m:t>𝐰</m:t>
                          </m:r>
                        </m:e>
                      </m:d>
                      <m:r>
                        <a:rPr lang="en-US" altLang="zh-CN" sz="2000" b="1" i="1">
                          <a:latin typeface="Cambria Math" panose="02040503050406030204" pitchFamily="18" charset="0"/>
                        </a:rPr>
                        <m:t>=−</m:t>
                      </m:r>
                      <m:nary>
                        <m:naryPr>
                          <m:chr m:val="∑"/>
                          <m:ctrlPr>
                            <a:rPr lang="en-US" altLang="zh-CN" sz="2000" i="1">
                              <a:latin typeface="Cambria Math" panose="02040503050406030204" pitchFamily="18" charset="0"/>
                            </a:rPr>
                          </m:ctrlPr>
                        </m:naryPr>
                        <m:sub>
                          <m:r>
                            <m:rPr>
                              <m:brk m:alnAt="23"/>
                            </m:rPr>
                            <a:rPr lang="en-US" altLang="zh-CN" sz="2000" i="1">
                              <a:latin typeface="Cambria Math" panose="02040503050406030204" pitchFamily="18" charset="0"/>
                            </a:rPr>
                            <m:t>𝑘</m:t>
                          </m:r>
                          <m:r>
                            <a:rPr lang="en-US" altLang="zh-CN" sz="2000" i="1">
                              <a:latin typeface="Cambria Math" panose="02040503050406030204" pitchFamily="18" charset="0"/>
                            </a:rPr>
                            <m:t>=1</m:t>
                          </m:r>
                        </m:sub>
                        <m:sup>
                          <m:r>
                            <a:rPr lang="en-US" altLang="zh-CN" sz="2000" i="1">
                              <a:latin typeface="Cambria Math" panose="02040503050406030204" pitchFamily="18" charset="0"/>
                            </a:rPr>
                            <m:t>𝐾</m:t>
                          </m:r>
                        </m:sup>
                        <m:e>
                          <m:sSub>
                            <m:sSubPr>
                              <m:ctrlPr>
                                <a:rPr lang="en-US" altLang="zh-CN" sz="2000" b="1" i="1">
                                  <a:latin typeface="Cambria Math" panose="02040503050406030204" pitchFamily="18" charset="0"/>
                                </a:rPr>
                              </m:ctrlPr>
                            </m:sSubPr>
                            <m:e>
                              <m:r>
                                <a:rPr lang="en-US" altLang="zh-CN" sz="2000" i="1">
                                  <a:latin typeface="Cambria Math" panose="02040503050406030204" pitchFamily="18" charset="0"/>
                                </a:rPr>
                                <m:t>𝑡</m:t>
                              </m:r>
                            </m:e>
                            <m:sub>
                              <m:r>
                                <a:rPr lang="en-US" altLang="zh-CN" sz="2000" i="1" smtClean="0">
                                  <a:latin typeface="Cambria Math" panose="02040503050406030204" pitchFamily="18" charset="0"/>
                                </a:rPr>
                                <m:t>𝑛</m:t>
                              </m:r>
                              <m:r>
                                <a:rPr lang="en-US" altLang="zh-CN" sz="2000" i="1">
                                  <a:latin typeface="Cambria Math" panose="02040503050406030204" pitchFamily="18" charset="0"/>
                                </a:rPr>
                                <m:t>𝑘</m:t>
                              </m:r>
                            </m:sub>
                          </m:sSub>
                          <m:r>
                            <m:rPr>
                              <m:sty m:val="p"/>
                            </m:rPr>
                            <a:rPr lang="en-US" altLang="zh-CN" sz="2000">
                              <a:latin typeface="Cambria Math" panose="02040503050406030204" pitchFamily="18" charset="0"/>
                            </a:rPr>
                            <m:t>ln</m:t>
                          </m:r>
                          <m:d>
                            <m:dPr>
                              <m:begChr m:val="{"/>
                              <m:endChr m:val="}"/>
                              <m:ctrlPr>
                                <a:rPr lang="en-US" altLang="zh-CN" sz="2000" i="1">
                                  <a:latin typeface="Cambria Math" panose="02040503050406030204" pitchFamily="18" charset="0"/>
                                </a:rPr>
                              </m:ctrlPr>
                            </m:dPr>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𝑦</m:t>
                                  </m:r>
                                </m:e>
                                <m:sub>
                                  <m:r>
                                    <a:rPr lang="en-US" altLang="zh-CN" sz="2000" i="1">
                                      <a:latin typeface="Cambria Math" panose="02040503050406030204" pitchFamily="18" charset="0"/>
                                    </a:rPr>
                                    <m:t>𝑛𝑘</m:t>
                                  </m:r>
                                </m:sub>
                              </m:sSub>
                            </m:e>
                          </m:d>
                        </m:e>
                      </m:nary>
                      <m:r>
                        <a:rPr lang="en-US" altLang="zh-CN" sz="2000" i="1">
                          <a:latin typeface="Cambria Math" panose="02040503050406030204" pitchFamily="18" charset="0"/>
                        </a:rPr>
                        <m:t>=</m:t>
                      </m:r>
                      <m:r>
                        <a:rPr lang="en-US" altLang="zh-CN" sz="2000" b="1" i="1">
                          <a:latin typeface="Cambria Math" panose="02040503050406030204" pitchFamily="18" charset="0"/>
                        </a:rPr>
                        <m:t>−</m:t>
                      </m:r>
                      <m:nary>
                        <m:naryPr>
                          <m:chr m:val="∑"/>
                          <m:ctrlPr>
                            <a:rPr lang="en-US" altLang="zh-CN" sz="2000" i="1">
                              <a:latin typeface="Cambria Math" panose="02040503050406030204" pitchFamily="18" charset="0"/>
                            </a:rPr>
                          </m:ctrlPr>
                        </m:naryPr>
                        <m:sub>
                          <m:r>
                            <m:rPr>
                              <m:brk m:alnAt="23"/>
                            </m:rPr>
                            <a:rPr lang="en-US" altLang="zh-CN" sz="2000" i="1">
                              <a:latin typeface="Cambria Math" panose="02040503050406030204" pitchFamily="18" charset="0"/>
                            </a:rPr>
                            <m:t>𝑘</m:t>
                          </m:r>
                          <m:r>
                            <a:rPr lang="en-US" altLang="zh-CN" sz="2000" i="1">
                              <a:latin typeface="Cambria Math" panose="02040503050406030204" pitchFamily="18" charset="0"/>
                            </a:rPr>
                            <m:t>=1</m:t>
                          </m:r>
                        </m:sub>
                        <m:sup>
                          <m:r>
                            <a:rPr lang="en-US" altLang="zh-CN" sz="2000" i="1">
                              <a:latin typeface="Cambria Math" panose="02040503050406030204" pitchFamily="18" charset="0"/>
                            </a:rPr>
                            <m:t>𝐾</m:t>
                          </m:r>
                        </m:sup>
                        <m:e>
                          <m:sSub>
                            <m:sSubPr>
                              <m:ctrlPr>
                                <a:rPr lang="en-US" altLang="zh-CN" sz="2000" b="1" i="1">
                                  <a:latin typeface="Cambria Math" panose="02040503050406030204" pitchFamily="18" charset="0"/>
                                </a:rPr>
                              </m:ctrlPr>
                            </m:sSubPr>
                            <m:e>
                              <m:r>
                                <a:rPr lang="en-US" altLang="zh-CN" sz="2000" i="1">
                                  <a:latin typeface="Cambria Math" panose="02040503050406030204" pitchFamily="18" charset="0"/>
                                </a:rPr>
                                <m:t>𝑡</m:t>
                              </m:r>
                            </m:e>
                            <m:sub>
                              <m:r>
                                <a:rPr lang="en-US" altLang="zh-CN" sz="2000" i="1">
                                  <a:latin typeface="Cambria Math" panose="02040503050406030204" pitchFamily="18" charset="0"/>
                                </a:rPr>
                                <m:t>𝑘</m:t>
                              </m:r>
                            </m:sub>
                          </m:sSub>
                          <m:r>
                            <m:rPr>
                              <m:sty m:val="p"/>
                            </m:rPr>
                            <a:rPr lang="en-US" altLang="zh-CN" sz="2000">
                              <a:latin typeface="Cambria Math" panose="02040503050406030204" pitchFamily="18" charset="0"/>
                            </a:rPr>
                            <m:t>ln</m:t>
                          </m:r>
                          <m:d>
                            <m:dPr>
                              <m:begChr m:val="{"/>
                              <m:endChr m:val="}"/>
                              <m:ctrlPr>
                                <a:rPr lang="en-US" altLang="zh-CN" sz="2000" i="1">
                                  <a:latin typeface="Cambria Math" panose="02040503050406030204" pitchFamily="18" charset="0"/>
                                </a:rPr>
                              </m:ctrlPr>
                            </m:dPr>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𝑦</m:t>
                                  </m:r>
                                </m:e>
                                <m:sub>
                                  <m:r>
                                    <a:rPr lang="en-US" altLang="zh-CN" sz="2000" i="1">
                                      <a:latin typeface="Cambria Math" panose="02040503050406030204" pitchFamily="18" charset="0"/>
                                    </a:rPr>
                                    <m:t>𝑘</m:t>
                                  </m:r>
                                </m:sub>
                              </m:sSub>
                            </m:e>
                          </m:d>
                        </m:e>
                      </m:nary>
                    </m:oMath>
                  </m:oMathPara>
                </a14:m>
                <a:endParaRPr lang="en-US" altLang="zh-CN" sz="2000" dirty="0">
                  <a:latin typeface="Monaco" panose="020B0509030404040204" pitchFamily="49" charset="0"/>
                  <a:ea typeface="思源黑体 CN Bold" panose="020B0800000000000000" pitchFamily="34" charset="-122"/>
                  <a:cs typeface="+mj-cs"/>
                </a:endParaRPr>
              </a:p>
              <a:p>
                <a:pPr marL="0" indent="0">
                  <a:lnSpc>
                    <a:spcPct val="120000"/>
                  </a:lnSpc>
                  <a:spcBef>
                    <a:spcPts val="0"/>
                  </a:spcBef>
                  <a:buNone/>
                </a:pPr>
                <a14:m>
                  <m:oMathPara xmlns:m="http://schemas.openxmlformats.org/officeDocument/2006/math">
                    <m:oMathParaPr>
                      <m:jc m:val="centerGroup"/>
                    </m:oMathParaPr>
                    <m:oMath xmlns:m="http://schemas.openxmlformats.org/officeDocument/2006/math">
                      <m:f>
                        <m:fPr>
                          <m:ctrlPr>
                            <a:rPr lang="en-US" altLang="zh-CN" sz="2000" i="1" smtClean="0">
                              <a:latin typeface="Cambria Math" panose="02040503050406030204" pitchFamily="18" charset="0"/>
                            </a:rPr>
                          </m:ctrlPr>
                        </m:fPr>
                        <m:num>
                          <m:r>
                            <a:rPr lang="en-US" altLang="zh-CN" sz="2000" b="0" i="1" smtClean="0">
                              <a:latin typeface="Cambria Math" panose="02040503050406030204" pitchFamily="18" charset="0"/>
                            </a:rPr>
                            <m:t>𝜕</m:t>
                          </m:r>
                          <m:sSub>
                            <m:sSubPr>
                              <m:ctrlPr>
                                <a:rPr lang="en-US" altLang="zh-CN" sz="2000" b="1" i="1">
                                  <a:latin typeface="Cambria Math" panose="02040503050406030204" pitchFamily="18" charset="0"/>
                                </a:rPr>
                              </m:ctrlPr>
                            </m:sSubPr>
                            <m:e>
                              <m:r>
                                <m:rPr>
                                  <m:sty m:val="p"/>
                                </m:rPr>
                                <a:rPr lang="en-US" altLang="zh-CN" sz="2000" i="1" dirty="0">
                                  <a:latin typeface="Cambria Math" panose="02040503050406030204" pitchFamily="18" charset="0"/>
                                </a:rPr>
                                <m:t>Loss</m:t>
                              </m:r>
                            </m:e>
                            <m:sub>
                              <m:r>
                                <a:rPr lang="en-US" altLang="zh-CN" sz="2000" i="1">
                                  <a:latin typeface="Cambria Math" panose="02040503050406030204" pitchFamily="18" charset="0"/>
                                </a:rPr>
                                <m:t>𝑛</m:t>
                              </m:r>
                            </m:sub>
                          </m:sSub>
                          <m:d>
                            <m:dPr>
                              <m:ctrlPr>
                                <a:rPr lang="en-US" altLang="zh-CN" sz="2000" i="1" dirty="0">
                                  <a:latin typeface="Cambria Math" panose="02040503050406030204" pitchFamily="18" charset="0"/>
                                </a:rPr>
                              </m:ctrlPr>
                            </m:dPr>
                            <m:e>
                              <m:r>
                                <a:rPr lang="en-US" altLang="zh-CN" sz="2000" b="1">
                                  <a:latin typeface="Cambria Math" panose="02040503050406030204" pitchFamily="18" charset="0"/>
                                </a:rPr>
                                <m:t>𝐰</m:t>
                              </m:r>
                            </m:e>
                          </m:d>
                        </m:num>
                        <m:den>
                          <m:r>
                            <a:rPr lang="en-US" altLang="zh-CN" sz="2000" b="0" i="1" smtClean="0">
                              <a:latin typeface="Cambria Math" panose="02040503050406030204" pitchFamily="18" charset="0"/>
                            </a:rPr>
                            <m:t>𝜕</m:t>
                          </m:r>
                          <m:sSubSup>
                            <m:sSubSupPr>
                              <m:ctrlPr>
                                <a:rPr lang="en-US" altLang="zh-CN" sz="2000" i="1">
                                  <a:latin typeface="Cambria Math" panose="02040503050406030204" pitchFamily="18" charset="0"/>
                                </a:rPr>
                              </m:ctrlPr>
                            </m:sSubSupPr>
                            <m:e>
                              <m:r>
                                <a:rPr lang="en-US" altLang="zh-CN" sz="2000" i="1">
                                  <a:latin typeface="Cambria Math" panose="02040503050406030204" pitchFamily="18" charset="0"/>
                                </a:rPr>
                                <m:t>𝑤</m:t>
                              </m:r>
                            </m:e>
                            <m:sub>
                              <m:r>
                                <a:rPr lang="en-US" altLang="zh-CN" sz="2000" i="1">
                                  <a:latin typeface="Cambria Math" panose="02040503050406030204" pitchFamily="18" charset="0"/>
                                </a:rPr>
                                <m:t>𝑘𝑗</m:t>
                              </m:r>
                            </m:sub>
                            <m:sup>
                              <m:d>
                                <m:dPr>
                                  <m:ctrlPr>
                                    <a:rPr lang="en-US" altLang="zh-CN" sz="2000" b="1" i="1">
                                      <a:latin typeface="Cambria Math" panose="02040503050406030204" pitchFamily="18" charset="0"/>
                                    </a:rPr>
                                  </m:ctrlPr>
                                </m:dPr>
                                <m:e>
                                  <m:r>
                                    <a:rPr lang="en-US" altLang="zh-CN" sz="2000" i="1">
                                      <a:latin typeface="Cambria Math" panose="02040503050406030204" pitchFamily="18" charset="0"/>
                                    </a:rPr>
                                    <m:t>2</m:t>
                                  </m:r>
                                </m:e>
                              </m:d>
                            </m:sup>
                          </m:sSubSup>
                        </m:den>
                      </m:f>
                      <m:r>
                        <a:rPr lang="en-US" altLang="zh-CN" sz="2000" b="1" i="1">
                          <a:latin typeface="Cambria Math" panose="02040503050406030204" pitchFamily="18" charset="0"/>
                        </a:rPr>
                        <m:t>=</m:t>
                      </m:r>
                      <m:f>
                        <m:fPr>
                          <m:ctrlPr>
                            <a:rPr lang="en-US" altLang="zh-CN" sz="2000" i="1">
                              <a:latin typeface="Cambria Math" panose="02040503050406030204" pitchFamily="18" charset="0"/>
                            </a:rPr>
                          </m:ctrlPr>
                        </m:fPr>
                        <m:num>
                          <m:r>
                            <a:rPr lang="en-US" altLang="zh-CN" sz="2000" i="1">
                              <a:latin typeface="Cambria Math" panose="02040503050406030204" pitchFamily="18" charset="0"/>
                            </a:rPr>
                            <m:t>𝜕</m:t>
                          </m:r>
                          <m:sSub>
                            <m:sSubPr>
                              <m:ctrlPr>
                                <a:rPr lang="en-US" altLang="zh-CN" sz="2000" b="1" i="1">
                                  <a:latin typeface="Cambria Math" panose="02040503050406030204" pitchFamily="18" charset="0"/>
                                </a:rPr>
                              </m:ctrlPr>
                            </m:sSubPr>
                            <m:e>
                              <m:r>
                                <m:rPr>
                                  <m:sty m:val="p"/>
                                </m:rPr>
                                <a:rPr lang="en-US" altLang="zh-CN" sz="2000" i="1" dirty="0">
                                  <a:latin typeface="Cambria Math" panose="02040503050406030204" pitchFamily="18" charset="0"/>
                                </a:rPr>
                                <m:t>Loss</m:t>
                              </m:r>
                            </m:e>
                            <m:sub>
                              <m:r>
                                <a:rPr lang="en-US" altLang="zh-CN" sz="2000" i="1">
                                  <a:latin typeface="Cambria Math" panose="02040503050406030204" pitchFamily="18" charset="0"/>
                                </a:rPr>
                                <m:t>𝑛</m:t>
                              </m:r>
                            </m:sub>
                          </m:sSub>
                          <m:d>
                            <m:dPr>
                              <m:ctrlPr>
                                <a:rPr lang="en-US" altLang="zh-CN" sz="2000" i="1" dirty="0">
                                  <a:latin typeface="Cambria Math" panose="02040503050406030204" pitchFamily="18" charset="0"/>
                                </a:rPr>
                              </m:ctrlPr>
                            </m:dPr>
                            <m:e>
                              <m:r>
                                <a:rPr lang="en-US" altLang="zh-CN" sz="2000" b="1">
                                  <a:latin typeface="Cambria Math" panose="02040503050406030204" pitchFamily="18" charset="0"/>
                                </a:rPr>
                                <m:t>𝐰</m:t>
                              </m:r>
                            </m:e>
                          </m:d>
                        </m:num>
                        <m:den>
                          <m:r>
                            <a:rPr lang="en-US" altLang="zh-CN" sz="2000" i="1">
                              <a:latin typeface="Cambria Math" panose="02040503050406030204" pitchFamily="18" charset="0"/>
                            </a:rPr>
                            <m:t>𝜕</m:t>
                          </m:r>
                          <m:sSub>
                            <m:sSubPr>
                              <m:ctrlPr>
                                <a:rPr lang="en-US" altLang="zh-CN" sz="2000" b="1" i="1">
                                  <a:latin typeface="Cambria Math" panose="02040503050406030204" pitchFamily="18" charset="0"/>
                                </a:rPr>
                              </m:ctrlPr>
                            </m:sSubPr>
                            <m:e>
                              <m:r>
                                <a:rPr lang="en-US" altLang="zh-CN" sz="2000" b="0" i="1" smtClean="0">
                                  <a:latin typeface="Cambria Math" panose="02040503050406030204" pitchFamily="18" charset="0"/>
                                </a:rPr>
                                <m:t>𝑎</m:t>
                              </m:r>
                            </m:e>
                            <m:sub>
                              <m:r>
                                <a:rPr lang="en-US" altLang="zh-CN" sz="2000" i="1">
                                  <a:latin typeface="Cambria Math" panose="02040503050406030204" pitchFamily="18" charset="0"/>
                                </a:rPr>
                                <m:t>𝑘</m:t>
                              </m:r>
                            </m:sub>
                          </m:sSub>
                        </m:den>
                      </m:f>
                      <m:f>
                        <m:fPr>
                          <m:ctrlPr>
                            <a:rPr lang="en-US" altLang="zh-CN" sz="2000" i="1">
                              <a:latin typeface="Cambria Math" panose="02040503050406030204" pitchFamily="18" charset="0"/>
                            </a:rPr>
                          </m:ctrlPr>
                        </m:fPr>
                        <m:num>
                          <m:r>
                            <a:rPr lang="en-US" altLang="zh-CN" sz="2000" i="1">
                              <a:latin typeface="Cambria Math" panose="02040503050406030204" pitchFamily="18" charset="0"/>
                            </a:rPr>
                            <m:t>𝜕</m:t>
                          </m:r>
                          <m:sSub>
                            <m:sSubPr>
                              <m:ctrlPr>
                                <a:rPr lang="en-US" altLang="zh-CN" sz="2000" b="1" i="1">
                                  <a:latin typeface="Cambria Math" panose="02040503050406030204" pitchFamily="18" charset="0"/>
                                </a:rPr>
                              </m:ctrlPr>
                            </m:sSubPr>
                            <m:e>
                              <m:r>
                                <a:rPr lang="en-US" altLang="zh-CN" sz="2000" i="1">
                                  <a:latin typeface="Cambria Math" panose="02040503050406030204" pitchFamily="18" charset="0"/>
                                </a:rPr>
                                <m:t>𝑎</m:t>
                              </m:r>
                            </m:e>
                            <m:sub>
                              <m:r>
                                <a:rPr lang="en-US" altLang="zh-CN" sz="2000" i="1">
                                  <a:latin typeface="Cambria Math" panose="02040503050406030204" pitchFamily="18" charset="0"/>
                                </a:rPr>
                                <m:t>𝑘</m:t>
                              </m:r>
                            </m:sub>
                          </m:sSub>
                        </m:num>
                        <m:den>
                          <m:r>
                            <a:rPr lang="en-US" altLang="zh-CN" sz="2000" i="1">
                              <a:latin typeface="Cambria Math" panose="02040503050406030204" pitchFamily="18" charset="0"/>
                            </a:rPr>
                            <m:t>𝜕</m:t>
                          </m:r>
                          <m:sSubSup>
                            <m:sSubSupPr>
                              <m:ctrlPr>
                                <a:rPr lang="en-US" altLang="zh-CN" sz="2000" i="1">
                                  <a:latin typeface="Cambria Math" panose="02040503050406030204" pitchFamily="18" charset="0"/>
                                </a:rPr>
                              </m:ctrlPr>
                            </m:sSubSupPr>
                            <m:e>
                              <m:r>
                                <a:rPr lang="en-US" altLang="zh-CN" sz="2000" i="1">
                                  <a:latin typeface="Cambria Math" panose="02040503050406030204" pitchFamily="18" charset="0"/>
                                </a:rPr>
                                <m:t>𝑤</m:t>
                              </m:r>
                            </m:e>
                            <m:sub>
                              <m:r>
                                <a:rPr lang="en-US" altLang="zh-CN" sz="2000" i="1">
                                  <a:latin typeface="Cambria Math" panose="02040503050406030204" pitchFamily="18" charset="0"/>
                                </a:rPr>
                                <m:t>𝑘𝑗</m:t>
                              </m:r>
                            </m:sub>
                            <m:sup>
                              <m:d>
                                <m:dPr>
                                  <m:ctrlPr>
                                    <a:rPr lang="en-US" altLang="zh-CN" sz="2000" b="1" i="1">
                                      <a:latin typeface="Cambria Math" panose="02040503050406030204" pitchFamily="18" charset="0"/>
                                    </a:rPr>
                                  </m:ctrlPr>
                                </m:dPr>
                                <m:e>
                                  <m:r>
                                    <a:rPr lang="en-US" altLang="zh-CN" sz="2000" i="1">
                                      <a:latin typeface="Cambria Math" panose="02040503050406030204" pitchFamily="18" charset="0"/>
                                    </a:rPr>
                                    <m:t>2</m:t>
                                  </m:r>
                                </m:e>
                              </m:d>
                            </m:sup>
                          </m:sSubSup>
                        </m:den>
                      </m:f>
                      <m:r>
                        <a:rPr lang="en-US" altLang="zh-CN" sz="2000" b="1" i="1" smtClean="0">
                          <a:latin typeface="Cambria Math" panose="02040503050406030204" pitchFamily="18" charset="0"/>
                        </a:rPr>
                        <m:t>=</m:t>
                      </m:r>
                      <m:d>
                        <m:dPr>
                          <m:ctrlPr>
                            <a:rPr lang="en-US" altLang="zh-CN" sz="2000" b="1" i="1" smtClean="0">
                              <a:solidFill>
                                <a:srgbClr val="FF0000"/>
                              </a:solidFill>
                              <a:latin typeface="Cambria Math" panose="02040503050406030204" pitchFamily="18" charset="0"/>
                            </a:rPr>
                          </m:ctrlPr>
                        </m:dPr>
                        <m:e>
                          <m:sSub>
                            <m:sSubPr>
                              <m:ctrlPr>
                                <a:rPr lang="en-US" altLang="zh-CN" sz="2000" i="1">
                                  <a:solidFill>
                                    <a:srgbClr val="FF0000"/>
                                  </a:solidFill>
                                  <a:latin typeface="Cambria Math" panose="02040503050406030204" pitchFamily="18" charset="0"/>
                                </a:rPr>
                              </m:ctrlPr>
                            </m:sSubPr>
                            <m:e>
                              <m:r>
                                <a:rPr lang="en-US" altLang="zh-CN" sz="2000" b="0" i="1" smtClean="0">
                                  <a:solidFill>
                                    <a:srgbClr val="FF0000"/>
                                  </a:solidFill>
                                  <a:latin typeface="Cambria Math" panose="02040503050406030204" pitchFamily="18" charset="0"/>
                                </a:rPr>
                                <m:t>𝑦</m:t>
                              </m:r>
                            </m:e>
                            <m:sub>
                              <m:r>
                                <a:rPr lang="en-US" altLang="zh-CN" sz="2000" i="1">
                                  <a:solidFill>
                                    <a:srgbClr val="FF0000"/>
                                  </a:solidFill>
                                  <a:latin typeface="Cambria Math" panose="02040503050406030204" pitchFamily="18" charset="0"/>
                                </a:rPr>
                                <m:t>𝑘</m:t>
                              </m:r>
                            </m:sub>
                          </m:sSub>
                          <m:r>
                            <a:rPr lang="en-US" altLang="zh-CN" sz="2000" i="1">
                              <a:solidFill>
                                <a:srgbClr val="FF0000"/>
                              </a:solidFill>
                              <a:latin typeface="Cambria Math" panose="02040503050406030204" pitchFamily="18" charset="0"/>
                            </a:rPr>
                            <m:t>−</m:t>
                          </m:r>
                          <m:sSub>
                            <m:sSubPr>
                              <m:ctrlPr>
                                <a:rPr lang="en-US" altLang="zh-CN" sz="2000" b="1" i="1">
                                  <a:solidFill>
                                    <a:srgbClr val="FF0000"/>
                                  </a:solidFill>
                                  <a:latin typeface="Cambria Math" panose="02040503050406030204" pitchFamily="18" charset="0"/>
                                </a:rPr>
                              </m:ctrlPr>
                            </m:sSubPr>
                            <m:e>
                              <m:r>
                                <a:rPr lang="en-US" altLang="zh-CN" sz="2000" i="1">
                                  <a:solidFill>
                                    <a:srgbClr val="FF0000"/>
                                  </a:solidFill>
                                  <a:latin typeface="Cambria Math" panose="02040503050406030204" pitchFamily="18" charset="0"/>
                                </a:rPr>
                                <m:t>𝑡</m:t>
                              </m:r>
                            </m:e>
                            <m:sub>
                              <m:r>
                                <a:rPr lang="en-US" altLang="zh-CN" sz="2000" i="1">
                                  <a:solidFill>
                                    <a:srgbClr val="FF0000"/>
                                  </a:solidFill>
                                  <a:latin typeface="Cambria Math" panose="02040503050406030204" pitchFamily="18" charset="0"/>
                                </a:rPr>
                                <m:t>𝑘</m:t>
                              </m:r>
                            </m:sub>
                          </m:sSub>
                        </m:e>
                      </m:d>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𝑧</m:t>
                          </m:r>
                        </m:e>
                        <m:sub>
                          <m:r>
                            <a:rPr lang="en-US" altLang="zh-CN" sz="2000" i="1">
                              <a:latin typeface="Cambria Math" panose="02040503050406030204" pitchFamily="18" charset="0"/>
                            </a:rPr>
                            <m:t>𝑗</m:t>
                          </m:r>
                        </m:sub>
                      </m:sSub>
                    </m:oMath>
                  </m:oMathPara>
                </a14:m>
                <a:endParaRPr lang="en-US" altLang="zh-CN" sz="2000" dirty="0">
                  <a:latin typeface="Monaco" panose="020B0509030404040204" pitchFamily="49" charset="0"/>
                  <a:ea typeface="思源黑体 CN Bold" panose="020B0800000000000000" pitchFamily="34" charset="-122"/>
                  <a:cs typeface="+mj-cs"/>
                </a:endParaRPr>
              </a:p>
            </p:txBody>
          </p:sp>
        </mc:Choice>
        <mc:Fallback xmlns="">
          <p:sp>
            <p:nvSpPr>
              <p:cNvPr id="3" name="内容占位符 2">
                <a:extLst>
                  <a:ext uri="{FF2B5EF4-FFF2-40B4-BE49-F238E27FC236}">
                    <a16:creationId xmlns:a16="http://schemas.microsoft.com/office/drawing/2014/main" id="{B5F15897-98F0-4E08-931A-45E1DC23C6B6}"/>
                  </a:ext>
                </a:extLst>
              </p:cNvPr>
              <p:cNvSpPr>
                <a:spLocks noGrp="1" noRot="1" noChangeAspect="1" noMove="1" noResize="1" noEditPoints="1" noAdjustHandles="1" noChangeArrowheads="1" noChangeShapeType="1" noTextEdit="1"/>
              </p:cNvSpPr>
              <p:nvPr>
                <p:ph idx="1"/>
              </p:nvPr>
            </p:nvSpPr>
            <p:spPr>
              <a:blipFill>
                <a:blip r:embed="rId3"/>
                <a:stretch>
                  <a:fillRect l="-464" t="-840"/>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0ACFECF1-2C94-4CF1-AF10-846AEB0254C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08214" y="915066"/>
            <a:ext cx="3589203" cy="2938392"/>
          </a:xfrm>
          <a:prstGeom prst="rect">
            <a:avLst/>
          </a:prstGeom>
        </p:spPr>
      </p:pic>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BD76FEDB-C16D-4357-8ADB-A9D31C37B560}"/>
                  </a:ext>
                </a:extLst>
              </p:cNvPr>
              <p:cNvSpPr/>
              <p:nvPr/>
            </p:nvSpPr>
            <p:spPr>
              <a:xfrm>
                <a:off x="9251162" y="4403399"/>
                <a:ext cx="1801904" cy="902555"/>
              </a:xfrm>
              <a:prstGeom prst="rect">
                <a:avLst/>
              </a:prstGeom>
              <a:ln w="19050">
                <a:solidFill>
                  <a:srgbClr val="FF0000"/>
                </a:solidFill>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𝑘</m:t>
                          </m:r>
                        </m:sub>
                      </m:sSub>
                      <m:r>
                        <a:rPr lang="en-US" altLang="zh-CN" b="1" i="1" smtClean="0">
                          <a:latin typeface="Cambria Math" panose="02040503050406030204" pitchFamily="18" charset="0"/>
                        </a:rPr>
                        <m:t>=</m:t>
                      </m:r>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𝑗</m:t>
                          </m:r>
                          <m:r>
                            <a:rPr lang="en-US" altLang="zh-CN" i="1">
                              <a:latin typeface="Cambria Math" panose="02040503050406030204" pitchFamily="18" charset="0"/>
                            </a:rPr>
                            <m:t>=1</m:t>
                          </m:r>
                        </m:sub>
                        <m:sup>
                          <m:r>
                            <a:rPr lang="en-US" altLang="zh-CN" i="1">
                              <a:latin typeface="Cambria Math" panose="02040503050406030204" pitchFamily="18" charset="0"/>
                            </a:rPr>
                            <m:t>𝑀</m:t>
                          </m:r>
                        </m:sup>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i="1">
                                  <a:latin typeface="Cambria Math" panose="02040503050406030204" pitchFamily="18" charset="0"/>
                                </a:rPr>
                                <m:t>𝑘𝑗</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e>
                      </m:nary>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𝑧</m:t>
                          </m:r>
                        </m:e>
                        <m:sub>
                          <m:r>
                            <a:rPr lang="en-US" altLang="zh-CN" b="0" i="1" smtClean="0">
                              <a:latin typeface="Cambria Math" panose="02040503050406030204" pitchFamily="18" charset="0"/>
                            </a:rPr>
                            <m:t>𝑗</m:t>
                          </m:r>
                        </m:sub>
                      </m:sSub>
                    </m:oMath>
                  </m:oMathPara>
                </a14:m>
                <a:endParaRPr lang="zh-CN" altLang="en-US" dirty="0"/>
              </a:p>
            </p:txBody>
          </p:sp>
        </mc:Choice>
        <mc:Fallback xmlns="">
          <p:sp>
            <p:nvSpPr>
              <p:cNvPr id="5" name="矩形 4">
                <a:extLst>
                  <a:ext uri="{FF2B5EF4-FFF2-40B4-BE49-F238E27FC236}">
                    <a16:creationId xmlns:a16="http://schemas.microsoft.com/office/drawing/2014/main" id="{BD76FEDB-C16D-4357-8ADB-A9D31C37B560}"/>
                  </a:ext>
                </a:extLst>
              </p:cNvPr>
              <p:cNvSpPr>
                <a:spLocks noRot="1" noChangeAspect="1" noMove="1" noResize="1" noEditPoints="1" noAdjustHandles="1" noChangeArrowheads="1" noChangeShapeType="1" noTextEdit="1"/>
              </p:cNvSpPr>
              <p:nvPr/>
            </p:nvSpPr>
            <p:spPr>
              <a:xfrm>
                <a:off x="9251162" y="4403399"/>
                <a:ext cx="1801904" cy="902555"/>
              </a:xfrm>
              <a:prstGeom prst="rect">
                <a:avLst/>
              </a:prstGeom>
              <a:blipFill>
                <a:blip r:embed="rId5"/>
                <a:stretch>
                  <a:fillRect/>
                </a:stretch>
              </a:blipFill>
              <a:ln w="19050">
                <a:solidFill>
                  <a:srgbClr val="FF0000"/>
                </a:solidFill>
              </a:ln>
            </p:spPr>
            <p:txBody>
              <a:bodyPr/>
              <a:lstStyle/>
              <a:p>
                <a:r>
                  <a:rPr lang="zh-CN" altLang="en-US">
                    <a:noFill/>
                  </a:rPr>
                  <a:t> </a:t>
                </a:r>
              </a:p>
            </p:txBody>
          </p:sp>
        </mc:Fallback>
      </mc:AlternateContent>
      <p:sp>
        <p:nvSpPr>
          <p:cNvPr id="6" name="矩形 5">
            <a:extLst>
              <a:ext uri="{FF2B5EF4-FFF2-40B4-BE49-F238E27FC236}">
                <a16:creationId xmlns:a16="http://schemas.microsoft.com/office/drawing/2014/main" id="{8C5A54D6-FA76-41AA-B3B3-D6EB683F91B2}"/>
              </a:ext>
            </a:extLst>
          </p:cNvPr>
          <p:cNvSpPr/>
          <p:nvPr/>
        </p:nvSpPr>
        <p:spPr>
          <a:xfrm>
            <a:off x="5665193" y="2436697"/>
            <a:ext cx="2370289" cy="104721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08849A5D-BA60-43A5-926D-6A650F988F96}"/>
              </a:ext>
            </a:extLst>
          </p:cNvPr>
          <p:cNvSpPr/>
          <p:nvPr/>
        </p:nvSpPr>
        <p:spPr>
          <a:xfrm>
            <a:off x="5723032" y="5700078"/>
            <a:ext cx="289531" cy="28183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连接符: 曲线 9">
            <a:extLst>
              <a:ext uri="{FF2B5EF4-FFF2-40B4-BE49-F238E27FC236}">
                <a16:creationId xmlns:a16="http://schemas.microsoft.com/office/drawing/2014/main" id="{BA85084D-981D-4633-9F4C-332320516FEA}"/>
              </a:ext>
            </a:extLst>
          </p:cNvPr>
          <p:cNvCxnSpPr>
            <a:cxnSpLocks/>
            <a:stCxn id="6" idx="2"/>
            <a:endCxn id="5" idx="0"/>
          </p:cNvCxnSpPr>
          <p:nvPr/>
        </p:nvCxnSpPr>
        <p:spPr>
          <a:xfrm rot="16200000" flipH="1">
            <a:off x="8041484" y="2292769"/>
            <a:ext cx="919484" cy="3301776"/>
          </a:xfrm>
          <a:prstGeom prst="curvedConnector3">
            <a:avLst>
              <a:gd name="adj1" fmla="val 50000"/>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连接符: 曲线 11">
            <a:extLst>
              <a:ext uri="{FF2B5EF4-FFF2-40B4-BE49-F238E27FC236}">
                <a16:creationId xmlns:a16="http://schemas.microsoft.com/office/drawing/2014/main" id="{8AF75E80-BEB7-4F18-A6D3-F0D4A130B5E0}"/>
              </a:ext>
            </a:extLst>
          </p:cNvPr>
          <p:cNvCxnSpPr>
            <a:cxnSpLocks/>
            <a:stCxn id="5" idx="3"/>
            <a:endCxn id="8" idx="2"/>
          </p:cNvCxnSpPr>
          <p:nvPr/>
        </p:nvCxnSpPr>
        <p:spPr>
          <a:xfrm flipH="1">
            <a:off x="5867798" y="4854677"/>
            <a:ext cx="5185268" cy="1127237"/>
          </a:xfrm>
          <a:prstGeom prst="curvedConnector4">
            <a:avLst>
              <a:gd name="adj1" fmla="val -4409"/>
              <a:gd name="adj2" fmla="val 120280"/>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矩形 14">
                <a:extLst>
                  <a:ext uri="{FF2B5EF4-FFF2-40B4-BE49-F238E27FC236}">
                    <a16:creationId xmlns:a16="http://schemas.microsoft.com/office/drawing/2014/main" id="{B42B252D-A801-4FCA-9583-D87E35CE1B9F}"/>
                  </a:ext>
                </a:extLst>
              </p:cNvPr>
              <p:cNvSpPr/>
              <p:nvPr/>
            </p:nvSpPr>
            <p:spPr>
              <a:xfrm>
                <a:off x="10795656" y="1446843"/>
                <a:ext cx="51482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𝐾</m:t>
                          </m:r>
                        </m:sub>
                      </m:sSub>
                    </m:oMath>
                  </m:oMathPara>
                </a14:m>
                <a:endParaRPr lang="zh-CN" altLang="en-US" dirty="0"/>
              </a:p>
            </p:txBody>
          </p:sp>
        </mc:Choice>
        <mc:Fallback xmlns="">
          <p:sp>
            <p:nvSpPr>
              <p:cNvPr id="15" name="矩形 14">
                <a:extLst>
                  <a:ext uri="{FF2B5EF4-FFF2-40B4-BE49-F238E27FC236}">
                    <a16:creationId xmlns:a16="http://schemas.microsoft.com/office/drawing/2014/main" id="{B42B252D-A801-4FCA-9583-D87E35CE1B9F}"/>
                  </a:ext>
                </a:extLst>
              </p:cNvPr>
              <p:cNvSpPr>
                <a:spLocks noRot="1" noChangeAspect="1" noMove="1" noResize="1" noEditPoints="1" noAdjustHandles="1" noChangeArrowheads="1" noChangeShapeType="1" noTextEdit="1"/>
              </p:cNvSpPr>
              <p:nvPr/>
            </p:nvSpPr>
            <p:spPr>
              <a:xfrm>
                <a:off x="10795656" y="1446843"/>
                <a:ext cx="514820" cy="369332"/>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id="{330DF03C-7DCB-453F-A9D6-4817577F1C2B}"/>
                  </a:ext>
                </a:extLst>
              </p:cNvPr>
              <p:cNvSpPr/>
              <p:nvPr/>
            </p:nvSpPr>
            <p:spPr>
              <a:xfrm>
                <a:off x="10914677" y="2570542"/>
                <a:ext cx="47743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1</m:t>
                          </m:r>
                        </m:sub>
                      </m:sSub>
                    </m:oMath>
                  </m:oMathPara>
                </a14:m>
                <a:endParaRPr lang="zh-CN" altLang="en-US" dirty="0"/>
              </a:p>
            </p:txBody>
          </p:sp>
        </mc:Choice>
        <mc:Fallback xmlns="">
          <p:sp>
            <p:nvSpPr>
              <p:cNvPr id="16" name="矩形 15">
                <a:extLst>
                  <a:ext uri="{FF2B5EF4-FFF2-40B4-BE49-F238E27FC236}">
                    <a16:creationId xmlns:a16="http://schemas.microsoft.com/office/drawing/2014/main" id="{330DF03C-7DCB-453F-A9D6-4817577F1C2B}"/>
                  </a:ext>
                </a:extLst>
              </p:cNvPr>
              <p:cNvSpPr>
                <a:spLocks noRot="1" noChangeAspect="1" noMove="1" noResize="1" noEditPoints="1" noAdjustHandles="1" noChangeArrowheads="1" noChangeShapeType="1" noTextEdit="1"/>
              </p:cNvSpPr>
              <p:nvPr/>
            </p:nvSpPr>
            <p:spPr>
              <a:xfrm>
                <a:off x="10914677" y="2570542"/>
                <a:ext cx="477438" cy="369332"/>
              </a:xfrm>
              <a:prstGeom prst="rect">
                <a:avLst/>
              </a:prstGeom>
              <a:blipFill>
                <a:blip r:embed="rId7"/>
                <a:stretch>
                  <a:fillRect/>
                </a:stretch>
              </a:blipFill>
            </p:spPr>
            <p:txBody>
              <a:bodyPr/>
              <a:lstStyle/>
              <a:p>
                <a:r>
                  <a:rPr lang="zh-CN" altLang="en-US">
                    <a:noFill/>
                  </a:rPr>
                  <a:t> </a:t>
                </a:r>
              </a:p>
            </p:txBody>
          </p:sp>
        </mc:Fallback>
      </mc:AlternateContent>
      <p:sp>
        <p:nvSpPr>
          <p:cNvPr id="30" name="矩形 29">
            <a:extLst>
              <a:ext uri="{FF2B5EF4-FFF2-40B4-BE49-F238E27FC236}">
                <a16:creationId xmlns:a16="http://schemas.microsoft.com/office/drawing/2014/main" id="{28BE21BC-E2CF-470E-B817-E337294CBBD8}"/>
              </a:ext>
            </a:extLst>
          </p:cNvPr>
          <p:cNvSpPr/>
          <p:nvPr/>
        </p:nvSpPr>
        <p:spPr>
          <a:xfrm>
            <a:off x="6706929" y="6282393"/>
            <a:ext cx="4570482" cy="369332"/>
          </a:xfrm>
          <a:prstGeom prst="rect">
            <a:avLst/>
          </a:prstGeom>
        </p:spPr>
        <p:txBody>
          <a:bodyPr wrap="none">
            <a:spAutoFit/>
          </a:bodyPr>
          <a:lstStyle/>
          <a:p>
            <a:r>
              <a:rPr lang="zh-CN" altLang="en-US" dirty="0">
                <a:latin typeface="思源黑体 CN Bold" panose="020B0800000000000000" pitchFamily="34" charset="-122"/>
                <a:ea typeface="思源黑体 CN Bold" panose="020B0800000000000000" pitchFamily="34" charset="-122"/>
              </a:rPr>
              <a:t>此结果也适用于回归和两类分类，自行证明</a:t>
            </a:r>
            <a:endParaRPr lang="zh-CN" altLang="en-US" dirty="0"/>
          </a:p>
        </p:txBody>
      </p:sp>
      <mc:AlternateContent xmlns:mc="http://schemas.openxmlformats.org/markup-compatibility/2006" xmlns:p14="http://schemas.microsoft.com/office/powerpoint/2010/main">
        <mc:Choice Requires="p14">
          <p:contentPart p14:bwMode="auto" r:id="rId8">
            <p14:nvContentPartPr>
              <p14:cNvPr id="7" name="墨迹 6">
                <a:extLst>
                  <a:ext uri="{FF2B5EF4-FFF2-40B4-BE49-F238E27FC236}">
                    <a16:creationId xmlns:a16="http://schemas.microsoft.com/office/drawing/2014/main" id="{18B55F44-2631-4142-9673-EE1FCF57A0E3}"/>
                  </a:ext>
                </a:extLst>
              </p14:cNvPr>
              <p14:cNvContentPartPr/>
              <p14:nvPr/>
            </p14:nvContentPartPr>
            <p14:xfrm>
              <a:off x="7267680" y="5921280"/>
              <a:ext cx="1225800" cy="29160"/>
            </p14:xfrm>
          </p:contentPart>
        </mc:Choice>
        <mc:Fallback xmlns="">
          <p:pic>
            <p:nvPicPr>
              <p:cNvPr id="7" name="墨迹 6">
                <a:extLst>
                  <a:ext uri="{FF2B5EF4-FFF2-40B4-BE49-F238E27FC236}">
                    <a16:creationId xmlns:a16="http://schemas.microsoft.com/office/drawing/2014/main" id="{18B55F44-2631-4142-9673-EE1FCF57A0E3}"/>
                  </a:ext>
                </a:extLst>
              </p:cNvPr>
              <p:cNvPicPr/>
              <p:nvPr/>
            </p:nvPicPr>
            <p:blipFill>
              <a:blip r:embed="rId9"/>
              <a:stretch>
                <a:fillRect/>
              </a:stretch>
            </p:blipFill>
            <p:spPr>
              <a:xfrm>
                <a:off x="7258320" y="5911920"/>
                <a:ext cx="1244520" cy="47880"/>
              </a:xfrm>
              <a:prstGeom prst="rect">
                <a:avLst/>
              </a:prstGeom>
            </p:spPr>
          </p:pic>
        </mc:Fallback>
      </mc:AlternateContent>
      <p:sp>
        <p:nvSpPr>
          <p:cNvPr id="14" name="标题 1">
            <a:extLst>
              <a:ext uri="{FF2B5EF4-FFF2-40B4-BE49-F238E27FC236}">
                <a16:creationId xmlns:a16="http://schemas.microsoft.com/office/drawing/2014/main" id="{638935C0-22C6-4DE4-9A4B-395925237B71}"/>
              </a:ext>
            </a:extLst>
          </p:cNvPr>
          <p:cNvSpPr txBox="1">
            <a:spLocks/>
          </p:cNvSpPr>
          <p:nvPr/>
        </p:nvSpPr>
        <p:spPr>
          <a:xfrm>
            <a:off x="266483" y="148073"/>
            <a:ext cx="8924544" cy="53296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600">
                <a:latin typeface="思源黑体 CN Bold" panose="020B0800000000000000" pitchFamily="34" charset="-122"/>
                <a:ea typeface="思源黑体 CN Bold" panose="020B0800000000000000" pitchFamily="34" charset="-122"/>
              </a:rPr>
              <a:t>4 </a:t>
            </a:r>
            <a:r>
              <a:rPr lang="zh-CN" altLang="en-US" sz="3600">
                <a:latin typeface="思源黑体 CN Bold" panose="020B0800000000000000" pitchFamily="34" charset="-122"/>
                <a:ea typeface="思源黑体 CN Bold" panose="020B0800000000000000" pitchFamily="34" charset="-122"/>
              </a:rPr>
              <a:t>误差后向传播</a:t>
            </a:r>
            <a:endParaRPr lang="zh-CN" altLang="en-US" sz="3600" dirty="0"/>
          </a:p>
        </p:txBody>
      </p:sp>
    </p:spTree>
    <p:extLst>
      <p:ext uri="{BB962C8B-B14F-4D97-AF65-F5344CB8AC3E}">
        <p14:creationId xmlns:p14="http://schemas.microsoft.com/office/powerpoint/2010/main" val="7067081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640F6830-BAB6-4225-A6B0-A3D1E0E10A88}"/>
                  </a:ext>
                </a:extLst>
              </p:cNvPr>
              <p:cNvSpPr>
                <a:spLocks noGrp="1"/>
              </p:cNvSpPr>
              <p:nvPr>
                <p:ph idx="4294967295"/>
              </p:nvPr>
            </p:nvSpPr>
            <p:spPr>
              <a:xfrm>
                <a:off x="838200" y="1825625"/>
                <a:ext cx="10722064" cy="4351338"/>
              </a:xfrm>
            </p:spPr>
            <p:txBody>
              <a:bodyPr>
                <a:noAutofit/>
              </a:bodyPr>
              <a:lstStyle/>
              <a:p>
                <a:pPr marL="0" indent="0">
                  <a:lnSpc>
                    <a:spcPct val="120000"/>
                  </a:lnSpc>
                  <a:buNone/>
                </a:pPr>
                <a14:m>
                  <m:oMathPara xmlns:m="http://schemas.openxmlformats.org/officeDocument/2006/math">
                    <m:oMathParaPr>
                      <m:jc m:val="left"/>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i="1">
                              <a:latin typeface="Cambria Math" panose="02040503050406030204" pitchFamily="18" charset="0"/>
                            </a:rPr>
                            <m:t>𝑦</m:t>
                          </m:r>
                        </m:e>
                        <m:sub>
                          <m:r>
                            <a:rPr lang="en-US" altLang="zh-CN" sz="1600" i="1">
                              <a:latin typeface="Cambria Math" panose="02040503050406030204" pitchFamily="18" charset="0"/>
                            </a:rPr>
                            <m:t>𝑘</m:t>
                          </m:r>
                        </m:sub>
                      </m:sSub>
                      <m:r>
                        <a:rPr lang="en-US" altLang="zh-CN" sz="1600" i="1">
                          <a:latin typeface="Cambria Math" panose="02040503050406030204" pitchFamily="18" charset="0"/>
                        </a:rPr>
                        <m:t>=</m:t>
                      </m:r>
                      <m:r>
                        <a:rPr lang="en-US" altLang="zh-CN" sz="1600" i="1">
                          <a:latin typeface="Cambria Math" panose="02040503050406030204" pitchFamily="18" charset="0"/>
                        </a:rPr>
                        <m:t>𝑠𝑜𝑓𝑡𝑚𝑎𝑥</m:t>
                      </m:r>
                      <m:d>
                        <m:dPr>
                          <m:ctrlPr>
                            <a:rPr lang="en-US" altLang="zh-CN" sz="1600" i="1">
                              <a:latin typeface="Cambria Math" panose="02040503050406030204" pitchFamily="18" charset="0"/>
                            </a:rPr>
                          </m:ctrlPr>
                        </m:dPr>
                        <m:e>
                          <m:sSub>
                            <m:sSubPr>
                              <m:ctrlPr>
                                <a:rPr lang="en-US" altLang="zh-CN" sz="1600" b="1"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𝑘</m:t>
                              </m:r>
                            </m:sub>
                          </m:sSub>
                        </m:e>
                      </m:d>
                    </m:oMath>
                  </m:oMathPara>
                </a14:m>
                <a:endParaRPr lang="en-US" altLang="zh-CN" sz="1600" i="1" dirty="0">
                  <a:latin typeface="Cambria Math" panose="02040503050406030204" pitchFamily="18" charset="0"/>
                </a:endParaRPr>
              </a:p>
              <a:p>
                <a:pPr marL="0" indent="0">
                  <a:lnSpc>
                    <a:spcPct val="120000"/>
                  </a:lnSpc>
                  <a:buNone/>
                </a:pPr>
                <a14:m>
                  <m:oMathPara xmlns:m="http://schemas.openxmlformats.org/officeDocument/2006/math">
                    <m:oMathParaPr>
                      <m:jc m:val="left"/>
                    </m:oMathParaPr>
                    <m:oMath xmlns:m="http://schemas.openxmlformats.org/officeDocument/2006/math">
                      <m:sSub>
                        <m:sSubPr>
                          <m:ctrlPr>
                            <a:rPr lang="en-US" altLang="zh-CN" sz="1600" b="1" i="1">
                              <a:latin typeface="Cambria Math" panose="02040503050406030204" pitchFamily="18" charset="0"/>
                            </a:rPr>
                          </m:ctrlPr>
                        </m:sSubPr>
                        <m:e>
                          <m:r>
                            <m:rPr>
                              <m:sty m:val="p"/>
                            </m:rPr>
                            <a:rPr lang="en-US" altLang="zh-CN" sz="1600" i="1" dirty="0">
                              <a:latin typeface="Cambria Math" panose="02040503050406030204" pitchFamily="18" charset="0"/>
                            </a:rPr>
                            <m:t>Loss</m:t>
                          </m:r>
                        </m:e>
                        <m:sub>
                          <m:r>
                            <a:rPr lang="en-US" altLang="zh-CN" sz="1600" i="1">
                              <a:latin typeface="Cambria Math" panose="02040503050406030204" pitchFamily="18" charset="0"/>
                            </a:rPr>
                            <m:t>𝑛</m:t>
                          </m:r>
                        </m:sub>
                      </m:sSub>
                      <m:d>
                        <m:dPr>
                          <m:ctrlPr>
                            <a:rPr lang="en-US" altLang="zh-CN" sz="1600" i="1" dirty="0">
                              <a:latin typeface="Cambria Math" panose="02040503050406030204" pitchFamily="18" charset="0"/>
                            </a:rPr>
                          </m:ctrlPr>
                        </m:dPr>
                        <m:e>
                          <m:r>
                            <a:rPr lang="en-US" altLang="zh-CN" sz="1600" b="1">
                              <a:latin typeface="Cambria Math" panose="02040503050406030204" pitchFamily="18" charset="0"/>
                            </a:rPr>
                            <m:t>𝐰</m:t>
                          </m:r>
                        </m:e>
                      </m:d>
                      <m:r>
                        <a:rPr lang="en-US" altLang="zh-CN" sz="1600" b="1" i="1">
                          <a:latin typeface="Cambria Math" panose="02040503050406030204" pitchFamily="18" charset="0"/>
                        </a:rPr>
                        <m:t>=−</m:t>
                      </m:r>
                      <m:nary>
                        <m:naryPr>
                          <m:chr m:val="∑"/>
                          <m:ctrlPr>
                            <a:rPr lang="en-US" altLang="zh-CN" sz="1600" i="1">
                              <a:latin typeface="Cambria Math" panose="02040503050406030204" pitchFamily="18" charset="0"/>
                            </a:rPr>
                          </m:ctrlPr>
                        </m:naryPr>
                        <m:sub>
                          <m:r>
                            <m:rPr>
                              <m:brk m:alnAt="23"/>
                            </m:rPr>
                            <a:rPr lang="en-US" altLang="zh-CN" sz="1600" i="1" smtClean="0">
                              <a:latin typeface="Cambria Math" panose="02040503050406030204" pitchFamily="18" charset="0"/>
                            </a:rPr>
                            <m:t>𝑘</m:t>
                          </m:r>
                          <m:r>
                            <a:rPr lang="en-US" altLang="zh-CN" sz="1600" i="1">
                              <a:latin typeface="Cambria Math" panose="02040503050406030204" pitchFamily="18" charset="0"/>
                            </a:rPr>
                            <m:t>=1</m:t>
                          </m:r>
                        </m:sub>
                        <m:sup>
                          <m:r>
                            <a:rPr lang="en-US" altLang="zh-CN" sz="1600" i="1">
                              <a:latin typeface="Cambria Math" panose="02040503050406030204" pitchFamily="18" charset="0"/>
                            </a:rPr>
                            <m:t>𝐾</m:t>
                          </m:r>
                        </m:sup>
                        <m:e>
                          <m:sSub>
                            <m:sSubPr>
                              <m:ctrlPr>
                                <a:rPr lang="en-US" altLang="zh-CN" sz="1600" b="1" i="1">
                                  <a:latin typeface="Cambria Math" panose="02040503050406030204" pitchFamily="18" charset="0"/>
                                </a:rPr>
                              </m:ctrlPr>
                            </m:sSubPr>
                            <m:e>
                              <m:r>
                                <a:rPr lang="en-US" altLang="zh-CN" sz="1600" i="1">
                                  <a:latin typeface="Cambria Math" panose="02040503050406030204" pitchFamily="18" charset="0"/>
                                </a:rPr>
                                <m:t>𝑡</m:t>
                              </m:r>
                            </m:e>
                            <m:sub>
                              <m:r>
                                <a:rPr lang="en-US" altLang="zh-CN" sz="1600" i="1">
                                  <a:latin typeface="Cambria Math" panose="02040503050406030204" pitchFamily="18" charset="0"/>
                                </a:rPr>
                                <m:t>𝑘</m:t>
                              </m:r>
                            </m:sub>
                          </m:sSub>
                          <m:r>
                            <m:rPr>
                              <m:sty m:val="p"/>
                            </m:rPr>
                            <a:rPr lang="en-US" altLang="zh-CN" sz="1600">
                              <a:latin typeface="Cambria Math" panose="02040503050406030204" pitchFamily="18" charset="0"/>
                            </a:rPr>
                            <m:t>ln</m:t>
                          </m:r>
                          <m:d>
                            <m:dPr>
                              <m:begChr m:val="{"/>
                              <m:endChr m:val="}"/>
                              <m:ctrlPr>
                                <a:rPr lang="en-US" altLang="zh-CN" sz="1600" i="1">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𝑦</m:t>
                                  </m:r>
                                </m:e>
                                <m:sub>
                                  <m:r>
                                    <a:rPr lang="en-US" altLang="zh-CN" sz="1600" i="1">
                                      <a:latin typeface="Cambria Math" panose="02040503050406030204" pitchFamily="18" charset="0"/>
                                    </a:rPr>
                                    <m:t>𝑘</m:t>
                                  </m:r>
                                </m:sub>
                              </m:sSub>
                            </m:e>
                          </m:d>
                        </m:e>
                      </m:nary>
                      <m:r>
                        <a:rPr lang="en-US" altLang="zh-CN" sz="1600" b="0" i="1" smtClean="0">
                          <a:latin typeface="Cambria Math" panose="02040503050406030204" pitchFamily="18" charset="0"/>
                        </a:rPr>
                        <m:t>=</m:t>
                      </m:r>
                      <m:r>
                        <a:rPr lang="en-US" altLang="zh-CN" sz="1600" b="1" i="1">
                          <a:latin typeface="Cambria Math" panose="02040503050406030204" pitchFamily="18" charset="0"/>
                        </a:rPr>
                        <m:t>−</m:t>
                      </m:r>
                      <m:nary>
                        <m:naryPr>
                          <m:chr m:val="∑"/>
                          <m:ctrlPr>
                            <a:rPr lang="en-US" altLang="zh-CN" sz="1600" i="1">
                              <a:latin typeface="Cambria Math" panose="02040503050406030204" pitchFamily="18" charset="0"/>
                            </a:rPr>
                          </m:ctrlPr>
                        </m:naryPr>
                        <m:sub>
                          <m:r>
                            <m:rPr>
                              <m:brk m:alnAt="23"/>
                            </m:rPr>
                            <a:rPr lang="en-US" altLang="zh-CN" sz="1600" i="1">
                              <a:latin typeface="Cambria Math" panose="02040503050406030204" pitchFamily="18" charset="0"/>
                            </a:rPr>
                            <m:t>𝑘</m:t>
                          </m:r>
                          <m:r>
                            <a:rPr lang="en-US" altLang="zh-CN" sz="1600" i="1">
                              <a:latin typeface="Cambria Math" panose="02040503050406030204" pitchFamily="18" charset="0"/>
                            </a:rPr>
                            <m:t>=1</m:t>
                          </m:r>
                        </m:sub>
                        <m:sup>
                          <m:r>
                            <a:rPr lang="en-US" altLang="zh-CN" sz="1600" i="1">
                              <a:latin typeface="Cambria Math" panose="02040503050406030204" pitchFamily="18" charset="0"/>
                            </a:rPr>
                            <m:t>𝐾</m:t>
                          </m:r>
                        </m:sup>
                        <m:e>
                          <m:sSub>
                            <m:sSubPr>
                              <m:ctrlPr>
                                <a:rPr lang="en-US" altLang="zh-CN" sz="1600" b="1" i="1">
                                  <a:latin typeface="Cambria Math" panose="02040503050406030204" pitchFamily="18" charset="0"/>
                                </a:rPr>
                              </m:ctrlPr>
                            </m:sSubPr>
                            <m:e>
                              <m:r>
                                <a:rPr lang="en-US" altLang="zh-CN" sz="1600" i="1">
                                  <a:latin typeface="Cambria Math" panose="02040503050406030204" pitchFamily="18" charset="0"/>
                                </a:rPr>
                                <m:t>𝑡</m:t>
                              </m:r>
                            </m:e>
                            <m:sub>
                              <m:r>
                                <a:rPr lang="en-US" altLang="zh-CN" sz="1600" i="1">
                                  <a:latin typeface="Cambria Math" panose="02040503050406030204" pitchFamily="18" charset="0"/>
                                </a:rPr>
                                <m:t>𝑘</m:t>
                              </m:r>
                            </m:sub>
                          </m:sSub>
                          <m:r>
                            <m:rPr>
                              <m:sty m:val="p"/>
                            </m:rPr>
                            <a:rPr lang="en-US" altLang="zh-CN" sz="1600">
                              <a:latin typeface="Cambria Math" panose="02040503050406030204" pitchFamily="18" charset="0"/>
                            </a:rPr>
                            <m:t>ln</m:t>
                          </m:r>
                          <m:d>
                            <m:dPr>
                              <m:begChr m:val="{"/>
                              <m:endChr m:val="}"/>
                              <m:ctrlPr>
                                <a:rPr lang="en-US" altLang="zh-CN" sz="1600" i="1">
                                  <a:latin typeface="Cambria Math" panose="02040503050406030204" pitchFamily="18" charset="0"/>
                                </a:rPr>
                              </m:ctrlPr>
                            </m:dPr>
                            <m:e>
                              <m:r>
                                <a:rPr lang="en-US" altLang="zh-CN" sz="1600" i="1">
                                  <a:latin typeface="Cambria Math" panose="02040503050406030204" pitchFamily="18" charset="0"/>
                                </a:rPr>
                                <m:t>𝑠𝑜𝑓𝑡𝑚𝑎𝑥</m:t>
                              </m:r>
                              <m:d>
                                <m:dPr>
                                  <m:ctrlPr>
                                    <a:rPr lang="en-US" altLang="zh-CN" sz="1600" i="1">
                                      <a:latin typeface="Cambria Math" panose="02040503050406030204" pitchFamily="18" charset="0"/>
                                    </a:rPr>
                                  </m:ctrlPr>
                                </m:dPr>
                                <m:e>
                                  <m:sSub>
                                    <m:sSubPr>
                                      <m:ctrlPr>
                                        <a:rPr lang="en-US" altLang="zh-CN" sz="1600" b="1"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𝑘</m:t>
                                      </m:r>
                                    </m:sub>
                                  </m:sSub>
                                </m:e>
                              </m:d>
                            </m:e>
                          </m:d>
                        </m:e>
                      </m:nary>
                    </m:oMath>
                  </m:oMathPara>
                </a14:m>
                <a:endParaRPr lang="en-US" altLang="zh-CN" sz="1600" i="1" dirty="0">
                  <a:latin typeface="Cambria Math" panose="02040503050406030204" pitchFamily="18" charset="0"/>
                </a:endParaRPr>
              </a:p>
              <a:p>
                <a:pPr marL="0" indent="0">
                  <a:lnSpc>
                    <a:spcPct val="120000"/>
                  </a:lnSpc>
                  <a:buNone/>
                </a:pPr>
                <a14:m>
                  <m:oMathPara xmlns:m="http://schemas.openxmlformats.org/officeDocument/2006/math">
                    <m:oMathParaPr>
                      <m:jc m:val="left"/>
                    </m:oMathParaPr>
                    <m:oMath xmlns:m="http://schemas.openxmlformats.org/officeDocument/2006/math">
                      <m:f>
                        <m:fPr>
                          <m:ctrlPr>
                            <a:rPr lang="en-US" altLang="zh-CN" sz="1600" i="1">
                              <a:latin typeface="Cambria Math" panose="02040503050406030204" pitchFamily="18" charset="0"/>
                            </a:rPr>
                          </m:ctrlPr>
                        </m:fPr>
                        <m:num>
                          <m:r>
                            <a:rPr lang="en-US" altLang="zh-CN" sz="1600" i="1">
                              <a:latin typeface="Cambria Math" panose="02040503050406030204" pitchFamily="18" charset="0"/>
                            </a:rPr>
                            <m:t>𝜕</m:t>
                          </m:r>
                          <m:sSub>
                            <m:sSubPr>
                              <m:ctrlPr>
                                <a:rPr lang="en-US" altLang="zh-CN" sz="1600" b="1" i="1">
                                  <a:latin typeface="Cambria Math" panose="02040503050406030204" pitchFamily="18" charset="0"/>
                                </a:rPr>
                              </m:ctrlPr>
                            </m:sSubPr>
                            <m:e>
                              <m:r>
                                <m:rPr>
                                  <m:sty m:val="p"/>
                                </m:rPr>
                                <a:rPr lang="en-US" altLang="zh-CN" sz="1600" i="1" dirty="0">
                                  <a:latin typeface="Cambria Math" panose="02040503050406030204" pitchFamily="18" charset="0"/>
                                </a:rPr>
                                <m:t>Loss</m:t>
                              </m:r>
                            </m:e>
                            <m:sub>
                              <m:r>
                                <a:rPr lang="en-US" altLang="zh-CN" sz="1600" i="1">
                                  <a:latin typeface="Cambria Math" panose="02040503050406030204" pitchFamily="18" charset="0"/>
                                </a:rPr>
                                <m:t>𝑛</m:t>
                              </m:r>
                            </m:sub>
                          </m:sSub>
                          <m:d>
                            <m:dPr>
                              <m:ctrlPr>
                                <a:rPr lang="en-US" altLang="zh-CN" sz="1600" i="1" dirty="0">
                                  <a:latin typeface="Cambria Math" panose="02040503050406030204" pitchFamily="18" charset="0"/>
                                </a:rPr>
                              </m:ctrlPr>
                            </m:dPr>
                            <m:e>
                              <m:r>
                                <a:rPr lang="en-US" altLang="zh-CN" sz="1600" b="1">
                                  <a:latin typeface="Cambria Math" panose="02040503050406030204" pitchFamily="18" charset="0"/>
                                </a:rPr>
                                <m:t>𝐰</m:t>
                              </m:r>
                            </m:e>
                          </m:d>
                        </m:num>
                        <m:den>
                          <m:r>
                            <a:rPr lang="en-US" altLang="zh-CN" sz="1600" i="1">
                              <a:latin typeface="Cambria Math" panose="02040503050406030204" pitchFamily="18" charset="0"/>
                            </a:rPr>
                            <m:t>𝜕</m:t>
                          </m:r>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𝑤</m:t>
                              </m:r>
                            </m:e>
                            <m:sub>
                              <m:r>
                                <a:rPr lang="en-US" altLang="zh-CN" sz="1600" i="1">
                                  <a:latin typeface="Cambria Math" panose="02040503050406030204" pitchFamily="18" charset="0"/>
                                </a:rPr>
                                <m:t>𝑘𝑗</m:t>
                              </m:r>
                            </m:sub>
                            <m:sup>
                              <m:d>
                                <m:dPr>
                                  <m:ctrlPr>
                                    <a:rPr lang="en-US" altLang="zh-CN" sz="1600" b="1" i="1">
                                      <a:latin typeface="Cambria Math" panose="02040503050406030204" pitchFamily="18" charset="0"/>
                                    </a:rPr>
                                  </m:ctrlPr>
                                </m:dPr>
                                <m:e>
                                  <m:r>
                                    <a:rPr lang="en-US" altLang="zh-CN" sz="1600" i="1">
                                      <a:latin typeface="Cambria Math" panose="02040503050406030204" pitchFamily="18" charset="0"/>
                                    </a:rPr>
                                    <m:t>2</m:t>
                                  </m:r>
                                </m:e>
                              </m:d>
                            </m:sup>
                          </m:sSubSup>
                        </m:den>
                      </m:f>
                      <m:r>
                        <a:rPr lang="en-US" altLang="zh-CN" sz="1600" b="1" i="1">
                          <a:latin typeface="Cambria Math" panose="02040503050406030204" pitchFamily="18" charset="0"/>
                        </a:rPr>
                        <m:t>=</m:t>
                      </m:r>
                      <m:f>
                        <m:fPr>
                          <m:ctrlPr>
                            <a:rPr lang="en-US" altLang="zh-CN" sz="1600" i="1">
                              <a:latin typeface="Cambria Math" panose="02040503050406030204" pitchFamily="18" charset="0"/>
                            </a:rPr>
                          </m:ctrlPr>
                        </m:fPr>
                        <m:num>
                          <m:r>
                            <a:rPr lang="en-US" altLang="zh-CN" sz="1600" i="1">
                              <a:latin typeface="Cambria Math" panose="02040503050406030204" pitchFamily="18" charset="0"/>
                            </a:rPr>
                            <m:t>𝜕</m:t>
                          </m:r>
                          <m:sSub>
                            <m:sSubPr>
                              <m:ctrlPr>
                                <a:rPr lang="en-US" altLang="zh-CN" sz="1600" b="1" i="1">
                                  <a:latin typeface="Cambria Math" panose="02040503050406030204" pitchFamily="18" charset="0"/>
                                </a:rPr>
                              </m:ctrlPr>
                            </m:sSubPr>
                            <m:e>
                              <m:r>
                                <m:rPr>
                                  <m:sty m:val="p"/>
                                </m:rPr>
                                <a:rPr lang="en-US" altLang="zh-CN" sz="1600" i="1" dirty="0">
                                  <a:latin typeface="Cambria Math" panose="02040503050406030204" pitchFamily="18" charset="0"/>
                                </a:rPr>
                                <m:t>Loss</m:t>
                              </m:r>
                            </m:e>
                            <m:sub>
                              <m:r>
                                <a:rPr lang="en-US" altLang="zh-CN" sz="1600" i="1">
                                  <a:latin typeface="Cambria Math" panose="02040503050406030204" pitchFamily="18" charset="0"/>
                                </a:rPr>
                                <m:t>𝑛</m:t>
                              </m:r>
                            </m:sub>
                          </m:sSub>
                          <m:d>
                            <m:dPr>
                              <m:ctrlPr>
                                <a:rPr lang="en-US" altLang="zh-CN" sz="1600" i="1" dirty="0">
                                  <a:latin typeface="Cambria Math" panose="02040503050406030204" pitchFamily="18" charset="0"/>
                                </a:rPr>
                              </m:ctrlPr>
                            </m:dPr>
                            <m:e>
                              <m:r>
                                <a:rPr lang="en-US" altLang="zh-CN" sz="1600" b="1">
                                  <a:latin typeface="Cambria Math" panose="02040503050406030204" pitchFamily="18" charset="0"/>
                                </a:rPr>
                                <m:t>𝐰</m:t>
                              </m:r>
                            </m:e>
                          </m:d>
                        </m:num>
                        <m:den>
                          <m:r>
                            <a:rPr lang="en-US" altLang="zh-CN" sz="1600" i="1">
                              <a:latin typeface="Cambria Math" panose="02040503050406030204" pitchFamily="18" charset="0"/>
                            </a:rPr>
                            <m:t>𝜕</m:t>
                          </m:r>
                          <m:sSub>
                            <m:sSubPr>
                              <m:ctrlPr>
                                <a:rPr lang="en-US" altLang="zh-CN" sz="1600" b="1"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𝑘</m:t>
                              </m:r>
                            </m:sub>
                          </m:sSub>
                        </m:den>
                      </m:f>
                      <m:f>
                        <m:fPr>
                          <m:ctrlPr>
                            <a:rPr lang="en-US" altLang="zh-CN" sz="1600" i="1">
                              <a:latin typeface="Cambria Math" panose="02040503050406030204" pitchFamily="18" charset="0"/>
                            </a:rPr>
                          </m:ctrlPr>
                        </m:fPr>
                        <m:num>
                          <m:r>
                            <a:rPr lang="en-US" altLang="zh-CN" sz="1600" i="1">
                              <a:latin typeface="Cambria Math" panose="02040503050406030204" pitchFamily="18" charset="0"/>
                            </a:rPr>
                            <m:t>𝜕</m:t>
                          </m:r>
                          <m:sSub>
                            <m:sSubPr>
                              <m:ctrlPr>
                                <a:rPr lang="en-US" altLang="zh-CN" sz="1600" b="1"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𝑘</m:t>
                              </m:r>
                            </m:sub>
                          </m:sSub>
                        </m:num>
                        <m:den>
                          <m:r>
                            <a:rPr lang="en-US" altLang="zh-CN" sz="1600" i="1">
                              <a:latin typeface="Cambria Math" panose="02040503050406030204" pitchFamily="18" charset="0"/>
                            </a:rPr>
                            <m:t>𝜕</m:t>
                          </m:r>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𝑤</m:t>
                              </m:r>
                            </m:e>
                            <m:sub>
                              <m:r>
                                <a:rPr lang="en-US" altLang="zh-CN" sz="1600" i="1">
                                  <a:latin typeface="Cambria Math" panose="02040503050406030204" pitchFamily="18" charset="0"/>
                                </a:rPr>
                                <m:t>𝑘𝑗</m:t>
                              </m:r>
                            </m:sub>
                            <m:sup>
                              <m:d>
                                <m:dPr>
                                  <m:ctrlPr>
                                    <a:rPr lang="en-US" altLang="zh-CN" sz="1600" b="1" i="1">
                                      <a:latin typeface="Cambria Math" panose="02040503050406030204" pitchFamily="18" charset="0"/>
                                    </a:rPr>
                                  </m:ctrlPr>
                                </m:dPr>
                                <m:e>
                                  <m:r>
                                    <a:rPr lang="en-US" altLang="zh-CN" sz="1600" i="1">
                                      <a:latin typeface="Cambria Math" panose="02040503050406030204" pitchFamily="18" charset="0"/>
                                    </a:rPr>
                                    <m:t>2</m:t>
                                  </m:r>
                                </m:e>
                              </m:d>
                            </m:sup>
                          </m:sSubSup>
                        </m:den>
                      </m:f>
                    </m:oMath>
                  </m:oMathPara>
                </a14:m>
                <a:endParaRPr lang="en-US" altLang="zh-CN" sz="1600" i="1" dirty="0">
                  <a:latin typeface="Cambria Math" panose="02040503050406030204" pitchFamily="18" charset="0"/>
                </a:endParaRPr>
              </a:p>
              <a:p>
                <a:pPr marL="0" indent="0">
                  <a:lnSpc>
                    <a:spcPct val="120000"/>
                  </a:lnSpc>
                  <a:buNone/>
                </a:pPr>
                <a:endParaRPr lang="en-US" altLang="zh-CN" sz="1600" i="1" dirty="0">
                  <a:latin typeface="Cambria Math" panose="02040503050406030204" pitchFamily="18" charset="0"/>
                </a:endParaRPr>
              </a:p>
              <a:p>
                <a:pPr marL="0" indent="0">
                  <a:lnSpc>
                    <a:spcPct val="100000"/>
                  </a:lnSpc>
                  <a:buNone/>
                </a:pPr>
                <a14:m>
                  <m:oMathPara xmlns:m="http://schemas.openxmlformats.org/officeDocument/2006/math">
                    <m:oMathParaPr>
                      <m:jc m:val="left"/>
                    </m:oMathParaPr>
                    <m:oMath xmlns:m="http://schemas.openxmlformats.org/officeDocument/2006/math">
                      <m:f>
                        <m:fPr>
                          <m:ctrlPr>
                            <a:rPr lang="en-US" altLang="zh-CN" sz="1600" i="1">
                              <a:latin typeface="Cambria Math" panose="02040503050406030204" pitchFamily="18" charset="0"/>
                            </a:rPr>
                          </m:ctrlPr>
                        </m:fPr>
                        <m:num>
                          <m:r>
                            <a:rPr lang="en-US" altLang="zh-CN" sz="1600" i="1">
                              <a:latin typeface="Cambria Math" panose="02040503050406030204" pitchFamily="18" charset="0"/>
                            </a:rPr>
                            <m:t>𝜕</m:t>
                          </m:r>
                          <m:sSub>
                            <m:sSubPr>
                              <m:ctrlPr>
                                <a:rPr lang="en-US" altLang="zh-CN" sz="1600" b="1" i="1">
                                  <a:latin typeface="Cambria Math" panose="02040503050406030204" pitchFamily="18" charset="0"/>
                                </a:rPr>
                              </m:ctrlPr>
                            </m:sSubPr>
                            <m:e>
                              <m:r>
                                <m:rPr>
                                  <m:sty m:val="p"/>
                                </m:rPr>
                                <a:rPr lang="en-US" altLang="zh-CN" sz="1600" i="1" dirty="0">
                                  <a:latin typeface="Cambria Math" panose="02040503050406030204" pitchFamily="18" charset="0"/>
                                </a:rPr>
                                <m:t>Loss</m:t>
                              </m:r>
                            </m:e>
                            <m:sub>
                              <m:r>
                                <a:rPr lang="en-US" altLang="zh-CN" sz="1600" i="1">
                                  <a:latin typeface="Cambria Math" panose="02040503050406030204" pitchFamily="18" charset="0"/>
                                </a:rPr>
                                <m:t>𝑛</m:t>
                              </m:r>
                            </m:sub>
                          </m:sSub>
                          <m:d>
                            <m:dPr>
                              <m:ctrlPr>
                                <a:rPr lang="en-US" altLang="zh-CN" sz="1600" i="1" dirty="0">
                                  <a:latin typeface="Cambria Math" panose="02040503050406030204" pitchFamily="18" charset="0"/>
                                </a:rPr>
                              </m:ctrlPr>
                            </m:dPr>
                            <m:e>
                              <m:r>
                                <a:rPr lang="en-US" altLang="zh-CN" sz="1600" b="1">
                                  <a:latin typeface="Cambria Math" panose="02040503050406030204" pitchFamily="18" charset="0"/>
                                </a:rPr>
                                <m:t>𝐰</m:t>
                              </m:r>
                            </m:e>
                          </m:d>
                        </m:num>
                        <m:den>
                          <m:r>
                            <a:rPr lang="en-US" altLang="zh-CN" sz="1600" i="1">
                              <a:latin typeface="Cambria Math" panose="02040503050406030204" pitchFamily="18" charset="0"/>
                            </a:rPr>
                            <m:t>𝜕</m:t>
                          </m:r>
                          <m:sSub>
                            <m:sSubPr>
                              <m:ctrlPr>
                                <a:rPr lang="en-US" altLang="zh-CN" sz="1600" b="1"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b="0" i="1" smtClean="0">
                                  <a:latin typeface="Cambria Math" panose="02040503050406030204" pitchFamily="18" charset="0"/>
                                </a:rPr>
                                <m:t>𝑖</m:t>
                              </m:r>
                            </m:sub>
                          </m:sSub>
                        </m:den>
                      </m:f>
                      <m:r>
                        <a:rPr lang="en-US" altLang="zh-CN" sz="1600" i="1">
                          <a:latin typeface="Cambria Math" panose="02040503050406030204" pitchFamily="18" charset="0"/>
                        </a:rPr>
                        <m:t>=</m:t>
                      </m:r>
                      <m:r>
                        <a:rPr lang="en-US" altLang="zh-CN" sz="1600" b="1" i="1">
                          <a:latin typeface="Cambria Math" panose="02040503050406030204" pitchFamily="18" charset="0"/>
                        </a:rPr>
                        <m:t>−</m:t>
                      </m:r>
                      <m:nary>
                        <m:naryPr>
                          <m:chr m:val="∑"/>
                          <m:ctrlPr>
                            <a:rPr lang="en-US" altLang="zh-CN" sz="1600" i="1">
                              <a:latin typeface="Cambria Math" panose="02040503050406030204" pitchFamily="18" charset="0"/>
                            </a:rPr>
                          </m:ctrlPr>
                        </m:naryPr>
                        <m:sub>
                          <m:r>
                            <a:rPr lang="en-US" altLang="zh-CN" sz="1600" b="0" i="1" smtClean="0">
                              <a:latin typeface="Cambria Math" panose="02040503050406030204" pitchFamily="18" charset="0"/>
                            </a:rPr>
                            <m:t>𝑘</m:t>
                          </m:r>
                          <m:r>
                            <a:rPr lang="en-US" altLang="zh-CN" sz="1600" i="1">
                              <a:latin typeface="Cambria Math" panose="02040503050406030204" pitchFamily="18" charset="0"/>
                            </a:rPr>
                            <m:t>=1</m:t>
                          </m:r>
                        </m:sub>
                        <m:sup>
                          <m:r>
                            <a:rPr lang="en-US" altLang="zh-CN" sz="1600" i="1">
                              <a:latin typeface="Cambria Math" panose="02040503050406030204" pitchFamily="18" charset="0"/>
                            </a:rPr>
                            <m:t>𝐾</m:t>
                          </m:r>
                        </m:sup>
                        <m:e>
                          <m:sSub>
                            <m:sSubPr>
                              <m:ctrlPr>
                                <a:rPr lang="en-US" altLang="zh-CN" sz="1600" b="1" i="1">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𝑘</m:t>
                              </m:r>
                            </m:sub>
                          </m:sSub>
                          <m:f>
                            <m:fPr>
                              <m:ctrlPr>
                                <a:rPr lang="en-US" altLang="zh-CN" sz="1600" b="1" i="1">
                                  <a:latin typeface="Cambria Math" panose="02040503050406030204" pitchFamily="18" charset="0"/>
                                </a:rPr>
                              </m:ctrlPr>
                            </m:fPr>
                            <m:num>
                              <m:r>
                                <a:rPr lang="en-US" altLang="zh-CN" sz="1600" i="1">
                                  <a:latin typeface="Cambria Math" panose="02040503050406030204" pitchFamily="18" charset="0"/>
                                </a:rPr>
                                <m:t>1</m:t>
                              </m:r>
                            </m:num>
                            <m:den>
                              <m:r>
                                <m:rPr>
                                  <m:sty m:val="p"/>
                                </m:rPr>
                                <a:rPr lang="en-US" altLang="zh-CN" sz="1600">
                                  <a:latin typeface="Cambria Math" panose="02040503050406030204" pitchFamily="18" charset="0"/>
                                </a:rPr>
                                <m:t>softmax</m:t>
                              </m:r>
                              <m:d>
                                <m:dPr>
                                  <m:ctrlPr>
                                    <a:rPr lang="en-US" altLang="zh-CN" sz="1600" i="1">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b="0" i="1" smtClean="0">
                                          <a:latin typeface="Cambria Math" panose="02040503050406030204" pitchFamily="18" charset="0"/>
                                        </a:rPr>
                                        <m:t>𝑘</m:t>
                                      </m:r>
                                    </m:sub>
                                  </m:sSub>
                                </m:e>
                              </m:d>
                            </m:den>
                          </m:f>
                          <m:d>
                            <m:dPr>
                              <m:begChr m:val="{"/>
                              <m:endChr m:val="}"/>
                              <m:ctrlPr>
                                <a:rPr lang="en-US" altLang="zh-CN" sz="1600" i="1">
                                  <a:latin typeface="Cambria Math" panose="02040503050406030204" pitchFamily="18" charset="0"/>
                                </a:rPr>
                              </m:ctrlPr>
                            </m:dPr>
                            <m:e>
                              <m:r>
                                <m:rPr>
                                  <m:sty m:val="p"/>
                                </m:rPr>
                                <a:rPr lang="en-US" altLang="zh-CN" sz="1600">
                                  <a:latin typeface="Cambria Math" panose="02040503050406030204" pitchFamily="18" charset="0"/>
                                </a:rPr>
                                <m:t>softmax</m:t>
                              </m:r>
                              <m:d>
                                <m:dPr>
                                  <m:ctrlPr>
                                    <a:rPr lang="en-US" altLang="zh-CN" sz="1600" i="1">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b="0" i="1" smtClean="0">
                                          <a:latin typeface="Cambria Math" panose="02040503050406030204" pitchFamily="18" charset="0"/>
                                        </a:rPr>
                                        <m:t>𝑘</m:t>
                                      </m:r>
                                    </m:sub>
                                  </m:sSub>
                                </m:e>
                              </m:d>
                              <m:d>
                                <m:dPr>
                                  <m:ctrlPr>
                                    <a:rPr lang="en-US" altLang="zh-CN" sz="1600" i="1">
                                      <a:latin typeface="Cambria Math" panose="02040503050406030204" pitchFamily="18" charset="0"/>
                                    </a:rPr>
                                  </m:ctrlPr>
                                </m:dPr>
                                <m:e>
                                  <m:sSub>
                                    <m:sSubPr>
                                      <m:ctrlPr>
                                        <a:rPr lang="en-US" altLang="zh-CN" sz="1600" i="1" smtClean="0">
                                          <a:latin typeface="Cambria Math" panose="02040503050406030204" pitchFamily="18" charset="0"/>
                                        </a:rPr>
                                      </m:ctrlPr>
                                    </m:sSubPr>
                                    <m:e>
                                      <m:r>
                                        <a:rPr lang="en-US" altLang="zh-CN" sz="1600" i="1">
                                          <a:latin typeface="Cambria Math" panose="02040503050406030204" pitchFamily="18" charset="0"/>
                                        </a:rPr>
                                        <m:t>𝐼</m:t>
                                      </m:r>
                                    </m:e>
                                    <m:sub>
                                      <m:r>
                                        <a:rPr lang="en-US" altLang="zh-CN" sz="1600" b="0" i="1" smtClean="0">
                                          <a:latin typeface="Cambria Math" panose="02040503050406030204" pitchFamily="18" charset="0"/>
                                        </a:rPr>
                                        <m:t>𝑘𝑖</m:t>
                                      </m:r>
                                    </m:sub>
                                  </m:sSub>
                                  <m:r>
                                    <a:rPr lang="en-US" altLang="zh-CN" sz="1600" i="1">
                                      <a:latin typeface="Cambria Math" panose="02040503050406030204" pitchFamily="18" charset="0"/>
                                    </a:rPr>
                                    <m:t>−</m:t>
                                  </m:r>
                                  <m:r>
                                    <m:rPr>
                                      <m:sty m:val="p"/>
                                    </m:rPr>
                                    <a:rPr lang="en-US" altLang="zh-CN" sz="1600">
                                      <a:latin typeface="Cambria Math" panose="02040503050406030204" pitchFamily="18" charset="0"/>
                                    </a:rPr>
                                    <m:t>softmax</m:t>
                                  </m:r>
                                  <m:d>
                                    <m:dPr>
                                      <m:ctrlPr>
                                        <a:rPr lang="en-US" altLang="zh-CN" sz="1600" i="1">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b="0" i="1" smtClean="0">
                                              <a:latin typeface="Cambria Math" panose="02040503050406030204" pitchFamily="18" charset="0"/>
                                            </a:rPr>
                                            <m:t>𝑖</m:t>
                                          </m:r>
                                        </m:sub>
                                      </m:sSub>
                                    </m:e>
                                  </m:d>
                                </m:e>
                              </m:d>
                            </m:e>
                          </m:d>
                        </m:e>
                      </m:nary>
                    </m:oMath>
                  </m:oMathPara>
                </a14:m>
                <a:endParaRPr lang="en-US" altLang="zh-CN" sz="1600" b="1" i="1" dirty="0">
                  <a:latin typeface="Cambria Math" panose="02040503050406030204" pitchFamily="18" charset="0"/>
                </a:endParaRPr>
              </a:p>
              <a:p>
                <a:pPr marL="0" indent="0">
                  <a:lnSpc>
                    <a:spcPct val="100000"/>
                  </a:lnSpc>
                  <a:buNone/>
                </a:pPr>
                <a14:m>
                  <m:oMathPara xmlns:m="http://schemas.openxmlformats.org/officeDocument/2006/math">
                    <m:oMathParaPr>
                      <m:jc m:val="left"/>
                    </m:oMathParaPr>
                    <m:oMath xmlns:m="http://schemas.openxmlformats.org/officeDocument/2006/math">
                      <m:r>
                        <a:rPr lang="en-US" altLang="zh-CN" sz="1600" b="1" i="1">
                          <a:latin typeface="Cambria Math" panose="02040503050406030204" pitchFamily="18" charset="0"/>
                        </a:rPr>
                        <m:t>=−</m:t>
                      </m:r>
                      <m:nary>
                        <m:naryPr>
                          <m:chr m:val="∑"/>
                          <m:ctrlPr>
                            <a:rPr lang="en-US" altLang="zh-CN" sz="1600" i="1">
                              <a:latin typeface="Cambria Math" panose="02040503050406030204" pitchFamily="18" charset="0"/>
                            </a:rPr>
                          </m:ctrlPr>
                        </m:naryPr>
                        <m:sub>
                          <m:r>
                            <m:rPr>
                              <m:brk m:alnAt="23"/>
                            </m:rPr>
                            <a:rPr lang="en-US" altLang="zh-CN" sz="1600" i="1">
                              <a:latin typeface="Cambria Math" panose="02040503050406030204" pitchFamily="18" charset="0"/>
                            </a:rPr>
                            <m:t>𝑘</m:t>
                          </m:r>
                          <m:r>
                            <a:rPr lang="en-US" altLang="zh-CN" sz="1600" i="1">
                              <a:latin typeface="Cambria Math" panose="02040503050406030204" pitchFamily="18" charset="0"/>
                            </a:rPr>
                            <m:t>=1</m:t>
                          </m:r>
                        </m:sub>
                        <m:sup>
                          <m:r>
                            <a:rPr lang="en-US" altLang="zh-CN" sz="1600" i="1">
                              <a:latin typeface="Cambria Math" panose="02040503050406030204" pitchFamily="18" charset="0"/>
                            </a:rPr>
                            <m:t>𝐾</m:t>
                          </m:r>
                        </m:sup>
                        <m:e>
                          <m:sSub>
                            <m:sSubPr>
                              <m:ctrlPr>
                                <a:rPr lang="en-US" altLang="zh-CN" sz="1600" b="1" i="1">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i="1">
                                  <a:latin typeface="Cambria Math" panose="02040503050406030204" pitchFamily="18" charset="0"/>
                                </a:rPr>
                                <m:t>𝑘</m:t>
                              </m:r>
                            </m:sub>
                          </m:sSub>
                          <m:d>
                            <m:dPr>
                              <m:ctrlPr>
                                <a:rPr lang="en-US" altLang="zh-CN" sz="1600" i="1">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𝐼</m:t>
                                  </m:r>
                                </m:e>
                                <m:sub>
                                  <m:r>
                                    <a:rPr lang="en-US" altLang="zh-CN" sz="1600" i="1">
                                      <a:latin typeface="Cambria Math" panose="02040503050406030204" pitchFamily="18" charset="0"/>
                                    </a:rPr>
                                    <m:t>𝑘</m:t>
                                  </m:r>
                                  <m:r>
                                    <a:rPr lang="en-US" altLang="zh-CN" sz="1600" b="0" i="1" smtClean="0">
                                      <a:latin typeface="Cambria Math" panose="02040503050406030204" pitchFamily="18" charset="0"/>
                                    </a:rPr>
                                    <m:t>𝑖</m:t>
                                  </m:r>
                                </m:sub>
                              </m:sSub>
                              <m:r>
                                <a:rPr lang="en-US" altLang="zh-CN" sz="1600" i="1">
                                  <a:latin typeface="Cambria Math" panose="02040503050406030204" pitchFamily="18" charset="0"/>
                                </a:rPr>
                                <m:t>−</m:t>
                              </m:r>
                              <m:r>
                                <m:rPr>
                                  <m:sty m:val="p"/>
                                </m:rPr>
                                <a:rPr lang="en-US" altLang="zh-CN" sz="1600">
                                  <a:latin typeface="Cambria Math" panose="02040503050406030204" pitchFamily="18" charset="0"/>
                                </a:rPr>
                                <m:t>softmax</m:t>
                              </m:r>
                              <m:d>
                                <m:dPr>
                                  <m:ctrlPr>
                                    <a:rPr lang="en-US" altLang="zh-CN" sz="1600" i="1">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b="0" i="1" smtClean="0">
                                          <a:latin typeface="Cambria Math" panose="02040503050406030204" pitchFamily="18" charset="0"/>
                                        </a:rPr>
                                        <m:t>𝑖</m:t>
                                      </m:r>
                                    </m:sub>
                                  </m:sSub>
                                </m:e>
                              </m:d>
                            </m:e>
                          </m:d>
                        </m:e>
                      </m:nary>
                      <m:r>
                        <a:rPr lang="en-US" altLang="zh-CN" sz="1600" b="1" i="1">
                          <a:latin typeface="Cambria Math" panose="02040503050406030204" pitchFamily="18" charset="0"/>
                        </a:rPr>
                        <m:t>=−</m:t>
                      </m:r>
                      <m:d>
                        <m:dPr>
                          <m:begChr m:val="{"/>
                          <m:endChr m:val="}"/>
                          <m:ctrlPr>
                            <a:rPr lang="en-US" altLang="zh-CN" sz="1600" i="1">
                              <a:latin typeface="Cambria Math" panose="02040503050406030204" pitchFamily="18" charset="0"/>
                            </a:rPr>
                          </m:ctrlPr>
                        </m:dPr>
                        <m:e>
                          <m:sSub>
                            <m:sSubPr>
                              <m:ctrlPr>
                                <a:rPr lang="en-US" altLang="zh-CN" sz="1600" b="1" i="1">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𝑖</m:t>
                              </m:r>
                            </m:sub>
                          </m:sSub>
                          <m:d>
                            <m:dPr>
                              <m:ctrlPr>
                                <a:rPr lang="en-US" altLang="zh-CN" sz="1600" i="1">
                                  <a:latin typeface="Cambria Math" panose="02040503050406030204" pitchFamily="18" charset="0"/>
                                </a:rPr>
                              </m:ctrlPr>
                            </m:dPr>
                            <m:e>
                              <m:r>
                                <a:rPr lang="en-US" altLang="zh-CN" sz="1600" i="1">
                                  <a:latin typeface="Cambria Math" panose="02040503050406030204" pitchFamily="18" charset="0"/>
                                </a:rPr>
                                <m:t>1−</m:t>
                              </m:r>
                              <m:r>
                                <m:rPr>
                                  <m:sty m:val="p"/>
                                </m:rPr>
                                <a:rPr lang="en-US" altLang="zh-CN" sz="1600">
                                  <a:latin typeface="Cambria Math" panose="02040503050406030204" pitchFamily="18" charset="0"/>
                                </a:rPr>
                                <m:t>softmax</m:t>
                              </m:r>
                              <m:d>
                                <m:dPr>
                                  <m:ctrlPr>
                                    <a:rPr lang="en-US" altLang="zh-CN" sz="1600" i="1">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b="0" i="1" smtClean="0">
                                          <a:latin typeface="Cambria Math" panose="02040503050406030204" pitchFamily="18" charset="0"/>
                                        </a:rPr>
                                        <m:t>𝑖</m:t>
                                      </m:r>
                                    </m:sub>
                                  </m:sSub>
                                </m:e>
                              </m:d>
                            </m:e>
                          </m:d>
                          <m:r>
                            <a:rPr lang="en-US" altLang="zh-CN" sz="1600" i="1">
                              <a:latin typeface="Cambria Math" panose="02040503050406030204" pitchFamily="18" charset="0"/>
                            </a:rPr>
                            <m:t>+</m:t>
                          </m:r>
                          <m:nary>
                            <m:naryPr>
                              <m:chr m:val="∑"/>
                              <m:ctrlPr>
                                <a:rPr lang="en-US" altLang="zh-CN" sz="1600" i="1">
                                  <a:latin typeface="Cambria Math" panose="02040503050406030204" pitchFamily="18" charset="0"/>
                                </a:rPr>
                              </m:ctrlPr>
                            </m:naryPr>
                            <m:sub>
                              <m:r>
                                <m:rPr>
                                  <m:brk m:alnAt="23"/>
                                </m:rPr>
                                <a:rPr lang="en-US" altLang="zh-CN" sz="1600" i="1">
                                  <a:latin typeface="Cambria Math" panose="02040503050406030204" pitchFamily="18" charset="0"/>
                                </a:rPr>
                                <m:t>𝑘</m:t>
                              </m:r>
                              <m:r>
                                <a:rPr lang="en-US" altLang="zh-CN" sz="1600" i="1">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𝑖</m:t>
                              </m:r>
                            </m:sub>
                            <m:sup>
                              <m:r>
                                <a:rPr lang="en-US" altLang="zh-CN" sz="1600" i="1">
                                  <a:latin typeface="Cambria Math" panose="02040503050406030204" pitchFamily="18" charset="0"/>
                                </a:rPr>
                                <m:t>𝐾</m:t>
                              </m:r>
                            </m:sup>
                            <m:e>
                              <m:r>
                                <a:rPr lang="en-US" altLang="zh-CN" sz="1600" i="1">
                                  <a:latin typeface="Cambria Math" panose="02040503050406030204" pitchFamily="18" charset="0"/>
                                </a:rPr>
                                <m:t>−</m:t>
                              </m:r>
                              <m:sSub>
                                <m:sSubPr>
                                  <m:ctrlPr>
                                    <a:rPr lang="en-US" altLang="zh-CN" sz="1600" b="1" i="1">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i="1">
                                      <a:latin typeface="Cambria Math" panose="02040503050406030204" pitchFamily="18" charset="0"/>
                                    </a:rPr>
                                    <m:t>𝑘</m:t>
                                  </m:r>
                                </m:sub>
                              </m:sSub>
                              <m:r>
                                <m:rPr>
                                  <m:sty m:val="p"/>
                                </m:rPr>
                                <a:rPr lang="en-US" altLang="zh-CN" sz="1600">
                                  <a:latin typeface="Cambria Math" panose="02040503050406030204" pitchFamily="18" charset="0"/>
                                </a:rPr>
                                <m:t>softmax</m:t>
                              </m:r>
                              <m:d>
                                <m:dPr>
                                  <m:ctrlPr>
                                    <a:rPr lang="en-US" altLang="zh-CN" sz="1600" i="1">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b="0" i="1" smtClean="0">
                                          <a:latin typeface="Cambria Math" panose="02040503050406030204" pitchFamily="18" charset="0"/>
                                        </a:rPr>
                                        <m:t>𝑖</m:t>
                                      </m:r>
                                    </m:sub>
                                  </m:sSub>
                                </m:e>
                              </m:d>
                            </m:e>
                          </m:nary>
                        </m:e>
                      </m:d>
                      <m:r>
                        <a:rPr lang="en-US" altLang="zh-CN" sz="1600" b="0" i="1" smtClean="0">
                          <a:latin typeface="Cambria Math" panose="02040503050406030204" pitchFamily="18" charset="0"/>
                        </a:rPr>
                        <m:t>=</m:t>
                      </m:r>
                      <m:r>
                        <m:rPr>
                          <m:sty m:val="p"/>
                        </m:rPr>
                        <a:rPr lang="en-US" altLang="zh-CN" sz="1600">
                          <a:latin typeface="Cambria Math" panose="02040503050406030204" pitchFamily="18" charset="0"/>
                        </a:rPr>
                        <m:t>softmax</m:t>
                      </m:r>
                      <m:d>
                        <m:dPr>
                          <m:ctrlPr>
                            <a:rPr lang="en-US" altLang="zh-CN" sz="1600" i="1">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b="0" i="1" smtClean="0">
                                  <a:latin typeface="Cambria Math" panose="02040503050406030204" pitchFamily="18" charset="0"/>
                                </a:rPr>
                                <m:t>𝑖</m:t>
                              </m:r>
                            </m:sub>
                          </m:sSub>
                        </m:e>
                      </m:d>
                      <m:d>
                        <m:dPr>
                          <m:ctrlPr>
                            <a:rPr lang="en-US" altLang="zh-CN" sz="1600" i="1" smtClean="0">
                              <a:latin typeface="Cambria Math" panose="02040503050406030204" pitchFamily="18" charset="0"/>
                            </a:rPr>
                          </m:ctrlPr>
                        </m:dPr>
                        <m:e>
                          <m:nary>
                            <m:naryPr>
                              <m:chr m:val="∑"/>
                              <m:ctrlPr>
                                <a:rPr lang="en-US" altLang="zh-CN" sz="1600" i="1">
                                  <a:latin typeface="Cambria Math" panose="02040503050406030204" pitchFamily="18" charset="0"/>
                                </a:rPr>
                              </m:ctrlPr>
                            </m:naryPr>
                            <m:sub>
                              <m:r>
                                <m:rPr>
                                  <m:brk m:alnAt="23"/>
                                </m:rPr>
                                <a:rPr lang="en-US" altLang="zh-CN" sz="1600" i="1">
                                  <a:latin typeface="Cambria Math" panose="02040503050406030204" pitchFamily="18" charset="0"/>
                                </a:rPr>
                                <m:t>𝑘</m:t>
                              </m:r>
                              <m:r>
                                <a:rPr lang="en-US" altLang="zh-CN" sz="1600" i="1">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rPr>
                                <m:t>𝑖</m:t>
                              </m:r>
                            </m:sub>
                            <m:sup>
                              <m:r>
                                <a:rPr lang="en-US" altLang="zh-CN" sz="1600" i="1">
                                  <a:latin typeface="Cambria Math" panose="02040503050406030204" pitchFamily="18" charset="0"/>
                                </a:rPr>
                                <m:t>𝐾</m:t>
                              </m:r>
                            </m:sup>
                            <m:e>
                              <m:sSub>
                                <m:sSubPr>
                                  <m:ctrlPr>
                                    <a:rPr lang="en-US" altLang="zh-CN" sz="1600" b="1" i="1">
                                      <a:latin typeface="Cambria Math" panose="02040503050406030204" pitchFamily="18" charset="0"/>
                                    </a:rPr>
                                  </m:ctrlPr>
                                </m:sSubPr>
                                <m:e>
                                  <m:r>
                                    <a:rPr lang="en-US" altLang="zh-CN" sz="1600" i="1">
                                      <a:latin typeface="Cambria Math" panose="02040503050406030204" pitchFamily="18" charset="0"/>
                                    </a:rPr>
                                    <m:t>𝑡</m:t>
                                  </m:r>
                                </m:e>
                                <m:sub>
                                  <m:r>
                                    <a:rPr lang="en-US" altLang="zh-CN" sz="1600" i="1">
                                      <a:latin typeface="Cambria Math" panose="02040503050406030204" pitchFamily="18" charset="0"/>
                                    </a:rPr>
                                    <m:t>𝑘</m:t>
                                  </m:r>
                                </m:sub>
                              </m:sSub>
                            </m:e>
                          </m:nary>
                        </m:e>
                      </m:d>
                      <m:r>
                        <a:rPr lang="en-US" altLang="zh-CN" sz="1600" i="1">
                          <a:latin typeface="Cambria Math" panose="02040503050406030204" pitchFamily="18" charset="0"/>
                        </a:rPr>
                        <m:t>−</m:t>
                      </m:r>
                      <m:sSub>
                        <m:sSubPr>
                          <m:ctrlPr>
                            <a:rPr lang="en-US" altLang="zh-CN" sz="1600" b="1" i="1">
                              <a:latin typeface="Cambria Math" panose="02040503050406030204" pitchFamily="18" charset="0"/>
                            </a:rPr>
                          </m:ctrlPr>
                        </m:sSubPr>
                        <m:e>
                          <m:r>
                            <a:rPr lang="en-US" altLang="zh-CN" sz="1600" i="1">
                              <a:latin typeface="Cambria Math" panose="02040503050406030204" pitchFamily="18" charset="0"/>
                            </a:rPr>
                            <m:t>𝑡</m:t>
                          </m:r>
                        </m:e>
                        <m:sub>
                          <m:r>
                            <a:rPr lang="en-US" altLang="zh-CN" sz="1600" b="0" i="1" smtClean="0">
                              <a:latin typeface="Cambria Math" panose="02040503050406030204" pitchFamily="18" charset="0"/>
                            </a:rPr>
                            <m:t>𝑖</m:t>
                          </m:r>
                        </m:sub>
                      </m:sSub>
                      <m:d>
                        <m:dPr>
                          <m:ctrlPr>
                            <a:rPr lang="en-US" altLang="zh-CN" sz="1600" i="1">
                              <a:latin typeface="Cambria Math" panose="02040503050406030204" pitchFamily="18" charset="0"/>
                            </a:rPr>
                          </m:ctrlPr>
                        </m:dPr>
                        <m:e>
                          <m:r>
                            <a:rPr lang="en-US" altLang="zh-CN" sz="1600" i="1">
                              <a:latin typeface="Cambria Math" panose="02040503050406030204" pitchFamily="18" charset="0"/>
                            </a:rPr>
                            <m:t>1−</m:t>
                          </m:r>
                          <m:r>
                            <m:rPr>
                              <m:sty m:val="p"/>
                            </m:rPr>
                            <a:rPr lang="en-US" altLang="zh-CN" sz="1600">
                              <a:latin typeface="Cambria Math" panose="02040503050406030204" pitchFamily="18" charset="0"/>
                            </a:rPr>
                            <m:t>softmax</m:t>
                          </m:r>
                          <m:d>
                            <m:dPr>
                              <m:ctrlPr>
                                <a:rPr lang="en-US" altLang="zh-CN" sz="1600" i="1">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b="0" i="1" smtClean="0">
                                      <a:latin typeface="Cambria Math" panose="02040503050406030204" pitchFamily="18" charset="0"/>
                                    </a:rPr>
                                    <m:t>𝑖</m:t>
                                  </m:r>
                                </m:sub>
                              </m:sSub>
                            </m:e>
                          </m:d>
                        </m:e>
                      </m:d>
                      <m:r>
                        <a:rPr lang="en-US" altLang="zh-CN" sz="1600" i="1">
                          <a:latin typeface="Cambria Math" panose="02040503050406030204" pitchFamily="18" charset="0"/>
                        </a:rPr>
                        <m:t>=</m:t>
                      </m:r>
                      <m:r>
                        <m:rPr>
                          <m:sty m:val="p"/>
                        </m:rPr>
                        <a:rPr lang="en-US" altLang="zh-CN" sz="1600">
                          <a:latin typeface="Cambria Math" panose="02040503050406030204" pitchFamily="18" charset="0"/>
                        </a:rPr>
                        <m:t>softmax</m:t>
                      </m:r>
                      <m:d>
                        <m:dPr>
                          <m:ctrlPr>
                            <a:rPr lang="en-US" altLang="zh-CN" sz="1600" i="1">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b="0" i="1" smtClean="0">
                                  <a:latin typeface="Cambria Math" panose="02040503050406030204" pitchFamily="18" charset="0"/>
                                </a:rPr>
                                <m:t>𝑖</m:t>
                              </m:r>
                            </m:sub>
                          </m:sSub>
                        </m:e>
                      </m:d>
                      <m:d>
                        <m:dPr>
                          <m:ctrlPr>
                            <a:rPr lang="en-US" altLang="zh-CN" sz="1600" i="1">
                              <a:latin typeface="Cambria Math" panose="02040503050406030204" pitchFamily="18" charset="0"/>
                            </a:rPr>
                          </m:ctrlPr>
                        </m:dPr>
                        <m:e>
                          <m:r>
                            <a:rPr lang="en-US" altLang="zh-CN" sz="1600" i="1">
                              <a:latin typeface="Cambria Math" panose="02040503050406030204" pitchFamily="18" charset="0"/>
                            </a:rPr>
                            <m:t>1</m:t>
                          </m:r>
                          <m:r>
                            <a:rPr lang="en-US" altLang="zh-CN" sz="1600" b="1" i="1" smtClean="0">
                              <a:latin typeface="Cambria Math" panose="02040503050406030204" pitchFamily="18" charset="0"/>
                            </a:rPr>
                            <m:t>−</m:t>
                          </m:r>
                          <m:sSub>
                            <m:sSubPr>
                              <m:ctrlPr>
                                <a:rPr lang="en-US" altLang="zh-CN" sz="1600" b="1" i="1">
                                  <a:latin typeface="Cambria Math" panose="02040503050406030204" pitchFamily="18" charset="0"/>
                                </a:rPr>
                              </m:ctrlPr>
                            </m:sSubPr>
                            <m:e>
                              <m:r>
                                <a:rPr lang="en-US" altLang="zh-CN" sz="1600" i="1">
                                  <a:latin typeface="Cambria Math" panose="02040503050406030204" pitchFamily="18" charset="0"/>
                                </a:rPr>
                                <m:t>𝑡</m:t>
                              </m:r>
                            </m:e>
                            <m:sub>
                              <m:r>
                                <a:rPr lang="en-US" altLang="zh-CN" sz="1600" b="0" i="1" smtClean="0">
                                  <a:latin typeface="Cambria Math" panose="02040503050406030204" pitchFamily="18" charset="0"/>
                                </a:rPr>
                                <m:t>𝑖</m:t>
                              </m:r>
                            </m:sub>
                          </m:sSub>
                        </m:e>
                      </m:d>
                      <m:r>
                        <a:rPr lang="en-US" altLang="zh-CN" sz="1600" i="1">
                          <a:latin typeface="Cambria Math" panose="02040503050406030204" pitchFamily="18" charset="0"/>
                        </a:rPr>
                        <m:t>−</m:t>
                      </m:r>
                      <m:sSub>
                        <m:sSubPr>
                          <m:ctrlPr>
                            <a:rPr lang="en-US" altLang="zh-CN" sz="1600" b="1" i="1">
                              <a:latin typeface="Cambria Math" panose="02040503050406030204" pitchFamily="18" charset="0"/>
                            </a:rPr>
                          </m:ctrlPr>
                        </m:sSubPr>
                        <m:e>
                          <m:r>
                            <a:rPr lang="en-US" altLang="zh-CN" sz="1600" i="1">
                              <a:latin typeface="Cambria Math" panose="02040503050406030204" pitchFamily="18" charset="0"/>
                            </a:rPr>
                            <m:t>𝑡</m:t>
                          </m:r>
                        </m:e>
                        <m:sub>
                          <m:r>
                            <a:rPr lang="en-US" altLang="zh-CN" sz="1600" b="0" i="1" smtClean="0">
                              <a:latin typeface="Cambria Math" panose="02040503050406030204" pitchFamily="18" charset="0"/>
                            </a:rPr>
                            <m:t>𝑖</m:t>
                          </m:r>
                        </m:sub>
                      </m:sSub>
                      <m:r>
                        <a:rPr lang="en-US" altLang="zh-CN" sz="1600" i="1">
                          <a:latin typeface="Cambria Math" panose="02040503050406030204" pitchFamily="18" charset="0"/>
                        </a:rPr>
                        <m:t>+</m:t>
                      </m:r>
                      <m:sSub>
                        <m:sSubPr>
                          <m:ctrlPr>
                            <a:rPr lang="en-US" altLang="zh-CN" sz="1600" b="1" i="1">
                              <a:latin typeface="Cambria Math" panose="02040503050406030204" pitchFamily="18" charset="0"/>
                            </a:rPr>
                          </m:ctrlPr>
                        </m:sSubPr>
                        <m:e>
                          <m:r>
                            <a:rPr lang="en-US" altLang="zh-CN" sz="1600" i="1">
                              <a:latin typeface="Cambria Math" panose="02040503050406030204" pitchFamily="18" charset="0"/>
                            </a:rPr>
                            <m:t>𝑡</m:t>
                          </m:r>
                        </m:e>
                        <m:sub>
                          <m:r>
                            <a:rPr lang="en-US" altLang="zh-CN" sz="1600" b="0" i="1" smtClean="0">
                              <a:latin typeface="Cambria Math" panose="02040503050406030204" pitchFamily="18" charset="0"/>
                            </a:rPr>
                            <m:t>𝑖</m:t>
                          </m:r>
                        </m:sub>
                      </m:sSub>
                      <m:r>
                        <m:rPr>
                          <m:sty m:val="p"/>
                        </m:rPr>
                        <a:rPr lang="en-US" altLang="zh-CN" sz="1600">
                          <a:latin typeface="Cambria Math" panose="02040503050406030204" pitchFamily="18" charset="0"/>
                        </a:rPr>
                        <m:t>softmax</m:t>
                      </m:r>
                      <m:d>
                        <m:dPr>
                          <m:ctrlPr>
                            <a:rPr lang="en-US" altLang="zh-CN" sz="1600" i="1">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b="0" i="1" smtClean="0">
                                  <a:latin typeface="Cambria Math" panose="02040503050406030204" pitchFamily="18" charset="0"/>
                                </a:rPr>
                                <m:t>𝑖</m:t>
                              </m:r>
                            </m:sub>
                          </m:sSub>
                        </m:e>
                      </m:d>
                      <m:r>
                        <a:rPr lang="en-US" altLang="zh-CN" sz="1600" i="1">
                          <a:latin typeface="Cambria Math" panose="02040503050406030204" pitchFamily="18" charset="0"/>
                        </a:rPr>
                        <m:t>=</m:t>
                      </m:r>
                      <m:r>
                        <m:rPr>
                          <m:sty m:val="p"/>
                        </m:rPr>
                        <a:rPr lang="en-US" altLang="zh-CN" sz="1600">
                          <a:solidFill>
                            <a:srgbClr val="FF0000"/>
                          </a:solidFill>
                          <a:latin typeface="Cambria Math" panose="02040503050406030204" pitchFamily="18" charset="0"/>
                        </a:rPr>
                        <m:t>softmax</m:t>
                      </m:r>
                      <m:d>
                        <m:dPr>
                          <m:ctrlPr>
                            <a:rPr lang="en-US" altLang="zh-CN" sz="1600" i="1">
                              <a:solidFill>
                                <a:srgbClr val="FF0000"/>
                              </a:solidFill>
                              <a:latin typeface="Cambria Math" panose="02040503050406030204" pitchFamily="18" charset="0"/>
                            </a:rPr>
                          </m:ctrlPr>
                        </m:dPr>
                        <m:e>
                          <m:sSub>
                            <m:sSubPr>
                              <m:ctrlPr>
                                <a:rPr lang="en-US" altLang="zh-CN" sz="1600" i="1">
                                  <a:solidFill>
                                    <a:srgbClr val="FF0000"/>
                                  </a:solidFill>
                                  <a:latin typeface="Cambria Math" panose="02040503050406030204" pitchFamily="18" charset="0"/>
                                </a:rPr>
                              </m:ctrlPr>
                            </m:sSubPr>
                            <m:e>
                              <m:r>
                                <a:rPr lang="en-US" altLang="zh-CN" sz="1600" i="1">
                                  <a:solidFill>
                                    <a:srgbClr val="FF0000"/>
                                  </a:solidFill>
                                  <a:latin typeface="Cambria Math" panose="02040503050406030204" pitchFamily="18" charset="0"/>
                                </a:rPr>
                                <m:t>𝑎</m:t>
                              </m:r>
                            </m:e>
                            <m:sub>
                              <m:r>
                                <a:rPr lang="en-US" altLang="zh-CN" sz="1600" b="0" i="1" smtClean="0">
                                  <a:solidFill>
                                    <a:srgbClr val="FF0000"/>
                                  </a:solidFill>
                                  <a:latin typeface="Cambria Math" panose="02040503050406030204" pitchFamily="18" charset="0"/>
                                </a:rPr>
                                <m:t>𝑖</m:t>
                              </m:r>
                            </m:sub>
                          </m:sSub>
                        </m:e>
                      </m:d>
                      <m:r>
                        <a:rPr lang="en-US" altLang="zh-CN" sz="1600" i="1">
                          <a:solidFill>
                            <a:srgbClr val="FF0000"/>
                          </a:solidFill>
                          <a:latin typeface="Cambria Math" panose="02040503050406030204" pitchFamily="18" charset="0"/>
                        </a:rPr>
                        <m:t>−</m:t>
                      </m:r>
                      <m:sSub>
                        <m:sSubPr>
                          <m:ctrlPr>
                            <a:rPr lang="en-US" altLang="zh-CN" sz="1600" b="1" i="1">
                              <a:solidFill>
                                <a:srgbClr val="FF0000"/>
                              </a:solidFill>
                              <a:latin typeface="Cambria Math" panose="02040503050406030204" pitchFamily="18" charset="0"/>
                            </a:rPr>
                          </m:ctrlPr>
                        </m:sSubPr>
                        <m:e>
                          <m:r>
                            <a:rPr lang="en-US" altLang="zh-CN" sz="1600" b="0" i="1" smtClean="0">
                              <a:solidFill>
                                <a:srgbClr val="FF0000"/>
                              </a:solidFill>
                              <a:latin typeface="Cambria Math" panose="02040503050406030204" pitchFamily="18" charset="0"/>
                            </a:rPr>
                            <m:t>𝑡</m:t>
                          </m:r>
                        </m:e>
                        <m:sub>
                          <m:r>
                            <a:rPr lang="en-US" altLang="zh-CN" sz="1600" b="0" i="1" smtClean="0">
                              <a:solidFill>
                                <a:srgbClr val="FF0000"/>
                              </a:solidFill>
                              <a:latin typeface="Cambria Math" panose="02040503050406030204" pitchFamily="18" charset="0"/>
                            </a:rPr>
                            <m:t>𝑖</m:t>
                          </m:r>
                        </m:sub>
                      </m:sSub>
                      <m:r>
                        <a:rPr lang="en-US" altLang="zh-CN" sz="1600" b="1" i="1" smtClean="0">
                          <a:solidFill>
                            <a:srgbClr val="FF0000"/>
                          </a:solidFill>
                          <a:latin typeface="Cambria Math" panose="02040503050406030204" pitchFamily="18" charset="0"/>
                        </a:rPr>
                        <m:t>=</m:t>
                      </m:r>
                      <m:sSub>
                        <m:sSubPr>
                          <m:ctrlPr>
                            <a:rPr lang="en-US" altLang="zh-CN" sz="1600" i="1">
                              <a:solidFill>
                                <a:srgbClr val="FF0000"/>
                              </a:solidFill>
                              <a:latin typeface="Cambria Math" panose="02040503050406030204" pitchFamily="18" charset="0"/>
                            </a:rPr>
                          </m:ctrlPr>
                        </m:sSubPr>
                        <m:e>
                          <m:r>
                            <a:rPr lang="en-US" altLang="zh-CN" sz="1600" b="0" i="1" smtClean="0">
                              <a:solidFill>
                                <a:srgbClr val="FF0000"/>
                              </a:solidFill>
                              <a:latin typeface="Cambria Math" panose="02040503050406030204" pitchFamily="18" charset="0"/>
                            </a:rPr>
                            <m:t>𝑦</m:t>
                          </m:r>
                        </m:e>
                        <m:sub>
                          <m:r>
                            <a:rPr lang="en-US" altLang="zh-CN" sz="1600" i="1">
                              <a:solidFill>
                                <a:srgbClr val="FF0000"/>
                              </a:solidFill>
                              <a:latin typeface="Cambria Math" panose="02040503050406030204" pitchFamily="18" charset="0"/>
                            </a:rPr>
                            <m:t>𝑖</m:t>
                          </m:r>
                        </m:sub>
                      </m:sSub>
                      <m:r>
                        <a:rPr lang="en-US" altLang="zh-CN" sz="1600" i="1">
                          <a:solidFill>
                            <a:srgbClr val="FF0000"/>
                          </a:solidFill>
                          <a:latin typeface="Cambria Math" panose="02040503050406030204" pitchFamily="18" charset="0"/>
                        </a:rPr>
                        <m:t> −</m:t>
                      </m:r>
                      <m:sSub>
                        <m:sSubPr>
                          <m:ctrlPr>
                            <a:rPr lang="en-US" altLang="zh-CN" sz="1600" b="1" i="1">
                              <a:solidFill>
                                <a:srgbClr val="FF0000"/>
                              </a:solidFill>
                              <a:latin typeface="Cambria Math" panose="02040503050406030204" pitchFamily="18" charset="0"/>
                            </a:rPr>
                          </m:ctrlPr>
                        </m:sSubPr>
                        <m:e>
                          <m:r>
                            <a:rPr lang="en-US" altLang="zh-CN" sz="1600" i="1">
                              <a:solidFill>
                                <a:srgbClr val="FF0000"/>
                              </a:solidFill>
                              <a:latin typeface="Cambria Math" panose="02040503050406030204" pitchFamily="18" charset="0"/>
                            </a:rPr>
                            <m:t>𝑡</m:t>
                          </m:r>
                        </m:e>
                        <m:sub>
                          <m:r>
                            <a:rPr lang="en-US" altLang="zh-CN" sz="1600" i="1">
                              <a:solidFill>
                                <a:srgbClr val="FF0000"/>
                              </a:solidFill>
                              <a:latin typeface="Cambria Math" panose="02040503050406030204" pitchFamily="18" charset="0"/>
                            </a:rPr>
                            <m:t>𝑖</m:t>
                          </m:r>
                        </m:sub>
                      </m:sSub>
                    </m:oMath>
                  </m:oMathPara>
                </a14:m>
                <a:endParaRPr lang="en-US" altLang="zh-CN" sz="1600" dirty="0"/>
              </a:p>
            </p:txBody>
          </p:sp>
        </mc:Choice>
        <mc:Fallback xmlns="">
          <p:sp>
            <p:nvSpPr>
              <p:cNvPr id="3" name="内容占位符 2">
                <a:extLst>
                  <a:ext uri="{FF2B5EF4-FFF2-40B4-BE49-F238E27FC236}">
                    <a16:creationId xmlns:a16="http://schemas.microsoft.com/office/drawing/2014/main" id="{640F6830-BAB6-4225-A6B0-A3D1E0E10A88}"/>
                  </a:ext>
                </a:extLst>
              </p:cNvPr>
              <p:cNvSpPr>
                <a:spLocks noGrp="1" noRot="1" noChangeAspect="1" noMove="1" noResize="1" noEditPoints="1" noAdjustHandles="1" noChangeArrowheads="1" noChangeShapeType="1" noTextEdit="1"/>
              </p:cNvSpPr>
              <p:nvPr>
                <p:ph idx="1"/>
              </p:nvPr>
            </p:nvSpPr>
            <p:spPr>
              <a:xfrm>
                <a:off x="838200" y="1825625"/>
                <a:ext cx="10722064" cy="4351338"/>
              </a:xfrm>
              <a:blipFill>
                <a:blip r:embed="rId2"/>
                <a:stretch>
                  <a:fillRect b="-532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8BE96412-23A3-4ACB-B19F-6773C57E39B9}"/>
                  </a:ext>
                </a:extLst>
              </p:cNvPr>
              <p:cNvSpPr/>
              <p:nvPr/>
            </p:nvSpPr>
            <p:spPr>
              <a:xfrm>
                <a:off x="5921462" y="2305813"/>
                <a:ext cx="4587538" cy="63966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altLang="zh-CN" sz="1600" i="1" smtClean="0">
                              <a:latin typeface="Cambria Math" panose="02040503050406030204" pitchFamily="18" charset="0"/>
                            </a:rPr>
                          </m:ctrlPr>
                        </m:fPr>
                        <m:num>
                          <m:r>
                            <a:rPr lang="en-US" altLang="zh-CN" sz="1600" i="1">
                              <a:latin typeface="Cambria Math" panose="02040503050406030204" pitchFamily="18" charset="0"/>
                            </a:rPr>
                            <m:t>𝜕</m:t>
                          </m:r>
                          <m:r>
                            <m:rPr>
                              <m:sty m:val="p"/>
                            </m:rPr>
                            <a:rPr lang="en-US" altLang="zh-CN" sz="1600" i="0">
                              <a:latin typeface="Cambria Math" panose="02040503050406030204" pitchFamily="18" charset="0"/>
                            </a:rPr>
                            <m:t>softmax</m:t>
                          </m:r>
                          <m:d>
                            <m:dPr>
                              <m:ctrlPr>
                                <a:rPr lang="en-US" altLang="zh-CN" sz="1600" i="1">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𝑘</m:t>
                                  </m:r>
                                </m:sub>
                              </m:sSub>
                            </m:e>
                          </m:d>
                        </m:num>
                        <m:den>
                          <m:r>
                            <a:rPr lang="en-US" altLang="zh-CN" sz="1600" i="1">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b="0" i="1" smtClean="0">
                                  <a:latin typeface="Cambria Math" panose="02040503050406030204" pitchFamily="18" charset="0"/>
                                </a:rPr>
                                <m:t>𝑗</m:t>
                              </m:r>
                            </m:sub>
                          </m:sSub>
                        </m:den>
                      </m:f>
                      <m:r>
                        <a:rPr lang="en-US" altLang="zh-CN" sz="1600" b="0" i="1" smtClean="0">
                          <a:latin typeface="Cambria Math" panose="02040503050406030204" pitchFamily="18" charset="0"/>
                        </a:rPr>
                        <m:t>=</m:t>
                      </m:r>
                      <m:r>
                        <m:rPr>
                          <m:sty m:val="p"/>
                        </m:rPr>
                        <a:rPr lang="en-US" altLang="zh-CN" sz="1600" i="0">
                          <a:latin typeface="Cambria Math" panose="02040503050406030204" pitchFamily="18" charset="0"/>
                        </a:rPr>
                        <m:t>softmax</m:t>
                      </m:r>
                      <m:d>
                        <m:dPr>
                          <m:ctrlPr>
                            <a:rPr lang="en-US" altLang="zh-CN" sz="1600" i="1">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𝑘</m:t>
                              </m:r>
                            </m:sub>
                          </m:sSub>
                        </m:e>
                      </m:d>
                      <m:d>
                        <m:dPr>
                          <m:ctrlPr>
                            <a:rPr lang="en-US" altLang="zh-CN" sz="1600" i="1" smtClean="0">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b="0" i="1" smtClean="0">
                                  <a:latin typeface="Cambria Math" panose="02040503050406030204" pitchFamily="18" charset="0"/>
                                </a:rPr>
                                <m:t>𝐼</m:t>
                              </m:r>
                            </m:e>
                            <m:sub>
                              <m:r>
                                <a:rPr lang="en-US" altLang="zh-CN" sz="1600" b="0" i="1" smtClean="0">
                                  <a:latin typeface="Cambria Math" panose="02040503050406030204" pitchFamily="18" charset="0"/>
                                </a:rPr>
                                <m:t>𝑘</m:t>
                              </m:r>
                              <m:r>
                                <a:rPr lang="en-US" altLang="zh-CN" sz="1600" i="1">
                                  <a:latin typeface="Cambria Math" panose="02040503050406030204" pitchFamily="18" charset="0"/>
                                </a:rPr>
                                <m:t>𝑗</m:t>
                              </m:r>
                            </m:sub>
                          </m:sSub>
                          <m:r>
                            <a:rPr lang="en-US" altLang="zh-CN" sz="1600" b="0" i="1" smtClean="0">
                              <a:latin typeface="Cambria Math" panose="02040503050406030204" pitchFamily="18" charset="0"/>
                            </a:rPr>
                            <m:t>−</m:t>
                          </m:r>
                          <m:r>
                            <m:rPr>
                              <m:sty m:val="p"/>
                            </m:rPr>
                            <a:rPr lang="en-US" altLang="zh-CN" sz="1600">
                              <a:latin typeface="Cambria Math" panose="02040503050406030204" pitchFamily="18" charset="0"/>
                            </a:rPr>
                            <m:t>softmax</m:t>
                          </m:r>
                          <m:d>
                            <m:dPr>
                              <m:ctrlPr>
                                <a:rPr lang="en-US" altLang="zh-CN" sz="1600" i="1" smtClean="0">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𝑗</m:t>
                                  </m:r>
                                </m:sub>
                              </m:sSub>
                            </m:e>
                          </m:d>
                        </m:e>
                      </m:d>
                    </m:oMath>
                  </m:oMathPara>
                </a14:m>
                <a:endParaRPr lang="zh-CN" altLang="en-US" sz="1600" dirty="0"/>
              </a:p>
            </p:txBody>
          </p:sp>
        </mc:Choice>
        <mc:Fallback xmlns="">
          <p:sp>
            <p:nvSpPr>
              <p:cNvPr id="4" name="矩形 3">
                <a:extLst>
                  <a:ext uri="{FF2B5EF4-FFF2-40B4-BE49-F238E27FC236}">
                    <a16:creationId xmlns:a16="http://schemas.microsoft.com/office/drawing/2014/main" id="{8BE96412-23A3-4ACB-B19F-6773C57E39B9}"/>
                  </a:ext>
                </a:extLst>
              </p:cNvPr>
              <p:cNvSpPr>
                <a:spLocks noRot="1" noChangeAspect="1" noMove="1" noResize="1" noEditPoints="1" noAdjustHandles="1" noChangeArrowheads="1" noChangeShapeType="1" noTextEdit="1"/>
              </p:cNvSpPr>
              <p:nvPr/>
            </p:nvSpPr>
            <p:spPr>
              <a:xfrm>
                <a:off x="5921462" y="2305813"/>
                <a:ext cx="4587538" cy="639662"/>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CE1AEA27-29FB-4C98-B480-9FF5504CADF2}"/>
                  </a:ext>
                </a:extLst>
              </p:cNvPr>
              <p:cNvSpPr/>
              <p:nvPr/>
            </p:nvSpPr>
            <p:spPr>
              <a:xfrm>
                <a:off x="10388979" y="2305813"/>
                <a:ext cx="1507657" cy="6415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i="1">
                              <a:latin typeface="Cambria Math" panose="02040503050406030204" pitchFamily="18" charset="0"/>
                            </a:rPr>
                            <m:t>𝐼</m:t>
                          </m:r>
                        </m:e>
                        <m:sub>
                          <m:r>
                            <a:rPr lang="en-US" altLang="zh-CN" sz="1600" i="1">
                              <a:latin typeface="Cambria Math" panose="02040503050406030204" pitchFamily="18" charset="0"/>
                            </a:rPr>
                            <m:t>𝑘𝑗</m:t>
                          </m:r>
                        </m:sub>
                      </m:sSub>
                      <m:r>
                        <a:rPr lang="en-US" altLang="zh-CN" sz="1600" b="0" i="1" smtClean="0">
                          <a:latin typeface="Cambria Math" panose="02040503050406030204" pitchFamily="18" charset="0"/>
                        </a:rPr>
                        <m:t>=</m:t>
                      </m:r>
                      <m:d>
                        <m:dPr>
                          <m:begChr m:val="{"/>
                          <m:endChr m:val=""/>
                          <m:ctrlPr>
                            <a:rPr lang="en-US" altLang="zh-CN" sz="1600" b="0" i="1" smtClean="0">
                              <a:latin typeface="Cambria Math" panose="02040503050406030204" pitchFamily="18" charset="0"/>
                            </a:rPr>
                          </m:ctrlPr>
                        </m:dPr>
                        <m:e>
                          <m:eqArr>
                            <m:eqArrPr>
                              <m:ctrlPr>
                                <a:rPr lang="en-US" altLang="zh-CN" sz="1600" b="0" i="1" smtClean="0">
                                  <a:latin typeface="Cambria Math" panose="02040503050406030204" pitchFamily="18" charset="0"/>
                                </a:rPr>
                              </m:ctrlPr>
                            </m:eqArrPr>
                            <m:e>
                              <m:r>
                                <a:rPr lang="en-US" altLang="zh-CN" sz="1600" b="0" i="1" smtClean="0">
                                  <a:latin typeface="Cambria Math" panose="02040503050406030204" pitchFamily="18" charset="0"/>
                                </a:rPr>
                                <m:t>1, </m:t>
                              </m:r>
                              <m:r>
                                <a:rPr lang="en-US" altLang="zh-CN" sz="1600" b="0" i="1" smtClean="0">
                                  <a:latin typeface="Cambria Math" panose="02040503050406030204" pitchFamily="18" charset="0"/>
                                </a:rPr>
                                <m:t>𝑘</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𝑗</m:t>
                              </m:r>
                            </m:e>
                            <m:e>
                              <m:r>
                                <a:rPr lang="en-US" altLang="zh-CN" sz="1600" b="0" i="1" smtClean="0">
                                  <a:latin typeface="Cambria Math" panose="02040503050406030204" pitchFamily="18" charset="0"/>
                                </a:rPr>
                                <m:t>0, </m:t>
                              </m:r>
                              <m:r>
                                <a:rPr lang="en-US" altLang="zh-CN" sz="1600" b="0" i="1" smtClean="0">
                                  <a:latin typeface="Cambria Math" panose="02040503050406030204" pitchFamily="18" charset="0"/>
                                </a:rPr>
                                <m:t>𝑘</m:t>
                              </m:r>
                              <m:r>
                                <a:rPr lang="en-US" altLang="zh-CN" sz="1600" b="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𝑗</m:t>
                              </m:r>
                            </m:e>
                          </m:eqArr>
                        </m:e>
                      </m:d>
                    </m:oMath>
                  </m:oMathPara>
                </a14:m>
                <a:endParaRPr lang="zh-CN" altLang="en-US" sz="1600" dirty="0"/>
              </a:p>
            </p:txBody>
          </p:sp>
        </mc:Choice>
        <mc:Fallback xmlns="">
          <p:sp>
            <p:nvSpPr>
              <p:cNvPr id="5" name="矩形 4">
                <a:extLst>
                  <a:ext uri="{FF2B5EF4-FFF2-40B4-BE49-F238E27FC236}">
                    <a16:creationId xmlns:a16="http://schemas.microsoft.com/office/drawing/2014/main" id="{CE1AEA27-29FB-4C98-B480-9FF5504CADF2}"/>
                  </a:ext>
                </a:extLst>
              </p:cNvPr>
              <p:cNvSpPr>
                <a:spLocks noRot="1" noChangeAspect="1" noMove="1" noResize="1" noEditPoints="1" noAdjustHandles="1" noChangeArrowheads="1" noChangeShapeType="1" noTextEdit="1"/>
              </p:cNvSpPr>
              <p:nvPr/>
            </p:nvSpPr>
            <p:spPr>
              <a:xfrm>
                <a:off x="10388979" y="2305813"/>
                <a:ext cx="1507657" cy="641586"/>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CAF022C4-C21E-4962-84E0-BCB815E18436}"/>
                  </a:ext>
                </a:extLst>
              </p:cNvPr>
              <p:cNvSpPr/>
              <p:nvPr/>
            </p:nvSpPr>
            <p:spPr>
              <a:xfrm>
                <a:off x="8095947" y="3560600"/>
                <a:ext cx="3046860" cy="90255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nary>
                        <m:naryPr>
                          <m:chr m:val="∑"/>
                          <m:ctrlPr>
                            <a:rPr lang="en-US" altLang="zh-CN" i="1" smtClean="0">
                              <a:latin typeface="Cambria Math" panose="02040503050406030204" pitchFamily="18" charset="0"/>
                            </a:rPr>
                          </m:ctrlPr>
                        </m:naryPr>
                        <m:sub>
                          <m:r>
                            <m:rPr>
                              <m:brk m:alnAt="23"/>
                            </m:rPr>
                            <a:rPr lang="en-US" altLang="zh-CN" i="1">
                              <a:latin typeface="Cambria Math" panose="02040503050406030204" pitchFamily="18" charset="0"/>
                            </a:rPr>
                            <m:t>𝑘</m:t>
                          </m:r>
                          <m:r>
                            <a:rPr lang="en-US" altLang="zh-CN" b="0" i="1" smtClean="0">
                              <a:latin typeface="Cambria Math" panose="02040503050406030204" pitchFamily="18" charset="0"/>
                              <a:ea typeface="Cambria Math" panose="02040503050406030204" pitchFamily="18" charset="0"/>
                            </a:rPr>
                            <m:t>=1</m:t>
                          </m:r>
                        </m:sub>
                        <m:sup>
                          <m:r>
                            <a:rPr lang="en-US" altLang="zh-CN" i="1">
                              <a:latin typeface="Cambria Math" panose="02040503050406030204" pitchFamily="18" charset="0"/>
                            </a:rPr>
                            <m:t>𝐾</m:t>
                          </m:r>
                        </m:sup>
                        <m:e>
                          <m:sSub>
                            <m:sSubPr>
                              <m:ctrlPr>
                                <a:rPr lang="en-US" altLang="zh-CN" b="1" i="1">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i="1">
                                  <a:latin typeface="Cambria Math" panose="02040503050406030204" pitchFamily="18" charset="0"/>
                                </a:rPr>
                                <m:t>𝑘</m:t>
                              </m:r>
                            </m:sub>
                          </m:sSub>
                        </m:e>
                      </m:nary>
                      <m:r>
                        <a:rPr lang="en-US" altLang="zh-CN" b="0" i="1" smtClean="0">
                          <a:latin typeface="Cambria Math" panose="02040503050406030204" pitchFamily="18" charset="0"/>
                        </a:rPr>
                        <m:t>=1</m:t>
                      </m:r>
                      <m:r>
                        <a:rPr lang="en-US" altLang="zh-CN" b="0" i="1" smtClean="0">
                          <a:latin typeface="Cambria Math" panose="02040503050406030204" pitchFamily="18" charset="0"/>
                          <a:ea typeface="Cambria Math" panose="02040503050406030204" pitchFamily="18" charset="0"/>
                        </a:rPr>
                        <m:t>→</m:t>
                      </m:r>
                      <m:sSub>
                        <m:sSubPr>
                          <m:ctrlPr>
                            <a:rPr lang="en-US" altLang="zh-CN" b="1" i="1">
                              <a:latin typeface="Cambria Math" panose="02040503050406030204" pitchFamily="18" charset="0"/>
                            </a:rPr>
                          </m:ctrlPr>
                        </m:sSubPr>
                        <m:e>
                          <m:r>
                            <a:rPr lang="en-US" altLang="zh-CN" i="1">
                              <a:latin typeface="Cambria Math" panose="02040503050406030204" pitchFamily="18" charset="0"/>
                            </a:rPr>
                            <m:t>𝑡</m:t>
                          </m:r>
                        </m:e>
                        <m:sub>
                          <m:r>
                            <a:rPr lang="en-US" altLang="zh-CN" b="0" i="1" smtClean="0">
                              <a:latin typeface="Cambria Math" panose="02040503050406030204" pitchFamily="18" charset="0"/>
                            </a:rPr>
                            <m:t>𝑖</m:t>
                          </m:r>
                        </m:sub>
                      </m:sSub>
                      <m:r>
                        <a:rPr lang="en-US" altLang="zh-CN" b="1" i="1" smtClean="0">
                          <a:latin typeface="Cambria Math" panose="02040503050406030204" pitchFamily="18" charset="0"/>
                        </a:rPr>
                        <m:t>=</m:t>
                      </m:r>
                      <m:r>
                        <a:rPr lang="en-US" altLang="zh-CN" b="0" i="1" smtClean="0">
                          <a:latin typeface="Cambria Math" panose="02040503050406030204" pitchFamily="18" charset="0"/>
                        </a:rPr>
                        <m:t>1</m:t>
                      </m:r>
                      <m:r>
                        <a:rPr lang="en-US" altLang="zh-CN" b="1" i="1" smtClean="0">
                          <a:latin typeface="Cambria Math" panose="02040503050406030204" pitchFamily="18" charset="0"/>
                        </a:rPr>
                        <m:t>−</m:t>
                      </m:r>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𝑘</m:t>
                          </m:r>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rPr>
                            <m:t>𝑖</m:t>
                          </m:r>
                        </m:sub>
                        <m:sup>
                          <m:r>
                            <a:rPr lang="en-US" altLang="zh-CN" i="1">
                              <a:latin typeface="Cambria Math" panose="02040503050406030204" pitchFamily="18" charset="0"/>
                            </a:rPr>
                            <m:t>𝐾</m:t>
                          </m:r>
                        </m:sup>
                        <m:e>
                          <m:sSub>
                            <m:sSubPr>
                              <m:ctrlPr>
                                <a:rPr lang="en-US" altLang="zh-CN" b="1" i="1">
                                  <a:latin typeface="Cambria Math" panose="02040503050406030204" pitchFamily="18" charset="0"/>
                                </a:rPr>
                              </m:ctrlPr>
                            </m:sSubPr>
                            <m:e>
                              <m:r>
                                <a:rPr lang="en-US" altLang="zh-CN" i="1">
                                  <a:latin typeface="Cambria Math" panose="02040503050406030204" pitchFamily="18" charset="0"/>
                                </a:rPr>
                                <m:t>𝑡</m:t>
                              </m:r>
                            </m:e>
                            <m:sub>
                              <m:r>
                                <a:rPr lang="en-US" altLang="zh-CN" i="1">
                                  <a:latin typeface="Cambria Math" panose="02040503050406030204" pitchFamily="18" charset="0"/>
                                </a:rPr>
                                <m:t>𝑘</m:t>
                              </m:r>
                            </m:sub>
                          </m:sSub>
                        </m:e>
                      </m:nary>
                    </m:oMath>
                  </m:oMathPara>
                </a14:m>
                <a:endParaRPr lang="zh-CN" altLang="en-US" dirty="0"/>
              </a:p>
            </p:txBody>
          </p:sp>
        </mc:Choice>
        <mc:Fallback xmlns="">
          <p:sp>
            <p:nvSpPr>
              <p:cNvPr id="6" name="矩形 5">
                <a:extLst>
                  <a:ext uri="{FF2B5EF4-FFF2-40B4-BE49-F238E27FC236}">
                    <a16:creationId xmlns:a16="http://schemas.microsoft.com/office/drawing/2014/main" id="{CAF022C4-C21E-4962-84E0-BCB815E18436}"/>
                  </a:ext>
                </a:extLst>
              </p:cNvPr>
              <p:cNvSpPr>
                <a:spLocks noRot="1" noChangeAspect="1" noMove="1" noResize="1" noEditPoints="1" noAdjustHandles="1" noChangeArrowheads="1" noChangeShapeType="1" noTextEdit="1"/>
              </p:cNvSpPr>
              <p:nvPr/>
            </p:nvSpPr>
            <p:spPr>
              <a:xfrm>
                <a:off x="8095947" y="3560600"/>
                <a:ext cx="3046860" cy="902555"/>
              </a:xfrm>
              <a:prstGeom prst="rect">
                <a:avLst/>
              </a:prstGeom>
              <a:blipFill>
                <a:blip r:embed="rId5"/>
                <a:stretch>
                  <a:fillRect/>
                </a:stretch>
              </a:blipFill>
            </p:spPr>
            <p:txBody>
              <a:bodyPr/>
              <a:lstStyle/>
              <a:p>
                <a:r>
                  <a:rPr lang="zh-CN" altLang="en-US">
                    <a:noFill/>
                  </a:rPr>
                  <a:t> </a:t>
                </a:r>
              </a:p>
            </p:txBody>
          </p:sp>
        </mc:Fallback>
      </mc:AlternateContent>
      <p:sp>
        <p:nvSpPr>
          <p:cNvPr id="7" name="矩形 6">
            <a:extLst>
              <a:ext uri="{FF2B5EF4-FFF2-40B4-BE49-F238E27FC236}">
                <a16:creationId xmlns:a16="http://schemas.microsoft.com/office/drawing/2014/main" id="{86316473-B213-4555-A295-0FE95CEDAF6E}"/>
              </a:ext>
            </a:extLst>
          </p:cNvPr>
          <p:cNvSpPr/>
          <p:nvPr/>
        </p:nvSpPr>
        <p:spPr>
          <a:xfrm>
            <a:off x="9554297" y="3564855"/>
            <a:ext cx="1475470" cy="873533"/>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E311689D-CEF8-4F49-8CB2-F4CDD50D103F}"/>
              </a:ext>
            </a:extLst>
          </p:cNvPr>
          <p:cNvSpPr/>
          <p:nvPr/>
        </p:nvSpPr>
        <p:spPr>
          <a:xfrm>
            <a:off x="2139560" y="3053535"/>
            <a:ext cx="956118" cy="61939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C8B65B6C-8C45-4016-BFB3-5F53E4CA0DE2}"/>
              </a:ext>
            </a:extLst>
          </p:cNvPr>
          <p:cNvSpPr/>
          <p:nvPr/>
        </p:nvSpPr>
        <p:spPr>
          <a:xfrm>
            <a:off x="928023" y="4205630"/>
            <a:ext cx="956118" cy="61939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连接符: 曲线 10">
            <a:extLst>
              <a:ext uri="{FF2B5EF4-FFF2-40B4-BE49-F238E27FC236}">
                <a16:creationId xmlns:a16="http://schemas.microsoft.com/office/drawing/2014/main" id="{3F993FF5-4386-4D85-833E-561A85D21921}"/>
              </a:ext>
            </a:extLst>
          </p:cNvPr>
          <p:cNvCxnSpPr>
            <a:stCxn id="8" idx="2"/>
            <a:endCxn id="9" idx="0"/>
          </p:cNvCxnSpPr>
          <p:nvPr/>
        </p:nvCxnSpPr>
        <p:spPr>
          <a:xfrm rot="5400000">
            <a:off x="1745500" y="3333510"/>
            <a:ext cx="532703" cy="1211537"/>
          </a:xfrm>
          <a:prstGeom prst="curved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2A34BE13-9BDD-4516-8C23-102898969402}"/>
                  </a:ext>
                </a:extLst>
              </p:cNvPr>
              <p:cNvSpPr/>
              <p:nvPr/>
            </p:nvSpPr>
            <p:spPr>
              <a:xfrm>
                <a:off x="5995858" y="843086"/>
                <a:ext cx="5526128" cy="1136337"/>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altLang="zh-CN" i="1" smtClean="0">
                          <a:latin typeface="Cambria Math" panose="02040503050406030204" pitchFamily="18" charset="0"/>
                        </a:rPr>
                        <m:t>𝑝</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b="0" i="1" smtClean="0">
                                  <a:latin typeface="Cambria Math" panose="02040503050406030204" pitchFamily="18" charset="0"/>
                                </a:rPr>
                                <m:t>𝑘</m:t>
                              </m:r>
                            </m:sub>
                          </m:sSub>
                        </m:e>
                        <m:e>
                          <m:r>
                            <a:rPr lang="en-US" altLang="zh-CN" b="1">
                              <a:latin typeface="Cambria Math" panose="02040503050406030204" pitchFamily="18" charset="0"/>
                            </a:rPr>
                            <m:t>𝐱</m:t>
                          </m:r>
                        </m:e>
                      </m:d>
                      <m:r>
                        <a:rPr lang="en-US" altLang="zh-CN" i="1">
                          <a:latin typeface="Cambria Math" panose="02040503050406030204" pitchFamily="18" charset="0"/>
                        </a:rPr>
                        <m:t>=</m:t>
                      </m:r>
                      <m:r>
                        <m:rPr>
                          <m:sty m:val="p"/>
                        </m:rPr>
                        <a:rPr lang="en-US" altLang="zh-CN" b="0" i="0" smtClean="0">
                          <a:latin typeface="Cambria Math" panose="02040503050406030204" pitchFamily="18" charset="0"/>
                        </a:rPr>
                        <m:t>softmax</m:t>
                      </m:r>
                      <m:d>
                        <m:dPr>
                          <m:ctrlPr>
                            <a:rPr lang="en-US" altLang="zh-CN" i="1">
                              <a:latin typeface="Cambria Math" panose="02040503050406030204" pitchFamily="18" charset="0"/>
                            </a:rPr>
                          </m:ctrlPr>
                        </m:dPr>
                        <m:e>
                          <m:r>
                            <a:rPr lang="en-US" altLang="zh-CN" i="1">
                              <a:latin typeface="Cambria Math" panose="02040503050406030204" pitchFamily="18" charset="0"/>
                            </a:rPr>
                            <m:t>𝑎</m:t>
                          </m:r>
                        </m:e>
                      </m:d>
                      <m:r>
                        <a:rPr lang="en-US" altLang="zh-CN" i="1">
                          <a:latin typeface="Cambria Math" panose="02040503050406030204" pitchFamily="18" charset="0"/>
                        </a:rPr>
                        <m:t>=</m:t>
                      </m:r>
                      <m:f>
                        <m:fPr>
                          <m:ctrlPr>
                            <a:rPr lang="en-US" altLang="zh-CN" i="1" smtClean="0">
                              <a:latin typeface="Cambria Math" panose="02040503050406030204" pitchFamily="18" charset="0"/>
                            </a:rPr>
                          </m:ctrlPr>
                        </m:fPr>
                        <m:num>
                          <m:r>
                            <m:rPr>
                              <m:sty m:val="p"/>
                            </m:rPr>
                            <a:rPr lang="en-US" altLang="zh-CN">
                              <a:latin typeface="Cambria Math" panose="02040503050406030204" pitchFamily="18" charset="0"/>
                            </a:rPr>
                            <m:t>exp</m:t>
                          </m:r>
                          <m:d>
                            <m:dPr>
                              <m:ctrlPr>
                                <a:rPr lang="en-US" altLang="zh-CN" i="1">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𝑘</m:t>
                                  </m:r>
                                </m:sub>
                              </m:sSub>
                            </m:e>
                          </m:d>
                        </m:num>
                        <m:den>
                          <m:nary>
                            <m:naryPr>
                              <m:chr m:val="∑"/>
                              <m:limLoc m:val="subSup"/>
                              <m:supHide m:val="on"/>
                              <m:ctrlPr>
                                <a:rPr lang="en-US" altLang="zh-CN" i="1" smtClean="0">
                                  <a:latin typeface="Cambria Math" panose="02040503050406030204" pitchFamily="18" charset="0"/>
                                </a:rPr>
                              </m:ctrlPr>
                            </m:naryPr>
                            <m:sub>
                              <m:r>
                                <m:rPr>
                                  <m:brk m:alnAt="9"/>
                                </m:rPr>
                                <a:rPr lang="en-US" altLang="zh-CN" b="0" i="1" smtClean="0">
                                  <a:latin typeface="Cambria Math" panose="02040503050406030204" pitchFamily="18" charset="0"/>
                                </a:rPr>
                                <m:t>𝑗</m:t>
                              </m:r>
                            </m:sub>
                            <m:sup/>
                            <m:e>
                              <m:r>
                                <m:rPr>
                                  <m:sty m:val="p"/>
                                </m:rPr>
                                <a:rPr lang="en-US" altLang="zh-CN">
                                  <a:latin typeface="Cambria Math" panose="02040503050406030204" pitchFamily="18" charset="0"/>
                                </a:rPr>
                                <m:t>exp</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𝑗</m:t>
                                      </m:r>
                                    </m:sub>
                                  </m:sSub>
                                </m:e>
                              </m:d>
                            </m:e>
                          </m:nary>
                        </m:den>
                      </m:f>
                      <m:r>
                        <a:rPr lang="en-US" altLang="zh-CN" b="1"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𝑘</m:t>
                          </m:r>
                        </m:sub>
                      </m:sSub>
                      <m:r>
                        <a:rPr lang="en-US" altLang="zh-CN" b="1" i="1">
                          <a:latin typeface="Cambria Math" panose="02040503050406030204" pitchFamily="18" charset="0"/>
                        </a:rPr>
                        <m:t>=</m:t>
                      </m:r>
                      <m:sSup>
                        <m:sSupPr>
                          <m:ctrlPr>
                            <a:rPr lang="en-US" altLang="zh-CN" i="1">
                              <a:latin typeface="Cambria Math" panose="02040503050406030204" pitchFamily="18" charset="0"/>
                            </a:rPr>
                          </m:ctrlPr>
                        </m:sSupPr>
                        <m:e>
                          <m:sSub>
                            <m:sSubPr>
                              <m:ctrlPr>
                                <a:rPr lang="en-US" altLang="zh-CN" b="1" i="1">
                                  <a:latin typeface="Cambria Math" panose="02040503050406030204" pitchFamily="18" charset="0"/>
                                </a:rPr>
                              </m:ctrlPr>
                            </m:sSubPr>
                            <m:e>
                              <m:r>
                                <a:rPr lang="en-US" altLang="zh-CN" b="1">
                                  <a:latin typeface="Cambria Math" panose="02040503050406030204" pitchFamily="18" charset="0"/>
                                </a:rPr>
                                <m:t>𝐰</m:t>
                              </m:r>
                            </m:e>
                            <m:sub>
                              <m:r>
                                <a:rPr lang="en-US" altLang="zh-CN" i="1">
                                  <a:latin typeface="Cambria Math" panose="02040503050406030204" pitchFamily="18" charset="0"/>
                                </a:rPr>
                                <m:t>𝑘</m:t>
                              </m:r>
                            </m:sub>
                          </m:sSub>
                        </m:e>
                        <m:sup>
                          <m:r>
                            <m:rPr>
                              <m:sty m:val="p"/>
                            </m:rPr>
                            <a:rPr lang="en-US" altLang="zh-CN" i="0">
                              <a:latin typeface="Cambria Math" panose="02040503050406030204" pitchFamily="18" charset="0"/>
                            </a:rPr>
                            <m:t>T</m:t>
                          </m:r>
                        </m:sup>
                      </m:sSup>
                      <m:r>
                        <a:rPr lang="zh-CN" altLang="en-US" i="1">
                          <a:latin typeface="Cambria Math" panose="02040503050406030204" pitchFamily="18" charset="0"/>
                        </a:rPr>
                        <m:t>𝜙</m:t>
                      </m:r>
                      <m:d>
                        <m:dPr>
                          <m:ctrlPr>
                            <a:rPr lang="en-US" altLang="zh-CN" i="1">
                              <a:latin typeface="Cambria Math" panose="02040503050406030204" pitchFamily="18" charset="0"/>
                            </a:rPr>
                          </m:ctrlPr>
                        </m:dPr>
                        <m:e>
                          <m:r>
                            <a:rPr lang="en-US" altLang="zh-CN" b="1">
                              <a:latin typeface="Cambria Math" panose="02040503050406030204" pitchFamily="18" charset="0"/>
                            </a:rPr>
                            <m:t>𝐱</m:t>
                          </m:r>
                        </m:e>
                      </m:d>
                    </m:oMath>
                  </m:oMathPara>
                </a14:m>
                <a:endParaRPr lang="en-US" altLang="zh-CN" b="1" i="1" dirty="0">
                  <a:latin typeface="Cambria Math" panose="02040503050406030204" pitchFamily="18" charset="0"/>
                </a:endParaRPr>
              </a:p>
              <a:p>
                <a:endParaRPr lang="en-US" altLang="zh-CN" sz="500"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sSub>
                        <m:sSubPr>
                          <m:ctrlPr>
                            <a:rPr lang="en-US" altLang="zh-CN" b="1" i="1">
                              <a:latin typeface="Cambria Math" panose="02040503050406030204" pitchFamily="18" charset="0"/>
                            </a:rPr>
                          </m:ctrlPr>
                        </m:sSubPr>
                        <m:e>
                          <m:r>
                            <a:rPr lang="en-US" altLang="zh-CN" b="1">
                              <a:latin typeface="Cambria Math" panose="02040503050406030204" pitchFamily="18" charset="0"/>
                            </a:rPr>
                            <m:t>𝐰</m:t>
                          </m:r>
                        </m:e>
                        <m:sub>
                          <m:r>
                            <a:rPr lang="en-US" altLang="zh-CN" i="1">
                              <a:latin typeface="Cambria Math" panose="02040503050406030204" pitchFamily="18" charset="0"/>
                            </a:rPr>
                            <m:t>𝑘</m:t>
                          </m:r>
                        </m:sub>
                      </m:sSub>
                      <m:r>
                        <a:rPr lang="en-US" altLang="zh-CN" b="1" i="1" smtClean="0">
                          <a:latin typeface="Cambria Math" panose="02040503050406030204" pitchFamily="18" charset="0"/>
                        </a:rPr>
                        <m:t>=</m:t>
                      </m:r>
                      <m:sSup>
                        <m:sSupPr>
                          <m:ctrlPr>
                            <a:rPr lang="en-US" altLang="zh-CN" b="1" i="1" smtClean="0">
                              <a:latin typeface="Cambria Math" panose="02040503050406030204" pitchFamily="18" charset="0"/>
                            </a:rPr>
                          </m:ctrlPr>
                        </m:sSupPr>
                        <m:e>
                          <m:d>
                            <m:dPr>
                              <m:ctrlPr>
                                <a:rPr lang="en-US" altLang="zh-CN" b="1"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0</m:t>
                                  </m:r>
                                </m:sub>
                              </m:sSub>
                              <m:r>
                                <a:rPr lang="en-US" altLang="zh-CN" b="1"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1</m:t>
                                  </m:r>
                                </m:sub>
                              </m:sSub>
                              <m:r>
                                <a:rPr lang="en-US" altLang="zh-CN" b="1"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2</m:t>
                                  </m:r>
                                </m:sub>
                              </m:sSub>
                              <m:r>
                                <a:rPr lang="en-US" altLang="zh-CN" b="1" i="1">
                                  <a:latin typeface="Cambria Math" panose="02040503050406030204" pitchFamily="18" charset="0"/>
                                </a:rPr>
                                <m:t>,⋯</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𝑀</m:t>
                                  </m:r>
                                </m:sub>
                              </m:sSub>
                            </m:e>
                          </m:d>
                        </m:e>
                        <m:sup>
                          <m:r>
                            <m:rPr>
                              <m:sty m:val="p"/>
                            </m:rPr>
                            <a:rPr lang="en-US" altLang="zh-CN" b="0" i="0" smtClean="0">
                              <a:latin typeface="Cambria Math" panose="02040503050406030204" pitchFamily="18" charset="0"/>
                            </a:rPr>
                            <m:t>T</m:t>
                          </m:r>
                        </m:sup>
                      </m:sSup>
                    </m:oMath>
                  </m:oMathPara>
                </a14:m>
                <a:endParaRPr lang="zh-CN" altLang="en-US" dirty="0"/>
              </a:p>
            </p:txBody>
          </p:sp>
        </mc:Choice>
        <mc:Fallback xmlns="">
          <p:sp>
            <p:nvSpPr>
              <p:cNvPr id="12" name="矩形 11">
                <a:extLst>
                  <a:ext uri="{FF2B5EF4-FFF2-40B4-BE49-F238E27FC236}">
                    <a16:creationId xmlns:a16="http://schemas.microsoft.com/office/drawing/2014/main" id="{2A34BE13-9BDD-4516-8C23-102898969402}"/>
                  </a:ext>
                </a:extLst>
              </p:cNvPr>
              <p:cNvSpPr>
                <a:spLocks noRot="1" noChangeAspect="1" noMove="1" noResize="1" noEditPoints="1" noAdjustHandles="1" noChangeArrowheads="1" noChangeShapeType="1" noTextEdit="1"/>
              </p:cNvSpPr>
              <p:nvPr/>
            </p:nvSpPr>
            <p:spPr>
              <a:xfrm>
                <a:off x="5995858" y="843086"/>
                <a:ext cx="5526128" cy="1136337"/>
              </a:xfrm>
              <a:prstGeom prst="rect">
                <a:avLst/>
              </a:prstGeom>
              <a:blipFill>
                <a:blip r:embed="rId8"/>
                <a:stretch>
                  <a:fillRect/>
                </a:stretch>
              </a:blipFill>
            </p:spPr>
            <p:txBody>
              <a:bodyPr/>
              <a:lstStyle/>
              <a:p>
                <a:r>
                  <a:rPr lang="zh-CN" altLang="en-US">
                    <a:noFill/>
                  </a:rPr>
                  <a:t> </a:t>
                </a:r>
              </a:p>
            </p:txBody>
          </p:sp>
        </mc:Fallback>
      </mc:AlternateContent>
      <p:sp>
        <p:nvSpPr>
          <p:cNvPr id="13" name="标题 1">
            <a:extLst>
              <a:ext uri="{FF2B5EF4-FFF2-40B4-BE49-F238E27FC236}">
                <a16:creationId xmlns:a16="http://schemas.microsoft.com/office/drawing/2014/main" id="{0768AAEA-2F96-4B2E-A9C2-8B9A307B28FD}"/>
              </a:ext>
            </a:extLst>
          </p:cNvPr>
          <p:cNvSpPr txBox="1">
            <a:spLocks/>
          </p:cNvSpPr>
          <p:nvPr/>
        </p:nvSpPr>
        <p:spPr>
          <a:xfrm>
            <a:off x="266483" y="148073"/>
            <a:ext cx="8924544" cy="53296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600">
                <a:latin typeface="思源黑体 CN Bold" panose="020B0800000000000000" pitchFamily="34" charset="-122"/>
                <a:ea typeface="思源黑体 CN Bold" panose="020B0800000000000000" pitchFamily="34" charset="-122"/>
              </a:rPr>
              <a:t>4 </a:t>
            </a:r>
            <a:r>
              <a:rPr lang="zh-CN" altLang="en-US" sz="3600">
                <a:latin typeface="思源黑体 CN Bold" panose="020B0800000000000000" pitchFamily="34" charset="-122"/>
                <a:ea typeface="思源黑体 CN Bold" panose="020B0800000000000000" pitchFamily="34" charset="-122"/>
              </a:rPr>
              <a:t>误差后向传播</a:t>
            </a:r>
            <a:endParaRPr lang="zh-CN" altLang="en-US" sz="3600" dirty="0"/>
          </a:p>
        </p:txBody>
      </p:sp>
    </p:spTree>
    <p:extLst>
      <p:ext uri="{BB962C8B-B14F-4D97-AF65-F5344CB8AC3E}">
        <p14:creationId xmlns:p14="http://schemas.microsoft.com/office/powerpoint/2010/main" val="23265820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B5F15897-98F0-4E08-931A-45E1DC23C6B6}"/>
                  </a:ext>
                </a:extLst>
              </p:cNvPr>
              <p:cNvSpPr>
                <a:spLocks noGrp="1"/>
              </p:cNvSpPr>
              <p:nvPr>
                <p:ph idx="4294967295"/>
              </p:nvPr>
            </p:nvSpPr>
            <p:spPr>
              <a:xfrm>
                <a:off x="838200" y="1690688"/>
                <a:ext cx="5511516" cy="4486275"/>
              </a:xfrm>
            </p:spPr>
            <p:txBody>
              <a:bodyPr>
                <a:normAutofit fontScale="85000" lnSpcReduction="10000"/>
              </a:bodyPr>
              <a:lstStyle/>
              <a:p>
                <a:pPr marL="0" indent="0">
                  <a:lnSpc>
                    <a:spcPct val="120000"/>
                  </a:lnSpc>
                  <a:spcBef>
                    <a:spcPts val="0"/>
                  </a:spcBef>
                  <a:buNone/>
                </a:pPr>
                <a14:m>
                  <m:oMathPara xmlns:m="http://schemas.openxmlformats.org/officeDocument/2006/math">
                    <m:oMathParaPr>
                      <m:jc m:val="left"/>
                    </m:oMathParaPr>
                    <m:oMath xmlns:m="http://schemas.openxmlformats.org/officeDocument/2006/math">
                      <m:sSub>
                        <m:sSubPr>
                          <m:ctrlPr>
                            <a:rPr lang="en-US" altLang="zh-CN" sz="2000" b="1" i="1" smtClean="0">
                              <a:latin typeface="Cambria Math" panose="02040503050406030204" pitchFamily="18" charset="0"/>
                            </a:rPr>
                          </m:ctrlPr>
                        </m:sSubPr>
                        <m:e>
                          <m:r>
                            <m:rPr>
                              <m:sty m:val="p"/>
                            </m:rPr>
                            <a:rPr lang="en-US" altLang="zh-CN" sz="2000" i="1" dirty="0">
                              <a:latin typeface="Cambria Math" panose="02040503050406030204" pitchFamily="18" charset="0"/>
                            </a:rPr>
                            <m:t>Loss</m:t>
                          </m:r>
                        </m:e>
                        <m:sub>
                          <m:r>
                            <a:rPr lang="en-US" altLang="zh-CN" sz="2000" b="0" i="1" smtClean="0">
                              <a:latin typeface="Cambria Math" panose="02040503050406030204" pitchFamily="18" charset="0"/>
                            </a:rPr>
                            <m:t>𝑛</m:t>
                          </m:r>
                        </m:sub>
                      </m:sSub>
                      <m:d>
                        <m:dPr>
                          <m:ctrlPr>
                            <a:rPr lang="en-US" altLang="zh-CN" sz="2000" i="1" dirty="0">
                              <a:latin typeface="Cambria Math" panose="02040503050406030204" pitchFamily="18" charset="0"/>
                            </a:rPr>
                          </m:ctrlPr>
                        </m:dPr>
                        <m:e>
                          <m:r>
                            <a:rPr lang="en-US" altLang="zh-CN" sz="2000" b="1">
                              <a:latin typeface="Cambria Math" panose="02040503050406030204" pitchFamily="18" charset="0"/>
                            </a:rPr>
                            <m:t>𝐰</m:t>
                          </m:r>
                        </m:e>
                      </m:d>
                      <m:r>
                        <a:rPr lang="en-US" altLang="zh-CN" sz="2000" b="1" i="1">
                          <a:latin typeface="Cambria Math" panose="02040503050406030204" pitchFamily="18" charset="0"/>
                        </a:rPr>
                        <m:t>=−</m:t>
                      </m:r>
                      <m:nary>
                        <m:naryPr>
                          <m:chr m:val="∑"/>
                          <m:ctrlPr>
                            <a:rPr lang="en-US" altLang="zh-CN" sz="2000" i="1">
                              <a:latin typeface="Cambria Math" panose="02040503050406030204" pitchFamily="18" charset="0"/>
                            </a:rPr>
                          </m:ctrlPr>
                        </m:naryPr>
                        <m:sub>
                          <m:r>
                            <m:rPr>
                              <m:brk m:alnAt="23"/>
                            </m:rPr>
                            <a:rPr lang="en-US" altLang="zh-CN" sz="2000" i="1">
                              <a:latin typeface="Cambria Math" panose="02040503050406030204" pitchFamily="18" charset="0"/>
                            </a:rPr>
                            <m:t>𝑘</m:t>
                          </m:r>
                          <m:r>
                            <a:rPr lang="en-US" altLang="zh-CN" sz="2000" i="1">
                              <a:latin typeface="Cambria Math" panose="02040503050406030204" pitchFamily="18" charset="0"/>
                            </a:rPr>
                            <m:t>=1</m:t>
                          </m:r>
                        </m:sub>
                        <m:sup>
                          <m:r>
                            <a:rPr lang="en-US" altLang="zh-CN" sz="2000" i="1">
                              <a:latin typeface="Cambria Math" panose="02040503050406030204" pitchFamily="18" charset="0"/>
                            </a:rPr>
                            <m:t>𝐾</m:t>
                          </m:r>
                        </m:sup>
                        <m:e>
                          <m:sSub>
                            <m:sSubPr>
                              <m:ctrlPr>
                                <a:rPr lang="en-US" altLang="zh-CN" sz="2000" b="1" i="1">
                                  <a:latin typeface="Cambria Math" panose="02040503050406030204" pitchFamily="18" charset="0"/>
                                </a:rPr>
                              </m:ctrlPr>
                            </m:sSubPr>
                            <m:e>
                              <m:r>
                                <a:rPr lang="en-US" altLang="zh-CN" sz="2000" i="1">
                                  <a:latin typeface="Cambria Math" panose="02040503050406030204" pitchFamily="18" charset="0"/>
                                </a:rPr>
                                <m:t>𝑡</m:t>
                              </m:r>
                            </m:e>
                            <m:sub>
                              <m:r>
                                <a:rPr lang="en-US" altLang="zh-CN" sz="2000" i="1">
                                  <a:latin typeface="Cambria Math" panose="02040503050406030204" pitchFamily="18" charset="0"/>
                                </a:rPr>
                                <m:t>𝑘</m:t>
                              </m:r>
                            </m:sub>
                          </m:sSub>
                          <m:r>
                            <m:rPr>
                              <m:sty m:val="p"/>
                            </m:rPr>
                            <a:rPr lang="en-US" altLang="zh-CN" sz="2000">
                              <a:latin typeface="Cambria Math" panose="02040503050406030204" pitchFamily="18" charset="0"/>
                            </a:rPr>
                            <m:t>ln</m:t>
                          </m:r>
                          <m:d>
                            <m:dPr>
                              <m:begChr m:val="{"/>
                              <m:endChr m:val="}"/>
                              <m:ctrlPr>
                                <a:rPr lang="en-US" altLang="zh-CN" sz="2000" i="1">
                                  <a:latin typeface="Cambria Math" panose="02040503050406030204" pitchFamily="18" charset="0"/>
                                </a:rPr>
                              </m:ctrlPr>
                            </m:dPr>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𝑦</m:t>
                                  </m:r>
                                </m:e>
                                <m:sub>
                                  <m:r>
                                    <a:rPr lang="en-US" altLang="zh-CN" sz="2000" i="1">
                                      <a:latin typeface="Cambria Math" panose="02040503050406030204" pitchFamily="18" charset="0"/>
                                    </a:rPr>
                                    <m:t>𝑘</m:t>
                                  </m:r>
                                </m:sub>
                              </m:sSub>
                            </m:e>
                          </m:d>
                        </m:e>
                      </m:nary>
                    </m:oMath>
                  </m:oMathPara>
                </a14:m>
                <a:endParaRPr lang="en-US" altLang="zh-CN" sz="2000" dirty="0">
                  <a:latin typeface="Monaco" panose="020B0509030404040204" pitchFamily="49" charset="0"/>
                  <a:ea typeface="思源黑体 CN Bold" panose="020B0800000000000000" pitchFamily="34" charset="-122"/>
                  <a:cs typeface="+mj-cs"/>
                </a:endParaRPr>
              </a:p>
              <a:p>
                <a:pPr marL="0" indent="0">
                  <a:lnSpc>
                    <a:spcPct val="120000"/>
                  </a:lnSpc>
                  <a:spcBef>
                    <a:spcPts val="0"/>
                  </a:spcBef>
                  <a:buNone/>
                </a:pPr>
                <a14:m>
                  <m:oMathPara xmlns:m="http://schemas.openxmlformats.org/officeDocument/2006/math">
                    <m:oMathParaPr>
                      <m:jc m:val="left"/>
                    </m:oMathParaPr>
                    <m:oMath xmlns:m="http://schemas.openxmlformats.org/officeDocument/2006/math">
                      <m:f>
                        <m:fPr>
                          <m:ctrlPr>
                            <a:rPr lang="en-US" altLang="zh-CN" sz="2000" i="1" smtClean="0">
                              <a:latin typeface="Cambria Math" panose="02040503050406030204" pitchFamily="18" charset="0"/>
                            </a:rPr>
                          </m:ctrlPr>
                        </m:fPr>
                        <m:num>
                          <m:r>
                            <a:rPr lang="en-US" altLang="zh-CN" sz="2000" b="0" i="1" smtClean="0">
                              <a:latin typeface="Cambria Math" panose="02040503050406030204" pitchFamily="18" charset="0"/>
                            </a:rPr>
                            <m:t>𝜕</m:t>
                          </m:r>
                          <m:sSub>
                            <m:sSubPr>
                              <m:ctrlPr>
                                <a:rPr lang="en-US" altLang="zh-CN" sz="2000" b="1" i="1">
                                  <a:latin typeface="Cambria Math" panose="02040503050406030204" pitchFamily="18" charset="0"/>
                                </a:rPr>
                              </m:ctrlPr>
                            </m:sSubPr>
                            <m:e>
                              <m:r>
                                <m:rPr>
                                  <m:sty m:val="p"/>
                                </m:rPr>
                                <a:rPr lang="en-US" altLang="zh-CN" sz="2000" i="1" dirty="0">
                                  <a:latin typeface="Cambria Math" panose="02040503050406030204" pitchFamily="18" charset="0"/>
                                </a:rPr>
                                <m:t>Loss</m:t>
                              </m:r>
                            </m:e>
                            <m:sub>
                              <m:r>
                                <a:rPr lang="en-US" altLang="zh-CN" sz="2000" i="1">
                                  <a:latin typeface="Cambria Math" panose="02040503050406030204" pitchFamily="18" charset="0"/>
                                </a:rPr>
                                <m:t>𝑛</m:t>
                              </m:r>
                            </m:sub>
                          </m:sSub>
                          <m:d>
                            <m:dPr>
                              <m:ctrlPr>
                                <a:rPr lang="en-US" altLang="zh-CN" sz="2000" i="1" dirty="0">
                                  <a:latin typeface="Cambria Math" panose="02040503050406030204" pitchFamily="18" charset="0"/>
                                </a:rPr>
                              </m:ctrlPr>
                            </m:dPr>
                            <m:e>
                              <m:r>
                                <a:rPr lang="en-US" altLang="zh-CN" sz="2000" b="1">
                                  <a:latin typeface="Cambria Math" panose="02040503050406030204" pitchFamily="18" charset="0"/>
                                </a:rPr>
                                <m:t>𝐰</m:t>
                              </m:r>
                            </m:e>
                          </m:d>
                        </m:num>
                        <m:den>
                          <m:r>
                            <a:rPr lang="en-US" altLang="zh-CN" sz="2000" b="0" i="1" smtClean="0">
                              <a:latin typeface="Cambria Math" panose="02040503050406030204" pitchFamily="18" charset="0"/>
                            </a:rPr>
                            <m:t>𝜕</m:t>
                          </m:r>
                          <m:sSubSup>
                            <m:sSubSupPr>
                              <m:ctrlPr>
                                <a:rPr lang="en-US" altLang="zh-CN" sz="2000" i="1">
                                  <a:latin typeface="Cambria Math" panose="02040503050406030204" pitchFamily="18" charset="0"/>
                                </a:rPr>
                              </m:ctrlPr>
                            </m:sSubSupPr>
                            <m:e>
                              <m:r>
                                <a:rPr lang="en-US" altLang="zh-CN" sz="2000" i="1">
                                  <a:latin typeface="Cambria Math" panose="02040503050406030204" pitchFamily="18" charset="0"/>
                                </a:rPr>
                                <m:t>𝑤</m:t>
                              </m:r>
                            </m:e>
                            <m:sub>
                              <m:r>
                                <a:rPr lang="en-US" altLang="zh-CN" sz="2000" i="1">
                                  <a:latin typeface="Cambria Math" panose="02040503050406030204" pitchFamily="18" charset="0"/>
                                </a:rPr>
                                <m:t>𝑘𝑗</m:t>
                              </m:r>
                            </m:sub>
                            <m:sup>
                              <m:d>
                                <m:dPr>
                                  <m:ctrlPr>
                                    <a:rPr lang="en-US" altLang="zh-CN" sz="2000" b="1" i="1">
                                      <a:latin typeface="Cambria Math" panose="02040503050406030204" pitchFamily="18" charset="0"/>
                                    </a:rPr>
                                  </m:ctrlPr>
                                </m:dPr>
                                <m:e>
                                  <m:r>
                                    <a:rPr lang="en-US" altLang="zh-CN" sz="2000" i="1">
                                      <a:latin typeface="Cambria Math" panose="02040503050406030204" pitchFamily="18" charset="0"/>
                                    </a:rPr>
                                    <m:t>2</m:t>
                                  </m:r>
                                </m:e>
                              </m:d>
                            </m:sup>
                          </m:sSubSup>
                        </m:den>
                      </m:f>
                      <m:r>
                        <a:rPr lang="en-US" altLang="zh-CN" sz="2000" b="1" i="1">
                          <a:latin typeface="Cambria Math" panose="02040503050406030204" pitchFamily="18" charset="0"/>
                        </a:rPr>
                        <m:t>=</m:t>
                      </m:r>
                      <m:f>
                        <m:fPr>
                          <m:ctrlPr>
                            <a:rPr lang="en-US" altLang="zh-CN" sz="2000" i="1">
                              <a:latin typeface="Cambria Math" panose="02040503050406030204" pitchFamily="18" charset="0"/>
                            </a:rPr>
                          </m:ctrlPr>
                        </m:fPr>
                        <m:num>
                          <m:r>
                            <a:rPr lang="en-US" altLang="zh-CN" sz="2000" i="1">
                              <a:latin typeface="Cambria Math" panose="02040503050406030204" pitchFamily="18" charset="0"/>
                            </a:rPr>
                            <m:t>𝜕</m:t>
                          </m:r>
                          <m:sSub>
                            <m:sSubPr>
                              <m:ctrlPr>
                                <a:rPr lang="en-US" altLang="zh-CN" sz="2000" b="1" i="1">
                                  <a:latin typeface="Cambria Math" panose="02040503050406030204" pitchFamily="18" charset="0"/>
                                </a:rPr>
                              </m:ctrlPr>
                            </m:sSubPr>
                            <m:e>
                              <m:r>
                                <m:rPr>
                                  <m:sty m:val="p"/>
                                </m:rPr>
                                <a:rPr lang="en-US" altLang="zh-CN" sz="2000" i="1" dirty="0">
                                  <a:latin typeface="Cambria Math" panose="02040503050406030204" pitchFamily="18" charset="0"/>
                                </a:rPr>
                                <m:t>Loss</m:t>
                              </m:r>
                            </m:e>
                            <m:sub>
                              <m:r>
                                <a:rPr lang="en-US" altLang="zh-CN" sz="2000" i="1">
                                  <a:latin typeface="Cambria Math" panose="02040503050406030204" pitchFamily="18" charset="0"/>
                                </a:rPr>
                                <m:t>𝑛</m:t>
                              </m:r>
                            </m:sub>
                          </m:sSub>
                          <m:d>
                            <m:dPr>
                              <m:ctrlPr>
                                <a:rPr lang="en-US" altLang="zh-CN" sz="2000" i="1" dirty="0">
                                  <a:latin typeface="Cambria Math" panose="02040503050406030204" pitchFamily="18" charset="0"/>
                                </a:rPr>
                              </m:ctrlPr>
                            </m:dPr>
                            <m:e>
                              <m:r>
                                <a:rPr lang="en-US" altLang="zh-CN" sz="2000" b="1">
                                  <a:latin typeface="Cambria Math" panose="02040503050406030204" pitchFamily="18" charset="0"/>
                                </a:rPr>
                                <m:t>𝐰</m:t>
                              </m:r>
                            </m:e>
                          </m:d>
                        </m:num>
                        <m:den>
                          <m:r>
                            <a:rPr lang="en-US" altLang="zh-CN" sz="2000" i="1">
                              <a:latin typeface="Cambria Math" panose="02040503050406030204" pitchFamily="18" charset="0"/>
                            </a:rPr>
                            <m:t>𝜕</m:t>
                          </m:r>
                          <m:sSub>
                            <m:sSubPr>
                              <m:ctrlPr>
                                <a:rPr lang="en-US" altLang="zh-CN" sz="2000" b="1" i="1">
                                  <a:latin typeface="Cambria Math" panose="02040503050406030204" pitchFamily="18" charset="0"/>
                                </a:rPr>
                              </m:ctrlPr>
                            </m:sSubPr>
                            <m:e>
                              <m:r>
                                <a:rPr lang="en-US" altLang="zh-CN" sz="2000" b="0" i="1" smtClean="0">
                                  <a:latin typeface="Cambria Math" panose="02040503050406030204" pitchFamily="18" charset="0"/>
                                </a:rPr>
                                <m:t>𝑎</m:t>
                              </m:r>
                            </m:e>
                            <m:sub>
                              <m:r>
                                <a:rPr lang="en-US" altLang="zh-CN" sz="2000" i="1">
                                  <a:latin typeface="Cambria Math" panose="02040503050406030204" pitchFamily="18" charset="0"/>
                                </a:rPr>
                                <m:t>𝑘</m:t>
                              </m:r>
                            </m:sub>
                          </m:sSub>
                        </m:den>
                      </m:f>
                      <m:f>
                        <m:fPr>
                          <m:ctrlPr>
                            <a:rPr lang="en-US" altLang="zh-CN" sz="2000" i="1">
                              <a:latin typeface="Cambria Math" panose="02040503050406030204" pitchFamily="18" charset="0"/>
                            </a:rPr>
                          </m:ctrlPr>
                        </m:fPr>
                        <m:num>
                          <m:r>
                            <a:rPr lang="en-US" altLang="zh-CN" sz="2000" i="1">
                              <a:latin typeface="Cambria Math" panose="02040503050406030204" pitchFamily="18" charset="0"/>
                            </a:rPr>
                            <m:t>𝜕</m:t>
                          </m:r>
                          <m:sSub>
                            <m:sSubPr>
                              <m:ctrlPr>
                                <a:rPr lang="en-US" altLang="zh-CN" sz="2000" b="1" i="1">
                                  <a:latin typeface="Cambria Math" panose="02040503050406030204" pitchFamily="18" charset="0"/>
                                </a:rPr>
                              </m:ctrlPr>
                            </m:sSubPr>
                            <m:e>
                              <m:r>
                                <a:rPr lang="en-US" altLang="zh-CN" sz="2000" i="1">
                                  <a:latin typeface="Cambria Math" panose="02040503050406030204" pitchFamily="18" charset="0"/>
                                </a:rPr>
                                <m:t>𝑎</m:t>
                              </m:r>
                            </m:e>
                            <m:sub>
                              <m:r>
                                <a:rPr lang="en-US" altLang="zh-CN" sz="2000" i="1">
                                  <a:latin typeface="Cambria Math" panose="02040503050406030204" pitchFamily="18" charset="0"/>
                                </a:rPr>
                                <m:t>𝑘</m:t>
                              </m:r>
                            </m:sub>
                          </m:sSub>
                        </m:num>
                        <m:den>
                          <m:r>
                            <a:rPr lang="en-US" altLang="zh-CN" sz="2000" i="1">
                              <a:latin typeface="Cambria Math" panose="02040503050406030204" pitchFamily="18" charset="0"/>
                            </a:rPr>
                            <m:t>𝜕</m:t>
                          </m:r>
                          <m:sSubSup>
                            <m:sSubSupPr>
                              <m:ctrlPr>
                                <a:rPr lang="en-US" altLang="zh-CN" sz="2000" i="1">
                                  <a:latin typeface="Cambria Math" panose="02040503050406030204" pitchFamily="18" charset="0"/>
                                </a:rPr>
                              </m:ctrlPr>
                            </m:sSubSupPr>
                            <m:e>
                              <m:r>
                                <a:rPr lang="en-US" altLang="zh-CN" sz="2000" i="1">
                                  <a:latin typeface="Cambria Math" panose="02040503050406030204" pitchFamily="18" charset="0"/>
                                </a:rPr>
                                <m:t>𝑤</m:t>
                              </m:r>
                            </m:e>
                            <m:sub>
                              <m:r>
                                <a:rPr lang="en-US" altLang="zh-CN" sz="2000" i="1">
                                  <a:latin typeface="Cambria Math" panose="02040503050406030204" pitchFamily="18" charset="0"/>
                                </a:rPr>
                                <m:t>𝑘𝑗</m:t>
                              </m:r>
                            </m:sub>
                            <m:sup>
                              <m:d>
                                <m:dPr>
                                  <m:ctrlPr>
                                    <a:rPr lang="en-US" altLang="zh-CN" sz="2000" b="1" i="1">
                                      <a:latin typeface="Cambria Math" panose="02040503050406030204" pitchFamily="18" charset="0"/>
                                    </a:rPr>
                                  </m:ctrlPr>
                                </m:dPr>
                                <m:e>
                                  <m:r>
                                    <a:rPr lang="en-US" altLang="zh-CN" sz="2000" i="1">
                                      <a:latin typeface="Cambria Math" panose="02040503050406030204" pitchFamily="18" charset="0"/>
                                    </a:rPr>
                                    <m:t>2</m:t>
                                  </m:r>
                                </m:e>
                              </m:d>
                            </m:sup>
                          </m:sSubSup>
                        </m:den>
                      </m:f>
                      <m:r>
                        <a:rPr lang="en-US" altLang="zh-CN" sz="2000" b="1" i="1" smtClean="0">
                          <a:latin typeface="Cambria Math" panose="02040503050406030204" pitchFamily="18" charset="0"/>
                        </a:rPr>
                        <m:t>=</m:t>
                      </m:r>
                      <m:d>
                        <m:dPr>
                          <m:ctrlPr>
                            <a:rPr lang="en-US" altLang="zh-CN" sz="2000" b="1" i="1" smtClean="0">
                              <a:solidFill>
                                <a:srgbClr val="FF0000"/>
                              </a:solidFill>
                              <a:latin typeface="Cambria Math" panose="02040503050406030204" pitchFamily="18" charset="0"/>
                            </a:rPr>
                          </m:ctrlPr>
                        </m:dPr>
                        <m:e>
                          <m:sSub>
                            <m:sSubPr>
                              <m:ctrlPr>
                                <a:rPr lang="en-US" altLang="zh-CN" sz="2000" i="1">
                                  <a:solidFill>
                                    <a:srgbClr val="FF0000"/>
                                  </a:solidFill>
                                  <a:latin typeface="Cambria Math" panose="02040503050406030204" pitchFamily="18" charset="0"/>
                                </a:rPr>
                              </m:ctrlPr>
                            </m:sSubPr>
                            <m:e>
                              <m:r>
                                <a:rPr lang="en-US" altLang="zh-CN" sz="2000" i="1">
                                  <a:solidFill>
                                    <a:srgbClr val="FF0000"/>
                                  </a:solidFill>
                                  <a:latin typeface="Cambria Math" panose="02040503050406030204" pitchFamily="18" charset="0"/>
                                </a:rPr>
                                <m:t>𝑦</m:t>
                              </m:r>
                            </m:e>
                            <m:sub>
                              <m:r>
                                <a:rPr lang="en-US" altLang="zh-CN" sz="2000" i="1">
                                  <a:solidFill>
                                    <a:srgbClr val="FF0000"/>
                                  </a:solidFill>
                                  <a:latin typeface="Cambria Math" panose="02040503050406030204" pitchFamily="18" charset="0"/>
                                </a:rPr>
                                <m:t>𝑘</m:t>
                              </m:r>
                            </m:sub>
                          </m:sSub>
                          <m:r>
                            <a:rPr lang="en-US" altLang="zh-CN" sz="2000" i="1">
                              <a:solidFill>
                                <a:srgbClr val="FF0000"/>
                              </a:solidFill>
                              <a:latin typeface="Cambria Math" panose="02040503050406030204" pitchFamily="18" charset="0"/>
                            </a:rPr>
                            <m:t>−</m:t>
                          </m:r>
                          <m:sSub>
                            <m:sSubPr>
                              <m:ctrlPr>
                                <a:rPr lang="en-US" altLang="zh-CN" sz="2000" b="1" i="1">
                                  <a:solidFill>
                                    <a:srgbClr val="FF0000"/>
                                  </a:solidFill>
                                  <a:latin typeface="Cambria Math" panose="02040503050406030204" pitchFamily="18" charset="0"/>
                                </a:rPr>
                              </m:ctrlPr>
                            </m:sSubPr>
                            <m:e>
                              <m:r>
                                <a:rPr lang="en-US" altLang="zh-CN" sz="2000" i="1">
                                  <a:solidFill>
                                    <a:srgbClr val="FF0000"/>
                                  </a:solidFill>
                                  <a:latin typeface="Cambria Math" panose="02040503050406030204" pitchFamily="18" charset="0"/>
                                </a:rPr>
                                <m:t>𝑡</m:t>
                              </m:r>
                            </m:e>
                            <m:sub>
                              <m:r>
                                <a:rPr lang="en-US" altLang="zh-CN" sz="2000" i="1">
                                  <a:solidFill>
                                    <a:srgbClr val="FF0000"/>
                                  </a:solidFill>
                                  <a:latin typeface="Cambria Math" panose="02040503050406030204" pitchFamily="18" charset="0"/>
                                </a:rPr>
                                <m:t>𝑘</m:t>
                              </m:r>
                            </m:sub>
                          </m:sSub>
                        </m:e>
                      </m:d>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𝑧</m:t>
                          </m:r>
                        </m:e>
                        <m:sub>
                          <m:r>
                            <a:rPr lang="en-US" altLang="zh-CN" sz="2000" i="1">
                              <a:latin typeface="Cambria Math" panose="02040503050406030204" pitchFamily="18" charset="0"/>
                            </a:rPr>
                            <m:t>𝑗</m:t>
                          </m:r>
                        </m:sub>
                      </m:sSub>
                    </m:oMath>
                  </m:oMathPara>
                </a14:m>
                <a:endParaRPr lang="en-US" altLang="zh-CN" sz="2000" dirty="0">
                  <a:latin typeface="Monaco" panose="020B0509030404040204" pitchFamily="49" charset="0"/>
                  <a:ea typeface="思源黑体 CN Bold" panose="020B0800000000000000" pitchFamily="34" charset="-122"/>
                  <a:cs typeface="+mj-cs"/>
                </a:endParaRPr>
              </a:p>
              <a:p>
                <a:pPr marL="0" indent="0">
                  <a:lnSpc>
                    <a:spcPct val="160000"/>
                  </a:lnSpc>
                  <a:buNone/>
                </a:pPr>
                <a:r>
                  <a:rPr lang="zh-CN" altLang="en-US" sz="2000" dirty="0">
                    <a:latin typeface="Monaco" panose="020B0509030404040204" pitchFamily="49" charset="0"/>
                    <a:ea typeface="思源黑体 CN Bold" panose="020B0800000000000000" pitchFamily="34" charset="-122"/>
                  </a:rPr>
                  <a:t>输出层的误差：</a:t>
                </a:r>
                <a:endParaRPr lang="en-US" altLang="zh-CN" sz="2000" b="1" i="1" dirty="0">
                  <a:latin typeface="Cambria Math" panose="02040503050406030204" pitchFamily="18" charset="0"/>
                </a:endParaRPr>
              </a:p>
              <a:p>
                <a:pPr marL="0" indent="0">
                  <a:lnSpc>
                    <a:spcPct val="110000"/>
                  </a:lnSpc>
                  <a:spcBef>
                    <a:spcPts val="0"/>
                  </a:spcBef>
                  <a:buNone/>
                </a:pPr>
                <a14:m>
                  <m:oMathPara xmlns:m="http://schemas.openxmlformats.org/officeDocument/2006/math">
                    <m:oMathParaPr>
                      <m:jc m:val="center"/>
                    </m:oMathParaPr>
                    <m:oMath xmlns:m="http://schemas.openxmlformats.org/officeDocument/2006/math">
                      <m:sSub>
                        <m:sSubPr>
                          <m:ctrlPr>
                            <a:rPr lang="en-US" altLang="zh-CN" sz="2000" b="1" i="1">
                              <a:latin typeface="Cambria Math" panose="02040503050406030204" pitchFamily="18" charset="0"/>
                            </a:rPr>
                          </m:ctrlPr>
                        </m:sSubPr>
                        <m:e>
                          <m:r>
                            <a:rPr lang="zh-CN" altLang="en-US" sz="2000" i="1">
                              <a:latin typeface="Cambria Math" panose="02040503050406030204" pitchFamily="18" charset="0"/>
                            </a:rPr>
                            <m:t>𝛿</m:t>
                          </m:r>
                        </m:e>
                        <m:sub>
                          <m:r>
                            <a:rPr lang="en-US" altLang="zh-CN" sz="2000" i="1">
                              <a:latin typeface="Cambria Math" panose="02040503050406030204" pitchFamily="18" charset="0"/>
                            </a:rPr>
                            <m:t>𝑘</m:t>
                          </m:r>
                        </m:sub>
                      </m:sSub>
                      <m:r>
                        <a:rPr lang="en-US" altLang="zh-CN" sz="2000" b="1" i="1">
                          <a:latin typeface="Cambria Math" panose="02040503050406030204" pitchFamily="18" charset="0"/>
                        </a:rPr>
                        <m:t>=</m:t>
                      </m:r>
                      <m:f>
                        <m:fPr>
                          <m:ctrlPr>
                            <a:rPr lang="en-US" altLang="zh-CN" sz="2000" i="1">
                              <a:latin typeface="Cambria Math" panose="02040503050406030204" pitchFamily="18" charset="0"/>
                            </a:rPr>
                          </m:ctrlPr>
                        </m:fPr>
                        <m:num>
                          <m:r>
                            <a:rPr lang="en-US" altLang="zh-CN" sz="2000" i="1">
                              <a:latin typeface="Cambria Math" panose="02040503050406030204" pitchFamily="18" charset="0"/>
                            </a:rPr>
                            <m:t>𝜕</m:t>
                          </m:r>
                          <m:sSub>
                            <m:sSubPr>
                              <m:ctrlPr>
                                <a:rPr lang="en-US" altLang="zh-CN" sz="2000" b="1" i="1">
                                  <a:latin typeface="Cambria Math" panose="02040503050406030204" pitchFamily="18" charset="0"/>
                                </a:rPr>
                              </m:ctrlPr>
                            </m:sSubPr>
                            <m:e>
                              <m:r>
                                <m:rPr>
                                  <m:sty m:val="p"/>
                                </m:rPr>
                                <a:rPr lang="en-US" altLang="zh-CN" sz="2000" i="1" dirty="0">
                                  <a:latin typeface="Cambria Math" panose="02040503050406030204" pitchFamily="18" charset="0"/>
                                </a:rPr>
                                <m:t>Loss</m:t>
                              </m:r>
                            </m:e>
                            <m:sub>
                              <m:r>
                                <a:rPr lang="en-US" altLang="zh-CN" sz="2000" i="1">
                                  <a:latin typeface="Cambria Math" panose="02040503050406030204" pitchFamily="18" charset="0"/>
                                </a:rPr>
                                <m:t>𝑛</m:t>
                              </m:r>
                            </m:sub>
                          </m:sSub>
                          <m:d>
                            <m:dPr>
                              <m:ctrlPr>
                                <a:rPr lang="en-US" altLang="zh-CN" sz="2000" i="1" dirty="0">
                                  <a:latin typeface="Cambria Math" panose="02040503050406030204" pitchFamily="18" charset="0"/>
                                </a:rPr>
                              </m:ctrlPr>
                            </m:dPr>
                            <m:e>
                              <m:r>
                                <a:rPr lang="en-US" altLang="zh-CN" sz="2000" b="1">
                                  <a:latin typeface="Cambria Math" panose="02040503050406030204" pitchFamily="18" charset="0"/>
                                </a:rPr>
                                <m:t>𝐰</m:t>
                              </m:r>
                            </m:e>
                          </m:d>
                        </m:num>
                        <m:den>
                          <m:r>
                            <a:rPr lang="en-US" altLang="zh-CN" sz="2000" i="1">
                              <a:latin typeface="Cambria Math" panose="02040503050406030204" pitchFamily="18" charset="0"/>
                            </a:rPr>
                            <m:t>𝜕</m:t>
                          </m:r>
                          <m:sSub>
                            <m:sSubPr>
                              <m:ctrlPr>
                                <a:rPr lang="en-US" altLang="zh-CN" sz="2000" b="1" i="1">
                                  <a:latin typeface="Cambria Math" panose="02040503050406030204" pitchFamily="18" charset="0"/>
                                </a:rPr>
                              </m:ctrlPr>
                            </m:sSubPr>
                            <m:e>
                              <m:r>
                                <a:rPr lang="en-US" altLang="zh-CN" sz="2000" i="1">
                                  <a:latin typeface="Cambria Math" panose="02040503050406030204" pitchFamily="18" charset="0"/>
                                </a:rPr>
                                <m:t>𝑎</m:t>
                              </m:r>
                            </m:e>
                            <m:sub>
                              <m:r>
                                <a:rPr lang="en-US" altLang="zh-CN" sz="2000" i="1">
                                  <a:latin typeface="Cambria Math" panose="02040503050406030204" pitchFamily="18" charset="0"/>
                                </a:rPr>
                                <m:t>𝑘</m:t>
                              </m:r>
                            </m:sub>
                          </m:sSub>
                        </m:den>
                      </m:f>
                      <m:r>
                        <a:rPr lang="en-US" altLang="zh-CN" sz="2000" b="1" i="1">
                          <a:latin typeface="Cambria Math" panose="02040503050406030204" pitchFamily="18" charset="0"/>
                        </a:rPr>
                        <m:t>=</m:t>
                      </m:r>
                      <m:sSub>
                        <m:sSubPr>
                          <m:ctrlPr>
                            <a:rPr lang="en-US" altLang="zh-CN" sz="2000" i="1" smtClean="0">
                              <a:solidFill>
                                <a:srgbClr val="FF0000"/>
                              </a:solidFill>
                              <a:latin typeface="Cambria Math" panose="02040503050406030204" pitchFamily="18" charset="0"/>
                            </a:rPr>
                          </m:ctrlPr>
                        </m:sSubPr>
                        <m:e>
                          <m:r>
                            <a:rPr lang="en-US" altLang="zh-CN" sz="2000" i="1">
                              <a:solidFill>
                                <a:srgbClr val="FF0000"/>
                              </a:solidFill>
                              <a:latin typeface="Cambria Math" panose="02040503050406030204" pitchFamily="18" charset="0"/>
                            </a:rPr>
                            <m:t>𝑦</m:t>
                          </m:r>
                        </m:e>
                        <m:sub>
                          <m:r>
                            <a:rPr lang="en-US" altLang="zh-CN" sz="2000" i="1">
                              <a:solidFill>
                                <a:srgbClr val="FF0000"/>
                              </a:solidFill>
                              <a:latin typeface="Cambria Math" panose="02040503050406030204" pitchFamily="18" charset="0"/>
                            </a:rPr>
                            <m:t>𝑘</m:t>
                          </m:r>
                        </m:sub>
                      </m:sSub>
                      <m:r>
                        <a:rPr lang="en-US" altLang="zh-CN" sz="2000" i="1">
                          <a:solidFill>
                            <a:srgbClr val="FF0000"/>
                          </a:solidFill>
                          <a:latin typeface="Cambria Math" panose="02040503050406030204" pitchFamily="18" charset="0"/>
                        </a:rPr>
                        <m:t>−</m:t>
                      </m:r>
                      <m:sSub>
                        <m:sSubPr>
                          <m:ctrlPr>
                            <a:rPr lang="en-US" altLang="zh-CN" sz="2000" b="1" i="1">
                              <a:solidFill>
                                <a:srgbClr val="FF0000"/>
                              </a:solidFill>
                              <a:latin typeface="Cambria Math" panose="02040503050406030204" pitchFamily="18" charset="0"/>
                            </a:rPr>
                          </m:ctrlPr>
                        </m:sSubPr>
                        <m:e>
                          <m:r>
                            <a:rPr lang="en-US" altLang="zh-CN" sz="2000" i="1">
                              <a:solidFill>
                                <a:srgbClr val="FF0000"/>
                              </a:solidFill>
                              <a:latin typeface="Cambria Math" panose="02040503050406030204" pitchFamily="18" charset="0"/>
                            </a:rPr>
                            <m:t>𝑡</m:t>
                          </m:r>
                        </m:e>
                        <m:sub>
                          <m:r>
                            <a:rPr lang="en-US" altLang="zh-CN" sz="2000" i="1">
                              <a:solidFill>
                                <a:srgbClr val="FF0000"/>
                              </a:solidFill>
                              <a:latin typeface="Cambria Math" panose="02040503050406030204" pitchFamily="18" charset="0"/>
                            </a:rPr>
                            <m:t>𝑘</m:t>
                          </m:r>
                        </m:sub>
                      </m:sSub>
                    </m:oMath>
                  </m:oMathPara>
                </a14:m>
                <a:endParaRPr lang="en-US" altLang="zh-CN" sz="2000" dirty="0">
                  <a:latin typeface="Monaco" panose="020B0509030404040204" pitchFamily="49" charset="0"/>
                  <a:ea typeface="思源黑体 CN Bold" panose="020B0800000000000000" pitchFamily="34" charset="-122"/>
                  <a:cs typeface="+mj-cs"/>
                </a:endParaRPr>
              </a:p>
              <a:p>
                <a:pPr marL="0" indent="0">
                  <a:lnSpc>
                    <a:spcPct val="160000"/>
                  </a:lnSpc>
                  <a:buNone/>
                </a:pPr>
                <a:r>
                  <a:rPr lang="zh-CN" altLang="en-US" sz="2000" dirty="0">
                    <a:latin typeface="Monaco" panose="020B0509030404040204" pitchFamily="49" charset="0"/>
                    <a:ea typeface="思源黑体 CN Bold" panose="020B0800000000000000" pitchFamily="34" charset="-122"/>
                  </a:rPr>
                  <a:t>输出层的权值的导数：</a:t>
                </a:r>
                <a:endParaRPr lang="en-US" altLang="zh-CN" sz="2000" dirty="0">
                  <a:latin typeface="Monaco" panose="020B0509030404040204" pitchFamily="49" charset="0"/>
                  <a:ea typeface="思源黑体 CN Bold" panose="020B0800000000000000" pitchFamily="34" charset="-122"/>
                </a:endParaRPr>
              </a:p>
              <a:p>
                <a:pPr marL="0" indent="0">
                  <a:lnSpc>
                    <a:spcPct val="110000"/>
                  </a:lnSpc>
                  <a:spcBef>
                    <a:spcPts val="0"/>
                  </a:spcBef>
                  <a:buNone/>
                </a:pPr>
                <a14:m>
                  <m:oMathPara xmlns:m="http://schemas.openxmlformats.org/officeDocument/2006/math">
                    <m:oMathParaPr>
                      <m:jc m:val="center"/>
                    </m:oMathParaPr>
                    <m:oMath xmlns:m="http://schemas.openxmlformats.org/officeDocument/2006/math">
                      <m:f>
                        <m:fPr>
                          <m:ctrlPr>
                            <a:rPr lang="en-US" altLang="zh-CN" sz="2000" i="1">
                              <a:latin typeface="Cambria Math" panose="02040503050406030204" pitchFamily="18" charset="0"/>
                            </a:rPr>
                          </m:ctrlPr>
                        </m:fPr>
                        <m:num>
                          <m:r>
                            <a:rPr lang="en-US" altLang="zh-CN" sz="2000" i="1">
                              <a:latin typeface="Cambria Math" panose="02040503050406030204" pitchFamily="18" charset="0"/>
                            </a:rPr>
                            <m:t>𝜕</m:t>
                          </m:r>
                          <m:sSub>
                            <m:sSubPr>
                              <m:ctrlPr>
                                <a:rPr lang="en-US" altLang="zh-CN" sz="2000" b="1" i="1">
                                  <a:latin typeface="Cambria Math" panose="02040503050406030204" pitchFamily="18" charset="0"/>
                                </a:rPr>
                              </m:ctrlPr>
                            </m:sSubPr>
                            <m:e>
                              <m:r>
                                <m:rPr>
                                  <m:sty m:val="p"/>
                                </m:rPr>
                                <a:rPr lang="en-US" altLang="zh-CN" sz="2000" i="1" dirty="0">
                                  <a:latin typeface="Cambria Math" panose="02040503050406030204" pitchFamily="18" charset="0"/>
                                </a:rPr>
                                <m:t>Loss</m:t>
                              </m:r>
                            </m:e>
                            <m:sub>
                              <m:r>
                                <a:rPr lang="en-US" altLang="zh-CN" sz="2000" i="1">
                                  <a:latin typeface="Cambria Math" panose="02040503050406030204" pitchFamily="18" charset="0"/>
                                </a:rPr>
                                <m:t>𝑛</m:t>
                              </m:r>
                            </m:sub>
                          </m:sSub>
                          <m:d>
                            <m:dPr>
                              <m:ctrlPr>
                                <a:rPr lang="en-US" altLang="zh-CN" sz="2000" i="1" dirty="0">
                                  <a:latin typeface="Cambria Math" panose="02040503050406030204" pitchFamily="18" charset="0"/>
                                </a:rPr>
                              </m:ctrlPr>
                            </m:dPr>
                            <m:e>
                              <m:r>
                                <a:rPr lang="en-US" altLang="zh-CN" sz="2000" b="1">
                                  <a:latin typeface="Cambria Math" panose="02040503050406030204" pitchFamily="18" charset="0"/>
                                </a:rPr>
                                <m:t>𝐰</m:t>
                              </m:r>
                            </m:e>
                          </m:d>
                        </m:num>
                        <m:den>
                          <m:r>
                            <a:rPr lang="en-US" altLang="zh-CN" sz="2000" i="1">
                              <a:latin typeface="Cambria Math" panose="02040503050406030204" pitchFamily="18" charset="0"/>
                            </a:rPr>
                            <m:t>𝜕</m:t>
                          </m:r>
                          <m:sSubSup>
                            <m:sSubSupPr>
                              <m:ctrlPr>
                                <a:rPr lang="en-US" altLang="zh-CN" sz="2000" i="1">
                                  <a:latin typeface="Cambria Math" panose="02040503050406030204" pitchFamily="18" charset="0"/>
                                </a:rPr>
                              </m:ctrlPr>
                            </m:sSubSupPr>
                            <m:e>
                              <m:r>
                                <a:rPr lang="en-US" altLang="zh-CN" sz="2000" i="1">
                                  <a:latin typeface="Cambria Math" panose="02040503050406030204" pitchFamily="18" charset="0"/>
                                </a:rPr>
                                <m:t>𝑤</m:t>
                              </m:r>
                            </m:e>
                            <m:sub>
                              <m:r>
                                <a:rPr lang="en-US" altLang="zh-CN" sz="2000" i="1">
                                  <a:latin typeface="Cambria Math" panose="02040503050406030204" pitchFamily="18" charset="0"/>
                                </a:rPr>
                                <m:t>𝑘𝑗</m:t>
                              </m:r>
                            </m:sub>
                            <m:sup>
                              <m:d>
                                <m:dPr>
                                  <m:ctrlPr>
                                    <a:rPr lang="en-US" altLang="zh-CN" sz="2000" b="1" i="1">
                                      <a:latin typeface="Cambria Math" panose="02040503050406030204" pitchFamily="18" charset="0"/>
                                    </a:rPr>
                                  </m:ctrlPr>
                                </m:dPr>
                                <m:e>
                                  <m:r>
                                    <a:rPr lang="en-US" altLang="zh-CN" sz="2000" i="1">
                                      <a:latin typeface="Cambria Math" panose="02040503050406030204" pitchFamily="18" charset="0"/>
                                    </a:rPr>
                                    <m:t>2</m:t>
                                  </m:r>
                                </m:e>
                              </m:d>
                            </m:sup>
                          </m:sSubSup>
                        </m:den>
                      </m:f>
                      <m:r>
                        <a:rPr lang="en-US" altLang="zh-CN" sz="2000" b="1" i="1">
                          <a:latin typeface="Cambria Math" panose="02040503050406030204" pitchFamily="18" charset="0"/>
                        </a:rPr>
                        <m:t>=</m:t>
                      </m:r>
                      <m:sSub>
                        <m:sSubPr>
                          <m:ctrlPr>
                            <a:rPr lang="en-US" altLang="zh-CN" sz="2000" b="1" i="1">
                              <a:latin typeface="Cambria Math" panose="02040503050406030204" pitchFamily="18" charset="0"/>
                            </a:rPr>
                          </m:ctrlPr>
                        </m:sSubPr>
                        <m:e>
                          <m:r>
                            <a:rPr lang="zh-CN" altLang="en-US" sz="2000" i="1">
                              <a:latin typeface="Cambria Math" panose="02040503050406030204" pitchFamily="18" charset="0"/>
                            </a:rPr>
                            <m:t>𝛿</m:t>
                          </m:r>
                        </m:e>
                        <m:sub>
                          <m:r>
                            <a:rPr lang="en-US" altLang="zh-CN" sz="2000" i="1">
                              <a:latin typeface="Cambria Math" panose="02040503050406030204" pitchFamily="18" charset="0"/>
                            </a:rPr>
                            <m:t>𝑘</m:t>
                          </m:r>
                        </m:sub>
                      </m:sSub>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𝑧</m:t>
                          </m:r>
                        </m:e>
                        <m:sub>
                          <m:r>
                            <a:rPr lang="en-US" altLang="zh-CN" sz="2000" i="1">
                              <a:latin typeface="Cambria Math" panose="02040503050406030204" pitchFamily="18" charset="0"/>
                            </a:rPr>
                            <m:t>𝑗</m:t>
                          </m:r>
                        </m:sub>
                      </m:sSub>
                    </m:oMath>
                  </m:oMathPara>
                </a14:m>
                <a:endParaRPr lang="en-US" altLang="zh-CN" sz="2000" dirty="0">
                  <a:latin typeface="Monaco" panose="020B0509030404040204" pitchFamily="49" charset="0"/>
                  <a:ea typeface="思源黑体 CN Bold" panose="020B0800000000000000" pitchFamily="34" charset="-122"/>
                  <a:cs typeface="+mj-cs"/>
                </a:endParaRPr>
              </a:p>
            </p:txBody>
          </p:sp>
        </mc:Choice>
        <mc:Fallback xmlns="">
          <p:sp>
            <p:nvSpPr>
              <p:cNvPr id="3" name="内容占位符 2">
                <a:extLst>
                  <a:ext uri="{FF2B5EF4-FFF2-40B4-BE49-F238E27FC236}">
                    <a16:creationId xmlns:a16="http://schemas.microsoft.com/office/drawing/2014/main" id="{B5F15897-98F0-4E08-931A-45E1DC23C6B6}"/>
                  </a:ext>
                </a:extLst>
              </p:cNvPr>
              <p:cNvSpPr>
                <a:spLocks noGrp="1" noRot="1" noChangeAspect="1" noMove="1" noResize="1" noEditPoints="1" noAdjustHandles="1" noChangeArrowheads="1" noChangeShapeType="1" noTextEdit="1"/>
              </p:cNvSpPr>
              <p:nvPr>
                <p:ph idx="1"/>
              </p:nvPr>
            </p:nvSpPr>
            <p:spPr>
              <a:xfrm>
                <a:off x="838200" y="1690688"/>
                <a:ext cx="5511516" cy="4486275"/>
              </a:xfrm>
              <a:blipFill>
                <a:blip r:embed="rId3"/>
                <a:stretch>
                  <a:fillRect l="-774"/>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0ACFECF1-2C94-4CF1-AF10-846AEB0254C2}"/>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7488885" y="2629977"/>
            <a:ext cx="4280083" cy="3503998"/>
          </a:xfrm>
          <a:prstGeom prst="rect">
            <a:avLst/>
          </a:prstGeom>
        </p:spPr>
      </p:pic>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61C1F58B-9A4D-4FE3-8BDB-CDFB9D1F4DFD}"/>
                  </a:ext>
                </a:extLst>
              </p:cNvPr>
              <p:cNvSpPr/>
              <p:nvPr/>
            </p:nvSpPr>
            <p:spPr>
              <a:xfrm>
                <a:off x="5644849" y="3505076"/>
                <a:ext cx="1274451" cy="41505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𝑧</m:t>
                          </m:r>
                        </m:e>
                        <m:sub>
                          <m:r>
                            <a:rPr lang="en-US" altLang="zh-CN" i="1">
                              <a:latin typeface="Cambria Math" panose="02040503050406030204" pitchFamily="18" charset="0"/>
                            </a:rPr>
                            <m:t>𝑗</m:t>
                          </m:r>
                        </m:sub>
                      </m:sSub>
                      <m:r>
                        <a:rPr lang="en-US" altLang="zh-CN" b="0" i="1" smtClean="0">
                          <a:latin typeface="Cambria Math" panose="02040503050406030204" pitchFamily="18" charset="0"/>
                        </a:rPr>
                        <m:t>=</m:t>
                      </m:r>
                      <m:r>
                        <a:rPr lang="en-US" altLang="zh-CN" i="1">
                          <a:latin typeface="Cambria Math" panose="02040503050406030204" pitchFamily="18" charset="0"/>
                        </a:rPr>
                        <m:t>h</m:t>
                      </m:r>
                      <m:d>
                        <m:dPr>
                          <m:ctrlPr>
                            <a:rPr lang="en-US" altLang="zh-CN" b="1"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i="1">
                                  <a:latin typeface="Cambria Math" panose="02040503050406030204" pitchFamily="18" charset="0"/>
                                </a:rPr>
                                <m:t>𝑗</m:t>
                              </m:r>
                            </m:sub>
                          </m:sSub>
                        </m:e>
                      </m:d>
                    </m:oMath>
                  </m:oMathPara>
                </a14:m>
                <a:endParaRPr lang="zh-CN" altLang="en-US" dirty="0"/>
              </a:p>
            </p:txBody>
          </p:sp>
        </mc:Choice>
        <mc:Fallback xmlns="">
          <p:sp>
            <p:nvSpPr>
              <p:cNvPr id="5" name="矩形 4">
                <a:extLst>
                  <a:ext uri="{FF2B5EF4-FFF2-40B4-BE49-F238E27FC236}">
                    <a16:creationId xmlns:a16="http://schemas.microsoft.com/office/drawing/2014/main" id="{61C1F58B-9A4D-4FE3-8BDB-CDFB9D1F4DFD}"/>
                  </a:ext>
                </a:extLst>
              </p:cNvPr>
              <p:cNvSpPr>
                <a:spLocks noRot="1" noChangeAspect="1" noMove="1" noResize="1" noEditPoints="1" noAdjustHandles="1" noChangeArrowheads="1" noChangeShapeType="1" noTextEdit="1"/>
              </p:cNvSpPr>
              <p:nvPr/>
            </p:nvSpPr>
            <p:spPr>
              <a:xfrm>
                <a:off x="5644849" y="3505076"/>
                <a:ext cx="1274451" cy="415050"/>
              </a:xfrm>
              <a:prstGeom prst="rect">
                <a:avLst/>
              </a:prstGeom>
              <a:blipFill>
                <a:blip r:embed="rId5"/>
                <a:stretch>
                  <a:fillRect b="-588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B2754648-6812-418A-A6B5-569951191CF3}"/>
                  </a:ext>
                </a:extLst>
              </p:cNvPr>
              <p:cNvSpPr/>
              <p:nvPr/>
            </p:nvSpPr>
            <p:spPr>
              <a:xfrm>
                <a:off x="8605724" y="2146699"/>
                <a:ext cx="1908599"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i="1">
                              <a:latin typeface="Cambria Math" panose="02040503050406030204" pitchFamily="18" charset="0"/>
                            </a:rPr>
                            <m:t>𝑦</m:t>
                          </m:r>
                        </m:e>
                        <m:sub>
                          <m:r>
                            <a:rPr lang="en-US" altLang="zh-CN" sz="1600" i="1">
                              <a:latin typeface="Cambria Math" panose="02040503050406030204" pitchFamily="18" charset="0"/>
                            </a:rPr>
                            <m:t>𝑘</m:t>
                          </m:r>
                        </m:sub>
                      </m:sSub>
                      <m:r>
                        <a:rPr lang="en-US" altLang="zh-CN" sz="1600" i="1">
                          <a:latin typeface="Cambria Math" panose="02040503050406030204" pitchFamily="18" charset="0"/>
                        </a:rPr>
                        <m:t>=</m:t>
                      </m:r>
                      <m:r>
                        <a:rPr lang="en-US" altLang="zh-CN" sz="1600" i="1">
                          <a:latin typeface="Cambria Math" panose="02040503050406030204" pitchFamily="18" charset="0"/>
                        </a:rPr>
                        <m:t>𝑠𝑜𝑓𝑡𝑚𝑎𝑥</m:t>
                      </m:r>
                      <m:d>
                        <m:dPr>
                          <m:ctrlPr>
                            <a:rPr lang="en-US" altLang="zh-CN" sz="1600" i="1">
                              <a:latin typeface="Cambria Math" panose="02040503050406030204" pitchFamily="18" charset="0"/>
                            </a:rPr>
                          </m:ctrlPr>
                        </m:dPr>
                        <m:e>
                          <m:sSub>
                            <m:sSubPr>
                              <m:ctrlPr>
                                <a:rPr lang="en-US" altLang="zh-CN" sz="1600" b="1"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𝑘</m:t>
                              </m:r>
                            </m:sub>
                          </m:sSub>
                        </m:e>
                      </m:d>
                    </m:oMath>
                  </m:oMathPara>
                </a14:m>
                <a:endParaRPr lang="zh-CN" altLang="en-US" sz="1600" dirty="0"/>
              </a:p>
            </p:txBody>
          </p:sp>
        </mc:Choice>
        <mc:Fallback xmlns="">
          <p:sp>
            <p:nvSpPr>
              <p:cNvPr id="10" name="矩形 9">
                <a:extLst>
                  <a:ext uri="{FF2B5EF4-FFF2-40B4-BE49-F238E27FC236}">
                    <a16:creationId xmlns:a16="http://schemas.microsoft.com/office/drawing/2014/main" id="{B2754648-6812-418A-A6B5-569951191CF3}"/>
                  </a:ext>
                </a:extLst>
              </p:cNvPr>
              <p:cNvSpPr>
                <a:spLocks noRot="1" noChangeAspect="1" noMove="1" noResize="1" noEditPoints="1" noAdjustHandles="1" noChangeArrowheads="1" noChangeShapeType="1" noTextEdit="1"/>
              </p:cNvSpPr>
              <p:nvPr/>
            </p:nvSpPr>
            <p:spPr>
              <a:xfrm>
                <a:off x="8605724" y="2146699"/>
                <a:ext cx="1908599" cy="338554"/>
              </a:xfrm>
              <a:prstGeom prst="rect">
                <a:avLst/>
              </a:prstGeom>
              <a:blipFill>
                <a:blip r:embed="rId6"/>
                <a:stretch>
                  <a:fillRect b="-8929"/>
                </a:stretch>
              </a:blipFill>
            </p:spPr>
            <p:txBody>
              <a:bodyPr/>
              <a:lstStyle/>
              <a:p>
                <a:r>
                  <a:rPr lang="zh-CN" altLang="en-US">
                    <a:noFill/>
                  </a:rPr>
                  <a:t> </a:t>
                </a:r>
              </a:p>
            </p:txBody>
          </p:sp>
        </mc:Fallback>
      </mc:AlternateContent>
      <p:sp>
        <p:nvSpPr>
          <p:cNvPr id="6" name="矩形 5">
            <a:extLst>
              <a:ext uri="{FF2B5EF4-FFF2-40B4-BE49-F238E27FC236}">
                <a16:creationId xmlns:a16="http://schemas.microsoft.com/office/drawing/2014/main" id="{FF43663B-35CE-46C6-B72D-55EDF6AB716C}"/>
              </a:ext>
            </a:extLst>
          </p:cNvPr>
          <p:cNvSpPr/>
          <p:nvPr/>
        </p:nvSpPr>
        <p:spPr>
          <a:xfrm>
            <a:off x="9074523" y="1835411"/>
            <a:ext cx="1149674" cy="369332"/>
          </a:xfrm>
          <a:prstGeom prst="rect">
            <a:avLst/>
          </a:prstGeom>
        </p:spPr>
        <p:txBody>
          <a:bodyPr wrap="none">
            <a:spAutoFit/>
          </a:bodyPr>
          <a:lstStyle/>
          <a:p>
            <a:r>
              <a:rPr lang="en-US" altLang="zh-CN" dirty="0">
                <a:latin typeface="Monaco" panose="020B0509030404040204" pitchFamily="49" charset="0"/>
                <a:ea typeface="思源黑体 CN Bold" panose="020B0800000000000000" pitchFamily="34" charset="-122"/>
              </a:rPr>
              <a:t>Forward</a:t>
            </a:r>
            <a:endParaRPr lang="zh-CN" altLang="en-US" dirty="0"/>
          </a:p>
        </p:txBody>
      </p:sp>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59E0C1DF-C877-4B7F-B5D8-C368DC8AFFA5}"/>
                  </a:ext>
                </a:extLst>
              </p:cNvPr>
              <p:cNvSpPr/>
              <p:nvPr/>
            </p:nvSpPr>
            <p:spPr>
              <a:xfrm>
                <a:off x="3688766" y="2079439"/>
                <a:ext cx="1908599"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i="1">
                              <a:latin typeface="Cambria Math" panose="02040503050406030204" pitchFamily="18" charset="0"/>
                            </a:rPr>
                            <m:t>𝑦</m:t>
                          </m:r>
                        </m:e>
                        <m:sub>
                          <m:r>
                            <a:rPr lang="en-US" altLang="zh-CN" sz="1600" i="1">
                              <a:latin typeface="Cambria Math" panose="02040503050406030204" pitchFamily="18" charset="0"/>
                            </a:rPr>
                            <m:t>𝑘</m:t>
                          </m:r>
                        </m:sub>
                      </m:sSub>
                      <m:r>
                        <a:rPr lang="en-US" altLang="zh-CN" sz="1600" i="1">
                          <a:latin typeface="Cambria Math" panose="02040503050406030204" pitchFamily="18" charset="0"/>
                        </a:rPr>
                        <m:t>=</m:t>
                      </m:r>
                      <m:r>
                        <a:rPr lang="en-US" altLang="zh-CN" sz="1600" i="1">
                          <a:latin typeface="Cambria Math" panose="02040503050406030204" pitchFamily="18" charset="0"/>
                        </a:rPr>
                        <m:t>𝑠𝑜𝑓𝑡𝑚𝑎𝑥</m:t>
                      </m:r>
                      <m:d>
                        <m:dPr>
                          <m:ctrlPr>
                            <a:rPr lang="en-US" altLang="zh-CN" sz="1600" i="1">
                              <a:latin typeface="Cambria Math" panose="02040503050406030204" pitchFamily="18" charset="0"/>
                            </a:rPr>
                          </m:ctrlPr>
                        </m:dPr>
                        <m:e>
                          <m:sSub>
                            <m:sSubPr>
                              <m:ctrlPr>
                                <a:rPr lang="en-US" altLang="zh-CN" sz="1600" b="1"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𝑘</m:t>
                              </m:r>
                            </m:sub>
                          </m:sSub>
                        </m:e>
                      </m:d>
                    </m:oMath>
                  </m:oMathPara>
                </a14:m>
                <a:endParaRPr lang="zh-CN" altLang="en-US" sz="1600" dirty="0"/>
              </a:p>
            </p:txBody>
          </p:sp>
        </mc:Choice>
        <mc:Fallback xmlns="">
          <p:sp>
            <p:nvSpPr>
              <p:cNvPr id="11" name="矩形 10">
                <a:extLst>
                  <a:ext uri="{FF2B5EF4-FFF2-40B4-BE49-F238E27FC236}">
                    <a16:creationId xmlns:a16="http://schemas.microsoft.com/office/drawing/2014/main" id="{59E0C1DF-C877-4B7F-B5D8-C368DC8AFFA5}"/>
                  </a:ext>
                </a:extLst>
              </p:cNvPr>
              <p:cNvSpPr>
                <a:spLocks noRot="1" noChangeAspect="1" noMove="1" noResize="1" noEditPoints="1" noAdjustHandles="1" noChangeArrowheads="1" noChangeShapeType="1" noTextEdit="1"/>
              </p:cNvSpPr>
              <p:nvPr/>
            </p:nvSpPr>
            <p:spPr>
              <a:xfrm>
                <a:off x="3688766" y="2079439"/>
                <a:ext cx="1908599" cy="338554"/>
              </a:xfrm>
              <a:prstGeom prst="rect">
                <a:avLst/>
              </a:prstGeom>
              <a:blipFill>
                <a:blip r:embed="rId7"/>
                <a:stretch>
                  <a:fillRect b="-89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77D14D80-BADD-4892-BDC9-08663E67A71B}"/>
                  </a:ext>
                </a:extLst>
              </p:cNvPr>
              <p:cNvSpPr/>
              <p:nvPr/>
            </p:nvSpPr>
            <p:spPr>
              <a:xfrm>
                <a:off x="4413003" y="1399614"/>
                <a:ext cx="4443011" cy="582147"/>
              </a:xfrm>
              <a:prstGeom prst="rect">
                <a:avLst/>
              </a:prstGeom>
            </p:spPr>
            <p:txBody>
              <a:bodyPr wrap="none">
                <a:spAutoFit/>
              </a:bodyPr>
              <a:lstStyle/>
              <a:p>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i="1">
                            <a:latin typeface="Cambria Math" panose="02040503050406030204" pitchFamily="18" charset="0"/>
                          </a:rPr>
                          <m:t>𝑘</m:t>
                        </m:r>
                      </m:sub>
                    </m:sSub>
                    <m:r>
                      <a:rPr lang="en-US" altLang="zh-CN" i="1">
                        <a:latin typeface="Cambria Math" panose="02040503050406030204" pitchFamily="18" charset="0"/>
                      </a:rPr>
                      <m:t>=</m:t>
                    </m:r>
                    <m:r>
                      <a:rPr lang="en-US" altLang="zh-CN" i="1">
                        <a:latin typeface="Cambria Math" panose="02040503050406030204" pitchFamily="18" charset="0"/>
                      </a:rPr>
                      <m:t>𝑠𝑜𝑓𝑡𝑚𝑎𝑥</m:t>
                    </m:r>
                    <m:d>
                      <m:dPr>
                        <m:ctrlPr>
                          <a:rPr lang="en-US" altLang="zh-CN" i="1">
                            <a:latin typeface="Cambria Math" panose="02040503050406030204" pitchFamily="18" charset="0"/>
                          </a:rPr>
                        </m:ctrlPr>
                      </m:dPr>
                      <m:e>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𝑗</m:t>
                            </m:r>
                            <m:r>
                              <a:rPr lang="en-US" altLang="zh-CN" i="1">
                                <a:latin typeface="Cambria Math" panose="02040503050406030204" pitchFamily="18" charset="0"/>
                              </a:rPr>
                              <m:t>=1</m:t>
                            </m:r>
                          </m:sub>
                          <m:sup>
                            <m:r>
                              <a:rPr lang="en-US" altLang="zh-CN" i="1">
                                <a:latin typeface="Cambria Math" panose="02040503050406030204" pitchFamily="18" charset="0"/>
                              </a:rPr>
                              <m:t>𝑀</m:t>
                            </m:r>
                          </m:sup>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i="1">
                                    <a:latin typeface="Cambria Math" panose="02040503050406030204" pitchFamily="18" charset="0"/>
                                  </a:rPr>
                                  <m:t>𝑘𝑗</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e>
                        </m:nary>
                        <m:r>
                          <a:rPr lang="en-US" altLang="zh-CN" i="1">
                            <a:latin typeface="Cambria Math" panose="02040503050406030204" pitchFamily="18" charset="0"/>
                          </a:rPr>
                          <m:t>h</m:t>
                        </m:r>
                        <m:d>
                          <m:dPr>
                            <m:ctrlPr>
                              <a:rPr lang="en-US" altLang="zh-CN" b="1" i="1">
                                <a:latin typeface="Cambria Math" panose="02040503050406030204" pitchFamily="18" charset="0"/>
                              </a:rPr>
                            </m:ctrlPr>
                          </m:dPr>
                          <m:e>
                            <m:nary>
                              <m:naryPr>
                                <m:chr m:val="∑"/>
                                <m:ctrlPr>
                                  <a:rPr lang="en-US" altLang="zh-CN" i="1">
                                    <a:latin typeface="Cambria Math" panose="02040503050406030204" pitchFamily="18" charset="0"/>
                                  </a:rPr>
                                </m:ctrlPr>
                              </m:naryPr>
                              <m:sub>
                                <m:r>
                                  <a:rPr lang="en-US" altLang="zh-CN" i="1">
                                    <a:latin typeface="Cambria Math" panose="02040503050406030204" pitchFamily="18" charset="0"/>
                                  </a:rPr>
                                  <m:t>𝑖</m:t>
                                </m:r>
                                <m:r>
                                  <a:rPr lang="en-US" altLang="zh-CN" i="1">
                                    <a:latin typeface="Cambria Math" panose="02040503050406030204" pitchFamily="18" charset="0"/>
                                  </a:rPr>
                                  <m:t>=1</m:t>
                                </m:r>
                              </m:sub>
                              <m:sup>
                                <m:r>
                                  <a:rPr lang="en-US" altLang="zh-CN" i="1">
                                    <a:latin typeface="Cambria Math" panose="02040503050406030204" pitchFamily="18" charset="0"/>
                                  </a:rPr>
                                  <m:t>𝐷</m:t>
                                </m:r>
                              </m:sup>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i="1">
                                        <a:latin typeface="Cambria Math" panose="02040503050406030204" pitchFamily="18" charset="0"/>
                                      </a:rPr>
                                      <m:t>𝑗𝑖</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1</m:t>
                                        </m:r>
                                      </m:e>
                                    </m:d>
                                  </m:sup>
                                </m:sSubSup>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𝑖</m:t>
                                    </m:r>
                                  </m:sub>
                                </m:sSub>
                              </m:e>
                            </m:nary>
                          </m:e>
                        </m:d>
                      </m:e>
                    </m:d>
                  </m:oMath>
                </a14:m>
                <a:r>
                  <a:rPr lang="zh-CN" altLang="en-US" dirty="0"/>
                  <a:t> </a:t>
                </a:r>
              </a:p>
            </p:txBody>
          </p:sp>
        </mc:Choice>
        <mc:Fallback xmlns="">
          <p:sp>
            <p:nvSpPr>
              <p:cNvPr id="7" name="矩形 6">
                <a:extLst>
                  <a:ext uri="{FF2B5EF4-FFF2-40B4-BE49-F238E27FC236}">
                    <a16:creationId xmlns:a16="http://schemas.microsoft.com/office/drawing/2014/main" id="{77D14D80-BADD-4892-BDC9-08663E67A71B}"/>
                  </a:ext>
                </a:extLst>
              </p:cNvPr>
              <p:cNvSpPr>
                <a:spLocks noRot="1" noChangeAspect="1" noMove="1" noResize="1" noEditPoints="1" noAdjustHandles="1" noChangeArrowheads="1" noChangeShapeType="1" noTextEdit="1"/>
              </p:cNvSpPr>
              <p:nvPr/>
            </p:nvSpPr>
            <p:spPr>
              <a:xfrm>
                <a:off x="4413003" y="1399614"/>
                <a:ext cx="4443011" cy="582147"/>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F23EFBD5-E175-4F78-B0F2-581C2CE057EF}"/>
                  </a:ext>
                </a:extLst>
              </p:cNvPr>
              <p:cNvSpPr/>
              <p:nvPr/>
            </p:nvSpPr>
            <p:spPr>
              <a:xfrm>
                <a:off x="5413980" y="2557799"/>
                <a:ext cx="1807161" cy="90255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𝑘</m:t>
                          </m:r>
                        </m:sub>
                      </m:sSub>
                      <m:r>
                        <a:rPr lang="en-US" altLang="zh-CN" i="1">
                          <a:latin typeface="Cambria Math" panose="02040503050406030204" pitchFamily="18" charset="0"/>
                        </a:rPr>
                        <m:t>=</m:t>
                      </m:r>
                      <m:nary>
                        <m:naryPr>
                          <m:chr m:val="∑"/>
                          <m:ctrlPr>
                            <a:rPr lang="en-US" altLang="zh-CN" i="1">
                              <a:latin typeface="Cambria Math" panose="02040503050406030204" pitchFamily="18" charset="0"/>
                            </a:rPr>
                          </m:ctrlPr>
                        </m:naryPr>
                        <m:sub>
                          <m:r>
                            <a:rPr lang="en-US" altLang="zh-CN" b="0" i="1" smtClean="0">
                              <a:latin typeface="Cambria Math" panose="02040503050406030204" pitchFamily="18" charset="0"/>
                            </a:rPr>
                            <m:t>𝑗</m:t>
                          </m:r>
                          <m:r>
                            <a:rPr lang="en-US" altLang="zh-CN" i="1">
                              <a:latin typeface="Cambria Math" panose="02040503050406030204" pitchFamily="18" charset="0"/>
                            </a:rPr>
                            <m:t>=1</m:t>
                          </m:r>
                        </m:sub>
                        <m:sup>
                          <m:r>
                            <a:rPr lang="en-US" altLang="zh-CN" b="0" i="1" smtClean="0">
                              <a:latin typeface="Cambria Math" panose="02040503050406030204" pitchFamily="18" charset="0"/>
                            </a:rPr>
                            <m:t>𝑀</m:t>
                          </m:r>
                        </m:sup>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b="0" i="1" smtClean="0">
                                  <a:latin typeface="Cambria Math" panose="02040503050406030204" pitchFamily="18" charset="0"/>
                                </a:rPr>
                                <m:t>𝑘𝑗</m:t>
                              </m:r>
                            </m:sub>
                            <m:sup>
                              <m:d>
                                <m:dPr>
                                  <m:ctrlPr>
                                    <a:rPr lang="en-US" altLang="zh-CN" b="1" i="1">
                                      <a:latin typeface="Cambria Math" panose="02040503050406030204" pitchFamily="18" charset="0"/>
                                    </a:rPr>
                                  </m:ctrlPr>
                                </m:dPr>
                                <m:e>
                                  <m:r>
                                    <a:rPr lang="en-US" altLang="zh-CN" b="0" i="1" smtClean="0">
                                      <a:latin typeface="Cambria Math" panose="02040503050406030204" pitchFamily="18" charset="0"/>
                                    </a:rPr>
                                    <m:t>2</m:t>
                                  </m:r>
                                </m:e>
                              </m:d>
                            </m:sup>
                          </m:sSubSup>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𝑧</m:t>
                              </m:r>
                            </m:e>
                            <m:sub>
                              <m:r>
                                <a:rPr lang="en-US" altLang="zh-CN" b="0" i="1" smtClean="0">
                                  <a:latin typeface="Cambria Math" panose="02040503050406030204" pitchFamily="18" charset="0"/>
                                </a:rPr>
                                <m:t>𝑗</m:t>
                              </m:r>
                            </m:sub>
                          </m:sSub>
                        </m:e>
                      </m:nary>
                    </m:oMath>
                  </m:oMathPara>
                </a14:m>
                <a:endParaRPr lang="zh-CN" altLang="en-US" dirty="0"/>
              </a:p>
            </p:txBody>
          </p:sp>
        </mc:Choice>
        <mc:Fallback xmlns="">
          <p:sp>
            <p:nvSpPr>
              <p:cNvPr id="8" name="矩形 7">
                <a:extLst>
                  <a:ext uri="{FF2B5EF4-FFF2-40B4-BE49-F238E27FC236}">
                    <a16:creationId xmlns:a16="http://schemas.microsoft.com/office/drawing/2014/main" id="{F23EFBD5-E175-4F78-B0F2-581C2CE057EF}"/>
                  </a:ext>
                </a:extLst>
              </p:cNvPr>
              <p:cNvSpPr>
                <a:spLocks noRot="1" noChangeAspect="1" noMove="1" noResize="1" noEditPoints="1" noAdjustHandles="1" noChangeArrowheads="1" noChangeShapeType="1" noTextEdit="1"/>
              </p:cNvSpPr>
              <p:nvPr/>
            </p:nvSpPr>
            <p:spPr>
              <a:xfrm>
                <a:off x="5413980" y="2557799"/>
                <a:ext cx="1807161" cy="902555"/>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39FED211-6D0A-4A7E-B9C0-D880F64421CB}"/>
                  </a:ext>
                </a:extLst>
              </p:cNvPr>
              <p:cNvSpPr/>
              <p:nvPr/>
            </p:nvSpPr>
            <p:spPr>
              <a:xfrm>
                <a:off x="8798303" y="565029"/>
                <a:ext cx="812467" cy="787844"/>
              </a:xfrm>
              <a:prstGeom prst="rect">
                <a:avLst/>
              </a:prstGeom>
              <a:ln>
                <a:solidFill>
                  <a:srgbClr val="FF0000"/>
                </a:solidFill>
              </a:ln>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altLang="zh-CN" i="1" smtClean="0">
                              <a:latin typeface="Cambria Math" panose="02040503050406030204" pitchFamily="18" charset="0"/>
                            </a:rPr>
                          </m:ctrlPr>
                        </m:fPr>
                        <m:num>
                          <m:r>
                            <a:rPr lang="en-US" altLang="zh-CN" i="1">
                              <a:latin typeface="Cambria Math" panose="02040503050406030204" pitchFamily="18" charset="0"/>
                            </a:rPr>
                            <m:t>𝜕</m:t>
                          </m:r>
                          <m:r>
                            <a:rPr lang="en-US" altLang="zh-CN" b="0" i="1" smtClean="0">
                              <a:latin typeface="Cambria Math" panose="02040503050406030204" pitchFamily="18" charset="0"/>
                            </a:rPr>
                            <m:t>𝐿</m:t>
                          </m:r>
                        </m:num>
                        <m:den>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i="1">
                                  <a:latin typeface="Cambria Math" panose="02040503050406030204" pitchFamily="18" charset="0"/>
                                </a:rPr>
                                <m:t>𝑘𝑗</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den>
                      </m:f>
                    </m:oMath>
                  </m:oMathPara>
                </a14:m>
                <a:endParaRPr lang="zh-CN" altLang="en-US" dirty="0"/>
              </a:p>
            </p:txBody>
          </p:sp>
        </mc:Choice>
        <mc:Fallback xmlns="">
          <p:sp>
            <p:nvSpPr>
              <p:cNvPr id="12" name="矩形 11">
                <a:extLst>
                  <a:ext uri="{FF2B5EF4-FFF2-40B4-BE49-F238E27FC236}">
                    <a16:creationId xmlns:a16="http://schemas.microsoft.com/office/drawing/2014/main" id="{39FED211-6D0A-4A7E-B9C0-D880F64421CB}"/>
                  </a:ext>
                </a:extLst>
              </p:cNvPr>
              <p:cNvSpPr>
                <a:spLocks noRot="1" noChangeAspect="1" noMove="1" noResize="1" noEditPoints="1" noAdjustHandles="1" noChangeArrowheads="1" noChangeShapeType="1" noTextEdit="1"/>
              </p:cNvSpPr>
              <p:nvPr/>
            </p:nvSpPr>
            <p:spPr>
              <a:xfrm>
                <a:off x="8798303" y="565029"/>
                <a:ext cx="812467" cy="787844"/>
              </a:xfrm>
              <a:prstGeom prst="rect">
                <a:avLst/>
              </a:prstGeom>
              <a:blipFill>
                <a:blip r:embed="rId10"/>
                <a:stretch>
                  <a:fillRect/>
                </a:stretch>
              </a:blipFill>
              <a:ln>
                <a:solidFill>
                  <a:srgbClr val="FF0000"/>
                </a:solidFill>
              </a:ln>
            </p:spPr>
            <p:txBody>
              <a:bodyPr/>
              <a:lstStyle/>
              <a:p>
                <a:r>
                  <a:rPr lang="zh-CN" altLang="en-US">
                    <a:noFill/>
                  </a:rPr>
                  <a:t> </a:t>
                </a:r>
              </a:p>
            </p:txBody>
          </p:sp>
        </mc:Fallback>
      </mc:AlternateContent>
      <p:sp>
        <p:nvSpPr>
          <p:cNvPr id="18" name="矩形: 圆角 17">
            <a:extLst>
              <a:ext uri="{FF2B5EF4-FFF2-40B4-BE49-F238E27FC236}">
                <a16:creationId xmlns:a16="http://schemas.microsoft.com/office/drawing/2014/main" id="{798A4530-0F7D-4954-BDFC-20C62005EA46}"/>
              </a:ext>
            </a:extLst>
          </p:cNvPr>
          <p:cNvSpPr/>
          <p:nvPr/>
        </p:nvSpPr>
        <p:spPr>
          <a:xfrm rot="2715744">
            <a:off x="9429416" y="3883203"/>
            <a:ext cx="1656000" cy="72000"/>
          </a:xfrm>
          <a:prstGeom prst="roundRect">
            <a:avLst/>
          </a:prstGeom>
          <a:noFill/>
          <a:ln>
            <a:solidFill>
              <a:srgbClr val="FF0000"/>
            </a:solidFill>
          </a:ln>
          <a:effectLst>
            <a:glow rad="635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 name="连接符: 曲线 19">
            <a:extLst>
              <a:ext uri="{FF2B5EF4-FFF2-40B4-BE49-F238E27FC236}">
                <a16:creationId xmlns:a16="http://schemas.microsoft.com/office/drawing/2014/main" id="{E6884F9B-3597-4536-9DD2-510F8E0F1723}"/>
              </a:ext>
            </a:extLst>
          </p:cNvPr>
          <p:cNvCxnSpPr>
            <a:stCxn id="12" idx="3"/>
            <a:endCxn id="18" idx="0"/>
          </p:cNvCxnSpPr>
          <p:nvPr/>
        </p:nvCxnSpPr>
        <p:spPr>
          <a:xfrm>
            <a:off x="9610770" y="958951"/>
            <a:ext cx="672218" cy="2934913"/>
          </a:xfrm>
          <a:prstGeom prst="curvedConnector3">
            <a:avLst>
              <a:gd name="adj1" fmla="val 253377"/>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矩形 20">
                <a:extLst>
                  <a:ext uri="{FF2B5EF4-FFF2-40B4-BE49-F238E27FC236}">
                    <a16:creationId xmlns:a16="http://schemas.microsoft.com/office/drawing/2014/main" id="{7BA0DF0C-889F-427D-8E00-47FFBFCD8BAC}"/>
                  </a:ext>
                </a:extLst>
              </p:cNvPr>
              <p:cNvSpPr/>
              <p:nvPr/>
            </p:nvSpPr>
            <p:spPr>
              <a:xfrm>
                <a:off x="9649046" y="3832244"/>
                <a:ext cx="678391" cy="47269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i="1">
                              <a:latin typeface="Cambria Math" panose="02040503050406030204" pitchFamily="18" charset="0"/>
                            </a:rPr>
                            <m:t>𝑘𝑗</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oMath>
                  </m:oMathPara>
                </a14:m>
                <a:endParaRPr lang="zh-CN" altLang="en-US" dirty="0"/>
              </a:p>
            </p:txBody>
          </p:sp>
        </mc:Choice>
        <mc:Fallback xmlns="">
          <p:sp>
            <p:nvSpPr>
              <p:cNvPr id="21" name="矩形 20">
                <a:extLst>
                  <a:ext uri="{FF2B5EF4-FFF2-40B4-BE49-F238E27FC236}">
                    <a16:creationId xmlns:a16="http://schemas.microsoft.com/office/drawing/2014/main" id="{7BA0DF0C-889F-427D-8E00-47FFBFCD8BAC}"/>
                  </a:ext>
                </a:extLst>
              </p:cNvPr>
              <p:cNvSpPr>
                <a:spLocks noRot="1" noChangeAspect="1" noMove="1" noResize="1" noEditPoints="1" noAdjustHandles="1" noChangeArrowheads="1" noChangeShapeType="1" noTextEdit="1"/>
              </p:cNvSpPr>
              <p:nvPr/>
            </p:nvSpPr>
            <p:spPr>
              <a:xfrm>
                <a:off x="9649046" y="3832244"/>
                <a:ext cx="678391" cy="472694"/>
              </a:xfrm>
              <a:prstGeom prst="rect">
                <a:avLst/>
              </a:prstGeom>
              <a:blipFill>
                <a:blip r:embed="rId11"/>
                <a:stretch>
                  <a:fillRect b="-649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矩形 21">
                <a:extLst>
                  <a:ext uri="{FF2B5EF4-FFF2-40B4-BE49-F238E27FC236}">
                    <a16:creationId xmlns:a16="http://schemas.microsoft.com/office/drawing/2014/main" id="{F429DB86-B694-4931-BA8B-4FC081E47951}"/>
                  </a:ext>
                </a:extLst>
              </p:cNvPr>
              <p:cNvSpPr/>
              <p:nvPr/>
            </p:nvSpPr>
            <p:spPr>
              <a:xfrm>
                <a:off x="10565175" y="4127984"/>
                <a:ext cx="49250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𝑘</m:t>
                          </m:r>
                        </m:sub>
                      </m:sSub>
                    </m:oMath>
                  </m:oMathPara>
                </a14:m>
                <a:endParaRPr lang="zh-CN" altLang="en-US" dirty="0"/>
              </a:p>
            </p:txBody>
          </p:sp>
        </mc:Choice>
        <mc:Fallback xmlns="">
          <p:sp>
            <p:nvSpPr>
              <p:cNvPr id="22" name="矩形 21">
                <a:extLst>
                  <a:ext uri="{FF2B5EF4-FFF2-40B4-BE49-F238E27FC236}">
                    <a16:creationId xmlns:a16="http://schemas.microsoft.com/office/drawing/2014/main" id="{F429DB86-B694-4931-BA8B-4FC081E47951}"/>
                  </a:ext>
                </a:extLst>
              </p:cNvPr>
              <p:cNvSpPr>
                <a:spLocks noRot="1" noChangeAspect="1" noMove="1" noResize="1" noEditPoints="1" noAdjustHandles="1" noChangeArrowheads="1" noChangeShapeType="1" noTextEdit="1"/>
              </p:cNvSpPr>
              <p:nvPr/>
            </p:nvSpPr>
            <p:spPr>
              <a:xfrm>
                <a:off x="10565175" y="4127984"/>
                <a:ext cx="492507" cy="369332"/>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19F5AF6A-D907-450B-B89D-8D02AFFDD3CA}"/>
                  </a:ext>
                </a:extLst>
              </p:cNvPr>
              <p:cNvSpPr/>
              <p:nvPr/>
            </p:nvSpPr>
            <p:spPr>
              <a:xfrm>
                <a:off x="5052093" y="5992297"/>
                <a:ext cx="1503039" cy="369332"/>
              </a:xfrm>
              <a:prstGeom prst="rect">
                <a:avLst/>
              </a:prstGeom>
              <a:solidFill>
                <a:srgbClr val="FFFF00"/>
              </a:solidFill>
              <a:ln>
                <a:solidFill>
                  <a:srgbClr val="FF0000"/>
                </a:solidFill>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a:latin typeface="Cambria Math" panose="02040503050406030204" pitchFamily="18" charset="0"/>
                            </a:rPr>
                          </m:ctrlPr>
                        </m:sSubPr>
                        <m:e>
                          <m:r>
                            <a:rPr lang="zh-CN" altLang="en-US" i="1">
                              <a:latin typeface="Cambria Math" panose="02040503050406030204" pitchFamily="18" charset="0"/>
                            </a:rPr>
                            <m:t>𝛿</m:t>
                          </m:r>
                        </m:e>
                        <m:sub>
                          <m:r>
                            <a:rPr lang="en-US" altLang="zh-CN" i="1">
                              <a:latin typeface="Cambria Math" panose="02040503050406030204" pitchFamily="18" charset="0"/>
                            </a:rPr>
                            <m:t>𝑘</m:t>
                          </m:r>
                        </m:sub>
                      </m:sSub>
                      <m:r>
                        <a:rPr lang="en-US" altLang="zh-CN" b="1" i="1">
                          <a:latin typeface="Cambria Math" panose="02040503050406030204" pitchFamily="18" charset="0"/>
                        </a:rPr>
                        <m:t>=</m:t>
                      </m:r>
                      <m:sSub>
                        <m:sSubPr>
                          <m:ctrlPr>
                            <a:rPr lang="en-US" altLang="zh-CN" i="1">
                              <a:solidFill>
                                <a:srgbClr val="FF0000"/>
                              </a:solidFill>
                              <a:latin typeface="Cambria Math" panose="02040503050406030204" pitchFamily="18" charset="0"/>
                            </a:rPr>
                          </m:ctrlPr>
                        </m:sSubPr>
                        <m:e>
                          <m:r>
                            <a:rPr lang="en-US" altLang="zh-CN" i="1">
                              <a:solidFill>
                                <a:srgbClr val="FF0000"/>
                              </a:solidFill>
                              <a:latin typeface="Cambria Math" panose="02040503050406030204" pitchFamily="18" charset="0"/>
                            </a:rPr>
                            <m:t>𝑦</m:t>
                          </m:r>
                        </m:e>
                        <m:sub>
                          <m:r>
                            <a:rPr lang="en-US" altLang="zh-CN" i="1">
                              <a:solidFill>
                                <a:srgbClr val="FF0000"/>
                              </a:solidFill>
                              <a:latin typeface="Cambria Math" panose="02040503050406030204" pitchFamily="18" charset="0"/>
                            </a:rPr>
                            <m:t>𝑘</m:t>
                          </m:r>
                        </m:sub>
                      </m:sSub>
                      <m:r>
                        <a:rPr lang="en-US" altLang="zh-CN" i="1">
                          <a:solidFill>
                            <a:srgbClr val="FF0000"/>
                          </a:solidFill>
                          <a:latin typeface="Cambria Math" panose="02040503050406030204" pitchFamily="18" charset="0"/>
                        </a:rPr>
                        <m:t>−</m:t>
                      </m:r>
                      <m:sSub>
                        <m:sSubPr>
                          <m:ctrlPr>
                            <a:rPr lang="en-US" altLang="zh-CN" b="1" i="1">
                              <a:solidFill>
                                <a:srgbClr val="FF0000"/>
                              </a:solidFill>
                              <a:latin typeface="Cambria Math" panose="02040503050406030204" pitchFamily="18" charset="0"/>
                            </a:rPr>
                          </m:ctrlPr>
                        </m:sSubPr>
                        <m:e>
                          <m:r>
                            <a:rPr lang="en-US" altLang="zh-CN" i="1">
                              <a:solidFill>
                                <a:srgbClr val="FF0000"/>
                              </a:solidFill>
                              <a:latin typeface="Cambria Math" panose="02040503050406030204" pitchFamily="18" charset="0"/>
                            </a:rPr>
                            <m:t>𝑡</m:t>
                          </m:r>
                        </m:e>
                        <m:sub>
                          <m:r>
                            <a:rPr lang="en-US" altLang="zh-CN" i="1">
                              <a:solidFill>
                                <a:srgbClr val="FF0000"/>
                              </a:solidFill>
                              <a:latin typeface="Cambria Math" panose="02040503050406030204" pitchFamily="18" charset="0"/>
                            </a:rPr>
                            <m:t>𝑘</m:t>
                          </m:r>
                        </m:sub>
                      </m:sSub>
                    </m:oMath>
                  </m:oMathPara>
                </a14:m>
                <a:endParaRPr lang="zh-CN" altLang="en-US" dirty="0"/>
              </a:p>
            </p:txBody>
          </p:sp>
        </mc:Choice>
        <mc:Fallback xmlns="">
          <p:sp>
            <p:nvSpPr>
              <p:cNvPr id="13" name="矩形 12">
                <a:extLst>
                  <a:ext uri="{FF2B5EF4-FFF2-40B4-BE49-F238E27FC236}">
                    <a16:creationId xmlns:a16="http://schemas.microsoft.com/office/drawing/2014/main" id="{19F5AF6A-D907-450B-B89D-8D02AFFDD3CA}"/>
                  </a:ext>
                </a:extLst>
              </p:cNvPr>
              <p:cNvSpPr>
                <a:spLocks noRot="1" noChangeAspect="1" noMove="1" noResize="1" noEditPoints="1" noAdjustHandles="1" noChangeArrowheads="1" noChangeShapeType="1" noTextEdit="1"/>
              </p:cNvSpPr>
              <p:nvPr/>
            </p:nvSpPr>
            <p:spPr>
              <a:xfrm>
                <a:off x="5052093" y="5992297"/>
                <a:ext cx="1503039" cy="369332"/>
              </a:xfrm>
              <a:prstGeom prst="rect">
                <a:avLst/>
              </a:prstGeom>
              <a:blipFill>
                <a:blip r:embed="rId13"/>
                <a:stretch>
                  <a:fillRect b="-3175"/>
                </a:stretch>
              </a:blipFill>
              <a:ln>
                <a:solidFill>
                  <a:srgbClr val="FF0000"/>
                </a:solidFill>
              </a:ln>
            </p:spPr>
            <p:txBody>
              <a:bodyPr/>
              <a:lstStyle/>
              <a:p>
                <a:r>
                  <a:rPr lang="zh-CN" altLang="en-US">
                    <a:noFill/>
                  </a:rPr>
                  <a:t> </a:t>
                </a:r>
              </a:p>
            </p:txBody>
          </p:sp>
        </mc:Fallback>
      </mc:AlternateContent>
      <p:sp>
        <p:nvSpPr>
          <p:cNvPr id="17" name="标题 1">
            <a:extLst>
              <a:ext uri="{FF2B5EF4-FFF2-40B4-BE49-F238E27FC236}">
                <a16:creationId xmlns:a16="http://schemas.microsoft.com/office/drawing/2014/main" id="{B4B4A14E-7D88-4629-83C1-82116C91BC8D}"/>
              </a:ext>
            </a:extLst>
          </p:cNvPr>
          <p:cNvSpPr txBox="1">
            <a:spLocks/>
          </p:cNvSpPr>
          <p:nvPr/>
        </p:nvSpPr>
        <p:spPr>
          <a:xfrm>
            <a:off x="266483" y="148073"/>
            <a:ext cx="8924544" cy="53296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600" dirty="0">
                <a:latin typeface="思源黑体 CN Bold" panose="020B0800000000000000" pitchFamily="34" charset="-122"/>
                <a:ea typeface="思源黑体 CN Bold" panose="020B0800000000000000" pitchFamily="34" charset="-122"/>
              </a:rPr>
              <a:t>4 </a:t>
            </a:r>
            <a:r>
              <a:rPr lang="zh-CN" altLang="en-US" sz="3600" dirty="0">
                <a:latin typeface="思源黑体 CN Bold" panose="020B0800000000000000" pitchFamily="34" charset="-122"/>
                <a:ea typeface="思源黑体 CN Bold" panose="020B0800000000000000" pitchFamily="34" charset="-122"/>
              </a:rPr>
              <a:t>误差后向传播：</a:t>
            </a:r>
            <a:r>
              <a:rPr lang="zh-CN" altLang="en-US" sz="2800" dirty="0">
                <a:latin typeface="思源黑体 CN Bold" panose="020B0800000000000000" pitchFamily="34" charset="-122"/>
                <a:ea typeface="思源黑体 CN Bold" panose="020B0800000000000000" pitchFamily="34" charset="-122"/>
              </a:rPr>
              <a:t>输出层权值的梯度</a:t>
            </a:r>
            <a:endParaRPr lang="zh-CN" altLang="en-US" sz="3600" dirty="0"/>
          </a:p>
        </p:txBody>
      </p:sp>
      <p:grpSp>
        <p:nvGrpSpPr>
          <p:cNvPr id="14" name="组合 13">
            <a:extLst>
              <a:ext uri="{FF2B5EF4-FFF2-40B4-BE49-F238E27FC236}">
                <a16:creationId xmlns:a16="http://schemas.microsoft.com/office/drawing/2014/main" id="{D979E6BD-03CD-4FFB-8A7A-190EF753A847}"/>
              </a:ext>
            </a:extLst>
          </p:cNvPr>
          <p:cNvGrpSpPr/>
          <p:nvPr/>
        </p:nvGrpSpPr>
        <p:grpSpPr>
          <a:xfrm>
            <a:off x="3681319" y="2454902"/>
            <a:ext cx="1977120" cy="382320"/>
            <a:chOff x="3681319" y="2454902"/>
            <a:chExt cx="1977120" cy="382320"/>
          </a:xfrm>
        </p:grpSpPr>
        <mc:AlternateContent xmlns:mc="http://schemas.openxmlformats.org/markup-compatibility/2006">
          <mc:Choice xmlns:p14="http://schemas.microsoft.com/office/powerpoint/2010/main" Requires="p14">
            <p:contentPart p14:bwMode="auto" r:id="rId14">
              <p14:nvContentPartPr>
                <p14:cNvPr id="2" name="墨迹 1">
                  <a:extLst>
                    <a:ext uri="{FF2B5EF4-FFF2-40B4-BE49-F238E27FC236}">
                      <a16:creationId xmlns:a16="http://schemas.microsoft.com/office/drawing/2014/main" id="{B68C018E-172F-4026-BFB2-77EF99B83DDC}"/>
                    </a:ext>
                  </a:extLst>
                </p14:cNvPr>
                <p14:cNvContentPartPr/>
                <p14:nvPr/>
              </p14:nvContentPartPr>
              <p14:xfrm>
                <a:off x="3681319" y="2454902"/>
                <a:ext cx="1977120" cy="382320"/>
              </p14:xfrm>
            </p:contentPart>
          </mc:Choice>
          <mc:Fallback>
            <p:pic>
              <p:nvPicPr>
                <p:cNvPr id="2" name="墨迹 1">
                  <a:extLst>
                    <a:ext uri="{FF2B5EF4-FFF2-40B4-BE49-F238E27FC236}">
                      <a16:creationId xmlns:a16="http://schemas.microsoft.com/office/drawing/2014/main" id="{B68C018E-172F-4026-BFB2-77EF99B83DDC}"/>
                    </a:ext>
                  </a:extLst>
                </p:cNvPr>
                <p:cNvPicPr/>
                <p:nvPr/>
              </p:nvPicPr>
              <p:blipFill>
                <a:blip r:embed="rId15"/>
                <a:stretch>
                  <a:fillRect/>
                </a:stretch>
              </p:blipFill>
              <p:spPr>
                <a:xfrm>
                  <a:off x="3672679" y="2446262"/>
                  <a:ext cx="1994760" cy="3999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9" name="墨迹 8">
                  <a:extLst>
                    <a:ext uri="{FF2B5EF4-FFF2-40B4-BE49-F238E27FC236}">
                      <a16:creationId xmlns:a16="http://schemas.microsoft.com/office/drawing/2014/main" id="{C316CCAF-2823-4420-926F-ED62639ED62A}"/>
                    </a:ext>
                  </a:extLst>
                </p14:cNvPr>
                <p14:cNvContentPartPr/>
                <p14:nvPr/>
              </p14:nvContentPartPr>
              <p14:xfrm>
                <a:off x="3692119" y="2732462"/>
                <a:ext cx="126720" cy="101160"/>
              </p14:xfrm>
            </p:contentPart>
          </mc:Choice>
          <mc:Fallback>
            <p:pic>
              <p:nvPicPr>
                <p:cNvPr id="9" name="墨迹 8">
                  <a:extLst>
                    <a:ext uri="{FF2B5EF4-FFF2-40B4-BE49-F238E27FC236}">
                      <a16:creationId xmlns:a16="http://schemas.microsoft.com/office/drawing/2014/main" id="{C316CCAF-2823-4420-926F-ED62639ED62A}"/>
                    </a:ext>
                  </a:extLst>
                </p:cNvPr>
                <p:cNvPicPr/>
                <p:nvPr/>
              </p:nvPicPr>
              <p:blipFill>
                <a:blip r:embed="rId17"/>
                <a:stretch>
                  <a:fillRect/>
                </a:stretch>
              </p:blipFill>
              <p:spPr>
                <a:xfrm>
                  <a:off x="3683119" y="2723462"/>
                  <a:ext cx="144360" cy="118800"/>
                </a:xfrm>
                <a:prstGeom prst="rect">
                  <a:avLst/>
                </a:prstGeom>
              </p:spPr>
            </p:pic>
          </mc:Fallback>
        </mc:AlternateContent>
      </p:grpSp>
    </p:spTree>
    <p:extLst>
      <p:ext uri="{BB962C8B-B14F-4D97-AF65-F5344CB8AC3E}">
        <p14:creationId xmlns:p14="http://schemas.microsoft.com/office/powerpoint/2010/main" val="3617890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351B66-9EE1-4728-A50C-A1B8A376755D}"/>
              </a:ext>
            </a:extLst>
          </p:cNvPr>
          <p:cNvSpPr>
            <a:spLocks noGrp="1"/>
          </p:cNvSpPr>
          <p:nvPr>
            <p:ph type="title" idx="4294967295"/>
          </p:nvPr>
        </p:nvSpPr>
        <p:spPr>
          <a:xfrm>
            <a:off x="339635" y="203782"/>
            <a:ext cx="7811588" cy="477255"/>
          </a:xfrm>
        </p:spPr>
        <p:txBody>
          <a:bodyPr>
            <a:noAutofit/>
          </a:bodyPr>
          <a:lstStyle/>
          <a:p>
            <a:r>
              <a:rPr lang="en-US" altLang="zh-CN" sz="3600" dirty="0">
                <a:latin typeface="思源黑体 CN Bold" panose="020B0800000000000000" pitchFamily="34" charset="-122"/>
                <a:ea typeface="思源黑体 CN Bold" panose="020B0800000000000000" pitchFamily="34" charset="-122"/>
              </a:rPr>
              <a:t>4 </a:t>
            </a:r>
            <a:r>
              <a:rPr lang="zh-CN" altLang="en-US" sz="3600" dirty="0">
                <a:latin typeface="思源黑体 CN Bold" panose="020B0800000000000000" pitchFamily="34" charset="-122"/>
                <a:ea typeface="思源黑体 CN Bold" panose="020B0800000000000000" pitchFamily="34" charset="-122"/>
              </a:rPr>
              <a:t>误差后向传播：</a:t>
            </a:r>
            <a:r>
              <a:rPr lang="zh-CN" altLang="en-US" sz="2800" dirty="0">
                <a:latin typeface="思源黑体 CN Bold" panose="020B0800000000000000" pitchFamily="34" charset="-122"/>
                <a:ea typeface="思源黑体 CN Bold" panose="020B0800000000000000" pitchFamily="34" charset="-122"/>
              </a:rPr>
              <a:t>隐含层权值的梯度</a:t>
            </a:r>
            <a:endParaRPr lang="zh-CN" altLang="en-US" sz="3600"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0CD3DE7A-626E-4DE9-864E-6662D8915DEE}"/>
                  </a:ext>
                </a:extLst>
              </p:cNvPr>
              <p:cNvSpPr>
                <a:spLocks noGrp="1"/>
              </p:cNvSpPr>
              <p:nvPr>
                <p:ph idx="4294967295"/>
              </p:nvPr>
            </p:nvSpPr>
            <p:spPr>
              <a:xfrm>
                <a:off x="906126" y="1214284"/>
                <a:ext cx="10515600" cy="4351338"/>
              </a:xfrm>
            </p:spPr>
            <p:txBody>
              <a:bodyPr/>
              <a:lstStyle/>
              <a:p>
                <a:pPr marL="0" indent="0">
                  <a:lnSpc>
                    <a:spcPct val="150000"/>
                  </a:lnSpc>
                  <a:buNone/>
                </a:pPr>
                <a14:m>
                  <m:oMathPara xmlns:m="http://schemas.openxmlformats.org/officeDocument/2006/math">
                    <m:oMathParaPr>
                      <m:jc m:val="left"/>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𝑓</m:t>
                          </m:r>
                        </m:e>
                        <m:sub>
                          <m:r>
                            <a:rPr lang="en-US" altLang="zh-CN" b="0" i="1" smtClean="0">
                              <a:latin typeface="Cambria Math" panose="02040503050406030204" pitchFamily="18" charset="0"/>
                            </a:rPr>
                            <m:t>1</m:t>
                          </m:r>
                        </m:sub>
                      </m:sSub>
                      <m:d>
                        <m:dPr>
                          <m:ctrlPr>
                            <a:rPr lang="en-US" altLang="zh-CN" i="1" dirty="0">
                              <a:latin typeface="Cambria Math" panose="02040503050406030204" pitchFamily="18" charset="0"/>
                            </a:rPr>
                          </m:ctrlPr>
                        </m:dPr>
                        <m:e>
                          <m:r>
                            <m:rPr>
                              <m:sty m:val="p"/>
                            </m:rPr>
                            <a:rPr lang="en-US" altLang="zh-CN" b="0" i="0" smtClean="0">
                              <a:latin typeface="Cambria Math" panose="02040503050406030204" pitchFamily="18" charset="0"/>
                            </a:rPr>
                            <m:t>x</m:t>
                          </m:r>
                        </m:e>
                      </m:d>
                      <m:r>
                        <a:rPr lang="en-US" altLang="zh-CN" b="0" i="1" smtClean="0">
                          <a:latin typeface="Cambria Math" panose="02040503050406030204" pitchFamily="18" charset="0"/>
                        </a:rPr>
                        <m:t>,  </m:t>
                      </m:r>
                      <m:sSub>
                        <m:sSubPr>
                          <m:ctrlPr>
                            <a:rPr lang="en-US" altLang="zh-CN" i="1">
                              <a:latin typeface="Cambria Math" panose="02040503050406030204" pitchFamily="18" charset="0"/>
                            </a:rPr>
                          </m:ctrlPr>
                        </m:sSubPr>
                        <m:e>
                          <m:r>
                            <a:rPr lang="en-US" altLang="zh-CN" b="0" i="1">
                              <a:latin typeface="Cambria Math" panose="02040503050406030204" pitchFamily="18" charset="0"/>
                            </a:rPr>
                            <m:t>𝑓</m:t>
                          </m:r>
                        </m:e>
                        <m:sub>
                          <m:r>
                            <a:rPr lang="en-US" altLang="zh-CN" b="0" i="1" smtClean="0">
                              <a:latin typeface="Cambria Math" panose="02040503050406030204" pitchFamily="18" charset="0"/>
                            </a:rPr>
                            <m:t>2</m:t>
                          </m:r>
                        </m:sub>
                      </m:sSub>
                      <m:d>
                        <m:dPr>
                          <m:ctrlPr>
                            <a:rPr lang="en-US" altLang="zh-CN" i="1" dirty="0">
                              <a:latin typeface="Cambria Math" panose="02040503050406030204" pitchFamily="18" charset="0"/>
                            </a:rPr>
                          </m:ctrlPr>
                        </m:dPr>
                        <m:e>
                          <m:r>
                            <m:rPr>
                              <m:sty m:val="p"/>
                            </m:rPr>
                            <a:rPr lang="en-US" altLang="zh-CN" b="0" i="1">
                              <a:latin typeface="Cambria Math" panose="02040503050406030204" pitchFamily="18" charset="0"/>
                            </a:rPr>
                            <m:t>x</m:t>
                          </m:r>
                        </m:e>
                      </m:d>
                      <m:r>
                        <a:rPr lang="en-US" altLang="zh-CN" b="0" i="1" smtClean="0">
                          <a:latin typeface="Cambria Math" panose="02040503050406030204" pitchFamily="18" charset="0"/>
                        </a:rPr>
                        <m:t>,  </m:t>
                      </m:r>
                      <m:sSub>
                        <m:sSubPr>
                          <m:ctrlPr>
                            <a:rPr lang="en-US" altLang="zh-CN" i="1">
                              <a:latin typeface="Cambria Math" panose="02040503050406030204" pitchFamily="18" charset="0"/>
                            </a:rPr>
                          </m:ctrlPr>
                        </m:sSubPr>
                        <m:e>
                          <m:r>
                            <a:rPr lang="en-US" altLang="zh-CN" b="0" i="1">
                              <a:latin typeface="Cambria Math" panose="02040503050406030204" pitchFamily="18" charset="0"/>
                            </a:rPr>
                            <m:t>𝑓</m:t>
                          </m:r>
                        </m:e>
                        <m:sub>
                          <m:r>
                            <a:rPr lang="en-US" altLang="zh-CN" b="0" i="1" smtClean="0">
                              <a:latin typeface="Cambria Math" panose="02040503050406030204" pitchFamily="18" charset="0"/>
                            </a:rPr>
                            <m:t>3</m:t>
                          </m:r>
                        </m:sub>
                      </m:sSub>
                      <m:d>
                        <m:dPr>
                          <m:ctrlPr>
                            <a:rPr lang="en-US" altLang="zh-CN" i="1" dirty="0">
                              <a:latin typeface="Cambria Math" panose="02040503050406030204" pitchFamily="18" charset="0"/>
                            </a:rPr>
                          </m:ctrlPr>
                        </m:dPr>
                        <m:e>
                          <m:r>
                            <m:rPr>
                              <m:sty m:val="p"/>
                            </m:rPr>
                            <a:rPr lang="en-US" altLang="zh-CN" b="0" i="1">
                              <a:latin typeface="Cambria Math" panose="02040503050406030204" pitchFamily="18" charset="0"/>
                            </a:rPr>
                            <m:t>x</m:t>
                          </m:r>
                        </m:e>
                      </m:d>
                    </m:oMath>
                  </m:oMathPara>
                </a14:m>
                <a:endParaRPr lang="en-US" altLang="zh-CN" dirty="0"/>
              </a:p>
              <a:p>
                <a:pPr marL="0" indent="0">
                  <a:lnSpc>
                    <a:spcPct val="150000"/>
                  </a:lnSpc>
                  <a:buNone/>
                </a:pPr>
                <a14:m>
                  <m:oMathPara xmlns:m="http://schemas.openxmlformats.org/officeDocument/2006/math">
                    <m:oMathParaPr>
                      <m:jc m:val="left"/>
                    </m:oMathParaPr>
                    <m:oMath xmlns:m="http://schemas.openxmlformats.org/officeDocument/2006/math">
                      <m:r>
                        <a:rPr lang="en-US" altLang="zh-CN" b="0" i="1" smtClean="0">
                          <a:latin typeface="Cambria Math" panose="02040503050406030204" pitchFamily="18" charset="0"/>
                        </a:rPr>
                        <m:t>𝐿</m:t>
                      </m:r>
                      <m:d>
                        <m:dPr>
                          <m:ctrlPr>
                            <a:rPr lang="en-US" altLang="zh-CN" i="1" dirty="0">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𝑓</m:t>
                              </m:r>
                            </m:e>
                            <m:sub>
                              <m:r>
                                <a:rPr lang="en-US" altLang="zh-CN" i="1">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𝑓</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𝑓</m:t>
                              </m:r>
                            </m:e>
                            <m:sub>
                              <m:r>
                                <a:rPr lang="en-US" altLang="zh-CN" b="0" i="1" smtClean="0">
                                  <a:latin typeface="Cambria Math" panose="02040503050406030204" pitchFamily="18" charset="0"/>
                                </a:rPr>
                                <m:t>3</m:t>
                              </m:r>
                            </m:sub>
                          </m:sSub>
                        </m:e>
                      </m:d>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zh-CN" altLang="en-US" i="1">
                              <a:latin typeface="Cambria Math" panose="02040503050406030204" pitchFamily="18" charset="0"/>
                            </a:rPr>
                            <m:t>𝜆</m:t>
                          </m:r>
                        </m:e>
                        <m:sub>
                          <m:r>
                            <a:rPr lang="en-US" altLang="zh-CN" i="1">
                              <a:latin typeface="Cambria Math" panose="02040503050406030204" pitchFamily="18" charset="0"/>
                            </a:rPr>
                            <m:t>1</m:t>
                          </m:r>
                        </m:sub>
                      </m:sSub>
                      <m:r>
                        <m:rPr>
                          <m:sty m:val="p"/>
                        </m:rPr>
                        <a:rPr lang="en-US" altLang="zh-CN">
                          <a:latin typeface="Cambria Math" panose="02040503050406030204" pitchFamily="18" charset="0"/>
                        </a:rPr>
                        <m:t>ln</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𝑓</m:t>
                              </m:r>
                            </m:e>
                            <m:sub>
                              <m:r>
                                <a:rPr lang="en-US" altLang="zh-CN" i="1">
                                  <a:latin typeface="Cambria Math" panose="02040503050406030204" pitchFamily="18" charset="0"/>
                                </a:rPr>
                                <m:t>1</m:t>
                              </m:r>
                            </m:sub>
                          </m:sSub>
                          <m:d>
                            <m:dPr>
                              <m:ctrlPr>
                                <a:rPr lang="en-US" altLang="zh-CN" i="1" dirty="0">
                                  <a:latin typeface="Cambria Math" panose="02040503050406030204" pitchFamily="18" charset="0"/>
                                </a:rPr>
                              </m:ctrlPr>
                            </m:dPr>
                            <m:e>
                              <m:r>
                                <m:rPr>
                                  <m:sty m:val="p"/>
                                </m:rPr>
                                <a:rPr lang="en-US" altLang="zh-CN">
                                  <a:latin typeface="Cambria Math" panose="02040503050406030204" pitchFamily="18" charset="0"/>
                                </a:rPr>
                                <m:t>x</m:t>
                              </m:r>
                            </m:e>
                          </m:d>
                        </m:e>
                      </m:d>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zh-CN" altLang="en-US" i="1">
                              <a:latin typeface="Cambria Math" panose="02040503050406030204" pitchFamily="18" charset="0"/>
                            </a:rPr>
                            <m:t>𝜆</m:t>
                          </m:r>
                        </m:e>
                        <m:sub>
                          <m:r>
                            <a:rPr lang="en-US" altLang="zh-CN" b="0" i="1" smtClean="0">
                              <a:latin typeface="Cambria Math" panose="02040503050406030204" pitchFamily="18" charset="0"/>
                            </a:rPr>
                            <m:t>2</m:t>
                          </m:r>
                        </m:sub>
                      </m:sSub>
                      <m:r>
                        <m:rPr>
                          <m:sty m:val="p"/>
                        </m:rPr>
                        <a:rPr lang="en-US" altLang="zh-CN">
                          <a:latin typeface="Cambria Math" panose="02040503050406030204" pitchFamily="18" charset="0"/>
                        </a:rPr>
                        <m:t>ln</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𝑓</m:t>
                              </m:r>
                            </m:e>
                            <m:sub>
                              <m:r>
                                <a:rPr lang="en-US" altLang="zh-CN" b="0" i="1" smtClean="0">
                                  <a:latin typeface="Cambria Math" panose="02040503050406030204" pitchFamily="18" charset="0"/>
                                </a:rPr>
                                <m:t>2</m:t>
                              </m:r>
                            </m:sub>
                          </m:sSub>
                          <m:d>
                            <m:dPr>
                              <m:ctrlPr>
                                <a:rPr lang="en-US" altLang="zh-CN" i="1" dirty="0">
                                  <a:latin typeface="Cambria Math" panose="02040503050406030204" pitchFamily="18" charset="0"/>
                                </a:rPr>
                              </m:ctrlPr>
                            </m:dPr>
                            <m:e>
                              <m:r>
                                <m:rPr>
                                  <m:sty m:val="p"/>
                                </m:rPr>
                                <a:rPr lang="en-US" altLang="zh-CN">
                                  <a:latin typeface="Cambria Math" panose="02040503050406030204" pitchFamily="18" charset="0"/>
                                </a:rPr>
                                <m:t>x</m:t>
                              </m:r>
                            </m:e>
                          </m:d>
                        </m:e>
                      </m:d>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zh-CN" altLang="en-US" i="1">
                              <a:latin typeface="Cambria Math" panose="02040503050406030204" pitchFamily="18" charset="0"/>
                            </a:rPr>
                            <m:t>𝜆</m:t>
                          </m:r>
                        </m:e>
                        <m:sub>
                          <m:r>
                            <a:rPr lang="en-US" altLang="zh-CN" b="0" i="1" smtClean="0">
                              <a:latin typeface="Cambria Math" panose="02040503050406030204" pitchFamily="18" charset="0"/>
                            </a:rPr>
                            <m:t>3</m:t>
                          </m:r>
                        </m:sub>
                      </m:sSub>
                      <m:r>
                        <m:rPr>
                          <m:sty m:val="p"/>
                        </m:rPr>
                        <a:rPr lang="en-US" altLang="zh-CN">
                          <a:latin typeface="Cambria Math" panose="02040503050406030204" pitchFamily="18" charset="0"/>
                        </a:rPr>
                        <m:t>ln</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𝑓</m:t>
                              </m:r>
                            </m:e>
                            <m:sub>
                              <m:r>
                                <a:rPr lang="en-US" altLang="zh-CN" b="0" i="1" smtClean="0">
                                  <a:latin typeface="Cambria Math" panose="02040503050406030204" pitchFamily="18" charset="0"/>
                                </a:rPr>
                                <m:t>3</m:t>
                              </m:r>
                            </m:sub>
                          </m:sSub>
                          <m:d>
                            <m:dPr>
                              <m:ctrlPr>
                                <a:rPr lang="en-US" altLang="zh-CN" i="1" dirty="0">
                                  <a:latin typeface="Cambria Math" panose="02040503050406030204" pitchFamily="18" charset="0"/>
                                </a:rPr>
                              </m:ctrlPr>
                            </m:dPr>
                            <m:e>
                              <m:r>
                                <m:rPr>
                                  <m:sty m:val="p"/>
                                </m:rPr>
                                <a:rPr lang="en-US" altLang="zh-CN">
                                  <a:latin typeface="Cambria Math" panose="02040503050406030204" pitchFamily="18" charset="0"/>
                                </a:rPr>
                                <m:t>x</m:t>
                              </m:r>
                            </m:e>
                          </m:d>
                        </m:e>
                      </m:d>
                    </m:oMath>
                  </m:oMathPara>
                </a14:m>
                <a:endParaRPr lang="en-US" altLang="zh-CN" dirty="0"/>
              </a:p>
              <a:p>
                <a:pPr marL="0" indent="0">
                  <a:lnSpc>
                    <a:spcPct val="150000"/>
                  </a:lnSpc>
                  <a:buNone/>
                </a:pPr>
                <a:r>
                  <a:rPr lang="zh-CN" altLang="en-US" dirty="0">
                    <a:latin typeface="思源黑体 CN Bold" panose="020B0800000000000000" pitchFamily="34" charset="-122"/>
                    <a:ea typeface="思源黑体 CN Bold" panose="020B0800000000000000" pitchFamily="34" charset="-122"/>
                  </a:rPr>
                  <a:t>全微分公式：</a:t>
                </a:r>
                <a:endParaRPr lang="en-US" altLang="zh-CN" dirty="0">
                  <a:latin typeface="思源黑体 CN Bold" panose="020B0800000000000000" pitchFamily="34" charset="-122"/>
                  <a:ea typeface="思源黑体 CN Bold" panose="020B0800000000000000" pitchFamily="34" charset="-122"/>
                </a:endParaRPr>
              </a:p>
              <a:p>
                <a:pPr marL="0" indent="0">
                  <a:lnSpc>
                    <a:spcPct val="150000"/>
                  </a:lnSpc>
                  <a:buNone/>
                </a:pPr>
                <a14:m>
                  <m:oMathPara xmlns:m="http://schemas.openxmlformats.org/officeDocument/2006/math">
                    <m:oMathParaPr>
                      <m:jc m:val="left"/>
                    </m:oMathParaPr>
                    <m:oMath xmlns:m="http://schemas.openxmlformats.org/officeDocument/2006/math">
                      <m:f>
                        <m:fPr>
                          <m:ctrlPr>
                            <a:rPr lang="en-US" altLang="zh-CN" i="1" smtClean="0">
                              <a:latin typeface="Cambria Math" panose="02040503050406030204" pitchFamily="18" charset="0"/>
                            </a:rPr>
                          </m:ctrlPr>
                        </m:fPr>
                        <m:num>
                          <m:r>
                            <a:rPr lang="en-US" altLang="zh-CN" i="1" smtClean="0">
                              <a:latin typeface="Cambria Math" panose="02040503050406030204" pitchFamily="18" charset="0"/>
                            </a:rPr>
                            <m:t>𝑑</m:t>
                          </m:r>
                          <m:r>
                            <a:rPr lang="en-US" altLang="zh-CN" b="0" i="1" smtClean="0">
                              <a:latin typeface="Cambria Math" panose="02040503050406030204" pitchFamily="18" charset="0"/>
                            </a:rPr>
                            <m:t>𝐿</m:t>
                          </m:r>
                          <m:d>
                            <m:dPr>
                              <m:ctrlPr>
                                <a:rPr lang="en-US" altLang="zh-CN" i="1" dirty="0">
                                  <a:latin typeface="Cambria Math" panose="02040503050406030204" pitchFamily="18" charset="0"/>
                                </a:rPr>
                              </m:ctrlPr>
                            </m:dPr>
                            <m:e>
                              <m:r>
                                <m:rPr>
                                  <m:sty m:val="p"/>
                                </m:rPr>
                                <a:rPr lang="en-US" altLang="zh-CN" i="1">
                                  <a:latin typeface="Cambria Math" panose="02040503050406030204" pitchFamily="18" charset="0"/>
                                </a:rPr>
                                <m:t>x</m:t>
                              </m:r>
                            </m:e>
                          </m:d>
                        </m:num>
                        <m:den>
                          <m:r>
                            <a:rPr lang="en-US" altLang="zh-CN" i="1" smtClean="0">
                              <a:latin typeface="Cambria Math" panose="02040503050406030204" pitchFamily="18" charset="0"/>
                            </a:rPr>
                            <m:t>𝑑𝑥</m:t>
                          </m:r>
                        </m:den>
                      </m:f>
                      <m:r>
                        <a:rPr lang="en-US" altLang="zh-CN" b="0" i="1" smtClean="0">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m:t>
                          </m:r>
                          <m:r>
                            <a:rPr lang="en-US" altLang="zh-CN" i="1">
                              <a:latin typeface="Cambria Math" panose="02040503050406030204" pitchFamily="18" charset="0"/>
                            </a:rPr>
                            <m:t>𝐿</m:t>
                          </m:r>
                        </m:num>
                        <m:den>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𝑓</m:t>
                              </m:r>
                            </m:e>
                            <m:sub>
                              <m:r>
                                <a:rPr lang="en-US" altLang="zh-CN" i="1">
                                  <a:latin typeface="Cambria Math" panose="02040503050406030204" pitchFamily="18" charset="0"/>
                                </a:rPr>
                                <m:t>1</m:t>
                              </m:r>
                            </m:sub>
                          </m:sSub>
                        </m:den>
                      </m:f>
                      <m:f>
                        <m:fPr>
                          <m:ctrlPr>
                            <a:rPr lang="en-US" altLang="zh-CN" i="1">
                              <a:latin typeface="Cambria Math" panose="02040503050406030204" pitchFamily="18" charset="0"/>
                            </a:rPr>
                          </m:ctrlPr>
                        </m:fPr>
                        <m:num>
                          <m:r>
                            <a:rPr lang="en-US" altLang="zh-CN" i="1">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𝑓</m:t>
                              </m:r>
                            </m:e>
                            <m:sub>
                              <m:r>
                                <a:rPr lang="en-US" altLang="zh-CN" i="1">
                                  <a:latin typeface="Cambria Math" panose="02040503050406030204" pitchFamily="18" charset="0"/>
                                </a:rPr>
                                <m:t>1</m:t>
                              </m:r>
                            </m:sub>
                          </m:sSub>
                        </m:num>
                        <m:den>
                          <m:r>
                            <a:rPr lang="en-US" altLang="zh-CN" i="1">
                              <a:latin typeface="Cambria Math" panose="02040503050406030204" pitchFamily="18" charset="0"/>
                            </a:rPr>
                            <m:t>𝜕</m:t>
                          </m:r>
                          <m:r>
                            <a:rPr lang="en-US" altLang="zh-CN" i="1" smtClean="0">
                              <a:latin typeface="Cambria Math" panose="02040503050406030204" pitchFamily="18" charset="0"/>
                            </a:rPr>
                            <m:t>𝑥</m:t>
                          </m:r>
                        </m:den>
                      </m:f>
                      <m:r>
                        <a:rPr lang="en-US" altLang="zh-CN" b="0" i="1" smtClean="0">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m:t>
                          </m:r>
                          <m:r>
                            <a:rPr lang="en-US" altLang="zh-CN" i="1">
                              <a:latin typeface="Cambria Math" panose="02040503050406030204" pitchFamily="18" charset="0"/>
                            </a:rPr>
                            <m:t>𝐿</m:t>
                          </m:r>
                        </m:num>
                        <m:den>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𝑓</m:t>
                              </m:r>
                            </m:e>
                            <m:sub>
                              <m:r>
                                <a:rPr lang="en-US" altLang="zh-CN" b="0" i="1" smtClean="0">
                                  <a:latin typeface="Cambria Math" panose="02040503050406030204" pitchFamily="18" charset="0"/>
                                </a:rPr>
                                <m:t>2</m:t>
                              </m:r>
                            </m:sub>
                          </m:sSub>
                        </m:den>
                      </m:f>
                      <m:f>
                        <m:fPr>
                          <m:ctrlPr>
                            <a:rPr lang="en-US" altLang="zh-CN" i="1">
                              <a:latin typeface="Cambria Math" panose="02040503050406030204" pitchFamily="18" charset="0"/>
                            </a:rPr>
                          </m:ctrlPr>
                        </m:fPr>
                        <m:num>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𝑓</m:t>
                              </m:r>
                            </m:e>
                            <m:sub>
                              <m:r>
                                <a:rPr lang="en-US" altLang="zh-CN" b="0" i="1" smtClean="0">
                                  <a:latin typeface="Cambria Math" panose="02040503050406030204" pitchFamily="18" charset="0"/>
                                </a:rPr>
                                <m:t>2</m:t>
                              </m:r>
                            </m:sub>
                          </m:sSub>
                        </m:num>
                        <m:den>
                          <m:r>
                            <a:rPr lang="en-US" altLang="zh-CN" i="1">
                              <a:latin typeface="Cambria Math" panose="02040503050406030204" pitchFamily="18" charset="0"/>
                            </a:rPr>
                            <m:t>𝜕</m:t>
                          </m:r>
                          <m:r>
                            <a:rPr lang="en-US" altLang="zh-CN" i="1">
                              <a:latin typeface="Cambria Math" panose="02040503050406030204" pitchFamily="18" charset="0"/>
                            </a:rPr>
                            <m:t>𝑥</m:t>
                          </m:r>
                        </m:den>
                      </m:f>
                      <m:r>
                        <a:rPr lang="en-US" altLang="zh-CN" b="0" i="1" smtClean="0">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m:t>
                          </m:r>
                          <m:r>
                            <a:rPr lang="en-US" altLang="zh-CN" i="1">
                              <a:latin typeface="Cambria Math" panose="02040503050406030204" pitchFamily="18" charset="0"/>
                            </a:rPr>
                            <m:t>𝐿</m:t>
                          </m:r>
                        </m:num>
                        <m:den>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𝑓</m:t>
                              </m:r>
                            </m:e>
                            <m:sub>
                              <m:r>
                                <a:rPr lang="en-US" altLang="zh-CN" b="0" i="1" smtClean="0">
                                  <a:latin typeface="Cambria Math" panose="02040503050406030204" pitchFamily="18" charset="0"/>
                                </a:rPr>
                                <m:t>3</m:t>
                              </m:r>
                            </m:sub>
                          </m:sSub>
                        </m:den>
                      </m:f>
                      <m:f>
                        <m:fPr>
                          <m:ctrlPr>
                            <a:rPr lang="en-US" altLang="zh-CN" i="1">
                              <a:latin typeface="Cambria Math" panose="02040503050406030204" pitchFamily="18" charset="0"/>
                            </a:rPr>
                          </m:ctrlPr>
                        </m:fPr>
                        <m:num>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𝑓</m:t>
                              </m:r>
                            </m:e>
                            <m:sub>
                              <m:r>
                                <a:rPr lang="en-US" altLang="zh-CN" b="0" i="1" smtClean="0">
                                  <a:latin typeface="Cambria Math" panose="02040503050406030204" pitchFamily="18" charset="0"/>
                                </a:rPr>
                                <m:t>3</m:t>
                              </m:r>
                            </m:sub>
                          </m:sSub>
                        </m:num>
                        <m:den>
                          <m:r>
                            <a:rPr lang="en-US" altLang="zh-CN" i="1">
                              <a:latin typeface="Cambria Math" panose="02040503050406030204" pitchFamily="18" charset="0"/>
                            </a:rPr>
                            <m:t>𝜕</m:t>
                          </m:r>
                          <m:r>
                            <a:rPr lang="en-US" altLang="zh-CN" i="1">
                              <a:latin typeface="Cambria Math" panose="02040503050406030204" pitchFamily="18" charset="0"/>
                            </a:rPr>
                            <m:t>𝑥</m:t>
                          </m:r>
                        </m:den>
                      </m:f>
                    </m:oMath>
                  </m:oMathPara>
                </a14:m>
                <a:endParaRPr lang="zh-CN" altLang="en-US" dirty="0"/>
              </a:p>
            </p:txBody>
          </p:sp>
        </mc:Choice>
        <mc:Fallback xmlns="">
          <p:sp>
            <p:nvSpPr>
              <p:cNvPr id="3" name="内容占位符 2">
                <a:extLst>
                  <a:ext uri="{FF2B5EF4-FFF2-40B4-BE49-F238E27FC236}">
                    <a16:creationId xmlns:a16="http://schemas.microsoft.com/office/drawing/2014/main" id="{0CD3DE7A-626E-4DE9-864E-6662D8915DEE}"/>
                  </a:ext>
                </a:extLst>
              </p:cNvPr>
              <p:cNvSpPr>
                <a:spLocks noGrp="1" noRot="1" noChangeAspect="1" noMove="1" noResize="1" noEditPoints="1" noAdjustHandles="1" noChangeArrowheads="1" noChangeShapeType="1" noTextEdit="1"/>
              </p:cNvSpPr>
              <p:nvPr>
                <p:ph idx="4294967295"/>
              </p:nvPr>
            </p:nvSpPr>
            <p:spPr>
              <a:xfrm>
                <a:off x="906126" y="1214284"/>
                <a:ext cx="10515600" cy="4351338"/>
              </a:xfrm>
              <a:blipFill>
                <a:blip r:embed="rId2"/>
                <a:stretch>
                  <a:fillRect l="-121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157541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6AF3F0-4352-4D79-A227-6FCBA2EBA88A}"/>
              </a:ext>
            </a:extLst>
          </p:cNvPr>
          <p:cNvSpPr>
            <a:spLocks noGrp="1"/>
          </p:cNvSpPr>
          <p:nvPr>
            <p:ph type="title" idx="4294967295"/>
          </p:nvPr>
        </p:nvSpPr>
        <p:spPr>
          <a:xfrm>
            <a:off x="373163" y="68259"/>
            <a:ext cx="7762384" cy="612656"/>
          </a:xfrm>
        </p:spPr>
        <p:txBody>
          <a:bodyPr>
            <a:noAutofit/>
          </a:bodyPr>
          <a:lstStyle/>
          <a:p>
            <a:r>
              <a:rPr lang="en-US" altLang="zh-CN" sz="3600" dirty="0">
                <a:latin typeface="思源黑体 CN Bold" panose="020B0800000000000000" pitchFamily="34" charset="-122"/>
                <a:ea typeface="思源黑体 CN Bold" panose="020B0800000000000000" pitchFamily="34" charset="-122"/>
              </a:rPr>
              <a:t>4 </a:t>
            </a:r>
            <a:r>
              <a:rPr lang="zh-CN" altLang="en-US" sz="3600" dirty="0">
                <a:latin typeface="思源黑体 CN Bold" panose="020B0800000000000000" pitchFamily="34" charset="-122"/>
                <a:ea typeface="思源黑体 CN Bold" panose="020B0800000000000000" pitchFamily="34" charset="-122"/>
              </a:rPr>
              <a:t>误差后向传播：</a:t>
            </a:r>
            <a:r>
              <a:rPr lang="zh-CN" altLang="en-US" sz="2800" dirty="0">
                <a:latin typeface="思源黑体 CN Bold" panose="020B0800000000000000" pitchFamily="34" charset="-122"/>
                <a:ea typeface="思源黑体 CN Bold" panose="020B0800000000000000" pitchFamily="34" charset="-122"/>
              </a:rPr>
              <a:t>隐含层权值的梯度</a:t>
            </a:r>
            <a:endParaRPr lang="zh-CN" altLang="en-US" sz="3600"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B5F15897-98F0-4E08-931A-45E1DC23C6B6}"/>
                  </a:ext>
                </a:extLst>
              </p:cNvPr>
              <p:cNvSpPr>
                <a:spLocks noGrp="1"/>
              </p:cNvSpPr>
              <p:nvPr>
                <p:ph idx="4294967295"/>
              </p:nvPr>
            </p:nvSpPr>
            <p:spPr>
              <a:xfrm>
                <a:off x="847463" y="1884806"/>
                <a:ext cx="7705398" cy="4848038"/>
              </a:xfrm>
            </p:spPr>
            <p:txBody>
              <a:bodyPr>
                <a:noAutofit/>
              </a:bodyPr>
              <a:lstStyle/>
              <a:p>
                <a:pPr marL="0" indent="0">
                  <a:lnSpc>
                    <a:spcPct val="100000"/>
                  </a:lnSpc>
                  <a:spcAft>
                    <a:spcPts val="500"/>
                  </a:spcAft>
                  <a:buNone/>
                </a:pPr>
                <a14:m>
                  <m:oMathPara xmlns:m="http://schemas.openxmlformats.org/officeDocument/2006/math">
                    <m:oMathParaPr>
                      <m:jc m:val="left"/>
                    </m:oMathParaPr>
                    <m:oMath xmlns:m="http://schemas.openxmlformats.org/officeDocument/2006/math">
                      <m:sSub>
                        <m:sSubPr>
                          <m:ctrlPr>
                            <a:rPr lang="en-US" altLang="zh-CN" sz="1600" b="1" i="1" smtClean="0">
                              <a:latin typeface="Cambria Math" panose="02040503050406030204" pitchFamily="18" charset="0"/>
                            </a:rPr>
                          </m:ctrlPr>
                        </m:sSubPr>
                        <m:e>
                          <m:r>
                            <m:rPr>
                              <m:sty m:val="p"/>
                            </m:rPr>
                            <a:rPr lang="en-US" altLang="zh-CN" sz="1600" i="1" dirty="0">
                              <a:latin typeface="Cambria Math" panose="02040503050406030204" pitchFamily="18" charset="0"/>
                            </a:rPr>
                            <m:t>Loss</m:t>
                          </m:r>
                        </m:e>
                        <m:sub>
                          <m:r>
                            <a:rPr lang="en-US" altLang="zh-CN" sz="1600" b="0" i="1" smtClean="0">
                              <a:latin typeface="Cambria Math" panose="02040503050406030204" pitchFamily="18" charset="0"/>
                            </a:rPr>
                            <m:t>𝑛</m:t>
                          </m:r>
                        </m:sub>
                      </m:sSub>
                      <m:d>
                        <m:dPr>
                          <m:ctrlPr>
                            <a:rPr lang="en-US" altLang="zh-CN" sz="1600" i="1" dirty="0">
                              <a:latin typeface="Cambria Math" panose="02040503050406030204" pitchFamily="18" charset="0"/>
                            </a:rPr>
                          </m:ctrlPr>
                        </m:dPr>
                        <m:e>
                          <m:r>
                            <a:rPr lang="en-US" altLang="zh-CN" sz="1600" b="1">
                              <a:latin typeface="Cambria Math" panose="02040503050406030204" pitchFamily="18" charset="0"/>
                            </a:rPr>
                            <m:t>𝐰</m:t>
                          </m:r>
                        </m:e>
                      </m:d>
                      <m:r>
                        <a:rPr lang="en-US" altLang="zh-CN" sz="1600" i="1" smtClean="0">
                          <a:latin typeface="Cambria Math" panose="02040503050406030204" pitchFamily="18" charset="0"/>
                        </a:rPr>
                        <m:t>=</m:t>
                      </m:r>
                      <m:r>
                        <a:rPr lang="en-US" altLang="zh-CN" sz="1600" b="1" i="1" smtClean="0">
                          <a:latin typeface="Cambria Math" panose="02040503050406030204" pitchFamily="18" charset="0"/>
                        </a:rPr>
                        <m:t>−</m:t>
                      </m:r>
                      <m:nary>
                        <m:naryPr>
                          <m:chr m:val="∑"/>
                          <m:ctrlPr>
                            <a:rPr lang="en-US" altLang="zh-CN" sz="1600" i="1">
                              <a:latin typeface="Cambria Math" panose="02040503050406030204" pitchFamily="18" charset="0"/>
                            </a:rPr>
                          </m:ctrlPr>
                        </m:naryPr>
                        <m:sub>
                          <m:r>
                            <m:rPr>
                              <m:brk m:alnAt="23"/>
                            </m:rPr>
                            <a:rPr lang="en-US" altLang="zh-CN" sz="1600" i="1">
                              <a:latin typeface="Cambria Math" panose="02040503050406030204" pitchFamily="18" charset="0"/>
                            </a:rPr>
                            <m:t>𝑘</m:t>
                          </m:r>
                          <m:r>
                            <a:rPr lang="en-US" altLang="zh-CN" sz="1600" i="1">
                              <a:latin typeface="Cambria Math" panose="02040503050406030204" pitchFamily="18" charset="0"/>
                            </a:rPr>
                            <m:t>=1</m:t>
                          </m:r>
                        </m:sub>
                        <m:sup>
                          <m:r>
                            <a:rPr lang="en-US" altLang="zh-CN" sz="1600" i="1">
                              <a:latin typeface="Cambria Math" panose="02040503050406030204" pitchFamily="18" charset="0"/>
                            </a:rPr>
                            <m:t>𝐾</m:t>
                          </m:r>
                        </m:sup>
                        <m:e>
                          <m:sSub>
                            <m:sSubPr>
                              <m:ctrlPr>
                                <a:rPr lang="en-US" altLang="zh-CN" sz="1600" b="1" i="1">
                                  <a:latin typeface="Cambria Math" panose="02040503050406030204" pitchFamily="18" charset="0"/>
                                </a:rPr>
                              </m:ctrlPr>
                            </m:sSubPr>
                            <m:e>
                              <m:r>
                                <a:rPr lang="en-US" altLang="zh-CN" sz="1600" i="1">
                                  <a:latin typeface="Cambria Math" panose="02040503050406030204" pitchFamily="18" charset="0"/>
                                </a:rPr>
                                <m:t>𝑡</m:t>
                              </m:r>
                            </m:e>
                            <m:sub>
                              <m:r>
                                <a:rPr lang="en-US" altLang="zh-CN" sz="1600" i="1">
                                  <a:latin typeface="Cambria Math" panose="02040503050406030204" pitchFamily="18" charset="0"/>
                                </a:rPr>
                                <m:t>𝑘</m:t>
                              </m:r>
                            </m:sub>
                          </m:sSub>
                          <m:r>
                            <m:rPr>
                              <m:sty m:val="p"/>
                            </m:rPr>
                            <a:rPr lang="en-US" altLang="zh-CN" sz="1600">
                              <a:latin typeface="Cambria Math" panose="02040503050406030204" pitchFamily="18" charset="0"/>
                            </a:rPr>
                            <m:t>ln</m:t>
                          </m:r>
                          <m:d>
                            <m:dPr>
                              <m:begChr m:val="{"/>
                              <m:endChr m:val="}"/>
                              <m:ctrlPr>
                                <a:rPr lang="en-US" altLang="zh-CN" sz="1600" i="1">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𝑦</m:t>
                                  </m:r>
                                </m:e>
                                <m:sub>
                                  <m:r>
                                    <a:rPr lang="en-US" altLang="zh-CN" sz="1600" i="1">
                                      <a:latin typeface="Cambria Math" panose="02040503050406030204" pitchFamily="18" charset="0"/>
                                    </a:rPr>
                                    <m:t>𝑘</m:t>
                                  </m:r>
                                </m:sub>
                              </m:sSub>
                            </m:e>
                          </m:d>
                        </m:e>
                      </m:nary>
                      <m:r>
                        <a:rPr lang="en-US" altLang="zh-CN" sz="1600" b="0" i="1" smtClean="0">
                          <a:latin typeface="Cambria Math" panose="02040503050406030204" pitchFamily="18" charset="0"/>
                        </a:rPr>
                        <m:t>=</m:t>
                      </m:r>
                      <m:r>
                        <a:rPr lang="en-US" altLang="zh-CN" sz="1600" b="1" i="1">
                          <a:latin typeface="Cambria Math" panose="02040503050406030204" pitchFamily="18" charset="0"/>
                        </a:rPr>
                        <m:t>−</m:t>
                      </m:r>
                      <m:nary>
                        <m:naryPr>
                          <m:chr m:val="∑"/>
                          <m:ctrlPr>
                            <a:rPr lang="en-US" altLang="zh-CN" sz="1600" i="1">
                              <a:latin typeface="Cambria Math" panose="02040503050406030204" pitchFamily="18" charset="0"/>
                            </a:rPr>
                          </m:ctrlPr>
                        </m:naryPr>
                        <m:sub>
                          <m:r>
                            <m:rPr>
                              <m:brk m:alnAt="23"/>
                            </m:rPr>
                            <a:rPr lang="en-US" altLang="zh-CN" sz="1600" i="1">
                              <a:latin typeface="Cambria Math" panose="02040503050406030204" pitchFamily="18" charset="0"/>
                            </a:rPr>
                            <m:t>𝑘</m:t>
                          </m:r>
                          <m:r>
                            <a:rPr lang="en-US" altLang="zh-CN" sz="1600" i="1">
                              <a:latin typeface="Cambria Math" panose="02040503050406030204" pitchFamily="18" charset="0"/>
                            </a:rPr>
                            <m:t>=1</m:t>
                          </m:r>
                        </m:sub>
                        <m:sup>
                          <m:r>
                            <a:rPr lang="en-US" altLang="zh-CN" sz="1600" i="1">
                              <a:latin typeface="Cambria Math" panose="02040503050406030204" pitchFamily="18" charset="0"/>
                            </a:rPr>
                            <m:t>𝐾</m:t>
                          </m:r>
                        </m:sup>
                        <m:e>
                          <m:sSub>
                            <m:sSubPr>
                              <m:ctrlPr>
                                <a:rPr lang="en-US" altLang="zh-CN" sz="1600" b="1" i="1">
                                  <a:latin typeface="Cambria Math" panose="02040503050406030204" pitchFamily="18" charset="0"/>
                                </a:rPr>
                              </m:ctrlPr>
                            </m:sSubPr>
                            <m:e>
                              <m:r>
                                <a:rPr lang="en-US" altLang="zh-CN" sz="1600" i="1">
                                  <a:latin typeface="Cambria Math" panose="02040503050406030204" pitchFamily="18" charset="0"/>
                                </a:rPr>
                                <m:t>𝑡</m:t>
                              </m:r>
                            </m:e>
                            <m:sub>
                              <m:r>
                                <a:rPr lang="en-US" altLang="zh-CN" sz="1600" i="1">
                                  <a:latin typeface="Cambria Math" panose="02040503050406030204" pitchFamily="18" charset="0"/>
                                </a:rPr>
                                <m:t>𝑘</m:t>
                              </m:r>
                            </m:sub>
                          </m:sSub>
                          <m:r>
                            <m:rPr>
                              <m:sty m:val="p"/>
                            </m:rPr>
                            <a:rPr lang="en-US" altLang="zh-CN" sz="1600">
                              <a:latin typeface="Cambria Math" panose="02040503050406030204" pitchFamily="18" charset="0"/>
                            </a:rPr>
                            <m:t>ln</m:t>
                          </m:r>
                          <m:d>
                            <m:dPr>
                              <m:begChr m:val="{"/>
                              <m:endChr m:val="}"/>
                              <m:ctrlPr>
                                <a:rPr lang="en-US" altLang="zh-CN" sz="1600" i="1">
                                  <a:latin typeface="Cambria Math" panose="02040503050406030204" pitchFamily="18" charset="0"/>
                                </a:rPr>
                              </m:ctrlPr>
                            </m:dPr>
                            <m:e>
                              <m:r>
                                <a:rPr lang="en-US" altLang="zh-CN" sz="1600" i="1">
                                  <a:latin typeface="Cambria Math" panose="02040503050406030204" pitchFamily="18" charset="0"/>
                                </a:rPr>
                                <m:t>𝑠𝑜𝑓𝑡𝑚𝑎𝑥</m:t>
                              </m:r>
                              <m:d>
                                <m:dPr>
                                  <m:ctrlPr>
                                    <a:rPr lang="en-US" altLang="zh-CN" sz="1600" i="1">
                                      <a:latin typeface="Cambria Math" panose="02040503050406030204" pitchFamily="18" charset="0"/>
                                    </a:rPr>
                                  </m:ctrlPr>
                                </m:dPr>
                                <m:e>
                                  <m:sSub>
                                    <m:sSubPr>
                                      <m:ctrlPr>
                                        <a:rPr lang="en-US" altLang="zh-CN" sz="1600" b="1"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𝑘</m:t>
                                      </m:r>
                                    </m:sub>
                                  </m:sSub>
                                </m:e>
                              </m:d>
                            </m:e>
                          </m:d>
                        </m:e>
                      </m:nary>
                      <m:r>
                        <a:rPr lang="en-US" altLang="zh-CN" sz="1600" b="0" i="0" smtClean="0">
                          <a:latin typeface="Cambria Math" panose="02040503050406030204" pitchFamily="18" charset="0"/>
                        </a:rPr>
                        <m:t>, </m:t>
                      </m:r>
                      <m:sSub>
                        <m:sSubPr>
                          <m:ctrlPr>
                            <a:rPr lang="en-US" altLang="zh-CN" sz="1600" b="1"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𝑘</m:t>
                          </m:r>
                        </m:sub>
                      </m:sSub>
                      <m:r>
                        <a:rPr lang="en-US" altLang="zh-CN" sz="1600" b="1" i="1">
                          <a:latin typeface="Cambria Math" panose="02040503050406030204" pitchFamily="18" charset="0"/>
                        </a:rPr>
                        <m:t>=</m:t>
                      </m:r>
                      <m:nary>
                        <m:naryPr>
                          <m:chr m:val="∑"/>
                          <m:ctrlPr>
                            <a:rPr lang="en-US" altLang="zh-CN" sz="1600" i="1">
                              <a:latin typeface="Cambria Math" panose="02040503050406030204" pitchFamily="18" charset="0"/>
                            </a:rPr>
                          </m:ctrlPr>
                        </m:naryPr>
                        <m:sub>
                          <m:r>
                            <m:rPr>
                              <m:brk m:alnAt="23"/>
                            </m:rPr>
                            <a:rPr lang="en-US" altLang="zh-CN" sz="1600" i="1" smtClean="0">
                              <a:latin typeface="Cambria Math" panose="02040503050406030204" pitchFamily="18" charset="0"/>
                            </a:rPr>
                            <m:t>𝑗</m:t>
                          </m:r>
                          <m:r>
                            <a:rPr lang="en-US" altLang="zh-CN" sz="1600" i="1">
                              <a:latin typeface="Cambria Math" panose="02040503050406030204" pitchFamily="18" charset="0"/>
                            </a:rPr>
                            <m:t>=1</m:t>
                          </m:r>
                        </m:sub>
                        <m:sup>
                          <m:r>
                            <a:rPr lang="en-US" altLang="zh-CN" sz="1600" i="1">
                              <a:latin typeface="Cambria Math" panose="02040503050406030204" pitchFamily="18" charset="0"/>
                            </a:rPr>
                            <m:t>𝑀</m:t>
                          </m:r>
                        </m:sup>
                        <m:e>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𝑤</m:t>
                              </m:r>
                            </m:e>
                            <m:sub>
                              <m:r>
                                <a:rPr lang="en-US" altLang="zh-CN" sz="1600" i="1">
                                  <a:latin typeface="Cambria Math" panose="02040503050406030204" pitchFamily="18" charset="0"/>
                                </a:rPr>
                                <m:t>𝑘𝑗</m:t>
                              </m:r>
                            </m:sub>
                            <m:sup>
                              <m:d>
                                <m:dPr>
                                  <m:ctrlPr>
                                    <a:rPr lang="en-US" altLang="zh-CN" sz="1600" b="1" i="1">
                                      <a:latin typeface="Cambria Math" panose="02040503050406030204" pitchFamily="18" charset="0"/>
                                    </a:rPr>
                                  </m:ctrlPr>
                                </m:dPr>
                                <m:e>
                                  <m:r>
                                    <a:rPr lang="en-US" altLang="zh-CN" sz="1600" i="1">
                                      <a:latin typeface="Cambria Math" panose="02040503050406030204" pitchFamily="18" charset="0"/>
                                    </a:rPr>
                                    <m:t>2</m:t>
                                  </m:r>
                                </m:e>
                              </m:d>
                            </m:sup>
                          </m:sSubSup>
                          <m:r>
                            <a:rPr lang="en-US" altLang="zh-CN" sz="1600" i="1">
                              <a:latin typeface="Cambria Math" panose="02040503050406030204" pitchFamily="18" charset="0"/>
                            </a:rPr>
                            <m:t>h</m:t>
                          </m:r>
                          <m:d>
                            <m:dPr>
                              <m:ctrlPr>
                                <a:rPr lang="en-US" altLang="zh-CN" sz="1600" b="1" i="1">
                                  <a:latin typeface="Cambria Math" panose="02040503050406030204" pitchFamily="18" charset="0"/>
                                </a:rPr>
                              </m:ctrlPr>
                            </m:dPr>
                            <m:e>
                              <m:sSub>
                                <m:sSubPr>
                                  <m:ctrlPr>
                                    <a:rPr lang="en-US" altLang="zh-CN" sz="1600" b="1"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𝑗</m:t>
                                  </m:r>
                                </m:sub>
                              </m:sSub>
                            </m:e>
                          </m:d>
                        </m:e>
                      </m:nary>
                    </m:oMath>
                  </m:oMathPara>
                </a14:m>
                <a:endParaRPr lang="en-US" altLang="zh-CN" sz="1600" dirty="0">
                  <a:latin typeface="Monaco" panose="020B0509030404040204" pitchFamily="49" charset="0"/>
                  <a:ea typeface="思源黑体 CN Bold" panose="020B0800000000000000" pitchFamily="34" charset="-122"/>
                  <a:cs typeface="+mj-cs"/>
                </a:endParaRPr>
              </a:p>
              <a:p>
                <a:pPr marL="0" indent="0">
                  <a:lnSpc>
                    <a:spcPct val="100000"/>
                  </a:lnSpc>
                  <a:spcAft>
                    <a:spcPts val="500"/>
                  </a:spcAft>
                  <a:buNone/>
                </a:pPr>
                <a14:m>
                  <m:oMathPara xmlns:m="http://schemas.openxmlformats.org/officeDocument/2006/math">
                    <m:oMathParaPr>
                      <m:jc m:val="left"/>
                    </m:oMathParaPr>
                    <m:oMath xmlns:m="http://schemas.openxmlformats.org/officeDocument/2006/math">
                      <m:sSub>
                        <m:sSubPr>
                          <m:ctrlPr>
                            <a:rPr lang="en-US" altLang="zh-CN" sz="1600" b="1" i="1">
                              <a:latin typeface="Cambria Math" panose="02040503050406030204" pitchFamily="18" charset="0"/>
                            </a:rPr>
                          </m:ctrlPr>
                        </m:sSubPr>
                        <m:e>
                          <m:r>
                            <m:rPr>
                              <m:sty m:val="p"/>
                            </m:rPr>
                            <a:rPr lang="en-US" altLang="zh-CN" sz="1600" i="1" dirty="0">
                              <a:latin typeface="Cambria Math" panose="02040503050406030204" pitchFamily="18" charset="0"/>
                            </a:rPr>
                            <m:t>Loss</m:t>
                          </m:r>
                        </m:e>
                        <m:sub>
                          <m:r>
                            <a:rPr lang="en-US" altLang="zh-CN" sz="1600" i="1">
                              <a:latin typeface="Cambria Math" panose="02040503050406030204" pitchFamily="18" charset="0"/>
                            </a:rPr>
                            <m:t>𝑛</m:t>
                          </m:r>
                        </m:sub>
                      </m:sSub>
                      <m:d>
                        <m:dPr>
                          <m:ctrlPr>
                            <a:rPr lang="en-US" altLang="zh-CN" sz="1600" i="1" dirty="0">
                              <a:latin typeface="Cambria Math" panose="02040503050406030204" pitchFamily="18" charset="0"/>
                            </a:rPr>
                          </m:ctrlPr>
                        </m:dPr>
                        <m:e>
                          <m:r>
                            <a:rPr lang="en-US" altLang="zh-CN" sz="1600" b="1">
                              <a:latin typeface="Cambria Math" panose="02040503050406030204" pitchFamily="18" charset="0"/>
                            </a:rPr>
                            <m:t>𝐰</m:t>
                          </m:r>
                        </m:e>
                      </m:d>
                      <m:r>
                        <a:rPr lang="en-US" altLang="zh-CN" sz="1600" i="1">
                          <a:latin typeface="Cambria Math" panose="02040503050406030204" pitchFamily="18" charset="0"/>
                        </a:rPr>
                        <m:t>=</m:t>
                      </m:r>
                      <m:r>
                        <a:rPr lang="en-US" altLang="zh-CN" sz="1600" b="0" i="1" dirty="0">
                          <a:latin typeface="Cambria Math" panose="02040503050406030204" pitchFamily="18" charset="0"/>
                        </a:rPr>
                        <m:t>𝐿</m:t>
                      </m:r>
                      <m:d>
                        <m:dPr>
                          <m:ctrlPr>
                            <a:rPr lang="en-US" altLang="zh-CN" sz="1600" i="1" dirty="0">
                              <a:latin typeface="Cambria Math" panose="02040503050406030204" pitchFamily="18" charset="0"/>
                            </a:rPr>
                          </m:ctrlPr>
                        </m:dPr>
                        <m:e>
                          <m:sSub>
                            <m:sSubPr>
                              <m:ctrlPr>
                                <a:rPr lang="en-US" altLang="zh-CN" sz="1600" b="1"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b="0" i="1" smtClean="0">
                                  <a:latin typeface="Cambria Math" panose="02040503050406030204" pitchFamily="18" charset="0"/>
                                </a:rPr>
                                <m:t>1</m:t>
                              </m:r>
                            </m:sub>
                          </m:sSub>
                          <m:r>
                            <a:rPr lang="en-US" altLang="zh-CN" sz="1600" b="1" i="1" smtClean="0">
                              <a:latin typeface="Cambria Math" panose="02040503050406030204" pitchFamily="18" charset="0"/>
                            </a:rPr>
                            <m:t>,</m:t>
                          </m:r>
                          <m:sSub>
                            <m:sSubPr>
                              <m:ctrlPr>
                                <a:rPr lang="en-US" altLang="zh-CN" sz="1600" b="1"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b="0" i="1" smtClean="0">
                                  <a:latin typeface="Cambria Math" panose="02040503050406030204" pitchFamily="18" charset="0"/>
                                </a:rPr>
                                <m:t>2</m:t>
                              </m:r>
                            </m:sub>
                          </m:sSub>
                          <m:r>
                            <a:rPr lang="en-US" altLang="zh-CN" sz="1600" b="1" i="1" smtClean="0">
                              <a:latin typeface="Cambria Math" panose="02040503050406030204" pitchFamily="18" charset="0"/>
                            </a:rPr>
                            <m:t>,…,</m:t>
                          </m:r>
                          <m:sSub>
                            <m:sSubPr>
                              <m:ctrlPr>
                                <a:rPr lang="en-US" altLang="zh-CN" sz="1600" b="1"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b="0" i="1" smtClean="0">
                                  <a:latin typeface="Cambria Math" panose="02040503050406030204" pitchFamily="18" charset="0"/>
                                </a:rPr>
                                <m:t>𝐾</m:t>
                              </m:r>
                            </m:sub>
                          </m:sSub>
                        </m:e>
                      </m:d>
                      <m:r>
                        <a:rPr lang="en-US" altLang="zh-CN" sz="1600" b="0" i="1" smtClean="0">
                          <a:latin typeface="Cambria Math" panose="02040503050406030204" pitchFamily="18" charset="0"/>
                        </a:rPr>
                        <m:t>;</m:t>
                      </m:r>
                      <m:sSub>
                        <m:sSubPr>
                          <m:ctrlPr>
                            <a:rPr lang="en-US" altLang="zh-CN" sz="1600" b="1"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𝑘</m:t>
                          </m:r>
                        </m:sub>
                      </m:sSub>
                      <m:r>
                        <a:rPr lang="en-US" altLang="zh-CN" sz="1600" b="1" i="1">
                          <a:latin typeface="Cambria Math" panose="02040503050406030204" pitchFamily="18" charset="0"/>
                        </a:rPr>
                        <m:t>=</m:t>
                      </m:r>
                      <m:sSub>
                        <m:sSubPr>
                          <m:ctrlPr>
                            <a:rPr lang="en-US" altLang="zh-CN" sz="1600" b="1"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𝑘</m:t>
                          </m:r>
                        </m:sub>
                      </m:sSub>
                      <m:d>
                        <m:dPr>
                          <m:ctrlPr>
                            <a:rPr lang="en-US" altLang="zh-CN" sz="1600" b="1" i="1">
                              <a:latin typeface="Cambria Math" panose="02040503050406030204" pitchFamily="18" charset="0"/>
                            </a:rPr>
                          </m:ctrlPr>
                        </m:dPr>
                        <m:e>
                          <m:sSub>
                            <m:sSubPr>
                              <m:ctrlPr>
                                <a:rPr lang="en-US" altLang="zh-CN" sz="1600" b="1"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𝑗</m:t>
                              </m:r>
                            </m:sub>
                          </m:sSub>
                        </m:e>
                      </m:d>
                    </m:oMath>
                  </m:oMathPara>
                </a14:m>
                <a:endParaRPr lang="en-US" altLang="zh-CN" sz="1600" dirty="0">
                  <a:latin typeface="Monaco" panose="020B0509030404040204" pitchFamily="49" charset="0"/>
                  <a:ea typeface="思源黑体 CN Bold" panose="020B0800000000000000" pitchFamily="34" charset="-122"/>
                  <a:cs typeface="+mj-cs"/>
                </a:endParaRPr>
              </a:p>
              <a:p>
                <a:pPr marL="0" indent="0">
                  <a:lnSpc>
                    <a:spcPct val="100000"/>
                  </a:lnSpc>
                  <a:spcAft>
                    <a:spcPts val="500"/>
                  </a:spcAft>
                  <a:buNone/>
                </a:pPr>
                <a:r>
                  <a:rPr lang="zh-CN" altLang="en-US" sz="1600" dirty="0">
                    <a:latin typeface="Monaco" panose="020B0509030404040204" pitchFamily="49" charset="0"/>
                    <a:ea typeface="思源黑体 CN Bold" panose="020B0800000000000000" pitchFamily="34" charset="-122"/>
                  </a:rPr>
                  <a:t>全微分公式：</a:t>
                </a:r>
                <a:endParaRPr lang="en-US" altLang="zh-CN" sz="1600" dirty="0">
                  <a:latin typeface="Monaco" panose="020B0509030404040204" pitchFamily="49" charset="0"/>
                  <a:ea typeface="思源黑体 CN Bold" panose="020B0800000000000000" pitchFamily="34" charset="-122"/>
                </a:endParaRPr>
              </a:p>
              <a:p>
                <a:pPr marL="0" indent="0">
                  <a:lnSpc>
                    <a:spcPct val="100000"/>
                  </a:lnSpc>
                  <a:spcAft>
                    <a:spcPts val="500"/>
                  </a:spcAft>
                  <a:buNone/>
                </a:pPr>
                <a14:m>
                  <m:oMathPara xmlns:m="http://schemas.openxmlformats.org/officeDocument/2006/math">
                    <m:oMathParaPr>
                      <m:jc m:val="left"/>
                    </m:oMathParaPr>
                    <m:oMath xmlns:m="http://schemas.openxmlformats.org/officeDocument/2006/math">
                      <m:f>
                        <m:fPr>
                          <m:ctrlPr>
                            <a:rPr lang="en-US" altLang="zh-CN" sz="1600" i="1">
                              <a:latin typeface="Cambria Math" panose="02040503050406030204" pitchFamily="18" charset="0"/>
                            </a:rPr>
                          </m:ctrlPr>
                        </m:fPr>
                        <m:num>
                          <m:r>
                            <a:rPr lang="en-US" altLang="zh-CN" sz="1600" i="1">
                              <a:latin typeface="Cambria Math" panose="02040503050406030204" pitchFamily="18" charset="0"/>
                            </a:rPr>
                            <m:t>𝜕</m:t>
                          </m:r>
                          <m:r>
                            <a:rPr lang="en-US" altLang="zh-CN" sz="1600" b="0" i="1" smtClean="0">
                              <a:latin typeface="Cambria Math" panose="02040503050406030204" pitchFamily="18" charset="0"/>
                            </a:rPr>
                            <m:t>𝐿</m:t>
                          </m:r>
                        </m:num>
                        <m:den>
                          <m:r>
                            <a:rPr lang="en-US" altLang="zh-CN" sz="1600" i="1">
                              <a:latin typeface="Cambria Math" panose="02040503050406030204" pitchFamily="18" charset="0"/>
                            </a:rPr>
                            <m:t>𝜕</m:t>
                          </m:r>
                          <m:sSub>
                            <m:sSubPr>
                              <m:ctrlPr>
                                <a:rPr lang="en-US" altLang="zh-CN" sz="1600" b="1"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𝑗</m:t>
                              </m:r>
                            </m:sub>
                          </m:sSub>
                        </m:den>
                      </m:f>
                      <m:r>
                        <a:rPr lang="en-US" altLang="zh-CN" sz="1600" b="1" i="1" smtClean="0">
                          <a:latin typeface="Cambria Math" panose="02040503050406030204" pitchFamily="18" charset="0"/>
                        </a:rPr>
                        <m:t>=</m:t>
                      </m:r>
                      <m:nary>
                        <m:naryPr>
                          <m:chr m:val="∑"/>
                          <m:ctrlPr>
                            <a:rPr lang="en-US" altLang="zh-CN" sz="1600" i="1">
                              <a:latin typeface="Cambria Math" panose="02040503050406030204" pitchFamily="18" charset="0"/>
                            </a:rPr>
                          </m:ctrlPr>
                        </m:naryPr>
                        <m:sub>
                          <m:r>
                            <m:rPr>
                              <m:brk m:alnAt="23"/>
                            </m:rPr>
                            <a:rPr lang="en-US" altLang="zh-CN" sz="1600" i="1">
                              <a:latin typeface="Cambria Math" panose="02040503050406030204" pitchFamily="18" charset="0"/>
                            </a:rPr>
                            <m:t>𝑘</m:t>
                          </m:r>
                          <m:r>
                            <a:rPr lang="en-US" altLang="zh-CN" sz="1600" i="1">
                              <a:latin typeface="Cambria Math" panose="02040503050406030204" pitchFamily="18" charset="0"/>
                            </a:rPr>
                            <m:t>=1</m:t>
                          </m:r>
                        </m:sub>
                        <m:sup>
                          <m:r>
                            <a:rPr lang="en-US" altLang="zh-CN" sz="1600" i="1">
                              <a:latin typeface="Cambria Math" panose="02040503050406030204" pitchFamily="18" charset="0"/>
                            </a:rPr>
                            <m:t>𝐾</m:t>
                          </m:r>
                        </m:sup>
                        <m:e>
                          <m:f>
                            <m:fPr>
                              <m:ctrlPr>
                                <a:rPr lang="en-US" altLang="zh-CN" sz="1600" i="1">
                                  <a:latin typeface="Cambria Math" panose="02040503050406030204" pitchFamily="18" charset="0"/>
                                </a:rPr>
                              </m:ctrlPr>
                            </m:fPr>
                            <m:num>
                              <m:r>
                                <a:rPr lang="en-US" altLang="zh-CN" sz="1600" i="1">
                                  <a:latin typeface="Cambria Math" panose="02040503050406030204" pitchFamily="18" charset="0"/>
                                </a:rPr>
                                <m:t>𝜕</m:t>
                              </m:r>
                              <m:r>
                                <a:rPr lang="en-US" altLang="zh-CN" sz="1600" b="0" i="1">
                                  <a:latin typeface="Cambria Math" panose="02040503050406030204" pitchFamily="18" charset="0"/>
                                </a:rPr>
                                <m:t>𝐿</m:t>
                              </m:r>
                            </m:num>
                            <m:den>
                              <m:r>
                                <a:rPr lang="en-US" altLang="zh-CN" sz="1600" i="1">
                                  <a:latin typeface="Cambria Math" panose="02040503050406030204" pitchFamily="18" charset="0"/>
                                </a:rPr>
                                <m:t>𝜕</m:t>
                              </m:r>
                              <m:sSub>
                                <m:sSubPr>
                                  <m:ctrlPr>
                                    <a:rPr lang="en-US" altLang="zh-CN" sz="1600" b="1"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𝑘</m:t>
                                  </m:r>
                                </m:sub>
                              </m:sSub>
                            </m:den>
                          </m:f>
                          <m:f>
                            <m:fPr>
                              <m:ctrlPr>
                                <a:rPr lang="en-US" altLang="zh-CN" sz="1600" i="1">
                                  <a:latin typeface="Cambria Math" panose="02040503050406030204" pitchFamily="18" charset="0"/>
                                </a:rPr>
                              </m:ctrlPr>
                            </m:fPr>
                            <m:num>
                              <m:r>
                                <a:rPr lang="en-US" altLang="zh-CN" sz="1600" i="1">
                                  <a:latin typeface="Cambria Math" panose="02040503050406030204" pitchFamily="18" charset="0"/>
                                </a:rPr>
                                <m:t>𝜕</m:t>
                              </m:r>
                              <m:sSub>
                                <m:sSubPr>
                                  <m:ctrlPr>
                                    <a:rPr lang="en-US" altLang="zh-CN" sz="1600" b="1"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𝑘</m:t>
                                  </m:r>
                                </m:sub>
                              </m:sSub>
                            </m:num>
                            <m:den>
                              <m:r>
                                <a:rPr lang="en-US" altLang="zh-CN" sz="1600" i="1">
                                  <a:latin typeface="Cambria Math" panose="02040503050406030204" pitchFamily="18" charset="0"/>
                                </a:rPr>
                                <m:t>𝜕</m:t>
                              </m:r>
                              <m:sSub>
                                <m:sSubPr>
                                  <m:ctrlPr>
                                    <a:rPr lang="en-US" altLang="zh-CN" sz="1600" b="1"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𝑗</m:t>
                                  </m:r>
                                </m:sub>
                              </m:sSub>
                            </m:den>
                          </m:f>
                        </m:e>
                      </m:nary>
                      <m:r>
                        <a:rPr lang="en-US" altLang="zh-CN" sz="1600" b="1" i="1">
                          <a:latin typeface="Cambria Math" panose="02040503050406030204" pitchFamily="18" charset="0"/>
                        </a:rPr>
                        <m:t>=</m:t>
                      </m:r>
                      <m:nary>
                        <m:naryPr>
                          <m:chr m:val="∑"/>
                          <m:ctrlPr>
                            <a:rPr lang="en-US" altLang="zh-CN" sz="1600" i="1">
                              <a:latin typeface="Cambria Math" panose="02040503050406030204" pitchFamily="18" charset="0"/>
                            </a:rPr>
                          </m:ctrlPr>
                        </m:naryPr>
                        <m:sub>
                          <m:r>
                            <m:rPr>
                              <m:brk m:alnAt="23"/>
                            </m:rPr>
                            <a:rPr lang="en-US" altLang="zh-CN" sz="1600" i="1">
                              <a:latin typeface="Cambria Math" panose="02040503050406030204" pitchFamily="18" charset="0"/>
                            </a:rPr>
                            <m:t>𝑘</m:t>
                          </m:r>
                          <m:r>
                            <a:rPr lang="en-US" altLang="zh-CN" sz="1600" i="1">
                              <a:latin typeface="Cambria Math" panose="02040503050406030204" pitchFamily="18" charset="0"/>
                            </a:rPr>
                            <m:t>=1</m:t>
                          </m:r>
                        </m:sub>
                        <m:sup>
                          <m:r>
                            <a:rPr lang="en-US" altLang="zh-CN" sz="1600" i="1">
                              <a:latin typeface="Cambria Math" panose="02040503050406030204" pitchFamily="18" charset="0"/>
                            </a:rPr>
                            <m:t>𝐾</m:t>
                          </m:r>
                        </m:sup>
                        <m:e>
                          <m:sSub>
                            <m:sSubPr>
                              <m:ctrlPr>
                                <a:rPr lang="en-US" altLang="zh-CN" sz="1600" b="1" i="1">
                                  <a:latin typeface="Cambria Math" panose="02040503050406030204" pitchFamily="18" charset="0"/>
                                </a:rPr>
                              </m:ctrlPr>
                            </m:sSubPr>
                            <m:e>
                              <m:r>
                                <a:rPr lang="zh-CN" altLang="en-US" sz="1600" i="1">
                                  <a:latin typeface="Cambria Math" panose="02040503050406030204" pitchFamily="18" charset="0"/>
                                </a:rPr>
                                <m:t>𝛿</m:t>
                              </m:r>
                            </m:e>
                            <m:sub>
                              <m:r>
                                <a:rPr lang="en-US" altLang="zh-CN" sz="1600" i="1">
                                  <a:latin typeface="Cambria Math" panose="02040503050406030204" pitchFamily="18" charset="0"/>
                                </a:rPr>
                                <m:t>𝑘</m:t>
                              </m:r>
                            </m:sub>
                          </m:sSub>
                          <m:d>
                            <m:dPr>
                              <m:begChr m:val="{"/>
                              <m:endChr m:val="}"/>
                              <m:ctrlPr>
                                <a:rPr lang="en-US" altLang="zh-CN" sz="1600" b="1" i="1" smtClean="0">
                                  <a:latin typeface="Cambria Math" panose="02040503050406030204" pitchFamily="18" charset="0"/>
                                </a:rPr>
                              </m:ctrlPr>
                            </m:dPr>
                            <m:e>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𝑤</m:t>
                                  </m:r>
                                </m:e>
                                <m:sub>
                                  <m:r>
                                    <a:rPr lang="en-US" altLang="zh-CN" sz="1600" i="1">
                                      <a:latin typeface="Cambria Math" panose="02040503050406030204" pitchFamily="18" charset="0"/>
                                    </a:rPr>
                                    <m:t>𝑘𝑗</m:t>
                                  </m:r>
                                </m:sub>
                                <m:sup>
                                  <m:d>
                                    <m:dPr>
                                      <m:ctrlPr>
                                        <a:rPr lang="en-US" altLang="zh-CN" sz="1600" b="1" i="1">
                                          <a:latin typeface="Cambria Math" panose="02040503050406030204" pitchFamily="18" charset="0"/>
                                        </a:rPr>
                                      </m:ctrlPr>
                                    </m:dPr>
                                    <m:e>
                                      <m:r>
                                        <a:rPr lang="en-US" altLang="zh-CN" sz="1600" i="1">
                                          <a:latin typeface="Cambria Math" panose="02040503050406030204" pitchFamily="18" charset="0"/>
                                        </a:rPr>
                                        <m:t>2</m:t>
                                      </m:r>
                                    </m:e>
                                  </m:d>
                                </m:sup>
                              </m:sSubSup>
                              <m:sSup>
                                <m:sSupPr>
                                  <m:ctrlPr>
                                    <a:rPr lang="en-US" altLang="zh-CN" sz="1600" i="1" smtClean="0">
                                      <a:latin typeface="Cambria Math" panose="02040503050406030204" pitchFamily="18" charset="0"/>
                                    </a:rPr>
                                  </m:ctrlPr>
                                </m:sSupPr>
                                <m:e>
                                  <m:r>
                                    <a:rPr lang="en-US" altLang="zh-CN" sz="1600" b="0" i="1" smtClean="0">
                                      <a:latin typeface="Cambria Math" panose="02040503050406030204" pitchFamily="18" charset="0"/>
                                    </a:rPr>
                                    <m:t>h</m:t>
                                  </m:r>
                                </m:e>
                                <m:sup>
                                  <m:r>
                                    <a:rPr lang="en-US" altLang="zh-CN" sz="1600" b="0" i="1" smtClean="0">
                                      <a:latin typeface="Cambria Math" panose="02040503050406030204" pitchFamily="18" charset="0"/>
                                    </a:rPr>
                                    <m:t>′</m:t>
                                  </m:r>
                                </m:sup>
                              </m:sSup>
                              <m:d>
                                <m:dPr>
                                  <m:ctrlPr>
                                    <a:rPr lang="en-US" altLang="zh-CN" sz="1600" b="1" i="1">
                                      <a:latin typeface="Cambria Math" panose="02040503050406030204" pitchFamily="18" charset="0"/>
                                    </a:rPr>
                                  </m:ctrlPr>
                                </m:dPr>
                                <m:e>
                                  <m:sSub>
                                    <m:sSubPr>
                                      <m:ctrlPr>
                                        <a:rPr lang="en-US" altLang="zh-CN" sz="1600" b="1"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𝑗</m:t>
                                      </m:r>
                                    </m:sub>
                                  </m:sSub>
                                </m:e>
                              </m:d>
                            </m:e>
                          </m:d>
                        </m:e>
                      </m:nary>
                      <m:r>
                        <a:rPr lang="en-US" altLang="zh-CN" sz="1600" b="1" i="1">
                          <a:latin typeface="Cambria Math" panose="02040503050406030204" pitchFamily="18" charset="0"/>
                        </a:rPr>
                        <m:t>=</m:t>
                      </m:r>
                      <m:sSup>
                        <m:sSupPr>
                          <m:ctrlPr>
                            <a:rPr lang="en-US" altLang="zh-CN" sz="1600" i="1">
                              <a:latin typeface="Cambria Math" panose="02040503050406030204" pitchFamily="18" charset="0"/>
                            </a:rPr>
                          </m:ctrlPr>
                        </m:sSupPr>
                        <m:e>
                          <m:r>
                            <a:rPr lang="en-US" altLang="zh-CN" sz="1600" i="1">
                              <a:latin typeface="Cambria Math" panose="02040503050406030204" pitchFamily="18" charset="0"/>
                            </a:rPr>
                            <m:t>h</m:t>
                          </m:r>
                        </m:e>
                        <m:sup>
                          <m:r>
                            <a:rPr lang="en-US" altLang="zh-CN" sz="1600" i="1">
                              <a:latin typeface="Cambria Math" panose="02040503050406030204" pitchFamily="18" charset="0"/>
                            </a:rPr>
                            <m:t>′</m:t>
                          </m:r>
                        </m:sup>
                      </m:sSup>
                      <m:d>
                        <m:dPr>
                          <m:ctrlPr>
                            <a:rPr lang="en-US" altLang="zh-CN" sz="1600" b="1" i="1">
                              <a:latin typeface="Cambria Math" panose="02040503050406030204" pitchFamily="18" charset="0"/>
                            </a:rPr>
                          </m:ctrlPr>
                        </m:dPr>
                        <m:e>
                          <m:sSub>
                            <m:sSubPr>
                              <m:ctrlPr>
                                <a:rPr lang="en-US" altLang="zh-CN" sz="1600" b="1"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𝑗</m:t>
                              </m:r>
                            </m:sub>
                          </m:sSub>
                        </m:e>
                      </m:d>
                      <m:nary>
                        <m:naryPr>
                          <m:chr m:val="∑"/>
                          <m:ctrlPr>
                            <a:rPr lang="en-US" altLang="zh-CN" sz="1600" i="1">
                              <a:latin typeface="Cambria Math" panose="02040503050406030204" pitchFamily="18" charset="0"/>
                            </a:rPr>
                          </m:ctrlPr>
                        </m:naryPr>
                        <m:sub>
                          <m:r>
                            <m:rPr>
                              <m:brk m:alnAt="23"/>
                            </m:rPr>
                            <a:rPr lang="en-US" altLang="zh-CN" sz="1600" i="1">
                              <a:latin typeface="Cambria Math" panose="02040503050406030204" pitchFamily="18" charset="0"/>
                            </a:rPr>
                            <m:t>𝑘</m:t>
                          </m:r>
                          <m:r>
                            <a:rPr lang="en-US" altLang="zh-CN" sz="1600" i="1">
                              <a:latin typeface="Cambria Math" panose="02040503050406030204" pitchFamily="18" charset="0"/>
                            </a:rPr>
                            <m:t>=1</m:t>
                          </m:r>
                        </m:sub>
                        <m:sup>
                          <m:r>
                            <a:rPr lang="en-US" altLang="zh-CN" sz="1600" i="1">
                              <a:latin typeface="Cambria Math" panose="02040503050406030204" pitchFamily="18" charset="0"/>
                            </a:rPr>
                            <m:t>𝐾</m:t>
                          </m:r>
                        </m:sup>
                        <m:e>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𝑤</m:t>
                              </m:r>
                            </m:e>
                            <m:sub>
                              <m:r>
                                <a:rPr lang="en-US" altLang="zh-CN" sz="1600" i="1">
                                  <a:latin typeface="Cambria Math" panose="02040503050406030204" pitchFamily="18" charset="0"/>
                                </a:rPr>
                                <m:t>𝑘𝑗</m:t>
                              </m:r>
                            </m:sub>
                            <m:sup>
                              <m:d>
                                <m:dPr>
                                  <m:ctrlPr>
                                    <a:rPr lang="en-US" altLang="zh-CN" sz="1600" b="1" i="1">
                                      <a:latin typeface="Cambria Math" panose="02040503050406030204" pitchFamily="18" charset="0"/>
                                    </a:rPr>
                                  </m:ctrlPr>
                                </m:dPr>
                                <m:e>
                                  <m:r>
                                    <a:rPr lang="en-US" altLang="zh-CN" sz="1600" i="1">
                                      <a:latin typeface="Cambria Math" panose="02040503050406030204" pitchFamily="18" charset="0"/>
                                    </a:rPr>
                                    <m:t>2</m:t>
                                  </m:r>
                                </m:e>
                              </m:d>
                            </m:sup>
                          </m:sSubSup>
                          <m:sSub>
                            <m:sSubPr>
                              <m:ctrlPr>
                                <a:rPr lang="en-US" altLang="zh-CN" sz="1600" b="1" i="1">
                                  <a:latin typeface="Cambria Math" panose="02040503050406030204" pitchFamily="18" charset="0"/>
                                </a:rPr>
                              </m:ctrlPr>
                            </m:sSubPr>
                            <m:e>
                              <m:r>
                                <a:rPr lang="zh-CN" altLang="en-US" sz="1600" i="1">
                                  <a:latin typeface="Cambria Math" panose="02040503050406030204" pitchFamily="18" charset="0"/>
                                </a:rPr>
                                <m:t>𝛿</m:t>
                              </m:r>
                            </m:e>
                            <m:sub>
                              <m:r>
                                <a:rPr lang="en-US" altLang="zh-CN" sz="1600" i="1">
                                  <a:latin typeface="Cambria Math" panose="02040503050406030204" pitchFamily="18" charset="0"/>
                                </a:rPr>
                                <m:t>𝑘</m:t>
                              </m:r>
                            </m:sub>
                          </m:sSub>
                        </m:e>
                      </m:nary>
                      <m:r>
                        <a:rPr lang="en-US" altLang="zh-CN" sz="1600" b="1" i="1" smtClean="0">
                          <a:latin typeface="Cambria Math" panose="02040503050406030204" pitchFamily="18" charset="0"/>
                        </a:rPr>
                        <m:t>=</m:t>
                      </m:r>
                      <m:sSub>
                        <m:sSubPr>
                          <m:ctrlPr>
                            <a:rPr lang="en-US" altLang="zh-CN" sz="1600" b="1" i="1" smtClean="0">
                              <a:solidFill>
                                <a:srgbClr val="FF0000"/>
                              </a:solidFill>
                              <a:latin typeface="Cambria Math" panose="02040503050406030204" pitchFamily="18" charset="0"/>
                            </a:rPr>
                          </m:ctrlPr>
                        </m:sSubPr>
                        <m:e>
                          <m:r>
                            <a:rPr lang="zh-CN" altLang="en-US" sz="1600" i="1">
                              <a:solidFill>
                                <a:srgbClr val="FF0000"/>
                              </a:solidFill>
                              <a:latin typeface="Cambria Math" panose="02040503050406030204" pitchFamily="18" charset="0"/>
                            </a:rPr>
                            <m:t>𝛿</m:t>
                          </m:r>
                        </m:e>
                        <m:sub>
                          <m:r>
                            <a:rPr lang="en-US" altLang="zh-CN" sz="1600" b="0" i="1" smtClean="0">
                              <a:solidFill>
                                <a:srgbClr val="FF0000"/>
                              </a:solidFill>
                              <a:latin typeface="Cambria Math" panose="02040503050406030204" pitchFamily="18" charset="0"/>
                            </a:rPr>
                            <m:t>𝑗</m:t>
                          </m:r>
                        </m:sub>
                      </m:sSub>
                    </m:oMath>
                  </m:oMathPara>
                </a14:m>
                <a:endParaRPr lang="en-US" altLang="zh-CN" sz="1600" dirty="0">
                  <a:latin typeface="Monaco" panose="020B0509030404040204" pitchFamily="49" charset="0"/>
                  <a:ea typeface="思源黑体 CN Bold" panose="020B0800000000000000" pitchFamily="34" charset="-122"/>
                  <a:cs typeface="+mj-cs"/>
                </a:endParaRPr>
              </a:p>
              <a:p>
                <a:pPr marL="0" indent="0">
                  <a:lnSpc>
                    <a:spcPct val="100000"/>
                  </a:lnSpc>
                  <a:spcAft>
                    <a:spcPts val="500"/>
                  </a:spcAft>
                  <a:buNone/>
                </a:pPr>
                <a14:m>
                  <m:oMathPara xmlns:m="http://schemas.openxmlformats.org/officeDocument/2006/math">
                    <m:oMathParaPr>
                      <m:jc m:val="left"/>
                    </m:oMathParaPr>
                    <m:oMath xmlns:m="http://schemas.openxmlformats.org/officeDocument/2006/math">
                      <m:r>
                        <a:rPr lang="en-US" altLang="zh-CN" sz="1600" b="0" i="1" smtClean="0">
                          <a:latin typeface="Cambria Math" panose="02040503050406030204" pitchFamily="18" charset="0"/>
                        </a:rPr>
                        <m:t>                    </m:t>
                      </m:r>
                      <m:f>
                        <m:fPr>
                          <m:ctrlPr>
                            <a:rPr lang="en-US" altLang="zh-CN" sz="1600" i="1">
                              <a:latin typeface="Cambria Math" panose="02040503050406030204" pitchFamily="18" charset="0"/>
                            </a:rPr>
                          </m:ctrlPr>
                        </m:fPr>
                        <m:num>
                          <m:r>
                            <a:rPr lang="en-US" altLang="zh-CN" sz="1600" i="1">
                              <a:latin typeface="Cambria Math" panose="02040503050406030204" pitchFamily="18" charset="0"/>
                            </a:rPr>
                            <m:t>𝜕</m:t>
                          </m:r>
                          <m:r>
                            <a:rPr lang="en-US" altLang="zh-CN" sz="1600" i="1">
                              <a:latin typeface="Cambria Math" panose="02040503050406030204" pitchFamily="18" charset="0"/>
                            </a:rPr>
                            <m:t>𝐿</m:t>
                          </m:r>
                        </m:num>
                        <m:den>
                          <m:r>
                            <a:rPr lang="en-US" altLang="zh-CN" sz="1600" i="1">
                              <a:latin typeface="Cambria Math" panose="02040503050406030204" pitchFamily="18" charset="0"/>
                            </a:rPr>
                            <m:t>𝜕</m:t>
                          </m:r>
                          <m:sSub>
                            <m:sSubPr>
                              <m:ctrlPr>
                                <a:rPr lang="en-US" altLang="zh-CN" sz="1600" b="1"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𝑘</m:t>
                              </m:r>
                            </m:sub>
                          </m:sSub>
                        </m:den>
                      </m:f>
                      <m:r>
                        <a:rPr lang="en-US" altLang="zh-CN" sz="1600" b="1" i="1">
                          <a:latin typeface="Cambria Math" panose="02040503050406030204" pitchFamily="18" charset="0"/>
                        </a:rPr>
                        <m:t>=</m:t>
                      </m:r>
                      <m:sSub>
                        <m:sSubPr>
                          <m:ctrlPr>
                            <a:rPr lang="en-US" altLang="zh-CN" sz="1600" b="1" i="1">
                              <a:latin typeface="Cambria Math" panose="02040503050406030204" pitchFamily="18" charset="0"/>
                            </a:rPr>
                          </m:ctrlPr>
                        </m:sSubPr>
                        <m:e>
                          <m:r>
                            <a:rPr lang="zh-CN" altLang="en-US" sz="1600" i="1">
                              <a:latin typeface="Cambria Math" panose="02040503050406030204" pitchFamily="18" charset="0"/>
                            </a:rPr>
                            <m:t>𝛿</m:t>
                          </m:r>
                        </m:e>
                        <m:sub>
                          <m:r>
                            <a:rPr lang="en-US" altLang="zh-CN" sz="1600" i="1">
                              <a:latin typeface="Cambria Math" panose="02040503050406030204" pitchFamily="18" charset="0"/>
                            </a:rPr>
                            <m:t>𝑘</m:t>
                          </m:r>
                        </m:sub>
                      </m:sSub>
                      <m:r>
                        <a:rPr lang="en-US" altLang="zh-CN" sz="1600" b="1" i="1">
                          <a:latin typeface="Cambria Math" panose="02040503050406030204" pitchFamily="18" charset="0"/>
                        </a:rPr>
                        <m:t>=</m:t>
                      </m:r>
                      <m:sSub>
                        <m:sSubPr>
                          <m:ctrlPr>
                            <a:rPr lang="en-US" altLang="zh-CN" sz="1600" i="1">
                              <a:solidFill>
                                <a:srgbClr val="FF0000"/>
                              </a:solidFill>
                              <a:latin typeface="Cambria Math" panose="02040503050406030204" pitchFamily="18" charset="0"/>
                            </a:rPr>
                          </m:ctrlPr>
                        </m:sSubPr>
                        <m:e>
                          <m:r>
                            <a:rPr lang="en-US" altLang="zh-CN" sz="1600" i="1">
                              <a:solidFill>
                                <a:srgbClr val="FF0000"/>
                              </a:solidFill>
                              <a:latin typeface="Cambria Math" panose="02040503050406030204" pitchFamily="18" charset="0"/>
                            </a:rPr>
                            <m:t>𝑦</m:t>
                          </m:r>
                        </m:e>
                        <m:sub>
                          <m:r>
                            <a:rPr lang="en-US" altLang="zh-CN" sz="1600" i="1">
                              <a:solidFill>
                                <a:srgbClr val="FF0000"/>
                              </a:solidFill>
                              <a:latin typeface="Cambria Math" panose="02040503050406030204" pitchFamily="18" charset="0"/>
                            </a:rPr>
                            <m:t>𝑘</m:t>
                          </m:r>
                        </m:sub>
                      </m:sSub>
                      <m:r>
                        <a:rPr lang="en-US" altLang="zh-CN" sz="1600" i="1">
                          <a:solidFill>
                            <a:srgbClr val="FF0000"/>
                          </a:solidFill>
                          <a:latin typeface="Cambria Math" panose="02040503050406030204" pitchFamily="18" charset="0"/>
                        </a:rPr>
                        <m:t>−</m:t>
                      </m:r>
                      <m:sSub>
                        <m:sSubPr>
                          <m:ctrlPr>
                            <a:rPr lang="en-US" altLang="zh-CN" sz="1600" b="1" i="1">
                              <a:solidFill>
                                <a:srgbClr val="FF0000"/>
                              </a:solidFill>
                              <a:latin typeface="Cambria Math" panose="02040503050406030204" pitchFamily="18" charset="0"/>
                            </a:rPr>
                          </m:ctrlPr>
                        </m:sSubPr>
                        <m:e>
                          <m:r>
                            <a:rPr lang="en-US" altLang="zh-CN" sz="1600" i="1">
                              <a:solidFill>
                                <a:srgbClr val="FF0000"/>
                              </a:solidFill>
                              <a:latin typeface="Cambria Math" panose="02040503050406030204" pitchFamily="18" charset="0"/>
                            </a:rPr>
                            <m:t>𝑡</m:t>
                          </m:r>
                        </m:e>
                        <m:sub>
                          <m:r>
                            <a:rPr lang="en-US" altLang="zh-CN" sz="1600" i="1">
                              <a:solidFill>
                                <a:srgbClr val="FF0000"/>
                              </a:solidFill>
                              <a:latin typeface="Cambria Math" panose="02040503050406030204" pitchFamily="18" charset="0"/>
                            </a:rPr>
                            <m:t>𝑘</m:t>
                          </m:r>
                        </m:sub>
                      </m:sSub>
                      <m:r>
                        <a:rPr lang="en-US" altLang="zh-CN" sz="1600" b="1" i="1" smtClean="0">
                          <a:solidFill>
                            <a:srgbClr val="FF0000"/>
                          </a:solidFill>
                          <a:latin typeface="Cambria Math" panose="02040503050406030204" pitchFamily="18" charset="0"/>
                        </a:rPr>
                        <m:t>,   </m:t>
                      </m:r>
                      <m:sSub>
                        <m:sSubPr>
                          <m:ctrlPr>
                            <a:rPr lang="en-US" altLang="zh-CN" sz="1600" b="1"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𝑗</m:t>
                          </m:r>
                        </m:sub>
                      </m:sSub>
                      <m:r>
                        <a:rPr lang="en-US" altLang="zh-CN" sz="1600" i="1">
                          <a:latin typeface="Cambria Math" panose="02040503050406030204" pitchFamily="18" charset="0"/>
                        </a:rPr>
                        <m:t>=</m:t>
                      </m:r>
                      <m:nary>
                        <m:naryPr>
                          <m:chr m:val="∑"/>
                          <m:ctrlPr>
                            <a:rPr lang="en-US" altLang="zh-CN" sz="1600" i="1">
                              <a:latin typeface="Cambria Math" panose="02040503050406030204" pitchFamily="18" charset="0"/>
                            </a:rPr>
                          </m:ctrlPr>
                        </m:naryPr>
                        <m:sub>
                          <m:r>
                            <a:rPr lang="en-US" altLang="zh-CN" sz="1600" i="1">
                              <a:latin typeface="Cambria Math" panose="02040503050406030204" pitchFamily="18" charset="0"/>
                            </a:rPr>
                            <m:t>𝑖</m:t>
                          </m:r>
                          <m:r>
                            <a:rPr lang="en-US" altLang="zh-CN" sz="1600" i="1">
                              <a:latin typeface="Cambria Math" panose="02040503050406030204" pitchFamily="18" charset="0"/>
                            </a:rPr>
                            <m:t>=1</m:t>
                          </m:r>
                        </m:sub>
                        <m:sup>
                          <m:r>
                            <a:rPr lang="en-US" altLang="zh-CN" sz="1600" i="1">
                              <a:latin typeface="Cambria Math" panose="02040503050406030204" pitchFamily="18" charset="0"/>
                            </a:rPr>
                            <m:t>𝐷</m:t>
                          </m:r>
                        </m:sup>
                        <m:e>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𝑤</m:t>
                              </m:r>
                            </m:e>
                            <m:sub>
                              <m:r>
                                <a:rPr lang="en-US" altLang="zh-CN" sz="1600" i="1">
                                  <a:latin typeface="Cambria Math" panose="02040503050406030204" pitchFamily="18" charset="0"/>
                                </a:rPr>
                                <m:t>𝑗𝑖</m:t>
                              </m:r>
                            </m:sub>
                            <m:sup>
                              <m:d>
                                <m:dPr>
                                  <m:ctrlPr>
                                    <a:rPr lang="en-US" altLang="zh-CN" sz="1600" b="1" i="1">
                                      <a:latin typeface="Cambria Math" panose="02040503050406030204" pitchFamily="18" charset="0"/>
                                    </a:rPr>
                                  </m:ctrlPr>
                                </m:dPr>
                                <m:e>
                                  <m:r>
                                    <a:rPr lang="en-US" altLang="zh-CN" sz="1600" i="1">
                                      <a:latin typeface="Cambria Math" panose="02040503050406030204" pitchFamily="18" charset="0"/>
                                    </a:rPr>
                                    <m:t>1</m:t>
                                  </m:r>
                                </m:e>
                              </m:d>
                            </m:sup>
                          </m:sSubSup>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𝑥</m:t>
                              </m:r>
                            </m:e>
                            <m:sub>
                              <m:r>
                                <a:rPr lang="en-US" altLang="zh-CN" sz="1600" i="1">
                                  <a:latin typeface="Cambria Math" panose="02040503050406030204" pitchFamily="18" charset="0"/>
                                </a:rPr>
                                <m:t>𝑖</m:t>
                              </m:r>
                            </m:sub>
                          </m:sSub>
                        </m:e>
                      </m:nary>
                    </m:oMath>
                  </m:oMathPara>
                </a14:m>
                <a:endParaRPr lang="en-US" altLang="zh-CN" sz="1600" dirty="0">
                  <a:latin typeface="Monaco" panose="020B0509030404040204" pitchFamily="49" charset="0"/>
                  <a:ea typeface="思源黑体 CN Bold" panose="020B0800000000000000" pitchFamily="34" charset="-122"/>
                  <a:cs typeface="+mj-cs"/>
                </a:endParaRPr>
              </a:p>
              <a:p>
                <a:pPr marL="0" indent="0">
                  <a:lnSpc>
                    <a:spcPct val="100000"/>
                  </a:lnSpc>
                  <a:spcAft>
                    <a:spcPts val="500"/>
                  </a:spcAft>
                  <a:buNone/>
                </a:pPr>
                <a14:m>
                  <m:oMathPara xmlns:m="http://schemas.openxmlformats.org/officeDocument/2006/math">
                    <m:oMathParaPr>
                      <m:jc m:val="left"/>
                    </m:oMathParaPr>
                    <m:oMath xmlns:m="http://schemas.openxmlformats.org/officeDocument/2006/math">
                      <m:r>
                        <a:rPr lang="en-US" altLang="zh-CN" sz="1600" b="0" i="1" smtClean="0">
                          <a:latin typeface="Cambria Math" panose="02040503050406030204" pitchFamily="18" charset="0"/>
                        </a:rPr>
                        <m:t>                </m:t>
                      </m:r>
                      <m:f>
                        <m:fPr>
                          <m:ctrlPr>
                            <a:rPr lang="en-US" altLang="zh-CN" sz="1600" i="1">
                              <a:latin typeface="Cambria Math" panose="02040503050406030204" pitchFamily="18" charset="0"/>
                            </a:rPr>
                          </m:ctrlPr>
                        </m:fPr>
                        <m:num>
                          <m:r>
                            <a:rPr lang="en-US" altLang="zh-CN" sz="1600" i="1">
                              <a:latin typeface="Cambria Math" panose="02040503050406030204" pitchFamily="18" charset="0"/>
                            </a:rPr>
                            <m:t>𝜕</m:t>
                          </m:r>
                          <m:r>
                            <a:rPr lang="en-US" altLang="zh-CN" sz="1600" i="1">
                              <a:latin typeface="Cambria Math" panose="02040503050406030204" pitchFamily="18" charset="0"/>
                            </a:rPr>
                            <m:t>𝐿</m:t>
                          </m:r>
                        </m:num>
                        <m:den>
                          <m:r>
                            <a:rPr lang="en-US" altLang="zh-CN" sz="1600" i="1">
                              <a:latin typeface="Cambria Math" panose="02040503050406030204" pitchFamily="18" charset="0"/>
                            </a:rPr>
                            <m:t>𝜕</m:t>
                          </m:r>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𝑤</m:t>
                              </m:r>
                            </m:e>
                            <m:sub>
                              <m:r>
                                <a:rPr lang="en-US" altLang="zh-CN" sz="1600" i="1">
                                  <a:latin typeface="Cambria Math" panose="02040503050406030204" pitchFamily="18" charset="0"/>
                                </a:rPr>
                                <m:t>𝑗𝑖</m:t>
                              </m:r>
                            </m:sub>
                            <m:sup>
                              <m:d>
                                <m:dPr>
                                  <m:ctrlPr>
                                    <a:rPr lang="en-US" altLang="zh-CN" sz="1600" b="1" i="1">
                                      <a:latin typeface="Cambria Math" panose="02040503050406030204" pitchFamily="18" charset="0"/>
                                    </a:rPr>
                                  </m:ctrlPr>
                                </m:dPr>
                                <m:e>
                                  <m:r>
                                    <a:rPr lang="en-US" altLang="zh-CN" sz="1600" i="1">
                                      <a:latin typeface="Cambria Math" panose="02040503050406030204" pitchFamily="18" charset="0"/>
                                    </a:rPr>
                                    <m:t>1</m:t>
                                  </m:r>
                                </m:e>
                              </m:d>
                            </m:sup>
                          </m:sSubSup>
                        </m:den>
                      </m:f>
                      <m:r>
                        <a:rPr lang="en-US" altLang="zh-CN" sz="1600" b="1" i="1">
                          <a:latin typeface="Cambria Math" panose="02040503050406030204" pitchFamily="18" charset="0"/>
                        </a:rPr>
                        <m:t>=</m:t>
                      </m:r>
                      <m:f>
                        <m:fPr>
                          <m:ctrlPr>
                            <a:rPr lang="en-US" altLang="zh-CN" sz="1600" i="1">
                              <a:latin typeface="Cambria Math" panose="02040503050406030204" pitchFamily="18" charset="0"/>
                            </a:rPr>
                          </m:ctrlPr>
                        </m:fPr>
                        <m:num>
                          <m:r>
                            <a:rPr lang="en-US" altLang="zh-CN" sz="1600" i="1">
                              <a:latin typeface="Cambria Math" panose="02040503050406030204" pitchFamily="18" charset="0"/>
                            </a:rPr>
                            <m:t>𝜕</m:t>
                          </m:r>
                          <m:r>
                            <a:rPr lang="en-US" altLang="zh-CN" sz="1600" i="1">
                              <a:latin typeface="Cambria Math" panose="02040503050406030204" pitchFamily="18" charset="0"/>
                            </a:rPr>
                            <m:t>𝐿</m:t>
                          </m:r>
                        </m:num>
                        <m:den>
                          <m:r>
                            <a:rPr lang="en-US" altLang="zh-CN" sz="1600" i="1">
                              <a:latin typeface="Cambria Math" panose="02040503050406030204" pitchFamily="18" charset="0"/>
                            </a:rPr>
                            <m:t>𝜕</m:t>
                          </m:r>
                          <m:sSub>
                            <m:sSubPr>
                              <m:ctrlPr>
                                <a:rPr lang="en-US" altLang="zh-CN" sz="1600" b="1"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𝑗</m:t>
                              </m:r>
                            </m:sub>
                          </m:sSub>
                        </m:den>
                      </m:f>
                      <m:f>
                        <m:fPr>
                          <m:ctrlPr>
                            <a:rPr lang="en-US" altLang="zh-CN" sz="1600" i="1">
                              <a:latin typeface="Cambria Math" panose="02040503050406030204" pitchFamily="18" charset="0"/>
                            </a:rPr>
                          </m:ctrlPr>
                        </m:fPr>
                        <m:num>
                          <m:r>
                            <a:rPr lang="en-US" altLang="zh-CN" sz="1600" i="1">
                              <a:latin typeface="Cambria Math" panose="02040503050406030204" pitchFamily="18" charset="0"/>
                            </a:rPr>
                            <m:t>𝜕</m:t>
                          </m:r>
                          <m:sSub>
                            <m:sSubPr>
                              <m:ctrlPr>
                                <a:rPr lang="en-US" altLang="zh-CN" sz="1600" b="1"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𝑗</m:t>
                              </m:r>
                            </m:sub>
                          </m:sSub>
                        </m:num>
                        <m:den>
                          <m:r>
                            <a:rPr lang="en-US" altLang="zh-CN" sz="1600" i="1">
                              <a:latin typeface="Cambria Math" panose="02040503050406030204" pitchFamily="18" charset="0"/>
                            </a:rPr>
                            <m:t>𝜕</m:t>
                          </m:r>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𝑤</m:t>
                              </m:r>
                            </m:e>
                            <m:sub>
                              <m:r>
                                <a:rPr lang="en-US" altLang="zh-CN" sz="1600" i="1">
                                  <a:latin typeface="Cambria Math" panose="02040503050406030204" pitchFamily="18" charset="0"/>
                                </a:rPr>
                                <m:t>𝑗𝑖</m:t>
                              </m:r>
                            </m:sub>
                            <m:sup>
                              <m:d>
                                <m:dPr>
                                  <m:ctrlPr>
                                    <a:rPr lang="en-US" altLang="zh-CN" sz="1600" b="1" i="1">
                                      <a:latin typeface="Cambria Math" panose="02040503050406030204" pitchFamily="18" charset="0"/>
                                    </a:rPr>
                                  </m:ctrlPr>
                                </m:dPr>
                                <m:e>
                                  <m:r>
                                    <a:rPr lang="en-US" altLang="zh-CN" sz="1600" i="1">
                                      <a:latin typeface="Cambria Math" panose="02040503050406030204" pitchFamily="18" charset="0"/>
                                    </a:rPr>
                                    <m:t>1</m:t>
                                  </m:r>
                                </m:e>
                              </m:d>
                            </m:sup>
                          </m:sSubSup>
                        </m:den>
                      </m:f>
                      <m:r>
                        <a:rPr lang="en-US" altLang="zh-CN" sz="1600" b="1" i="1">
                          <a:latin typeface="Cambria Math" panose="02040503050406030204" pitchFamily="18" charset="0"/>
                        </a:rPr>
                        <m:t>=</m:t>
                      </m:r>
                      <m:d>
                        <m:dPr>
                          <m:begChr m:val="{"/>
                          <m:endChr m:val="}"/>
                          <m:ctrlPr>
                            <a:rPr lang="en-US" altLang="zh-CN" sz="1600" b="1" i="1">
                              <a:latin typeface="Cambria Math" panose="02040503050406030204" pitchFamily="18" charset="0"/>
                            </a:rPr>
                          </m:ctrlPr>
                        </m:dPr>
                        <m:e>
                          <m:sSup>
                            <m:sSupPr>
                              <m:ctrlPr>
                                <a:rPr lang="en-US" altLang="zh-CN" sz="1600" i="1">
                                  <a:latin typeface="Cambria Math" panose="02040503050406030204" pitchFamily="18" charset="0"/>
                                </a:rPr>
                              </m:ctrlPr>
                            </m:sSupPr>
                            <m:e>
                              <m:r>
                                <a:rPr lang="en-US" altLang="zh-CN" sz="1600" i="1">
                                  <a:latin typeface="Cambria Math" panose="02040503050406030204" pitchFamily="18" charset="0"/>
                                </a:rPr>
                                <m:t>h</m:t>
                              </m:r>
                            </m:e>
                            <m:sup>
                              <m:r>
                                <a:rPr lang="en-US" altLang="zh-CN" sz="1600" i="1">
                                  <a:latin typeface="Cambria Math" panose="02040503050406030204" pitchFamily="18" charset="0"/>
                                </a:rPr>
                                <m:t>′</m:t>
                              </m:r>
                            </m:sup>
                          </m:sSup>
                          <m:d>
                            <m:dPr>
                              <m:ctrlPr>
                                <a:rPr lang="en-US" altLang="zh-CN" sz="1600" b="1" i="1">
                                  <a:latin typeface="Cambria Math" panose="02040503050406030204" pitchFamily="18" charset="0"/>
                                </a:rPr>
                              </m:ctrlPr>
                            </m:dPr>
                            <m:e>
                              <m:sSub>
                                <m:sSubPr>
                                  <m:ctrlPr>
                                    <a:rPr lang="en-US" altLang="zh-CN" sz="1600" b="1"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𝑗</m:t>
                                  </m:r>
                                </m:sub>
                              </m:sSub>
                            </m:e>
                          </m:d>
                          <m:nary>
                            <m:naryPr>
                              <m:chr m:val="∑"/>
                              <m:ctrlPr>
                                <a:rPr lang="en-US" altLang="zh-CN" sz="1600" i="1">
                                  <a:latin typeface="Cambria Math" panose="02040503050406030204" pitchFamily="18" charset="0"/>
                                </a:rPr>
                              </m:ctrlPr>
                            </m:naryPr>
                            <m:sub>
                              <m:r>
                                <m:rPr>
                                  <m:brk m:alnAt="23"/>
                                </m:rPr>
                                <a:rPr lang="en-US" altLang="zh-CN" sz="1600" i="1">
                                  <a:latin typeface="Cambria Math" panose="02040503050406030204" pitchFamily="18" charset="0"/>
                                </a:rPr>
                                <m:t>𝑘</m:t>
                              </m:r>
                              <m:r>
                                <a:rPr lang="en-US" altLang="zh-CN" sz="1600" i="1">
                                  <a:latin typeface="Cambria Math" panose="02040503050406030204" pitchFamily="18" charset="0"/>
                                </a:rPr>
                                <m:t>=1</m:t>
                              </m:r>
                            </m:sub>
                            <m:sup>
                              <m:r>
                                <a:rPr lang="en-US" altLang="zh-CN" sz="1600" i="1">
                                  <a:latin typeface="Cambria Math" panose="02040503050406030204" pitchFamily="18" charset="0"/>
                                </a:rPr>
                                <m:t>𝐾</m:t>
                              </m:r>
                            </m:sup>
                            <m:e>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𝑤</m:t>
                                  </m:r>
                                </m:e>
                                <m:sub>
                                  <m:r>
                                    <a:rPr lang="en-US" altLang="zh-CN" sz="1600" i="1">
                                      <a:latin typeface="Cambria Math" panose="02040503050406030204" pitchFamily="18" charset="0"/>
                                    </a:rPr>
                                    <m:t>𝑘𝑗</m:t>
                                  </m:r>
                                </m:sub>
                                <m:sup>
                                  <m:d>
                                    <m:dPr>
                                      <m:ctrlPr>
                                        <a:rPr lang="en-US" altLang="zh-CN" sz="1600" b="1" i="1">
                                          <a:latin typeface="Cambria Math" panose="02040503050406030204" pitchFamily="18" charset="0"/>
                                        </a:rPr>
                                      </m:ctrlPr>
                                    </m:dPr>
                                    <m:e>
                                      <m:r>
                                        <a:rPr lang="en-US" altLang="zh-CN" sz="1600" i="1">
                                          <a:latin typeface="Cambria Math" panose="02040503050406030204" pitchFamily="18" charset="0"/>
                                        </a:rPr>
                                        <m:t>2</m:t>
                                      </m:r>
                                    </m:e>
                                  </m:d>
                                </m:sup>
                              </m:sSubSup>
                              <m:sSub>
                                <m:sSubPr>
                                  <m:ctrlPr>
                                    <a:rPr lang="en-US" altLang="zh-CN" sz="1600" b="1" i="1">
                                      <a:latin typeface="Cambria Math" panose="02040503050406030204" pitchFamily="18" charset="0"/>
                                    </a:rPr>
                                  </m:ctrlPr>
                                </m:sSubPr>
                                <m:e>
                                  <m:r>
                                    <a:rPr lang="zh-CN" altLang="en-US" sz="1600" i="1">
                                      <a:latin typeface="Cambria Math" panose="02040503050406030204" pitchFamily="18" charset="0"/>
                                    </a:rPr>
                                    <m:t>𝛿</m:t>
                                  </m:r>
                                </m:e>
                                <m:sub>
                                  <m:r>
                                    <a:rPr lang="en-US" altLang="zh-CN" sz="1600" i="1">
                                      <a:latin typeface="Cambria Math" panose="02040503050406030204" pitchFamily="18" charset="0"/>
                                    </a:rPr>
                                    <m:t>𝑘</m:t>
                                  </m:r>
                                </m:sub>
                              </m:sSub>
                            </m:e>
                          </m:nary>
                        </m:e>
                      </m:d>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𝑥</m:t>
                          </m:r>
                        </m:e>
                        <m:sub>
                          <m:r>
                            <a:rPr lang="en-US" altLang="zh-CN" sz="1600" i="1">
                              <a:latin typeface="Cambria Math" panose="02040503050406030204" pitchFamily="18" charset="0"/>
                            </a:rPr>
                            <m:t>𝑖</m:t>
                          </m:r>
                        </m:sub>
                      </m:sSub>
                      <m:r>
                        <a:rPr lang="en-US" altLang="zh-CN" sz="1600" b="0" i="1" smtClean="0">
                          <a:latin typeface="Cambria Math" panose="02040503050406030204" pitchFamily="18" charset="0"/>
                        </a:rPr>
                        <m:t>=</m:t>
                      </m:r>
                      <m:sSub>
                        <m:sSubPr>
                          <m:ctrlPr>
                            <a:rPr lang="en-US" altLang="zh-CN" sz="1600" b="1" i="1">
                              <a:solidFill>
                                <a:srgbClr val="FF0000"/>
                              </a:solidFill>
                              <a:latin typeface="Cambria Math" panose="02040503050406030204" pitchFamily="18" charset="0"/>
                            </a:rPr>
                          </m:ctrlPr>
                        </m:sSubPr>
                        <m:e>
                          <m:r>
                            <a:rPr lang="zh-CN" altLang="en-US" sz="1600" i="1">
                              <a:solidFill>
                                <a:srgbClr val="FF0000"/>
                              </a:solidFill>
                              <a:latin typeface="Cambria Math" panose="02040503050406030204" pitchFamily="18" charset="0"/>
                            </a:rPr>
                            <m:t>𝛿</m:t>
                          </m:r>
                        </m:e>
                        <m:sub>
                          <m:r>
                            <a:rPr lang="en-US" altLang="zh-CN" sz="1600" i="1">
                              <a:solidFill>
                                <a:srgbClr val="FF0000"/>
                              </a:solidFill>
                              <a:latin typeface="Cambria Math" panose="02040503050406030204" pitchFamily="18" charset="0"/>
                            </a:rPr>
                            <m:t>𝑗</m:t>
                          </m:r>
                        </m:sub>
                      </m:sSub>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𝑥</m:t>
                          </m:r>
                        </m:e>
                        <m:sub>
                          <m:r>
                            <a:rPr lang="en-US" altLang="zh-CN" sz="1600" i="1">
                              <a:latin typeface="Cambria Math" panose="02040503050406030204" pitchFamily="18" charset="0"/>
                            </a:rPr>
                            <m:t>𝑖</m:t>
                          </m:r>
                        </m:sub>
                      </m:sSub>
                    </m:oMath>
                  </m:oMathPara>
                </a14:m>
                <a:endParaRPr lang="en-US" altLang="zh-CN" sz="1600" dirty="0">
                  <a:latin typeface="Monaco" panose="020B0509030404040204" pitchFamily="49" charset="0"/>
                  <a:ea typeface="思源黑体 CN Bold" panose="020B0800000000000000" pitchFamily="34" charset="-122"/>
                  <a:cs typeface="+mj-cs"/>
                </a:endParaRPr>
              </a:p>
            </p:txBody>
          </p:sp>
        </mc:Choice>
        <mc:Fallback xmlns="">
          <p:sp>
            <p:nvSpPr>
              <p:cNvPr id="3" name="内容占位符 2">
                <a:extLst>
                  <a:ext uri="{FF2B5EF4-FFF2-40B4-BE49-F238E27FC236}">
                    <a16:creationId xmlns:a16="http://schemas.microsoft.com/office/drawing/2014/main" id="{B5F15897-98F0-4E08-931A-45E1DC23C6B6}"/>
                  </a:ext>
                </a:extLst>
              </p:cNvPr>
              <p:cNvSpPr>
                <a:spLocks noGrp="1" noRot="1" noChangeAspect="1" noMove="1" noResize="1" noEditPoints="1" noAdjustHandles="1" noChangeArrowheads="1" noChangeShapeType="1" noTextEdit="1"/>
              </p:cNvSpPr>
              <p:nvPr>
                <p:ph idx="1"/>
              </p:nvPr>
            </p:nvSpPr>
            <p:spPr>
              <a:xfrm>
                <a:off x="847463" y="1884806"/>
                <a:ext cx="7705398" cy="4848038"/>
              </a:xfrm>
              <a:blipFill>
                <a:blip r:embed="rId3"/>
                <a:stretch>
                  <a:fillRect l="-39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B8318330-AA46-46AC-8C75-05A185BDA999}"/>
                  </a:ext>
                </a:extLst>
              </p:cNvPr>
              <p:cNvSpPr/>
              <p:nvPr/>
            </p:nvSpPr>
            <p:spPr>
              <a:xfrm>
                <a:off x="8344583" y="2216475"/>
                <a:ext cx="3107967" cy="527773"/>
              </a:xfrm>
              <a:prstGeom prst="rect">
                <a:avLst/>
              </a:prstGeom>
            </p:spPr>
            <p:txBody>
              <a:bodyPr wrap="none">
                <a:spAutoFit/>
              </a:bodyPr>
              <a:lstStyle/>
              <a:p>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𝑦</m:t>
                        </m:r>
                      </m:e>
                      <m:sub>
                        <m:r>
                          <a:rPr lang="en-US" altLang="zh-CN" sz="1600" i="1">
                            <a:latin typeface="Cambria Math" panose="02040503050406030204" pitchFamily="18" charset="0"/>
                          </a:rPr>
                          <m:t>𝑘</m:t>
                        </m:r>
                      </m:sub>
                    </m:sSub>
                    <m:r>
                      <a:rPr lang="en-US" altLang="zh-CN" sz="1600" i="1">
                        <a:latin typeface="Cambria Math" panose="02040503050406030204" pitchFamily="18" charset="0"/>
                      </a:rPr>
                      <m:t>=</m:t>
                    </m:r>
                    <m:r>
                      <a:rPr lang="en-US" altLang="zh-CN" sz="1600" i="1">
                        <a:latin typeface="Cambria Math" panose="02040503050406030204" pitchFamily="18" charset="0"/>
                      </a:rPr>
                      <m:t>𝑠𝑜𝑓𝑡𝑚𝑎𝑥</m:t>
                    </m:r>
                    <m:d>
                      <m:dPr>
                        <m:ctrlPr>
                          <a:rPr lang="en-US" altLang="zh-CN" sz="1600" i="1">
                            <a:latin typeface="Cambria Math" panose="02040503050406030204" pitchFamily="18" charset="0"/>
                          </a:rPr>
                        </m:ctrlPr>
                      </m:dPr>
                      <m:e>
                        <m:nary>
                          <m:naryPr>
                            <m:chr m:val="∑"/>
                            <m:ctrlPr>
                              <a:rPr lang="en-US" altLang="zh-CN" sz="1600" i="1">
                                <a:latin typeface="Cambria Math" panose="02040503050406030204" pitchFamily="18" charset="0"/>
                              </a:rPr>
                            </m:ctrlPr>
                          </m:naryPr>
                          <m:sub>
                            <m:r>
                              <m:rPr>
                                <m:brk m:alnAt="23"/>
                              </m:rPr>
                              <a:rPr lang="en-US" altLang="zh-CN" sz="1600" i="1">
                                <a:latin typeface="Cambria Math" panose="02040503050406030204" pitchFamily="18" charset="0"/>
                              </a:rPr>
                              <m:t>𝑗</m:t>
                            </m:r>
                            <m:r>
                              <a:rPr lang="en-US" altLang="zh-CN" sz="1600" i="1">
                                <a:latin typeface="Cambria Math" panose="02040503050406030204" pitchFamily="18" charset="0"/>
                              </a:rPr>
                              <m:t>=1</m:t>
                            </m:r>
                          </m:sub>
                          <m:sup>
                            <m:r>
                              <a:rPr lang="en-US" altLang="zh-CN" sz="1600" i="1">
                                <a:latin typeface="Cambria Math" panose="02040503050406030204" pitchFamily="18" charset="0"/>
                              </a:rPr>
                              <m:t>𝑀</m:t>
                            </m:r>
                          </m:sup>
                          <m:e>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𝑤</m:t>
                                </m:r>
                              </m:e>
                              <m:sub>
                                <m:r>
                                  <a:rPr lang="en-US" altLang="zh-CN" sz="1600" i="1">
                                    <a:latin typeface="Cambria Math" panose="02040503050406030204" pitchFamily="18" charset="0"/>
                                  </a:rPr>
                                  <m:t>𝑘𝑗</m:t>
                                </m:r>
                              </m:sub>
                              <m:sup>
                                <m:d>
                                  <m:dPr>
                                    <m:ctrlPr>
                                      <a:rPr lang="en-US" altLang="zh-CN" sz="1600" b="1" i="1">
                                        <a:latin typeface="Cambria Math" panose="02040503050406030204" pitchFamily="18" charset="0"/>
                                      </a:rPr>
                                    </m:ctrlPr>
                                  </m:dPr>
                                  <m:e>
                                    <m:r>
                                      <a:rPr lang="en-US" altLang="zh-CN" sz="1600" i="1">
                                        <a:latin typeface="Cambria Math" panose="02040503050406030204" pitchFamily="18" charset="0"/>
                                      </a:rPr>
                                      <m:t>2</m:t>
                                    </m:r>
                                  </m:e>
                                </m:d>
                              </m:sup>
                            </m:sSubSup>
                          </m:e>
                        </m:nary>
                        <m:r>
                          <a:rPr lang="en-US" altLang="zh-CN" sz="1600" i="1">
                            <a:latin typeface="Cambria Math" panose="02040503050406030204" pitchFamily="18" charset="0"/>
                          </a:rPr>
                          <m:t>h</m:t>
                        </m:r>
                        <m:d>
                          <m:dPr>
                            <m:ctrlPr>
                              <a:rPr lang="en-US" altLang="zh-CN" sz="1600" b="1" i="1">
                                <a:latin typeface="Cambria Math" panose="02040503050406030204" pitchFamily="18" charset="0"/>
                              </a:rPr>
                            </m:ctrlPr>
                          </m:dPr>
                          <m:e>
                            <m:sSub>
                              <m:sSubPr>
                                <m:ctrlPr>
                                  <a:rPr lang="en-US" altLang="zh-CN" sz="1600" b="1"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𝑗</m:t>
                                </m:r>
                              </m:sub>
                            </m:sSub>
                          </m:e>
                        </m:d>
                      </m:e>
                    </m:d>
                  </m:oMath>
                </a14:m>
                <a:r>
                  <a:rPr lang="zh-CN" altLang="en-US" sz="1600" dirty="0"/>
                  <a:t> </a:t>
                </a:r>
              </a:p>
            </p:txBody>
          </p:sp>
        </mc:Choice>
        <mc:Fallback xmlns="">
          <p:sp>
            <p:nvSpPr>
              <p:cNvPr id="5" name="矩形 4">
                <a:extLst>
                  <a:ext uri="{FF2B5EF4-FFF2-40B4-BE49-F238E27FC236}">
                    <a16:creationId xmlns:a16="http://schemas.microsoft.com/office/drawing/2014/main" id="{B8318330-AA46-46AC-8C75-05A185BDA999}"/>
                  </a:ext>
                </a:extLst>
              </p:cNvPr>
              <p:cNvSpPr>
                <a:spLocks noRot="1" noChangeAspect="1" noMove="1" noResize="1" noEditPoints="1" noAdjustHandles="1" noChangeArrowheads="1" noChangeShapeType="1" noTextEdit="1"/>
              </p:cNvSpPr>
              <p:nvPr/>
            </p:nvSpPr>
            <p:spPr>
              <a:xfrm>
                <a:off x="8344583" y="2216475"/>
                <a:ext cx="3107967" cy="527773"/>
              </a:xfrm>
              <a:prstGeom prst="rect">
                <a:avLst/>
              </a:prstGeom>
              <a:blipFill>
                <a:blip r:embed="rId4"/>
                <a:stretch>
                  <a:fillRect t="-52326" b="-93023"/>
                </a:stretch>
              </a:blipFill>
            </p:spPr>
            <p:txBody>
              <a:bodyPr/>
              <a:lstStyle/>
              <a:p>
                <a:r>
                  <a:rPr lang="zh-CN" altLang="en-US">
                    <a:noFill/>
                  </a:rPr>
                  <a:t> </a:t>
                </a:r>
              </a:p>
            </p:txBody>
          </p:sp>
        </mc:Fallback>
      </mc:AlternateContent>
      <p:sp>
        <p:nvSpPr>
          <p:cNvPr id="22" name="矩形 21">
            <a:extLst>
              <a:ext uri="{FF2B5EF4-FFF2-40B4-BE49-F238E27FC236}">
                <a16:creationId xmlns:a16="http://schemas.microsoft.com/office/drawing/2014/main" id="{9AA7F31E-642F-43F0-B837-01ED2BB67606}"/>
              </a:ext>
            </a:extLst>
          </p:cNvPr>
          <p:cNvSpPr/>
          <p:nvPr/>
        </p:nvSpPr>
        <p:spPr>
          <a:xfrm>
            <a:off x="9376593" y="1922409"/>
            <a:ext cx="1149674" cy="369332"/>
          </a:xfrm>
          <a:prstGeom prst="rect">
            <a:avLst/>
          </a:prstGeom>
        </p:spPr>
        <p:txBody>
          <a:bodyPr wrap="none">
            <a:spAutoFit/>
          </a:bodyPr>
          <a:lstStyle/>
          <a:p>
            <a:r>
              <a:rPr lang="en-US" altLang="zh-CN" dirty="0">
                <a:latin typeface="Monaco" panose="020B0509030404040204" pitchFamily="49" charset="0"/>
                <a:ea typeface="思源黑体 CN Bold" panose="020B0800000000000000" pitchFamily="34" charset="-122"/>
              </a:rPr>
              <a:t>Forward</a:t>
            </a:r>
            <a:endParaRPr lang="zh-CN" altLang="en-US" dirty="0"/>
          </a:p>
        </p:txBody>
      </p:sp>
      <mc:AlternateContent xmlns:mc="http://schemas.openxmlformats.org/markup-compatibility/2006" xmlns:a14="http://schemas.microsoft.com/office/drawing/2010/main">
        <mc:Choice Requires="a14">
          <p:sp>
            <p:nvSpPr>
              <p:cNvPr id="29" name="矩形 28">
                <a:extLst>
                  <a:ext uri="{FF2B5EF4-FFF2-40B4-BE49-F238E27FC236}">
                    <a16:creationId xmlns:a16="http://schemas.microsoft.com/office/drawing/2014/main" id="{D16E2DB8-19F4-4A39-B072-D996B43C299B}"/>
                  </a:ext>
                </a:extLst>
              </p:cNvPr>
              <p:cNvSpPr/>
              <p:nvPr/>
            </p:nvSpPr>
            <p:spPr>
              <a:xfrm>
                <a:off x="5144402" y="2509591"/>
                <a:ext cx="1552540" cy="78463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1600" b="1"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𝑗</m:t>
                          </m:r>
                        </m:sub>
                      </m:sSub>
                      <m:r>
                        <a:rPr lang="en-US" altLang="zh-CN" sz="1600" i="1">
                          <a:latin typeface="Cambria Math" panose="02040503050406030204" pitchFamily="18" charset="0"/>
                        </a:rPr>
                        <m:t>=</m:t>
                      </m:r>
                      <m:nary>
                        <m:naryPr>
                          <m:chr m:val="∑"/>
                          <m:ctrlPr>
                            <a:rPr lang="en-US" altLang="zh-CN" sz="1600" i="1">
                              <a:latin typeface="Cambria Math" panose="02040503050406030204" pitchFamily="18" charset="0"/>
                            </a:rPr>
                          </m:ctrlPr>
                        </m:naryPr>
                        <m:sub>
                          <m:r>
                            <a:rPr lang="en-US" altLang="zh-CN" sz="1600" i="1">
                              <a:latin typeface="Cambria Math" panose="02040503050406030204" pitchFamily="18" charset="0"/>
                            </a:rPr>
                            <m:t>𝑖</m:t>
                          </m:r>
                          <m:r>
                            <a:rPr lang="en-US" altLang="zh-CN" sz="1600" i="1">
                              <a:latin typeface="Cambria Math" panose="02040503050406030204" pitchFamily="18" charset="0"/>
                            </a:rPr>
                            <m:t>=1</m:t>
                          </m:r>
                        </m:sub>
                        <m:sup>
                          <m:r>
                            <a:rPr lang="en-US" altLang="zh-CN" sz="1600" i="1">
                              <a:latin typeface="Cambria Math" panose="02040503050406030204" pitchFamily="18" charset="0"/>
                            </a:rPr>
                            <m:t>𝐷</m:t>
                          </m:r>
                        </m:sup>
                        <m:e>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𝑤</m:t>
                              </m:r>
                            </m:e>
                            <m:sub>
                              <m:r>
                                <a:rPr lang="en-US" altLang="zh-CN" sz="1600" i="1">
                                  <a:latin typeface="Cambria Math" panose="02040503050406030204" pitchFamily="18" charset="0"/>
                                </a:rPr>
                                <m:t>𝑗𝑖</m:t>
                              </m:r>
                            </m:sub>
                            <m:sup>
                              <m:d>
                                <m:dPr>
                                  <m:ctrlPr>
                                    <a:rPr lang="en-US" altLang="zh-CN" sz="1600" b="1" i="1">
                                      <a:latin typeface="Cambria Math" panose="02040503050406030204" pitchFamily="18" charset="0"/>
                                    </a:rPr>
                                  </m:ctrlPr>
                                </m:dPr>
                                <m:e>
                                  <m:r>
                                    <a:rPr lang="en-US" altLang="zh-CN" sz="1600" i="1">
                                      <a:latin typeface="Cambria Math" panose="02040503050406030204" pitchFamily="18" charset="0"/>
                                    </a:rPr>
                                    <m:t>1</m:t>
                                  </m:r>
                                </m:e>
                              </m:d>
                            </m:sup>
                          </m:sSubSup>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𝑥</m:t>
                              </m:r>
                            </m:e>
                            <m:sub>
                              <m:r>
                                <a:rPr lang="en-US" altLang="zh-CN" sz="1600" i="1">
                                  <a:latin typeface="Cambria Math" panose="02040503050406030204" pitchFamily="18" charset="0"/>
                                </a:rPr>
                                <m:t>𝑖</m:t>
                              </m:r>
                            </m:sub>
                          </m:sSub>
                        </m:e>
                      </m:nary>
                    </m:oMath>
                  </m:oMathPara>
                </a14:m>
                <a:endParaRPr lang="zh-CN" altLang="en-US" sz="1600" dirty="0"/>
              </a:p>
            </p:txBody>
          </p:sp>
        </mc:Choice>
        <mc:Fallback xmlns="">
          <p:sp>
            <p:nvSpPr>
              <p:cNvPr id="29" name="矩形 28">
                <a:extLst>
                  <a:ext uri="{FF2B5EF4-FFF2-40B4-BE49-F238E27FC236}">
                    <a16:creationId xmlns:a16="http://schemas.microsoft.com/office/drawing/2014/main" id="{D16E2DB8-19F4-4A39-B072-D996B43C299B}"/>
                  </a:ext>
                </a:extLst>
              </p:cNvPr>
              <p:cNvSpPr>
                <a:spLocks noRot="1" noChangeAspect="1" noMove="1" noResize="1" noEditPoints="1" noAdjustHandles="1" noChangeArrowheads="1" noChangeShapeType="1" noTextEdit="1"/>
              </p:cNvSpPr>
              <p:nvPr/>
            </p:nvSpPr>
            <p:spPr>
              <a:xfrm>
                <a:off x="5144402" y="2509591"/>
                <a:ext cx="1552540" cy="784638"/>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矩形 29">
                <a:extLst>
                  <a:ext uri="{FF2B5EF4-FFF2-40B4-BE49-F238E27FC236}">
                    <a16:creationId xmlns:a16="http://schemas.microsoft.com/office/drawing/2014/main" id="{E0A1848D-74FB-4F4F-A58C-A22468433461}"/>
                  </a:ext>
                </a:extLst>
              </p:cNvPr>
              <p:cNvSpPr/>
              <p:nvPr/>
            </p:nvSpPr>
            <p:spPr>
              <a:xfrm>
                <a:off x="8732597" y="633984"/>
                <a:ext cx="863763" cy="787844"/>
              </a:xfrm>
              <a:prstGeom prst="rect">
                <a:avLst/>
              </a:prstGeom>
              <a:ln>
                <a:solidFill>
                  <a:srgbClr val="FF0000"/>
                </a:solidFill>
              </a:ln>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 </m:t>
                      </m:r>
                      <m:f>
                        <m:fPr>
                          <m:ctrlPr>
                            <a:rPr lang="en-US" altLang="zh-CN" i="1">
                              <a:latin typeface="Cambria Math" panose="02040503050406030204" pitchFamily="18" charset="0"/>
                            </a:rPr>
                          </m:ctrlPr>
                        </m:fPr>
                        <m:num>
                          <m:r>
                            <a:rPr lang="en-US" altLang="zh-CN" i="1">
                              <a:latin typeface="Cambria Math" panose="02040503050406030204" pitchFamily="18" charset="0"/>
                            </a:rPr>
                            <m:t>𝜕</m:t>
                          </m:r>
                          <m:r>
                            <a:rPr lang="en-US" altLang="zh-CN" i="1">
                              <a:latin typeface="Cambria Math" panose="02040503050406030204" pitchFamily="18" charset="0"/>
                            </a:rPr>
                            <m:t>𝐿</m:t>
                          </m:r>
                        </m:num>
                        <m:den>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i="1">
                                  <a:latin typeface="Cambria Math" panose="02040503050406030204" pitchFamily="18" charset="0"/>
                                </a:rPr>
                                <m:t>𝑗𝑖</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1</m:t>
                                  </m:r>
                                </m:e>
                              </m:d>
                            </m:sup>
                          </m:sSubSup>
                        </m:den>
                      </m:f>
                    </m:oMath>
                  </m:oMathPara>
                </a14:m>
                <a:endParaRPr lang="zh-CN" altLang="en-US" dirty="0"/>
              </a:p>
            </p:txBody>
          </p:sp>
        </mc:Choice>
        <mc:Fallback xmlns="">
          <p:sp>
            <p:nvSpPr>
              <p:cNvPr id="30" name="矩形 29">
                <a:extLst>
                  <a:ext uri="{FF2B5EF4-FFF2-40B4-BE49-F238E27FC236}">
                    <a16:creationId xmlns:a16="http://schemas.microsoft.com/office/drawing/2014/main" id="{E0A1848D-74FB-4F4F-A58C-A22468433461}"/>
                  </a:ext>
                </a:extLst>
              </p:cNvPr>
              <p:cNvSpPr>
                <a:spLocks noRot="1" noChangeAspect="1" noMove="1" noResize="1" noEditPoints="1" noAdjustHandles="1" noChangeArrowheads="1" noChangeShapeType="1" noTextEdit="1"/>
              </p:cNvSpPr>
              <p:nvPr/>
            </p:nvSpPr>
            <p:spPr>
              <a:xfrm>
                <a:off x="8732597" y="633984"/>
                <a:ext cx="863763" cy="787844"/>
              </a:xfrm>
              <a:prstGeom prst="rect">
                <a:avLst/>
              </a:prstGeom>
              <a:blipFill>
                <a:blip r:embed="rId11"/>
                <a:stretch>
                  <a:fillRect/>
                </a:stretch>
              </a:blipFill>
              <a:ln>
                <a:solidFill>
                  <a:srgbClr val="FF0000"/>
                </a:solidFill>
              </a:ln>
            </p:spPr>
            <p:txBody>
              <a:bodyPr/>
              <a:lstStyle/>
              <a:p>
                <a:r>
                  <a:rPr lang="zh-CN" altLang="en-US">
                    <a:noFill/>
                  </a:rPr>
                  <a:t> </a:t>
                </a:r>
              </a:p>
            </p:txBody>
          </p:sp>
        </mc:Fallback>
      </mc:AlternateContent>
      <p:grpSp>
        <p:nvGrpSpPr>
          <p:cNvPr id="9" name="组合 8">
            <a:extLst>
              <a:ext uri="{FF2B5EF4-FFF2-40B4-BE49-F238E27FC236}">
                <a16:creationId xmlns:a16="http://schemas.microsoft.com/office/drawing/2014/main" id="{1170F1EF-1CB3-4823-8D2B-D4DDBD938285}"/>
              </a:ext>
            </a:extLst>
          </p:cNvPr>
          <p:cNvGrpSpPr/>
          <p:nvPr/>
        </p:nvGrpSpPr>
        <p:grpSpPr>
          <a:xfrm>
            <a:off x="7729576" y="2757867"/>
            <a:ext cx="4337982" cy="3563473"/>
            <a:chOff x="7729576" y="2757867"/>
            <a:chExt cx="4337982" cy="3563473"/>
          </a:xfrm>
        </p:grpSpPr>
        <p:grpSp>
          <p:nvGrpSpPr>
            <p:cNvPr id="28" name="组合 27">
              <a:extLst>
                <a:ext uri="{FF2B5EF4-FFF2-40B4-BE49-F238E27FC236}">
                  <a16:creationId xmlns:a16="http://schemas.microsoft.com/office/drawing/2014/main" id="{EE491A68-20D7-4A65-9AF0-34F9BE4F6D56}"/>
                </a:ext>
              </a:extLst>
            </p:cNvPr>
            <p:cNvGrpSpPr/>
            <p:nvPr/>
          </p:nvGrpSpPr>
          <p:grpSpPr>
            <a:xfrm>
              <a:off x="7729576" y="2757867"/>
              <a:ext cx="4337982" cy="3563473"/>
              <a:chOff x="7729576" y="2757867"/>
              <a:chExt cx="4337982" cy="3563473"/>
            </a:xfrm>
          </p:grpSpPr>
          <p:grpSp>
            <p:nvGrpSpPr>
              <p:cNvPr id="6" name="组合 5">
                <a:extLst>
                  <a:ext uri="{FF2B5EF4-FFF2-40B4-BE49-F238E27FC236}">
                    <a16:creationId xmlns:a16="http://schemas.microsoft.com/office/drawing/2014/main" id="{4BB3E588-BAED-4F8F-AB01-470C5A04F55F}"/>
                  </a:ext>
                </a:extLst>
              </p:cNvPr>
              <p:cNvGrpSpPr>
                <a:grpSpLocks noChangeAspect="1"/>
              </p:cNvGrpSpPr>
              <p:nvPr/>
            </p:nvGrpSpPr>
            <p:grpSpPr>
              <a:xfrm>
                <a:off x="7729576" y="2757867"/>
                <a:ext cx="4337982" cy="3563473"/>
                <a:chOff x="6453873" y="1782638"/>
                <a:chExt cx="5315095" cy="4351337"/>
              </a:xfrm>
            </p:grpSpPr>
            <p:pic>
              <p:nvPicPr>
                <p:cNvPr id="4" name="图片 3">
                  <a:extLst>
                    <a:ext uri="{FF2B5EF4-FFF2-40B4-BE49-F238E27FC236}">
                      <a16:creationId xmlns:a16="http://schemas.microsoft.com/office/drawing/2014/main" id="{0ACFECF1-2C94-4CF1-AF10-846AEB0254C2}"/>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453873" y="1782638"/>
                  <a:ext cx="5315095" cy="4351337"/>
                </a:xfrm>
                <a:prstGeom prst="rect">
                  <a:avLst/>
                </a:prstGeom>
              </p:spPr>
            </p:pic>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1AFC9801-156C-468B-8FDD-E05A184C3F61}"/>
                        </a:ext>
                      </a:extLst>
                    </p:cNvPr>
                    <p:cNvSpPr/>
                    <p:nvPr/>
                  </p:nvSpPr>
                  <p:spPr>
                    <a:xfrm>
                      <a:off x="9274638" y="3141169"/>
                      <a:ext cx="605869" cy="39164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𝑘𝑗</m:t>
                                </m:r>
                              </m:sub>
                            </m:sSub>
                          </m:oMath>
                        </m:oMathPara>
                      </a14:m>
                      <a:endParaRPr lang="zh-CN" altLang="en-US" dirty="0"/>
                    </a:p>
                  </p:txBody>
                </p:sp>
              </mc:Choice>
              <mc:Fallback xmlns="">
                <p:sp>
                  <p:nvSpPr>
                    <p:cNvPr id="8" name="矩形 7">
                      <a:extLst>
                        <a:ext uri="{FF2B5EF4-FFF2-40B4-BE49-F238E27FC236}">
                          <a16:creationId xmlns:a16="http://schemas.microsoft.com/office/drawing/2014/main" id="{1AFC9801-156C-468B-8FDD-E05A184C3F61}"/>
                        </a:ext>
                      </a:extLst>
                    </p:cNvPr>
                    <p:cNvSpPr>
                      <a:spLocks noRot="1" noChangeAspect="1" noMove="1" noResize="1" noEditPoints="1" noAdjustHandles="1" noChangeArrowheads="1" noChangeShapeType="1" noTextEdit="1"/>
                    </p:cNvSpPr>
                    <p:nvPr/>
                  </p:nvSpPr>
                  <p:spPr>
                    <a:xfrm>
                      <a:off x="9274638" y="3141169"/>
                      <a:ext cx="605869" cy="391646"/>
                    </a:xfrm>
                    <a:prstGeom prst="rect">
                      <a:avLst/>
                    </a:prstGeom>
                    <a:blipFill>
                      <a:blip r:embed="rId6"/>
                      <a:stretch>
                        <a:fillRect r="-4938" b="-3018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766DA921-987A-4800-8643-1FFF170B7BA4}"/>
                        </a:ext>
                      </a:extLst>
                    </p:cNvPr>
                    <p:cNvSpPr/>
                    <p:nvPr/>
                  </p:nvSpPr>
                  <p:spPr>
                    <a:xfrm>
                      <a:off x="7797187" y="3001947"/>
                      <a:ext cx="542071" cy="39164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𝑗𝑖</m:t>
                                </m:r>
                              </m:sub>
                            </m:sSub>
                          </m:oMath>
                        </m:oMathPara>
                      </a14:m>
                      <a:endParaRPr lang="zh-CN" altLang="en-US" dirty="0"/>
                    </a:p>
                  </p:txBody>
                </p:sp>
              </mc:Choice>
              <mc:Fallback xmlns="">
                <p:sp>
                  <p:nvSpPr>
                    <p:cNvPr id="10" name="矩形 9">
                      <a:extLst>
                        <a:ext uri="{FF2B5EF4-FFF2-40B4-BE49-F238E27FC236}">
                          <a16:creationId xmlns:a16="http://schemas.microsoft.com/office/drawing/2014/main" id="{766DA921-987A-4800-8643-1FFF170B7BA4}"/>
                        </a:ext>
                      </a:extLst>
                    </p:cNvPr>
                    <p:cNvSpPr>
                      <a:spLocks noRot="1" noChangeAspect="1" noMove="1" noResize="1" noEditPoints="1" noAdjustHandles="1" noChangeArrowheads="1" noChangeShapeType="1" noTextEdit="1"/>
                    </p:cNvSpPr>
                    <p:nvPr/>
                  </p:nvSpPr>
                  <p:spPr>
                    <a:xfrm>
                      <a:off x="7797187" y="3001947"/>
                      <a:ext cx="542071" cy="391646"/>
                    </a:xfrm>
                    <a:prstGeom prst="rect">
                      <a:avLst/>
                    </a:prstGeom>
                    <a:blipFill>
                      <a:blip r:embed="rId7"/>
                      <a:stretch>
                        <a:fillRect r="-2778" b="-32075"/>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26" name="矩形 25">
                    <a:extLst>
                      <a:ext uri="{FF2B5EF4-FFF2-40B4-BE49-F238E27FC236}">
                        <a16:creationId xmlns:a16="http://schemas.microsoft.com/office/drawing/2014/main" id="{B4B17DDD-2D12-4C19-8FDE-3CF5E518B706}"/>
                      </a:ext>
                    </a:extLst>
                  </p:cNvPr>
                  <p:cNvSpPr/>
                  <p:nvPr/>
                </p:nvSpPr>
                <p:spPr>
                  <a:xfrm>
                    <a:off x="9291613" y="3290398"/>
                    <a:ext cx="448777" cy="39164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𝑗</m:t>
                              </m:r>
                            </m:sub>
                          </m:sSub>
                        </m:oMath>
                      </m:oMathPara>
                    </a14:m>
                    <a:endParaRPr lang="zh-CN" altLang="en-US" dirty="0"/>
                  </a:p>
                </p:txBody>
              </p:sp>
            </mc:Choice>
            <mc:Fallback xmlns="">
              <p:sp>
                <p:nvSpPr>
                  <p:cNvPr id="26" name="矩形 25">
                    <a:extLst>
                      <a:ext uri="{FF2B5EF4-FFF2-40B4-BE49-F238E27FC236}">
                        <a16:creationId xmlns:a16="http://schemas.microsoft.com/office/drawing/2014/main" id="{B4B17DDD-2D12-4C19-8FDE-3CF5E518B706}"/>
                      </a:ext>
                    </a:extLst>
                  </p:cNvPr>
                  <p:cNvSpPr>
                    <a:spLocks noRot="1" noChangeAspect="1" noMove="1" noResize="1" noEditPoints="1" noAdjustHandles="1" noChangeArrowheads="1" noChangeShapeType="1" noTextEdit="1"/>
                  </p:cNvSpPr>
                  <p:nvPr/>
                </p:nvSpPr>
                <p:spPr>
                  <a:xfrm>
                    <a:off x="9291613" y="3290398"/>
                    <a:ext cx="448777" cy="391646"/>
                  </a:xfrm>
                  <a:prstGeom prst="rect">
                    <a:avLst/>
                  </a:prstGeom>
                  <a:blipFill>
                    <a:blip r:embed="rId8"/>
                    <a:stretch>
                      <a:fillRect b="-781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矩形 26">
                    <a:extLst>
                      <a:ext uri="{FF2B5EF4-FFF2-40B4-BE49-F238E27FC236}">
                        <a16:creationId xmlns:a16="http://schemas.microsoft.com/office/drawing/2014/main" id="{7AB3C284-ED01-48A0-9DC7-CCD8D08CF70D}"/>
                      </a:ext>
                    </a:extLst>
                  </p:cNvPr>
                  <p:cNvSpPr/>
                  <p:nvPr/>
                </p:nvSpPr>
                <p:spPr>
                  <a:xfrm>
                    <a:off x="10738643" y="4442692"/>
                    <a:ext cx="49250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𝑘</m:t>
                              </m:r>
                            </m:sub>
                          </m:sSub>
                        </m:oMath>
                      </m:oMathPara>
                    </a14:m>
                    <a:endParaRPr lang="zh-CN" altLang="en-US" dirty="0"/>
                  </a:p>
                </p:txBody>
              </p:sp>
            </mc:Choice>
            <mc:Fallback xmlns="">
              <p:sp>
                <p:nvSpPr>
                  <p:cNvPr id="27" name="矩形 26">
                    <a:extLst>
                      <a:ext uri="{FF2B5EF4-FFF2-40B4-BE49-F238E27FC236}">
                        <a16:creationId xmlns:a16="http://schemas.microsoft.com/office/drawing/2014/main" id="{7AB3C284-ED01-48A0-9DC7-CCD8D08CF70D}"/>
                      </a:ext>
                    </a:extLst>
                  </p:cNvPr>
                  <p:cNvSpPr>
                    <a:spLocks noRot="1" noChangeAspect="1" noMove="1" noResize="1" noEditPoints="1" noAdjustHandles="1" noChangeArrowheads="1" noChangeShapeType="1" noTextEdit="1"/>
                  </p:cNvSpPr>
                  <p:nvPr/>
                </p:nvSpPr>
                <p:spPr>
                  <a:xfrm>
                    <a:off x="10738643" y="4442692"/>
                    <a:ext cx="492507" cy="369332"/>
                  </a:xfrm>
                  <a:prstGeom prst="rect">
                    <a:avLst/>
                  </a:prstGeom>
                  <a:blipFill>
                    <a:blip r:embed="rId9"/>
                    <a:stretch>
                      <a:fillRect/>
                    </a:stretch>
                  </a:blipFill>
                </p:spPr>
                <p:txBody>
                  <a:bodyPr/>
                  <a:lstStyle/>
                  <a:p>
                    <a:r>
                      <a:rPr lang="zh-CN" altLang="en-US">
                        <a:noFill/>
                      </a:rPr>
                      <a:t> </a:t>
                    </a:r>
                  </a:p>
                </p:txBody>
              </p:sp>
            </mc:Fallback>
          </mc:AlternateContent>
        </p:grpSp>
        <p:sp>
          <p:nvSpPr>
            <p:cNvPr id="31" name="矩形: 圆角 30">
              <a:extLst>
                <a:ext uri="{FF2B5EF4-FFF2-40B4-BE49-F238E27FC236}">
                  <a16:creationId xmlns:a16="http://schemas.microsoft.com/office/drawing/2014/main" id="{DC566904-61BD-4611-80CF-BF7E95F0861A}"/>
                </a:ext>
              </a:extLst>
            </p:cNvPr>
            <p:cNvSpPr/>
            <p:nvPr/>
          </p:nvSpPr>
          <p:spPr>
            <a:xfrm rot="18580401">
              <a:off x="8255140" y="4179798"/>
              <a:ext cx="1800000" cy="72000"/>
            </a:xfrm>
            <a:prstGeom prst="roundRect">
              <a:avLst/>
            </a:prstGeom>
            <a:noFill/>
            <a:ln>
              <a:solidFill>
                <a:srgbClr val="FF0000"/>
              </a:solidFill>
            </a:ln>
            <a:effectLst>
              <a:glow rad="635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圆角 31">
              <a:extLst>
                <a:ext uri="{FF2B5EF4-FFF2-40B4-BE49-F238E27FC236}">
                  <a16:creationId xmlns:a16="http://schemas.microsoft.com/office/drawing/2014/main" id="{5ABCBE90-0B48-4C55-AF0B-DC1104BE2251}"/>
                </a:ext>
              </a:extLst>
            </p:cNvPr>
            <p:cNvSpPr/>
            <p:nvPr/>
          </p:nvSpPr>
          <p:spPr>
            <a:xfrm rot="1326150">
              <a:off x="9950990" y="3631548"/>
              <a:ext cx="1224000" cy="72000"/>
            </a:xfrm>
            <a:prstGeom prst="roundRect">
              <a:avLst/>
            </a:prstGeom>
            <a:noFill/>
            <a:ln>
              <a:solidFill>
                <a:srgbClr val="00B050"/>
              </a:solidFill>
            </a:ln>
            <a:effectLst>
              <a:glow rad="635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圆角 33">
              <a:extLst>
                <a:ext uri="{FF2B5EF4-FFF2-40B4-BE49-F238E27FC236}">
                  <a16:creationId xmlns:a16="http://schemas.microsoft.com/office/drawing/2014/main" id="{0932D2E7-FD88-473A-A77F-3082B564C3B5}"/>
                </a:ext>
              </a:extLst>
            </p:cNvPr>
            <p:cNvSpPr/>
            <p:nvPr/>
          </p:nvSpPr>
          <p:spPr>
            <a:xfrm rot="2715744">
              <a:off x="9707193" y="4036334"/>
              <a:ext cx="1656000" cy="72000"/>
            </a:xfrm>
            <a:prstGeom prst="roundRect">
              <a:avLst/>
            </a:prstGeom>
            <a:noFill/>
            <a:ln>
              <a:solidFill>
                <a:srgbClr val="00B050"/>
              </a:solidFill>
            </a:ln>
            <a:effectLst>
              <a:glow rad="635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35" name="矩形 34">
                <a:extLst>
                  <a:ext uri="{FF2B5EF4-FFF2-40B4-BE49-F238E27FC236}">
                    <a16:creationId xmlns:a16="http://schemas.microsoft.com/office/drawing/2014/main" id="{7591FFE5-E1DF-4DD1-A1F4-1BFE90B3A284}"/>
                  </a:ext>
                </a:extLst>
              </p:cNvPr>
              <p:cNvSpPr/>
              <p:nvPr/>
            </p:nvSpPr>
            <p:spPr>
              <a:xfrm>
                <a:off x="5167645" y="5884049"/>
                <a:ext cx="2175019" cy="784638"/>
              </a:xfrm>
              <a:prstGeom prst="rect">
                <a:avLst/>
              </a:prstGeom>
              <a:solidFill>
                <a:srgbClr val="FFFF00"/>
              </a:solidFill>
              <a:ln w="19050">
                <a:solidFill>
                  <a:srgbClr val="FF0000"/>
                </a:solidFill>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1600" b="1" i="1">
                              <a:solidFill>
                                <a:srgbClr val="FF0000"/>
                              </a:solidFill>
                              <a:latin typeface="Cambria Math" panose="02040503050406030204" pitchFamily="18" charset="0"/>
                            </a:rPr>
                          </m:ctrlPr>
                        </m:sSubPr>
                        <m:e>
                          <m:r>
                            <a:rPr lang="zh-CN" altLang="en-US" sz="1600" i="1">
                              <a:solidFill>
                                <a:srgbClr val="FF0000"/>
                              </a:solidFill>
                              <a:latin typeface="Cambria Math" panose="02040503050406030204" pitchFamily="18" charset="0"/>
                            </a:rPr>
                            <m:t>𝛿</m:t>
                          </m:r>
                        </m:e>
                        <m:sub>
                          <m:r>
                            <a:rPr lang="en-US" altLang="zh-CN" sz="1600" i="1">
                              <a:solidFill>
                                <a:srgbClr val="FF0000"/>
                              </a:solidFill>
                              <a:latin typeface="Cambria Math" panose="02040503050406030204" pitchFamily="18" charset="0"/>
                            </a:rPr>
                            <m:t>𝑗</m:t>
                          </m:r>
                        </m:sub>
                      </m:sSub>
                      <m:r>
                        <a:rPr lang="en-US" altLang="zh-CN" sz="1600" b="0" i="1" smtClean="0">
                          <a:solidFill>
                            <a:srgbClr val="FF0000"/>
                          </a:solidFill>
                          <a:latin typeface="Cambria Math" panose="02040503050406030204" pitchFamily="18" charset="0"/>
                        </a:rPr>
                        <m:t>=</m:t>
                      </m:r>
                      <m:sSup>
                        <m:sSupPr>
                          <m:ctrlPr>
                            <a:rPr lang="en-US" altLang="zh-CN" sz="1600" i="1">
                              <a:latin typeface="Cambria Math" panose="02040503050406030204" pitchFamily="18" charset="0"/>
                            </a:rPr>
                          </m:ctrlPr>
                        </m:sSupPr>
                        <m:e>
                          <m:r>
                            <a:rPr lang="en-US" altLang="zh-CN" sz="1600" i="1">
                              <a:latin typeface="Cambria Math" panose="02040503050406030204" pitchFamily="18" charset="0"/>
                            </a:rPr>
                            <m:t>h</m:t>
                          </m:r>
                        </m:e>
                        <m:sup>
                          <m:r>
                            <a:rPr lang="en-US" altLang="zh-CN" sz="1600" i="1">
                              <a:latin typeface="Cambria Math" panose="02040503050406030204" pitchFamily="18" charset="0"/>
                            </a:rPr>
                            <m:t>′</m:t>
                          </m:r>
                        </m:sup>
                      </m:sSup>
                      <m:d>
                        <m:dPr>
                          <m:ctrlPr>
                            <a:rPr lang="en-US" altLang="zh-CN" sz="1600" b="1" i="1">
                              <a:latin typeface="Cambria Math" panose="02040503050406030204" pitchFamily="18" charset="0"/>
                            </a:rPr>
                          </m:ctrlPr>
                        </m:dPr>
                        <m:e>
                          <m:sSub>
                            <m:sSubPr>
                              <m:ctrlPr>
                                <a:rPr lang="en-US" altLang="zh-CN" sz="1600" b="1"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𝑗</m:t>
                              </m:r>
                            </m:sub>
                          </m:sSub>
                        </m:e>
                      </m:d>
                      <m:nary>
                        <m:naryPr>
                          <m:chr m:val="∑"/>
                          <m:ctrlPr>
                            <a:rPr lang="en-US" altLang="zh-CN" sz="1600" i="1">
                              <a:latin typeface="Cambria Math" panose="02040503050406030204" pitchFamily="18" charset="0"/>
                            </a:rPr>
                          </m:ctrlPr>
                        </m:naryPr>
                        <m:sub>
                          <m:r>
                            <m:rPr>
                              <m:brk m:alnAt="23"/>
                            </m:rPr>
                            <a:rPr lang="en-US" altLang="zh-CN" sz="1600" i="1">
                              <a:latin typeface="Cambria Math" panose="02040503050406030204" pitchFamily="18" charset="0"/>
                            </a:rPr>
                            <m:t>𝑘</m:t>
                          </m:r>
                          <m:r>
                            <a:rPr lang="en-US" altLang="zh-CN" sz="1600" i="1">
                              <a:latin typeface="Cambria Math" panose="02040503050406030204" pitchFamily="18" charset="0"/>
                            </a:rPr>
                            <m:t>=1</m:t>
                          </m:r>
                        </m:sub>
                        <m:sup>
                          <m:r>
                            <a:rPr lang="en-US" altLang="zh-CN" sz="1600" i="1">
                              <a:latin typeface="Cambria Math" panose="02040503050406030204" pitchFamily="18" charset="0"/>
                            </a:rPr>
                            <m:t>𝐾</m:t>
                          </m:r>
                        </m:sup>
                        <m:e>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𝑤</m:t>
                              </m:r>
                            </m:e>
                            <m:sub>
                              <m:r>
                                <a:rPr lang="en-US" altLang="zh-CN" sz="1600" i="1">
                                  <a:latin typeface="Cambria Math" panose="02040503050406030204" pitchFamily="18" charset="0"/>
                                </a:rPr>
                                <m:t>𝑘𝑗</m:t>
                              </m:r>
                            </m:sub>
                            <m:sup>
                              <m:d>
                                <m:dPr>
                                  <m:ctrlPr>
                                    <a:rPr lang="en-US" altLang="zh-CN" sz="1600" b="1" i="1">
                                      <a:latin typeface="Cambria Math" panose="02040503050406030204" pitchFamily="18" charset="0"/>
                                    </a:rPr>
                                  </m:ctrlPr>
                                </m:dPr>
                                <m:e>
                                  <m:r>
                                    <a:rPr lang="en-US" altLang="zh-CN" sz="1600" i="1">
                                      <a:latin typeface="Cambria Math" panose="02040503050406030204" pitchFamily="18" charset="0"/>
                                    </a:rPr>
                                    <m:t>2</m:t>
                                  </m:r>
                                </m:e>
                              </m:d>
                            </m:sup>
                          </m:sSubSup>
                          <m:sSub>
                            <m:sSubPr>
                              <m:ctrlPr>
                                <a:rPr lang="en-US" altLang="zh-CN" sz="1600" b="1" i="1">
                                  <a:latin typeface="Cambria Math" panose="02040503050406030204" pitchFamily="18" charset="0"/>
                                </a:rPr>
                              </m:ctrlPr>
                            </m:sSubPr>
                            <m:e>
                              <m:r>
                                <a:rPr lang="zh-CN" altLang="en-US" sz="1600" i="1">
                                  <a:latin typeface="Cambria Math" panose="02040503050406030204" pitchFamily="18" charset="0"/>
                                </a:rPr>
                                <m:t>𝛿</m:t>
                              </m:r>
                            </m:e>
                            <m:sub>
                              <m:r>
                                <a:rPr lang="en-US" altLang="zh-CN" sz="1600" i="1">
                                  <a:latin typeface="Cambria Math" panose="02040503050406030204" pitchFamily="18" charset="0"/>
                                </a:rPr>
                                <m:t>𝑘</m:t>
                              </m:r>
                            </m:sub>
                          </m:sSub>
                        </m:e>
                      </m:nary>
                    </m:oMath>
                  </m:oMathPara>
                </a14:m>
                <a:endParaRPr lang="zh-CN" altLang="en-US" sz="1600" dirty="0"/>
              </a:p>
            </p:txBody>
          </p:sp>
        </mc:Choice>
        <mc:Fallback xmlns="">
          <p:sp>
            <p:nvSpPr>
              <p:cNvPr id="35" name="矩形 34">
                <a:extLst>
                  <a:ext uri="{FF2B5EF4-FFF2-40B4-BE49-F238E27FC236}">
                    <a16:creationId xmlns:a16="http://schemas.microsoft.com/office/drawing/2014/main" id="{7591FFE5-E1DF-4DD1-A1F4-1BFE90B3A284}"/>
                  </a:ext>
                </a:extLst>
              </p:cNvPr>
              <p:cNvSpPr>
                <a:spLocks noRot="1" noChangeAspect="1" noMove="1" noResize="1" noEditPoints="1" noAdjustHandles="1" noChangeArrowheads="1" noChangeShapeType="1" noTextEdit="1"/>
              </p:cNvSpPr>
              <p:nvPr/>
            </p:nvSpPr>
            <p:spPr>
              <a:xfrm>
                <a:off x="5167645" y="5884049"/>
                <a:ext cx="2175019" cy="784638"/>
              </a:xfrm>
              <a:prstGeom prst="rect">
                <a:avLst/>
              </a:prstGeom>
              <a:blipFill>
                <a:blip r:embed="rId13"/>
                <a:stretch>
                  <a:fillRect/>
                </a:stretch>
              </a:blipFill>
              <a:ln w="19050">
                <a:solidFill>
                  <a:srgbClr val="FF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36D442FE-DCFE-4C9A-BA98-4255FF97A30B}"/>
                  </a:ext>
                </a:extLst>
              </p:cNvPr>
              <p:cNvSpPr/>
              <p:nvPr/>
            </p:nvSpPr>
            <p:spPr>
              <a:xfrm>
                <a:off x="847463" y="1506992"/>
                <a:ext cx="2645211" cy="369332"/>
              </a:xfrm>
              <a:prstGeom prst="rect">
                <a:avLst/>
              </a:prstGeom>
            </p:spPr>
            <p:txBody>
              <a:bodyPr wrap="none">
                <a:spAutoFit/>
              </a:bodyPr>
              <a:lstStyle/>
              <a:p>
                <a:r>
                  <a:rPr lang="zh-CN" altLang="en-US" dirty="0">
                    <a:latin typeface="Monaco" panose="020B0509030404040204" pitchFamily="49" charset="0"/>
                    <a:ea typeface="思源黑体 CN Bold" panose="020B0800000000000000" pitchFamily="34" charset="-122"/>
                  </a:rPr>
                  <a:t>把</a:t>
                </a:r>
                <a:r>
                  <a:rPr lang="en-US" altLang="zh-CN" dirty="0">
                    <a:latin typeface="Monaco" panose="020B0509030404040204" pitchFamily="49" charset="0"/>
                    <a:ea typeface="思源黑体 CN Bold" panose="020B0800000000000000" pitchFamily="34" charset="-122"/>
                  </a:rPr>
                  <a:t>Loss</a:t>
                </a:r>
                <a:r>
                  <a:rPr lang="zh-CN" altLang="en-US" dirty="0">
                    <a:latin typeface="Monaco" panose="020B0509030404040204" pitchFamily="49" charset="0"/>
                    <a:ea typeface="思源黑体 CN Bold" panose="020B0800000000000000" pitchFamily="34" charset="-122"/>
                  </a:rPr>
                  <a:t>展开为</a:t>
                </a:r>
                <a14:m>
                  <m:oMath xmlns:m="http://schemas.openxmlformats.org/officeDocument/2006/math">
                    <m:sSub>
                      <m:sSubPr>
                        <m:ctrlPr>
                          <a:rPr lang="en-US" altLang="zh-CN" b="1" i="1">
                            <a:solidFill>
                              <a:srgbClr val="FF0000"/>
                            </a:solidFill>
                            <a:latin typeface="Cambria Math" panose="02040503050406030204" pitchFamily="18" charset="0"/>
                          </a:rPr>
                        </m:ctrlPr>
                      </m:sSubPr>
                      <m:e>
                        <m:r>
                          <a:rPr lang="en-US" altLang="zh-CN" i="1">
                            <a:solidFill>
                              <a:srgbClr val="FF0000"/>
                            </a:solidFill>
                            <a:latin typeface="Cambria Math" panose="02040503050406030204" pitchFamily="18" charset="0"/>
                          </a:rPr>
                          <m:t>𝑎</m:t>
                        </m:r>
                      </m:e>
                      <m:sub>
                        <m:r>
                          <a:rPr lang="en-US" altLang="zh-CN" b="0" i="1" smtClean="0">
                            <a:solidFill>
                              <a:srgbClr val="FF0000"/>
                            </a:solidFill>
                            <a:latin typeface="Cambria Math" panose="02040503050406030204" pitchFamily="18" charset="0"/>
                          </a:rPr>
                          <m:t>𝑘</m:t>
                        </m:r>
                      </m:sub>
                    </m:sSub>
                  </m:oMath>
                </a14:m>
                <a:r>
                  <a:rPr lang="zh-CN" altLang="en-US" dirty="0">
                    <a:latin typeface="Monaco" panose="020B0509030404040204" pitchFamily="49" charset="0"/>
                    <a:ea typeface="思源黑体 CN Bold" panose="020B0800000000000000" pitchFamily="34" charset="-122"/>
                  </a:rPr>
                  <a:t>的表达</a:t>
                </a:r>
                <a:endParaRPr lang="zh-CN" altLang="en-US" dirty="0"/>
              </a:p>
            </p:txBody>
          </p:sp>
        </mc:Choice>
        <mc:Fallback xmlns="">
          <p:sp>
            <p:nvSpPr>
              <p:cNvPr id="7" name="矩形 6">
                <a:extLst>
                  <a:ext uri="{FF2B5EF4-FFF2-40B4-BE49-F238E27FC236}">
                    <a16:creationId xmlns:a16="http://schemas.microsoft.com/office/drawing/2014/main" id="{36D442FE-DCFE-4C9A-BA98-4255FF97A30B}"/>
                  </a:ext>
                </a:extLst>
              </p:cNvPr>
              <p:cNvSpPr>
                <a:spLocks noRot="1" noChangeAspect="1" noMove="1" noResize="1" noEditPoints="1" noAdjustHandles="1" noChangeArrowheads="1" noChangeShapeType="1" noTextEdit="1"/>
              </p:cNvSpPr>
              <p:nvPr/>
            </p:nvSpPr>
            <p:spPr>
              <a:xfrm>
                <a:off x="847463" y="1506992"/>
                <a:ext cx="2645211" cy="369332"/>
              </a:xfrm>
              <a:prstGeom prst="rect">
                <a:avLst/>
              </a:prstGeom>
              <a:blipFill>
                <a:blip r:embed="rId14"/>
                <a:stretch>
                  <a:fillRect l="-1843" t="-16393" b="-24590"/>
                </a:stretch>
              </a:blipFill>
            </p:spPr>
            <p:txBody>
              <a:bodyPr/>
              <a:lstStyle/>
              <a:p>
                <a:r>
                  <a:rPr lang="zh-CN" altLang="en-US">
                    <a:noFill/>
                  </a:rPr>
                  <a:t> </a:t>
                </a:r>
              </a:p>
            </p:txBody>
          </p:sp>
        </mc:Fallback>
      </mc:AlternateContent>
      <p:sp>
        <p:nvSpPr>
          <p:cNvPr id="21" name="矩形 20">
            <a:extLst>
              <a:ext uri="{FF2B5EF4-FFF2-40B4-BE49-F238E27FC236}">
                <a16:creationId xmlns:a16="http://schemas.microsoft.com/office/drawing/2014/main" id="{A5B03208-AB26-45DB-9261-59AF556D7D13}"/>
              </a:ext>
            </a:extLst>
          </p:cNvPr>
          <p:cNvSpPr/>
          <p:nvPr/>
        </p:nvSpPr>
        <p:spPr>
          <a:xfrm>
            <a:off x="1795879" y="3536960"/>
            <a:ext cx="370073" cy="1394548"/>
          </a:xfrm>
          <a:prstGeom prst="rect">
            <a:avLst/>
          </a:prstGeom>
          <a:ln w="12700">
            <a:solidFill>
              <a:srgbClr val="0070C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5" name="直角三角形 14">
            <a:extLst>
              <a:ext uri="{FF2B5EF4-FFF2-40B4-BE49-F238E27FC236}">
                <a16:creationId xmlns:a16="http://schemas.microsoft.com/office/drawing/2014/main" id="{4468078F-8B3C-42F4-BB30-ECE4EE947D3D}"/>
              </a:ext>
            </a:extLst>
          </p:cNvPr>
          <p:cNvSpPr/>
          <p:nvPr/>
        </p:nvSpPr>
        <p:spPr>
          <a:xfrm rot="12093891">
            <a:off x="9945383" y="3701792"/>
            <a:ext cx="1057641" cy="435583"/>
          </a:xfrm>
          <a:prstGeom prst="rtTriangle">
            <a:avLst/>
          </a:prstGeom>
          <a:solidFill>
            <a:srgbClr val="BDE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 name="组合 16">
            <a:extLst>
              <a:ext uri="{FF2B5EF4-FFF2-40B4-BE49-F238E27FC236}">
                <a16:creationId xmlns:a16="http://schemas.microsoft.com/office/drawing/2014/main" id="{73BDEE0D-F5B6-4E8B-BC84-72D142443B63}"/>
              </a:ext>
            </a:extLst>
          </p:cNvPr>
          <p:cNvGrpSpPr/>
          <p:nvPr/>
        </p:nvGrpSpPr>
        <p:grpSpPr>
          <a:xfrm>
            <a:off x="3845119" y="2403062"/>
            <a:ext cx="3336840" cy="1285920"/>
            <a:chOff x="3845119" y="2403062"/>
            <a:chExt cx="3336840" cy="1285920"/>
          </a:xfrm>
        </p:grpSpPr>
        <mc:AlternateContent xmlns:mc="http://schemas.openxmlformats.org/markup-compatibility/2006">
          <mc:Choice xmlns:p14="http://schemas.microsoft.com/office/powerpoint/2010/main" Requires="p14">
            <p:contentPart p14:bwMode="auto" r:id="rId15">
              <p14:nvContentPartPr>
                <p14:cNvPr id="11" name="墨迹 10">
                  <a:extLst>
                    <a:ext uri="{FF2B5EF4-FFF2-40B4-BE49-F238E27FC236}">
                      <a16:creationId xmlns:a16="http://schemas.microsoft.com/office/drawing/2014/main" id="{B5F1912F-853D-4B5F-9A2F-66C2C36D9C0A}"/>
                    </a:ext>
                  </a:extLst>
                </p14:cNvPr>
                <p14:cNvContentPartPr/>
                <p14:nvPr/>
              </p14:nvContentPartPr>
              <p14:xfrm>
                <a:off x="4270639" y="2403062"/>
                <a:ext cx="1623600" cy="288360"/>
              </p14:xfrm>
            </p:contentPart>
          </mc:Choice>
          <mc:Fallback>
            <p:pic>
              <p:nvPicPr>
                <p:cNvPr id="11" name="墨迹 10">
                  <a:extLst>
                    <a:ext uri="{FF2B5EF4-FFF2-40B4-BE49-F238E27FC236}">
                      <a16:creationId xmlns:a16="http://schemas.microsoft.com/office/drawing/2014/main" id="{B5F1912F-853D-4B5F-9A2F-66C2C36D9C0A}"/>
                    </a:ext>
                  </a:extLst>
                </p:cNvPr>
                <p:cNvPicPr/>
                <p:nvPr/>
              </p:nvPicPr>
              <p:blipFill>
                <a:blip r:embed="rId16"/>
                <a:stretch>
                  <a:fillRect/>
                </a:stretch>
              </p:blipFill>
              <p:spPr>
                <a:xfrm>
                  <a:off x="4261639" y="2394422"/>
                  <a:ext cx="1641240" cy="3060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2" name="墨迹 11">
                  <a:extLst>
                    <a:ext uri="{FF2B5EF4-FFF2-40B4-BE49-F238E27FC236}">
                      <a16:creationId xmlns:a16="http://schemas.microsoft.com/office/drawing/2014/main" id="{DD45B51A-A34F-4C65-A845-933D79EF5B3D}"/>
                    </a:ext>
                  </a:extLst>
                </p14:cNvPr>
                <p14:cNvContentPartPr/>
                <p14:nvPr/>
              </p14:nvContentPartPr>
              <p14:xfrm>
                <a:off x="4201159" y="2627702"/>
                <a:ext cx="125640" cy="120600"/>
              </p14:xfrm>
            </p:contentPart>
          </mc:Choice>
          <mc:Fallback>
            <p:pic>
              <p:nvPicPr>
                <p:cNvPr id="12" name="墨迹 11">
                  <a:extLst>
                    <a:ext uri="{FF2B5EF4-FFF2-40B4-BE49-F238E27FC236}">
                      <a16:creationId xmlns:a16="http://schemas.microsoft.com/office/drawing/2014/main" id="{DD45B51A-A34F-4C65-A845-933D79EF5B3D}"/>
                    </a:ext>
                  </a:extLst>
                </p:cNvPr>
                <p:cNvPicPr/>
                <p:nvPr/>
              </p:nvPicPr>
              <p:blipFill>
                <a:blip r:embed="rId18"/>
                <a:stretch>
                  <a:fillRect/>
                </a:stretch>
              </p:blipFill>
              <p:spPr>
                <a:xfrm>
                  <a:off x="4192159" y="2619062"/>
                  <a:ext cx="143280" cy="13824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4" name="墨迹 13">
                  <a:extLst>
                    <a:ext uri="{FF2B5EF4-FFF2-40B4-BE49-F238E27FC236}">
                      <a16:creationId xmlns:a16="http://schemas.microsoft.com/office/drawing/2014/main" id="{61DB7E72-CD49-41F8-AC0E-437FB8E5D287}"/>
                    </a:ext>
                  </a:extLst>
                </p14:cNvPr>
                <p14:cNvContentPartPr/>
                <p14:nvPr/>
              </p14:nvContentPartPr>
              <p14:xfrm>
                <a:off x="3910999" y="2534102"/>
                <a:ext cx="3270960" cy="1134000"/>
              </p14:xfrm>
            </p:contentPart>
          </mc:Choice>
          <mc:Fallback>
            <p:pic>
              <p:nvPicPr>
                <p:cNvPr id="14" name="墨迹 13">
                  <a:extLst>
                    <a:ext uri="{FF2B5EF4-FFF2-40B4-BE49-F238E27FC236}">
                      <a16:creationId xmlns:a16="http://schemas.microsoft.com/office/drawing/2014/main" id="{61DB7E72-CD49-41F8-AC0E-437FB8E5D287}"/>
                    </a:ext>
                  </a:extLst>
                </p:cNvPr>
                <p:cNvPicPr/>
                <p:nvPr/>
              </p:nvPicPr>
              <p:blipFill>
                <a:blip r:embed="rId20"/>
                <a:stretch>
                  <a:fillRect/>
                </a:stretch>
              </p:blipFill>
              <p:spPr>
                <a:xfrm>
                  <a:off x="3901999" y="2525102"/>
                  <a:ext cx="3288600" cy="115164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6" name="墨迹 15">
                  <a:extLst>
                    <a:ext uri="{FF2B5EF4-FFF2-40B4-BE49-F238E27FC236}">
                      <a16:creationId xmlns:a16="http://schemas.microsoft.com/office/drawing/2014/main" id="{EE5A3B5A-B50A-451B-94BF-A9E55FE809BD}"/>
                    </a:ext>
                  </a:extLst>
                </p14:cNvPr>
                <p14:cNvContentPartPr/>
                <p14:nvPr/>
              </p14:nvContentPartPr>
              <p14:xfrm>
                <a:off x="3845119" y="3578462"/>
                <a:ext cx="177840" cy="110520"/>
              </p14:xfrm>
            </p:contentPart>
          </mc:Choice>
          <mc:Fallback>
            <p:pic>
              <p:nvPicPr>
                <p:cNvPr id="16" name="墨迹 15">
                  <a:extLst>
                    <a:ext uri="{FF2B5EF4-FFF2-40B4-BE49-F238E27FC236}">
                      <a16:creationId xmlns:a16="http://schemas.microsoft.com/office/drawing/2014/main" id="{EE5A3B5A-B50A-451B-94BF-A9E55FE809BD}"/>
                    </a:ext>
                  </a:extLst>
                </p:cNvPr>
                <p:cNvPicPr/>
                <p:nvPr/>
              </p:nvPicPr>
              <p:blipFill>
                <a:blip r:embed="rId22"/>
                <a:stretch>
                  <a:fillRect/>
                </a:stretch>
              </p:blipFill>
              <p:spPr>
                <a:xfrm>
                  <a:off x="3836479" y="3569822"/>
                  <a:ext cx="195480" cy="128160"/>
                </a:xfrm>
                <a:prstGeom prst="rect">
                  <a:avLst/>
                </a:prstGeom>
              </p:spPr>
            </p:pic>
          </mc:Fallback>
        </mc:AlternateContent>
      </p:grpSp>
      <p:grpSp>
        <p:nvGrpSpPr>
          <p:cNvPr id="20" name="组合 19">
            <a:extLst>
              <a:ext uri="{FF2B5EF4-FFF2-40B4-BE49-F238E27FC236}">
                <a16:creationId xmlns:a16="http://schemas.microsoft.com/office/drawing/2014/main" id="{EAA8D1CE-D4F0-42F1-90AB-6B6FAD4F511E}"/>
              </a:ext>
            </a:extLst>
          </p:cNvPr>
          <p:cNvGrpSpPr/>
          <p:nvPr/>
        </p:nvGrpSpPr>
        <p:grpSpPr>
          <a:xfrm>
            <a:off x="3113599" y="4780502"/>
            <a:ext cx="930600" cy="379440"/>
            <a:chOff x="3113599" y="4780502"/>
            <a:chExt cx="930600" cy="379440"/>
          </a:xfrm>
        </p:grpSpPr>
        <mc:AlternateContent xmlns:mc="http://schemas.openxmlformats.org/markup-compatibility/2006">
          <mc:Choice xmlns:p14="http://schemas.microsoft.com/office/powerpoint/2010/main" Requires="p14">
            <p:contentPart p14:bwMode="auto" r:id="rId23">
              <p14:nvContentPartPr>
                <p14:cNvPr id="18" name="墨迹 17">
                  <a:extLst>
                    <a:ext uri="{FF2B5EF4-FFF2-40B4-BE49-F238E27FC236}">
                      <a16:creationId xmlns:a16="http://schemas.microsoft.com/office/drawing/2014/main" id="{CD79498A-C1EC-4A6C-A8C7-37131179D257}"/>
                    </a:ext>
                  </a:extLst>
                </p14:cNvPr>
                <p14:cNvContentPartPr/>
                <p14:nvPr/>
              </p14:nvContentPartPr>
              <p14:xfrm>
                <a:off x="3122959" y="4780502"/>
                <a:ext cx="921240" cy="370440"/>
              </p14:xfrm>
            </p:contentPart>
          </mc:Choice>
          <mc:Fallback>
            <p:pic>
              <p:nvPicPr>
                <p:cNvPr id="18" name="墨迹 17">
                  <a:extLst>
                    <a:ext uri="{FF2B5EF4-FFF2-40B4-BE49-F238E27FC236}">
                      <a16:creationId xmlns:a16="http://schemas.microsoft.com/office/drawing/2014/main" id="{CD79498A-C1EC-4A6C-A8C7-37131179D257}"/>
                    </a:ext>
                  </a:extLst>
                </p:cNvPr>
                <p:cNvPicPr/>
                <p:nvPr/>
              </p:nvPicPr>
              <p:blipFill>
                <a:blip r:embed="rId24"/>
                <a:stretch>
                  <a:fillRect/>
                </a:stretch>
              </p:blipFill>
              <p:spPr>
                <a:xfrm>
                  <a:off x="3114319" y="4771502"/>
                  <a:ext cx="938880" cy="38808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9" name="墨迹 18">
                  <a:extLst>
                    <a:ext uri="{FF2B5EF4-FFF2-40B4-BE49-F238E27FC236}">
                      <a16:creationId xmlns:a16="http://schemas.microsoft.com/office/drawing/2014/main" id="{7CBF4A55-366F-41DF-82BB-AC1B28477D53}"/>
                    </a:ext>
                  </a:extLst>
                </p14:cNvPr>
                <p14:cNvContentPartPr/>
                <p14:nvPr/>
              </p14:nvContentPartPr>
              <p14:xfrm>
                <a:off x="3113599" y="5057342"/>
                <a:ext cx="73800" cy="102600"/>
              </p14:xfrm>
            </p:contentPart>
          </mc:Choice>
          <mc:Fallback>
            <p:pic>
              <p:nvPicPr>
                <p:cNvPr id="19" name="墨迹 18">
                  <a:extLst>
                    <a:ext uri="{FF2B5EF4-FFF2-40B4-BE49-F238E27FC236}">
                      <a16:creationId xmlns:a16="http://schemas.microsoft.com/office/drawing/2014/main" id="{7CBF4A55-366F-41DF-82BB-AC1B28477D53}"/>
                    </a:ext>
                  </a:extLst>
                </p:cNvPr>
                <p:cNvPicPr/>
                <p:nvPr/>
              </p:nvPicPr>
              <p:blipFill>
                <a:blip r:embed="rId26"/>
                <a:stretch>
                  <a:fillRect/>
                </a:stretch>
              </p:blipFill>
              <p:spPr>
                <a:xfrm>
                  <a:off x="3104599" y="5048342"/>
                  <a:ext cx="91440" cy="120240"/>
                </a:xfrm>
                <a:prstGeom prst="rect">
                  <a:avLst/>
                </a:prstGeom>
              </p:spPr>
            </p:pic>
          </mc:Fallback>
        </mc:AlternateContent>
      </p:grpSp>
    </p:spTree>
    <p:extLst>
      <p:ext uri="{BB962C8B-B14F-4D97-AF65-F5344CB8AC3E}">
        <p14:creationId xmlns:p14="http://schemas.microsoft.com/office/powerpoint/2010/main" val="31727690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6AF3F0-4352-4D79-A227-6FCBA2EBA88A}"/>
              </a:ext>
            </a:extLst>
          </p:cNvPr>
          <p:cNvSpPr>
            <a:spLocks noGrp="1"/>
          </p:cNvSpPr>
          <p:nvPr>
            <p:ph type="title" idx="4294967295"/>
          </p:nvPr>
        </p:nvSpPr>
        <p:spPr>
          <a:xfrm>
            <a:off x="262564" y="212003"/>
            <a:ext cx="9807594" cy="402693"/>
          </a:xfrm>
        </p:spPr>
        <p:txBody>
          <a:bodyPr>
            <a:noAutofit/>
          </a:bodyPr>
          <a:lstStyle/>
          <a:p>
            <a:r>
              <a:rPr lang="en-US" altLang="zh-CN" sz="3600" dirty="0">
                <a:latin typeface="思源黑体 CN Bold" panose="020B0800000000000000" pitchFamily="34" charset="-122"/>
                <a:ea typeface="思源黑体 CN Bold" panose="020B0800000000000000" pitchFamily="34" charset="-122"/>
              </a:rPr>
              <a:t>4 </a:t>
            </a:r>
            <a:r>
              <a:rPr lang="zh-CN" altLang="en-US" sz="3600" dirty="0">
                <a:latin typeface="思源黑体 CN Bold" panose="020B0800000000000000" pitchFamily="34" charset="-122"/>
                <a:ea typeface="思源黑体 CN Bold" panose="020B0800000000000000" pitchFamily="34" charset="-122"/>
              </a:rPr>
              <a:t>误差后向传播：</a:t>
            </a:r>
            <a:r>
              <a:rPr lang="zh-CN" altLang="en-US" sz="2800" dirty="0">
                <a:latin typeface="思源黑体 CN Bold" panose="020B0800000000000000" pitchFamily="34" charset="-122"/>
                <a:ea typeface="思源黑体 CN Bold" panose="020B0800000000000000" pitchFamily="34" charset="-122"/>
              </a:rPr>
              <a:t>多个隐含层权值的梯度递归</a:t>
            </a:r>
            <a:endParaRPr lang="zh-CN" altLang="en-US" sz="3600"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B5F15897-98F0-4E08-931A-45E1DC23C6B6}"/>
                  </a:ext>
                </a:extLst>
              </p:cNvPr>
              <p:cNvSpPr>
                <a:spLocks noGrp="1"/>
              </p:cNvSpPr>
              <p:nvPr>
                <p:ph idx="4294967295"/>
              </p:nvPr>
            </p:nvSpPr>
            <p:spPr>
              <a:xfrm>
                <a:off x="497042" y="3108752"/>
                <a:ext cx="6459470" cy="3147183"/>
              </a:xfrm>
            </p:spPr>
            <p:txBody>
              <a:bodyPr>
                <a:noAutofit/>
              </a:bodyPr>
              <a:lstStyle/>
              <a:p>
                <a:pPr marL="0" indent="0">
                  <a:lnSpc>
                    <a:spcPct val="100000"/>
                  </a:lnSpc>
                  <a:spcAft>
                    <a:spcPts val="500"/>
                  </a:spcAft>
                  <a:buNone/>
                </a:pPr>
                <a14:m>
                  <m:oMathPara xmlns:m="http://schemas.openxmlformats.org/officeDocument/2006/math">
                    <m:oMathParaPr>
                      <m:jc m:val="left"/>
                    </m:oMathParaPr>
                    <m:oMath xmlns:m="http://schemas.openxmlformats.org/officeDocument/2006/math">
                      <m:sSub>
                        <m:sSubPr>
                          <m:ctrlPr>
                            <a:rPr lang="en-US" altLang="zh-CN" sz="1600" b="1" i="1" smtClean="0">
                              <a:latin typeface="Cambria Math" panose="02040503050406030204" pitchFamily="18" charset="0"/>
                            </a:rPr>
                          </m:ctrlPr>
                        </m:sSubPr>
                        <m:e>
                          <m:r>
                            <m:rPr>
                              <m:sty m:val="p"/>
                            </m:rPr>
                            <a:rPr lang="en-US" altLang="zh-CN" sz="1600" i="1" dirty="0">
                              <a:latin typeface="Cambria Math" panose="02040503050406030204" pitchFamily="18" charset="0"/>
                            </a:rPr>
                            <m:t>Loss</m:t>
                          </m:r>
                        </m:e>
                        <m:sub>
                          <m:r>
                            <a:rPr lang="en-US" altLang="zh-CN" sz="1600" b="0" i="1" smtClean="0">
                              <a:latin typeface="Cambria Math" panose="02040503050406030204" pitchFamily="18" charset="0"/>
                            </a:rPr>
                            <m:t>𝑛</m:t>
                          </m:r>
                        </m:sub>
                      </m:sSub>
                      <m:d>
                        <m:dPr>
                          <m:ctrlPr>
                            <a:rPr lang="en-US" altLang="zh-CN" sz="1600" i="1" dirty="0">
                              <a:latin typeface="Cambria Math" panose="02040503050406030204" pitchFamily="18" charset="0"/>
                            </a:rPr>
                          </m:ctrlPr>
                        </m:dPr>
                        <m:e>
                          <m:r>
                            <a:rPr lang="en-US" altLang="zh-CN" sz="1600" b="1">
                              <a:latin typeface="Cambria Math" panose="02040503050406030204" pitchFamily="18" charset="0"/>
                            </a:rPr>
                            <m:t>𝐰</m:t>
                          </m:r>
                        </m:e>
                      </m:d>
                      <m:r>
                        <a:rPr lang="en-US" altLang="zh-CN" sz="1600" i="1" smtClean="0">
                          <a:latin typeface="Cambria Math" panose="02040503050406030204" pitchFamily="18" charset="0"/>
                        </a:rPr>
                        <m:t>=</m:t>
                      </m:r>
                      <m:r>
                        <a:rPr lang="en-US" altLang="zh-CN" sz="1600" b="1" i="1" smtClean="0">
                          <a:latin typeface="Cambria Math" panose="02040503050406030204" pitchFamily="18" charset="0"/>
                        </a:rPr>
                        <m:t>−</m:t>
                      </m:r>
                      <m:nary>
                        <m:naryPr>
                          <m:chr m:val="∑"/>
                          <m:ctrlPr>
                            <a:rPr lang="en-US" altLang="zh-CN" sz="1600" i="1">
                              <a:latin typeface="Cambria Math" panose="02040503050406030204" pitchFamily="18" charset="0"/>
                            </a:rPr>
                          </m:ctrlPr>
                        </m:naryPr>
                        <m:sub>
                          <m:r>
                            <m:rPr>
                              <m:brk m:alnAt="23"/>
                            </m:rPr>
                            <a:rPr lang="en-US" altLang="zh-CN" sz="1600" i="1">
                              <a:latin typeface="Cambria Math" panose="02040503050406030204" pitchFamily="18" charset="0"/>
                            </a:rPr>
                            <m:t>𝑘</m:t>
                          </m:r>
                          <m:r>
                            <a:rPr lang="en-US" altLang="zh-CN" sz="1600" i="1">
                              <a:latin typeface="Cambria Math" panose="02040503050406030204" pitchFamily="18" charset="0"/>
                            </a:rPr>
                            <m:t>=1</m:t>
                          </m:r>
                        </m:sub>
                        <m:sup>
                          <m:r>
                            <a:rPr lang="en-US" altLang="zh-CN" sz="1600" i="1">
                              <a:latin typeface="Cambria Math" panose="02040503050406030204" pitchFamily="18" charset="0"/>
                            </a:rPr>
                            <m:t>𝐾</m:t>
                          </m:r>
                        </m:sup>
                        <m:e>
                          <m:sSub>
                            <m:sSubPr>
                              <m:ctrlPr>
                                <a:rPr lang="en-US" altLang="zh-CN" sz="1600" b="1" i="1">
                                  <a:latin typeface="Cambria Math" panose="02040503050406030204" pitchFamily="18" charset="0"/>
                                </a:rPr>
                              </m:ctrlPr>
                            </m:sSubPr>
                            <m:e>
                              <m:r>
                                <a:rPr lang="en-US" altLang="zh-CN" sz="1600" i="1">
                                  <a:latin typeface="Cambria Math" panose="02040503050406030204" pitchFamily="18" charset="0"/>
                                </a:rPr>
                                <m:t>𝑡</m:t>
                              </m:r>
                            </m:e>
                            <m:sub>
                              <m:r>
                                <a:rPr lang="en-US" altLang="zh-CN" sz="1600" i="1">
                                  <a:latin typeface="Cambria Math" panose="02040503050406030204" pitchFamily="18" charset="0"/>
                                </a:rPr>
                                <m:t>𝑘</m:t>
                              </m:r>
                            </m:sub>
                          </m:sSub>
                          <m:r>
                            <m:rPr>
                              <m:sty m:val="p"/>
                            </m:rPr>
                            <a:rPr lang="en-US" altLang="zh-CN" sz="1600">
                              <a:latin typeface="Cambria Math" panose="02040503050406030204" pitchFamily="18" charset="0"/>
                            </a:rPr>
                            <m:t>ln</m:t>
                          </m:r>
                          <m:d>
                            <m:dPr>
                              <m:begChr m:val="{"/>
                              <m:endChr m:val="}"/>
                              <m:ctrlPr>
                                <a:rPr lang="en-US" altLang="zh-CN" sz="1600" i="1">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𝑦</m:t>
                                  </m:r>
                                </m:e>
                                <m:sub>
                                  <m:r>
                                    <a:rPr lang="en-US" altLang="zh-CN" sz="1600" i="1">
                                      <a:latin typeface="Cambria Math" panose="02040503050406030204" pitchFamily="18" charset="0"/>
                                    </a:rPr>
                                    <m:t>𝑘</m:t>
                                  </m:r>
                                </m:sub>
                              </m:sSub>
                            </m:e>
                          </m:d>
                        </m:e>
                      </m:nary>
                      <m:r>
                        <a:rPr lang="en-US" altLang="zh-CN" sz="1600" b="0" i="1" smtClean="0">
                          <a:latin typeface="Cambria Math" panose="02040503050406030204" pitchFamily="18" charset="0"/>
                        </a:rPr>
                        <m:t>=</m:t>
                      </m:r>
                      <m:r>
                        <a:rPr lang="en-US" altLang="zh-CN" sz="1600" b="1" i="1">
                          <a:latin typeface="Cambria Math" panose="02040503050406030204" pitchFamily="18" charset="0"/>
                        </a:rPr>
                        <m:t>−</m:t>
                      </m:r>
                      <m:nary>
                        <m:naryPr>
                          <m:chr m:val="∑"/>
                          <m:ctrlPr>
                            <a:rPr lang="en-US" altLang="zh-CN" sz="1600" i="1">
                              <a:latin typeface="Cambria Math" panose="02040503050406030204" pitchFamily="18" charset="0"/>
                            </a:rPr>
                          </m:ctrlPr>
                        </m:naryPr>
                        <m:sub>
                          <m:r>
                            <m:rPr>
                              <m:brk m:alnAt="23"/>
                            </m:rPr>
                            <a:rPr lang="en-US" altLang="zh-CN" sz="1600" i="1">
                              <a:latin typeface="Cambria Math" panose="02040503050406030204" pitchFamily="18" charset="0"/>
                            </a:rPr>
                            <m:t>𝑘</m:t>
                          </m:r>
                          <m:r>
                            <a:rPr lang="en-US" altLang="zh-CN" sz="1600" i="1">
                              <a:latin typeface="Cambria Math" panose="02040503050406030204" pitchFamily="18" charset="0"/>
                            </a:rPr>
                            <m:t>=1</m:t>
                          </m:r>
                        </m:sub>
                        <m:sup>
                          <m:r>
                            <a:rPr lang="en-US" altLang="zh-CN" sz="1600" i="1">
                              <a:latin typeface="Cambria Math" panose="02040503050406030204" pitchFamily="18" charset="0"/>
                            </a:rPr>
                            <m:t>𝐾</m:t>
                          </m:r>
                        </m:sup>
                        <m:e>
                          <m:sSub>
                            <m:sSubPr>
                              <m:ctrlPr>
                                <a:rPr lang="en-US" altLang="zh-CN" sz="1600" b="1" i="1">
                                  <a:latin typeface="Cambria Math" panose="02040503050406030204" pitchFamily="18" charset="0"/>
                                </a:rPr>
                              </m:ctrlPr>
                            </m:sSubPr>
                            <m:e>
                              <m:r>
                                <a:rPr lang="en-US" altLang="zh-CN" sz="1600" i="1">
                                  <a:latin typeface="Cambria Math" panose="02040503050406030204" pitchFamily="18" charset="0"/>
                                </a:rPr>
                                <m:t>𝑡</m:t>
                              </m:r>
                            </m:e>
                            <m:sub>
                              <m:r>
                                <a:rPr lang="en-US" altLang="zh-CN" sz="1600" i="1">
                                  <a:latin typeface="Cambria Math" panose="02040503050406030204" pitchFamily="18" charset="0"/>
                                </a:rPr>
                                <m:t>𝑘</m:t>
                              </m:r>
                            </m:sub>
                          </m:sSub>
                          <m:r>
                            <m:rPr>
                              <m:sty m:val="p"/>
                            </m:rPr>
                            <a:rPr lang="en-US" altLang="zh-CN" sz="1600">
                              <a:latin typeface="Cambria Math" panose="02040503050406030204" pitchFamily="18" charset="0"/>
                            </a:rPr>
                            <m:t>ln</m:t>
                          </m:r>
                          <m:d>
                            <m:dPr>
                              <m:begChr m:val="{"/>
                              <m:endChr m:val="}"/>
                              <m:ctrlPr>
                                <a:rPr lang="en-US" altLang="zh-CN" sz="1600" i="1">
                                  <a:latin typeface="Cambria Math" panose="02040503050406030204" pitchFamily="18" charset="0"/>
                                </a:rPr>
                              </m:ctrlPr>
                            </m:dPr>
                            <m:e>
                              <m:r>
                                <a:rPr lang="en-US" altLang="zh-CN" sz="1600" i="1">
                                  <a:latin typeface="Cambria Math" panose="02040503050406030204" pitchFamily="18" charset="0"/>
                                </a:rPr>
                                <m:t>𝑠𝑜𝑓𝑡𝑚𝑎𝑥</m:t>
                              </m:r>
                              <m:d>
                                <m:dPr>
                                  <m:ctrlPr>
                                    <a:rPr lang="en-US" altLang="zh-CN" sz="1600" i="1">
                                      <a:latin typeface="Cambria Math" panose="02040503050406030204" pitchFamily="18" charset="0"/>
                                    </a:rPr>
                                  </m:ctrlPr>
                                </m:dPr>
                                <m:e>
                                  <m:nary>
                                    <m:naryPr>
                                      <m:chr m:val="∑"/>
                                      <m:ctrlPr>
                                        <a:rPr lang="en-US" altLang="zh-CN" sz="1600" i="1">
                                          <a:latin typeface="Cambria Math" panose="02040503050406030204" pitchFamily="18" charset="0"/>
                                        </a:rPr>
                                      </m:ctrlPr>
                                    </m:naryPr>
                                    <m:sub>
                                      <m:r>
                                        <a:rPr lang="en-US" altLang="zh-CN" sz="1600" i="1">
                                          <a:latin typeface="Cambria Math" panose="02040503050406030204" pitchFamily="18" charset="0"/>
                                        </a:rPr>
                                        <m:t>𝑗</m:t>
                                      </m:r>
                                      <m:r>
                                        <a:rPr lang="en-US" altLang="zh-CN" sz="1600" i="1">
                                          <a:latin typeface="Cambria Math" panose="02040503050406030204" pitchFamily="18" charset="0"/>
                                        </a:rPr>
                                        <m:t>=1</m:t>
                                      </m:r>
                                    </m:sub>
                                    <m:sup>
                                      <m:r>
                                        <a:rPr lang="en-US" altLang="zh-CN" sz="1600" i="1">
                                          <a:latin typeface="Cambria Math" panose="02040503050406030204" pitchFamily="18" charset="0"/>
                                        </a:rPr>
                                        <m:t>𝑀</m:t>
                                      </m:r>
                                    </m:sup>
                                    <m:e>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𝑤</m:t>
                                          </m:r>
                                        </m:e>
                                        <m:sub>
                                          <m:r>
                                            <a:rPr lang="en-US" altLang="zh-CN" sz="1600" i="1">
                                              <a:latin typeface="Cambria Math" panose="02040503050406030204" pitchFamily="18" charset="0"/>
                                            </a:rPr>
                                            <m:t>𝑘𝑗</m:t>
                                          </m:r>
                                        </m:sub>
                                        <m:sup>
                                          <m:d>
                                            <m:dPr>
                                              <m:ctrlPr>
                                                <a:rPr lang="en-US" altLang="zh-CN" sz="1600" b="1" i="1">
                                                  <a:latin typeface="Cambria Math" panose="02040503050406030204" pitchFamily="18" charset="0"/>
                                                </a:rPr>
                                              </m:ctrlPr>
                                            </m:dPr>
                                            <m:e>
                                              <m:r>
                                                <a:rPr lang="en-US" altLang="zh-CN" sz="1600" i="1">
                                                  <a:latin typeface="Cambria Math" panose="02040503050406030204" pitchFamily="18" charset="0"/>
                                                </a:rPr>
                                                <m:t>2</m:t>
                                              </m:r>
                                            </m:e>
                                          </m:d>
                                        </m:sup>
                                      </m:sSubSup>
                                      <m:r>
                                        <a:rPr lang="en-US" altLang="zh-CN" sz="1600" i="1">
                                          <a:latin typeface="Cambria Math" panose="02040503050406030204" pitchFamily="18" charset="0"/>
                                        </a:rPr>
                                        <m:t>h</m:t>
                                      </m:r>
                                      <m:d>
                                        <m:dPr>
                                          <m:ctrlPr>
                                            <a:rPr lang="en-US" altLang="zh-CN" sz="1600" i="1">
                                              <a:latin typeface="Cambria Math" panose="02040503050406030204" pitchFamily="18" charset="0"/>
                                            </a:rPr>
                                          </m:ctrlPr>
                                        </m:dPr>
                                        <m:e>
                                          <m:sSub>
                                            <m:sSubPr>
                                              <m:ctrlPr>
                                                <a:rPr lang="en-US" altLang="zh-CN" sz="1600" b="1"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𝑗</m:t>
                                              </m:r>
                                            </m:sub>
                                          </m:sSub>
                                        </m:e>
                                      </m:d>
                                    </m:e>
                                  </m:nary>
                                </m:e>
                              </m:d>
                            </m:e>
                          </m:d>
                        </m:e>
                      </m:nary>
                    </m:oMath>
                  </m:oMathPara>
                </a14:m>
                <a:endParaRPr lang="en-US" altLang="zh-CN" sz="1800" dirty="0">
                  <a:latin typeface="Monaco" panose="020B0509030404040204" pitchFamily="49" charset="0"/>
                  <a:ea typeface="思源黑体 CN Bold" panose="020B0800000000000000" pitchFamily="34" charset="-122"/>
                  <a:cs typeface="+mj-cs"/>
                </a:endParaRPr>
              </a:p>
              <a:p>
                <a:pPr marL="0" indent="0">
                  <a:lnSpc>
                    <a:spcPct val="100000"/>
                  </a:lnSpc>
                  <a:spcAft>
                    <a:spcPts val="500"/>
                  </a:spcAft>
                  <a:buNone/>
                </a:pPr>
                <a14:m>
                  <m:oMathPara xmlns:m="http://schemas.openxmlformats.org/officeDocument/2006/math">
                    <m:oMathParaPr>
                      <m:jc m:val="left"/>
                    </m:oMathParaPr>
                    <m:oMath xmlns:m="http://schemas.openxmlformats.org/officeDocument/2006/math">
                      <m:sSub>
                        <m:sSubPr>
                          <m:ctrlPr>
                            <a:rPr lang="en-US" altLang="zh-CN" sz="1800" b="1" i="1">
                              <a:latin typeface="Cambria Math" panose="02040503050406030204" pitchFamily="18" charset="0"/>
                            </a:rPr>
                          </m:ctrlPr>
                        </m:sSubPr>
                        <m:e>
                          <m:r>
                            <m:rPr>
                              <m:sty m:val="p"/>
                            </m:rPr>
                            <a:rPr lang="en-US" altLang="zh-CN" sz="1800" i="1" dirty="0">
                              <a:latin typeface="Cambria Math" panose="02040503050406030204" pitchFamily="18" charset="0"/>
                            </a:rPr>
                            <m:t>Loss</m:t>
                          </m:r>
                        </m:e>
                        <m:sub>
                          <m:r>
                            <a:rPr lang="en-US" altLang="zh-CN" sz="1800" i="1">
                              <a:latin typeface="Cambria Math" panose="02040503050406030204" pitchFamily="18" charset="0"/>
                            </a:rPr>
                            <m:t>𝑛</m:t>
                          </m:r>
                        </m:sub>
                      </m:sSub>
                      <m:d>
                        <m:dPr>
                          <m:ctrlPr>
                            <a:rPr lang="en-US" altLang="zh-CN" sz="1800" i="1" dirty="0">
                              <a:latin typeface="Cambria Math" panose="02040503050406030204" pitchFamily="18" charset="0"/>
                            </a:rPr>
                          </m:ctrlPr>
                        </m:dPr>
                        <m:e>
                          <m:r>
                            <a:rPr lang="en-US" altLang="zh-CN" sz="1800" b="1">
                              <a:latin typeface="Cambria Math" panose="02040503050406030204" pitchFamily="18" charset="0"/>
                            </a:rPr>
                            <m:t>𝐰</m:t>
                          </m:r>
                        </m:e>
                      </m:d>
                      <m:r>
                        <a:rPr lang="en-US" altLang="zh-CN" sz="1800" i="1">
                          <a:latin typeface="Cambria Math" panose="02040503050406030204" pitchFamily="18" charset="0"/>
                        </a:rPr>
                        <m:t>=</m:t>
                      </m:r>
                      <m:r>
                        <a:rPr lang="en-US" altLang="zh-CN" sz="1800" i="1" dirty="0">
                          <a:latin typeface="Cambria Math" panose="02040503050406030204" pitchFamily="18" charset="0"/>
                        </a:rPr>
                        <m:t>𝐿</m:t>
                      </m:r>
                      <m:d>
                        <m:dPr>
                          <m:ctrlPr>
                            <a:rPr lang="en-US" altLang="zh-CN" sz="1800" i="1" dirty="0">
                              <a:latin typeface="Cambria Math" panose="02040503050406030204" pitchFamily="18" charset="0"/>
                            </a:rPr>
                          </m:ctrlPr>
                        </m:dPr>
                        <m:e>
                          <m:sSubSup>
                            <m:sSubSupPr>
                              <m:ctrlPr>
                                <a:rPr lang="en-US" altLang="zh-CN" sz="1800" i="1">
                                  <a:latin typeface="Cambria Math" panose="02040503050406030204" pitchFamily="18" charset="0"/>
                                </a:rPr>
                              </m:ctrlPr>
                            </m:sSubSupPr>
                            <m:e>
                              <m:r>
                                <a:rPr lang="en-US" altLang="zh-CN" sz="1800" i="1">
                                  <a:latin typeface="Cambria Math" panose="02040503050406030204" pitchFamily="18" charset="0"/>
                                </a:rPr>
                                <m:t>𝑎</m:t>
                              </m:r>
                            </m:e>
                            <m:sub>
                              <m:r>
                                <a:rPr lang="en-US" altLang="zh-CN" sz="1800" i="1">
                                  <a:latin typeface="Cambria Math" panose="02040503050406030204" pitchFamily="18" charset="0"/>
                                </a:rPr>
                                <m:t>1</m:t>
                              </m:r>
                            </m:sub>
                            <m:sup>
                              <m:r>
                                <a:rPr lang="en-US" altLang="zh-CN" sz="1800" i="1">
                                  <a:latin typeface="Cambria Math" panose="02040503050406030204" pitchFamily="18" charset="0"/>
                                </a:rPr>
                                <m:t>(</m:t>
                              </m:r>
                              <m:r>
                                <a:rPr lang="en-US" altLang="zh-CN" sz="1800" b="0" i="1" smtClean="0">
                                  <a:latin typeface="Cambria Math" panose="02040503050406030204" pitchFamily="18" charset="0"/>
                                </a:rPr>
                                <m:t>1</m:t>
                              </m:r>
                              <m:r>
                                <a:rPr lang="en-US" altLang="zh-CN" sz="1800" i="1">
                                  <a:latin typeface="Cambria Math" panose="02040503050406030204" pitchFamily="18" charset="0"/>
                                </a:rPr>
                                <m:t>)</m:t>
                              </m:r>
                            </m:sup>
                          </m:sSubSup>
                          <m:r>
                            <a:rPr lang="en-US" altLang="zh-CN" sz="1800" b="1" i="1">
                              <a:latin typeface="Cambria Math" panose="02040503050406030204" pitchFamily="18" charset="0"/>
                            </a:rPr>
                            <m:t>,</m:t>
                          </m:r>
                          <m:sSubSup>
                            <m:sSubSupPr>
                              <m:ctrlPr>
                                <a:rPr lang="en-US" altLang="zh-CN" sz="1800" i="1">
                                  <a:latin typeface="Cambria Math" panose="02040503050406030204" pitchFamily="18" charset="0"/>
                                </a:rPr>
                              </m:ctrlPr>
                            </m:sSubSupPr>
                            <m:e>
                              <m:r>
                                <a:rPr lang="en-US" altLang="zh-CN" sz="1800" i="1">
                                  <a:latin typeface="Cambria Math" panose="02040503050406030204" pitchFamily="18" charset="0"/>
                                </a:rPr>
                                <m:t>𝑎</m:t>
                              </m:r>
                            </m:e>
                            <m:sub>
                              <m:r>
                                <a:rPr lang="en-US" altLang="zh-CN" sz="1800" b="0" i="1" smtClean="0">
                                  <a:latin typeface="Cambria Math" panose="02040503050406030204" pitchFamily="18" charset="0"/>
                                </a:rPr>
                                <m:t>2</m:t>
                              </m:r>
                            </m:sub>
                            <m:sup>
                              <m:r>
                                <a:rPr lang="en-US" altLang="zh-CN" sz="1800" i="1">
                                  <a:latin typeface="Cambria Math" panose="02040503050406030204" pitchFamily="18" charset="0"/>
                                </a:rPr>
                                <m:t>(1)</m:t>
                              </m:r>
                            </m:sup>
                          </m:sSubSup>
                          <m:r>
                            <a:rPr lang="en-US" altLang="zh-CN" sz="1800" b="1" i="1">
                              <a:latin typeface="Cambria Math" panose="02040503050406030204" pitchFamily="18" charset="0"/>
                            </a:rPr>
                            <m:t>,…,</m:t>
                          </m:r>
                          <m:sSubSup>
                            <m:sSubSupPr>
                              <m:ctrlPr>
                                <a:rPr lang="en-US" altLang="zh-CN" sz="1800" i="1">
                                  <a:latin typeface="Cambria Math" panose="02040503050406030204" pitchFamily="18" charset="0"/>
                                </a:rPr>
                              </m:ctrlPr>
                            </m:sSubSupPr>
                            <m:e>
                              <m:r>
                                <a:rPr lang="en-US" altLang="zh-CN" sz="1800" i="1">
                                  <a:latin typeface="Cambria Math" panose="02040503050406030204" pitchFamily="18" charset="0"/>
                                </a:rPr>
                                <m:t>𝑎</m:t>
                              </m:r>
                            </m:e>
                            <m:sub>
                              <m:r>
                                <a:rPr lang="en-US" altLang="zh-CN" sz="1800" b="0" i="1" smtClean="0">
                                  <a:latin typeface="Cambria Math" panose="02040503050406030204" pitchFamily="18" charset="0"/>
                                </a:rPr>
                                <m:t>𝑀</m:t>
                              </m:r>
                            </m:sub>
                            <m:sup>
                              <m:r>
                                <a:rPr lang="en-US" altLang="zh-CN" sz="1800" i="1">
                                  <a:latin typeface="Cambria Math" panose="02040503050406030204" pitchFamily="18" charset="0"/>
                                </a:rPr>
                                <m:t>(1)</m:t>
                              </m:r>
                            </m:sup>
                          </m:sSubSup>
                        </m:e>
                      </m:d>
                      <m:r>
                        <a:rPr lang="en-US" altLang="zh-CN" sz="1800" i="1">
                          <a:latin typeface="Cambria Math" panose="02040503050406030204" pitchFamily="18" charset="0"/>
                        </a:rPr>
                        <m:t>;</m:t>
                      </m:r>
                      <m:r>
                        <a:rPr lang="en-US" altLang="zh-CN" sz="1800" b="1" i="1" smtClean="0">
                          <a:latin typeface="Cambria Math" panose="02040503050406030204" pitchFamily="18" charset="0"/>
                        </a:rPr>
                        <m:t>   </m:t>
                      </m:r>
                      <m:sSub>
                        <m:sSubPr>
                          <m:ctrlPr>
                            <a:rPr lang="en-US" altLang="zh-CN" sz="1800" b="1" i="1" smtClean="0">
                              <a:solidFill>
                                <a:srgbClr val="FF0000"/>
                              </a:solidFill>
                              <a:latin typeface="Cambria Math" panose="02040503050406030204" pitchFamily="18" charset="0"/>
                            </a:rPr>
                          </m:ctrlPr>
                        </m:sSubPr>
                        <m:e>
                          <m:r>
                            <a:rPr lang="en-US" altLang="zh-CN" sz="1800" i="1">
                              <a:solidFill>
                                <a:srgbClr val="FF0000"/>
                              </a:solidFill>
                              <a:latin typeface="Cambria Math" panose="02040503050406030204" pitchFamily="18" charset="0"/>
                            </a:rPr>
                            <m:t>𝑎</m:t>
                          </m:r>
                        </m:e>
                        <m:sub>
                          <m:r>
                            <a:rPr lang="en-US" altLang="zh-CN" sz="1800" b="0" i="1" smtClean="0">
                              <a:solidFill>
                                <a:srgbClr val="FF0000"/>
                              </a:solidFill>
                              <a:latin typeface="Cambria Math" panose="02040503050406030204" pitchFamily="18" charset="0"/>
                            </a:rPr>
                            <m:t>𝑗</m:t>
                          </m:r>
                        </m:sub>
                      </m:sSub>
                      <m:r>
                        <a:rPr lang="en-US" altLang="zh-CN" sz="1800" b="1" i="1">
                          <a:solidFill>
                            <a:srgbClr val="FF0000"/>
                          </a:solidFill>
                          <a:latin typeface="Cambria Math" panose="02040503050406030204" pitchFamily="18" charset="0"/>
                        </a:rPr>
                        <m:t>=</m:t>
                      </m:r>
                      <m:sSub>
                        <m:sSubPr>
                          <m:ctrlPr>
                            <a:rPr lang="en-US" altLang="zh-CN" sz="1800" b="1" i="1">
                              <a:solidFill>
                                <a:srgbClr val="FF0000"/>
                              </a:solidFill>
                              <a:latin typeface="Cambria Math" panose="02040503050406030204" pitchFamily="18" charset="0"/>
                            </a:rPr>
                          </m:ctrlPr>
                        </m:sSubPr>
                        <m:e>
                          <m:r>
                            <a:rPr lang="en-US" altLang="zh-CN" sz="1800" i="1">
                              <a:solidFill>
                                <a:srgbClr val="FF0000"/>
                              </a:solidFill>
                              <a:latin typeface="Cambria Math" panose="02040503050406030204" pitchFamily="18" charset="0"/>
                            </a:rPr>
                            <m:t>𝑎</m:t>
                          </m:r>
                        </m:e>
                        <m:sub>
                          <m:r>
                            <a:rPr lang="en-US" altLang="zh-CN" sz="1800" b="0" i="1" smtClean="0">
                              <a:solidFill>
                                <a:srgbClr val="FF0000"/>
                              </a:solidFill>
                              <a:latin typeface="Cambria Math" panose="02040503050406030204" pitchFamily="18" charset="0"/>
                            </a:rPr>
                            <m:t>𝑗</m:t>
                          </m:r>
                        </m:sub>
                      </m:sSub>
                      <m:d>
                        <m:dPr>
                          <m:ctrlPr>
                            <a:rPr lang="en-US" altLang="zh-CN" sz="1800" b="1" i="1">
                              <a:solidFill>
                                <a:srgbClr val="FF0000"/>
                              </a:solidFill>
                              <a:latin typeface="Cambria Math" panose="02040503050406030204" pitchFamily="18" charset="0"/>
                            </a:rPr>
                          </m:ctrlPr>
                        </m:dPr>
                        <m:e>
                          <m:sSub>
                            <m:sSubPr>
                              <m:ctrlPr>
                                <a:rPr lang="en-US" altLang="zh-CN" sz="1800" b="1" i="1">
                                  <a:solidFill>
                                    <a:srgbClr val="FF0000"/>
                                  </a:solidFill>
                                  <a:latin typeface="Cambria Math" panose="02040503050406030204" pitchFamily="18" charset="0"/>
                                </a:rPr>
                              </m:ctrlPr>
                            </m:sSubPr>
                            <m:e>
                              <m:r>
                                <a:rPr lang="en-US" altLang="zh-CN" sz="1800" i="1">
                                  <a:solidFill>
                                    <a:srgbClr val="FF0000"/>
                                  </a:solidFill>
                                  <a:latin typeface="Cambria Math" panose="02040503050406030204" pitchFamily="18" charset="0"/>
                                </a:rPr>
                                <m:t>𝑎</m:t>
                              </m:r>
                            </m:e>
                            <m:sub>
                              <m:r>
                                <a:rPr lang="en-US" altLang="zh-CN" sz="1800" b="0" i="1" smtClean="0">
                                  <a:solidFill>
                                    <a:srgbClr val="FF0000"/>
                                  </a:solidFill>
                                  <a:latin typeface="Cambria Math" panose="02040503050406030204" pitchFamily="18" charset="0"/>
                                </a:rPr>
                                <m:t>𝑖</m:t>
                              </m:r>
                            </m:sub>
                          </m:sSub>
                        </m:e>
                      </m:d>
                    </m:oMath>
                  </m:oMathPara>
                </a14:m>
                <a:endParaRPr lang="en-US" altLang="zh-CN" sz="1800" dirty="0">
                  <a:latin typeface="Monaco" panose="020B0509030404040204" pitchFamily="49" charset="0"/>
                  <a:ea typeface="思源黑体 CN Bold" panose="020B0800000000000000" pitchFamily="34" charset="-122"/>
                  <a:cs typeface="+mj-cs"/>
                </a:endParaRPr>
              </a:p>
              <a:p>
                <a:pPr marL="0" indent="0">
                  <a:lnSpc>
                    <a:spcPct val="100000"/>
                  </a:lnSpc>
                  <a:spcAft>
                    <a:spcPts val="500"/>
                  </a:spcAft>
                  <a:buNone/>
                </a:pPr>
                <a:r>
                  <a:rPr lang="zh-CN" altLang="en-US" sz="1800" dirty="0">
                    <a:latin typeface="Monaco" panose="020B0509030404040204" pitchFamily="49" charset="0"/>
                    <a:ea typeface="思源黑体 CN Bold" panose="020B0800000000000000" pitchFamily="34" charset="-122"/>
                  </a:rPr>
                  <a:t>全微分公式：</a:t>
                </a:r>
                <a:endParaRPr lang="en-US" altLang="zh-CN" sz="1800" dirty="0">
                  <a:latin typeface="Monaco" panose="020B0509030404040204" pitchFamily="49" charset="0"/>
                  <a:ea typeface="思源黑体 CN Bold" panose="020B0800000000000000" pitchFamily="34" charset="-122"/>
                </a:endParaRPr>
              </a:p>
              <a:p>
                <a:pPr marL="0" indent="0">
                  <a:lnSpc>
                    <a:spcPct val="100000"/>
                  </a:lnSpc>
                  <a:spcAft>
                    <a:spcPts val="500"/>
                  </a:spcAft>
                  <a:buNone/>
                </a:pPr>
                <a14:m>
                  <m:oMathPara xmlns:m="http://schemas.openxmlformats.org/officeDocument/2006/math">
                    <m:oMathParaPr>
                      <m:jc m:val="left"/>
                    </m:oMathParaPr>
                    <m:oMath xmlns:m="http://schemas.openxmlformats.org/officeDocument/2006/math">
                      <m:f>
                        <m:fPr>
                          <m:ctrlPr>
                            <a:rPr lang="en-US" altLang="zh-CN" sz="1800" i="1">
                              <a:latin typeface="Cambria Math" panose="02040503050406030204" pitchFamily="18" charset="0"/>
                            </a:rPr>
                          </m:ctrlPr>
                        </m:fPr>
                        <m:num>
                          <m:r>
                            <a:rPr lang="en-US" altLang="zh-CN" sz="1800" i="1">
                              <a:latin typeface="Cambria Math" panose="02040503050406030204" pitchFamily="18" charset="0"/>
                            </a:rPr>
                            <m:t>𝜕</m:t>
                          </m:r>
                          <m:r>
                            <a:rPr lang="en-US" altLang="zh-CN" sz="1800" i="1">
                              <a:latin typeface="Cambria Math" panose="02040503050406030204" pitchFamily="18" charset="0"/>
                            </a:rPr>
                            <m:t>𝐿</m:t>
                          </m:r>
                        </m:num>
                        <m:den>
                          <m:r>
                            <a:rPr lang="en-US" altLang="zh-CN" sz="1800" i="1">
                              <a:latin typeface="Cambria Math" panose="02040503050406030204" pitchFamily="18" charset="0"/>
                            </a:rPr>
                            <m:t>𝜕</m:t>
                          </m:r>
                          <m:sSub>
                            <m:sSubPr>
                              <m:ctrlPr>
                                <a:rPr lang="en-US" altLang="zh-CN" sz="1800" b="1" i="1">
                                  <a:latin typeface="Cambria Math" panose="02040503050406030204" pitchFamily="18" charset="0"/>
                                </a:rPr>
                              </m:ctrlPr>
                            </m:sSubPr>
                            <m:e>
                              <m:r>
                                <a:rPr lang="en-US" altLang="zh-CN" sz="1800" i="1">
                                  <a:latin typeface="Cambria Math" panose="02040503050406030204" pitchFamily="18" charset="0"/>
                                </a:rPr>
                                <m:t>𝑎</m:t>
                              </m:r>
                            </m:e>
                            <m:sub>
                              <m:r>
                                <a:rPr lang="en-US" altLang="zh-CN" sz="1800" b="0" i="1" smtClean="0">
                                  <a:latin typeface="Cambria Math" panose="02040503050406030204" pitchFamily="18" charset="0"/>
                                </a:rPr>
                                <m:t>𝑖</m:t>
                              </m:r>
                            </m:sub>
                          </m:sSub>
                        </m:den>
                      </m:f>
                      <m:r>
                        <a:rPr lang="en-US" altLang="zh-CN" sz="1800" b="1" i="1">
                          <a:latin typeface="Cambria Math" panose="02040503050406030204" pitchFamily="18" charset="0"/>
                        </a:rPr>
                        <m:t>=</m:t>
                      </m:r>
                      <m:nary>
                        <m:naryPr>
                          <m:chr m:val="∑"/>
                          <m:ctrlPr>
                            <a:rPr lang="en-US" altLang="zh-CN" sz="1800" i="1">
                              <a:latin typeface="Cambria Math" panose="02040503050406030204" pitchFamily="18" charset="0"/>
                            </a:rPr>
                          </m:ctrlPr>
                        </m:naryPr>
                        <m:sub>
                          <m:r>
                            <a:rPr lang="en-US" altLang="zh-CN" sz="1800" b="0" i="1" smtClean="0">
                              <a:latin typeface="Cambria Math" panose="02040503050406030204" pitchFamily="18" charset="0"/>
                            </a:rPr>
                            <m:t>𝑗</m:t>
                          </m:r>
                          <m:r>
                            <a:rPr lang="en-US" altLang="zh-CN" sz="1800" i="1">
                              <a:latin typeface="Cambria Math" panose="02040503050406030204" pitchFamily="18" charset="0"/>
                            </a:rPr>
                            <m:t>=1</m:t>
                          </m:r>
                        </m:sub>
                        <m:sup>
                          <m:r>
                            <a:rPr lang="en-US" altLang="zh-CN" sz="1800" b="0" i="1" smtClean="0">
                              <a:latin typeface="Cambria Math" panose="02040503050406030204" pitchFamily="18" charset="0"/>
                            </a:rPr>
                            <m:t>𝑀</m:t>
                          </m:r>
                        </m:sup>
                        <m:e>
                          <m:f>
                            <m:fPr>
                              <m:ctrlPr>
                                <a:rPr lang="en-US" altLang="zh-CN" sz="1800" i="1">
                                  <a:latin typeface="Cambria Math" panose="02040503050406030204" pitchFamily="18" charset="0"/>
                                </a:rPr>
                              </m:ctrlPr>
                            </m:fPr>
                            <m:num>
                              <m:r>
                                <a:rPr lang="en-US" altLang="zh-CN" sz="1800" i="1">
                                  <a:latin typeface="Cambria Math" panose="02040503050406030204" pitchFamily="18" charset="0"/>
                                </a:rPr>
                                <m:t>𝜕</m:t>
                              </m:r>
                              <m:r>
                                <a:rPr lang="en-US" altLang="zh-CN" sz="1800" i="1">
                                  <a:latin typeface="Cambria Math" panose="02040503050406030204" pitchFamily="18" charset="0"/>
                                </a:rPr>
                                <m:t>𝐿</m:t>
                              </m:r>
                            </m:num>
                            <m:den>
                              <m:r>
                                <a:rPr lang="en-US" altLang="zh-CN" sz="1800" i="1">
                                  <a:latin typeface="Cambria Math" panose="02040503050406030204" pitchFamily="18" charset="0"/>
                                </a:rPr>
                                <m:t>𝜕</m:t>
                              </m:r>
                              <m:sSub>
                                <m:sSubPr>
                                  <m:ctrlPr>
                                    <a:rPr lang="en-US" altLang="zh-CN" sz="1800" b="1" i="1" smtClean="0">
                                      <a:latin typeface="Cambria Math" panose="02040503050406030204" pitchFamily="18" charset="0"/>
                                    </a:rPr>
                                  </m:ctrlPr>
                                </m:sSubPr>
                                <m:e>
                                  <m:r>
                                    <a:rPr lang="en-US" altLang="zh-CN" sz="1800" i="1">
                                      <a:latin typeface="Cambria Math" panose="02040503050406030204" pitchFamily="18" charset="0"/>
                                    </a:rPr>
                                    <m:t>𝑎</m:t>
                                  </m:r>
                                </m:e>
                                <m:sub>
                                  <m:r>
                                    <a:rPr lang="en-US" altLang="zh-CN" sz="1800" b="0" i="1" smtClean="0">
                                      <a:latin typeface="Cambria Math" panose="02040503050406030204" pitchFamily="18" charset="0"/>
                                    </a:rPr>
                                    <m:t>𝑗</m:t>
                                  </m:r>
                                </m:sub>
                              </m:sSub>
                            </m:den>
                          </m:f>
                          <m:f>
                            <m:fPr>
                              <m:ctrlPr>
                                <a:rPr lang="en-US" altLang="zh-CN" sz="1800" i="1">
                                  <a:latin typeface="Cambria Math" panose="02040503050406030204" pitchFamily="18" charset="0"/>
                                </a:rPr>
                              </m:ctrlPr>
                            </m:fPr>
                            <m:num>
                              <m:r>
                                <a:rPr lang="en-US" altLang="zh-CN" sz="1800" i="1">
                                  <a:latin typeface="Cambria Math" panose="02040503050406030204" pitchFamily="18" charset="0"/>
                                </a:rPr>
                                <m:t>𝜕</m:t>
                              </m:r>
                              <m:sSub>
                                <m:sSubPr>
                                  <m:ctrlPr>
                                    <a:rPr lang="en-US" altLang="zh-CN" sz="1800" b="1" i="1">
                                      <a:latin typeface="Cambria Math" panose="02040503050406030204" pitchFamily="18" charset="0"/>
                                    </a:rPr>
                                  </m:ctrlPr>
                                </m:sSubPr>
                                <m:e>
                                  <m:r>
                                    <a:rPr lang="en-US" altLang="zh-CN" sz="1800" i="1">
                                      <a:latin typeface="Cambria Math" panose="02040503050406030204" pitchFamily="18" charset="0"/>
                                    </a:rPr>
                                    <m:t>𝑎</m:t>
                                  </m:r>
                                </m:e>
                                <m:sub>
                                  <m:r>
                                    <a:rPr lang="en-US" altLang="zh-CN" sz="1800" b="0" i="1" smtClean="0">
                                      <a:latin typeface="Cambria Math" panose="02040503050406030204" pitchFamily="18" charset="0"/>
                                    </a:rPr>
                                    <m:t>𝑗</m:t>
                                  </m:r>
                                </m:sub>
                              </m:sSub>
                            </m:num>
                            <m:den>
                              <m:r>
                                <a:rPr lang="en-US" altLang="zh-CN" sz="1800" i="1">
                                  <a:latin typeface="Cambria Math" panose="02040503050406030204" pitchFamily="18" charset="0"/>
                                </a:rPr>
                                <m:t>𝜕</m:t>
                              </m:r>
                              <m:sSub>
                                <m:sSubPr>
                                  <m:ctrlPr>
                                    <a:rPr lang="en-US" altLang="zh-CN" sz="1800" b="1" i="1">
                                      <a:latin typeface="Cambria Math" panose="02040503050406030204" pitchFamily="18" charset="0"/>
                                    </a:rPr>
                                  </m:ctrlPr>
                                </m:sSubPr>
                                <m:e>
                                  <m:r>
                                    <a:rPr lang="en-US" altLang="zh-CN" sz="1800" i="1">
                                      <a:latin typeface="Cambria Math" panose="02040503050406030204" pitchFamily="18" charset="0"/>
                                    </a:rPr>
                                    <m:t>𝑎</m:t>
                                  </m:r>
                                </m:e>
                                <m:sub>
                                  <m:r>
                                    <a:rPr lang="en-US" altLang="zh-CN" sz="1800" b="0" i="1" smtClean="0">
                                      <a:latin typeface="Cambria Math" panose="02040503050406030204" pitchFamily="18" charset="0"/>
                                    </a:rPr>
                                    <m:t>𝑖</m:t>
                                  </m:r>
                                </m:sub>
                              </m:sSub>
                            </m:den>
                          </m:f>
                        </m:e>
                      </m:nary>
                      <m:r>
                        <a:rPr lang="en-US" altLang="zh-CN" sz="1800" b="1" i="1">
                          <a:latin typeface="Cambria Math" panose="02040503050406030204" pitchFamily="18" charset="0"/>
                        </a:rPr>
                        <m:t>=</m:t>
                      </m:r>
                      <m:nary>
                        <m:naryPr>
                          <m:chr m:val="∑"/>
                          <m:ctrlPr>
                            <a:rPr lang="en-US" altLang="zh-CN" sz="1800" i="1">
                              <a:latin typeface="Cambria Math" panose="02040503050406030204" pitchFamily="18" charset="0"/>
                            </a:rPr>
                          </m:ctrlPr>
                        </m:naryPr>
                        <m:sub>
                          <m:r>
                            <a:rPr lang="en-US" altLang="zh-CN" sz="1800" b="0" i="1" smtClean="0">
                              <a:latin typeface="Cambria Math" panose="02040503050406030204" pitchFamily="18" charset="0"/>
                            </a:rPr>
                            <m:t>𝑗</m:t>
                          </m:r>
                          <m:r>
                            <a:rPr lang="en-US" altLang="zh-CN" sz="1800" i="1">
                              <a:latin typeface="Cambria Math" panose="02040503050406030204" pitchFamily="18" charset="0"/>
                            </a:rPr>
                            <m:t>=1</m:t>
                          </m:r>
                        </m:sub>
                        <m:sup>
                          <m:r>
                            <a:rPr lang="en-US" altLang="zh-CN" sz="1800" b="0" i="1" smtClean="0">
                              <a:latin typeface="Cambria Math" panose="02040503050406030204" pitchFamily="18" charset="0"/>
                            </a:rPr>
                            <m:t>𝑀</m:t>
                          </m:r>
                        </m:sup>
                        <m:e>
                          <m:sSub>
                            <m:sSubPr>
                              <m:ctrlPr>
                                <a:rPr lang="en-US" altLang="zh-CN" sz="1800" b="1" i="1">
                                  <a:latin typeface="Cambria Math" panose="02040503050406030204" pitchFamily="18" charset="0"/>
                                </a:rPr>
                              </m:ctrlPr>
                            </m:sSubPr>
                            <m:e>
                              <m:r>
                                <a:rPr lang="zh-CN" altLang="en-US" sz="1800" i="1">
                                  <a:latin typeface="Cambria Math" panose="02040503050406030204" pitchFamily="18" charset="0"/>
                                </a:rPr>
                                <m:t>𝛿</m:t>
                              </m:r>
                            </m:e>
                            <m:sub>
                              <m:r>
                                <a:rPr lang="en-US" altLang="zh-CN" sz="1800" b="0" i="1" smtClean="0">
                                  <a:latin typeface="Cambria Math" panose="02040503050406030204" pitchFamily="18" charset="0"/>
                                </a:rPr>
                                <m:t>𝑗</m:t>
                              </m:r>
                            </m:sub>
                          </m:sSub>
                          <m:d>
                            <m:dPr>
                              <m:begChr m:val="{"/>
                              <m:endChr m:val="}"/>
                              <m:ctrlPr>
                                <a:rPr lang="en-US" altLang="zh-CN" sz="1800" b="1" i="1">
                                  <a:latin typeface="Cambria Math" panose="02040503050406030204" pitchFamily="18" charset="0"/>
                                </a:rPr>
                              </m:ctrlPr>
                            </m:dPr>
                            <m:e>
                              <m:sSubSup>
                                <m:sSubSupPr>
                                  <m:ctrlPr>
                                    <a:rPr lang="en-US" altLang="zh-CN" sz="1800" i="1">
                                      <a:solidFill>
                                        <a:srgbClr val="FF0000"/>
                                      </a:solidFill>
                                      <a:latin typeface="Cambria Math" panose="02040503050406030204" pitchFamily="18" charset="0"/>
                                    </a:rPr>
                                  </m:ctrlPr>
                                </m:sSubSupPr>
                                <m:e>
                                  <m:r>
                                    <a:rPr lang="en-US" altLang="zh-CN" sz="1800" i="1">
                                      <a:solidFill>
                                        <a:srgbClr val="FF0000"/>
                                      </a:solidFill>
                                      <a:latin typeface="Cambria Math" panose="02040503050406030204" pitchFamily="18" charset="0"/>
                                    </a:rPr>
                                    <m:t>𝑤</m:t>
                                  </m:r>
                                </m:e>
                                <m:sub>
                                  <m:r>
                                    <a:rPr lang="en-US" altLang="zh-CN" sz="1800" i="1">
                                      <a:solidFill>
                                        <a:srgbClr val="FF0000"/>
                                      </a:solidFill>
                                      <a:latin typeface="Cambria Math" panose="02040503050406030204" pitchFamily="18" charset="0"/>
                                    </a:rPr>
                                    <m:t>𝑗𝑖</m:t>
                                  </m:r>
                                </m:sub>
                                <m:sup>
                                  <m:d>
                                    <m:dPr>
                                      <m:ctrlPr>
                                        <a:rPr lang="en-US" altLang="zh-CN" sz="1800" b="1" i="1">
                                          <a:solidFill>
                                            <a:srgbClr val="FF0000"/>
                                          </a:solidFill>
                                          <a:latin typeface="Cambria Math" panose="02040503050406030204" pitchFamily="18" charset="0"/>
                                        </a:rPr>
                                      </m:ctrlPr>
                                    </m:dPr>
                                    <m:e>
                                      <m:r>
                                        <a:rPr lang="en-US" altLang="zh-CN" sz="1800" i="1">
                                          <a:solidFill>
                                            <a:srgbClr val="FF0000"/>
                                          </a:solidFill>
                                          <a:latin typeface="Cambria Math" panose="02040503050406030204" pitchFamily="18" charset="0"/>
                                        </a:rPr>
                                        <m:t>1</m:t>
                                      </m:r>
                                    </m:e>
                                  </m:d>
                                </m:sup>
                              </m:sSubSup>
                              <m:sSup>
                                <m:sSupPr>
                                  <m:ctrlPr>
                                    <a:rPr lang="en-US" altLang="zh-CN" sz="1800" i="1" smtClean="0">
                                      <a:solidFill>
                                        <a:srgbClr val="FF0000"/>
                                      </a:solidFill>
                                      <a:latin typeface="Cambria Math" panose="02040503050406030204" pitchFamily="18" charset="0"/>
                                    </a:rPr>
                                  </m:ctrlPr>
                                </m:sSupPr>
                                <m:e>
                                  <m:r>
                                    <a:rPr lang="en-US" altLang="zh-CN" sz="1800" i="1">
                                      <a:solidFill>
                                        <a:srgbClr val="FF0000"/>
                                      </a:solidFill>
                                      <a:latin typeface="Cambria Math" panose="02040503050406030204" pitchFamily="18" charset="0"/>
                                    </a:rPr>
                                    <m:t>h</m:t>
                                  </m:r>
                                </m:e>
                                <m:sup>
                                  <m:r>
                                    <a:rPr lang="en-US" altLang="zh-CN" sz="1800" i="1">
                                      <a:solidFill>
                                        <a:srgbClr val="FF0000"/>
                                      </a:solidFill>
                                      <a:latin typeface="Cambria Math" panose="02040503050406030204" pitchFamily="18" charset="0"/>
                                    </a:rPr>
                                    <m:t>′</m:t>
                                  </m:r>
                                </m:sup>
                              </m:sSup>
                              <m:d>
                                <m:dPr>
                                  <m:ctrlPr>
                                    <a:rPr lang="en-US" altLang="zh-CN" sz="1800" b="1" i="1">
                                      <a:solidFill>
                                        <a:srgbClr val="FF0000"/>
                                      </a:solidFill>
                                      <a:latin typeface="Cambria Math" panose="02040503050406030204" pitchFamily="18" charset="0"/>
                                    </a:rPr>
                                  </m:ctrlPr>
                                </m:dPr>
                                <m:e>
                                  <m:sSub>
                                    <m:sSubPr>
                                      <m:ctrlPr>
                                        <a:rPr lang="en-US" altLang="zh-CN" sz="1800" b="1" i="1">
                                          <a:solidFill>
                                            <a:srgbClr val="FF0000"/>
                                          </a:solidFill>
                                          <a:latin typeface="Cambria Math" panose="02040503050406030204" pitchFamily="18" charset="0"/>
                                        </a:rPr>
                                      </m:ctrlPr>
                                    </m:sSubPr>
                                    <m:e>
                                      <m:r>
                                        <a:rPr lang="en-US" altLang="zh-CN" sz="1800" i="1">
                                          <a:solidFill>
                                            <a:srgbClr val="FF0000"/>
                                          </a:solidFill>
                                          <a:latin typeface="Cambria Math" panose="02040503050406030204" pitchFamily="18" charset="0"/>
                                        </a:rPr>
                                        <m:t>𝑎</m:t>
                                      </m:r>
                                    </m:e>
                                    <m:sub>
                                      <m:r>
                                        <a:rPr lang="en-US" altLang="zh-CN" sz="1800" b="0" i="1" smtClean="0">
                                          <a:solidFill>
                                            <a:srgbClr val="FF0000"/>
                                          </a:solidFill>
                                          <a:latin typeface="Cambria Math" panose="02040503050406030204" pitchFamily="18" charset="0"/>
                                        </a:rPr>
                                        <m:t>𝑖</m:t>
                                      </m:r>
                                    </m:sub>
                                  </m:sSub>
                                </m:e>
                              </m:d>
                            </m:e>
                          </m:d>
                        </m:e>
                      </m:nary>
                      <m:r>
                        <a:rPr lang="en-US" altLang="zh-CN" sz="1800" b="1" i="1">
                          <a:latin typeface="Cambria Math" panose="02040503050406030204" pitchFamily="18" charset="0"/>
                        </a:rPr>
                        <m:t>=</m:t>
                      </m:r>
                    </m:oMath>
                  </m:oMathPara>
                </a14:m>
                <a:endParaRPr lang="en-US" altLang="zh-CN" sz="1800" dirty="0">
                  <a:latin typeface="Monaco" panose="020B0509030404040204" pitchFamily="49" charset="0"/>
                  <a:ea typeface="思源黑体 CN Bold" panose="020B0800000000000000" pitchFamily="34" charset="-122"/>
                  <a:cs typeface="+mj-cs"/>
                </a:endParaRPr>
              </a:p>
            </p:txBody>
          </p:sp>
        </mc:Choice>
        <mc:Fallback xmlns="">
          <p:sp>
            <p:nvSpPr>
              <p:cNvPr id="3" name="内容占位符 2">
                <a:extLst>
                  <a:ext uri="{FF2B5EF4-FFF2-40B4-BE49-F238E27FC236}">
                    <a16:creationId xmlns:a16="http://schemas.microsoft.com/office/drawing/2014/main" id="{B5F15897-98F0-4E08-931A-45E1DC23C6B6}"/>
                  </a:ext>
                </a:extLst>
              </p:cNvPr>
              <p:cNvSpPr>
                <a:spLocks noGrp="1" noRot="1" noChangeAspect="1" noMove="1" noResize="1" noEditPoints="1" noAdjustHandles="1" noChangeArrowheads="1" noChangeShapeType="1" noTextEdit="1"/>
              </p:cNvSpPr>
              <p:nvPr>
                <p:ph idx="1"/>
              </p:nvPr>
            </p:nvSpPr>
            <p:spPr>
              <a:xfrm>
                <a:off x="497042" y="3108752"/>
                <a:ext cx="6459470" cy="3147183"/>
              </a:xfrm>
              <a:blipFill>
                <a:blip r:embed="rId3"/>
                <a:stretch>
                  <a:fillRect l="-85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B8318330-AA46-46AC-8C75-05A185BDA999}"/>
                  </a:ext>
                </a:extLst>
              </p:cNvPr>
              <p:cNvSpPr/>
              <p:nvPr/>
            </p:nvSpPr>
            <p:spPr>
              <a:xfrm>
                <a:off x="6947011" y="1705051"/>
                <a:ext cx="5063309" cy="101207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i="1">
                              <a:latin typeface="Cambria Math" panose="02040503050406030204" pitchFamily="18" charset="0"/>
                            </a:rPr>
                            <m:t>𝑦</m:t>
                          </m:r>
                        </m:e>
                        <m:sub>
                          <m:r>
                            <a:rPr lang="en-US" altLang="zh-CN" sz="1600" i="1">
                              <a:latin typeface="Cambria Math" panose="02040503050406030204" pitchFamily="18" charset="0"/>
                            </a:rPr>
                            <m:t>𝑘</m:t>
                          </m:r>
                        </m:sub>
                      </m:sSub>
                      <m:r>
                        <a:rPr lang="en-US" altLang="zh-CN" sz="1600" i="1">
                          <a:latin typeface="Cambria Math" panose="02040503050406030204" pitchFamily="18" charset="0"/>
                        </a:rPr>
                        <m:t>=</m:t>
                      </m:r>
                      <m:r>
                        <a:rPr lang="en-US" altLang="zh-CN" sz="1600" i="1">
                          <a:latin typeface="Cambria Math" panose="02040503050406030204" pitchFamily="18" charset="0"/>
                        </a:rPr>
                        <m:t>𝑠𝑜𝑓𝑡𝑚𝑎𝑥</m:t>
                      </m:r>
                      <m:d>
                        <m:dPr>
                          <m:ctrlPr>
                            <a:rPr lang="en-US" altLang="zh-CN" sz="1600" i="1">
                              <a:latin typeface="Cambria Math" panose="02040503050406030204" pitchFamily="18" charset="0"/>
                            </a:rPr>
                          </m:ctrlPr>
                        </m:dPr>
                        <m:e>
                          <m:nary>
                            <m:naryPr>
                              <m:chr m:val="∑"/>
                              <m:ctrlPr>
                                <a:rPr lang="en-US" altLang="zh-CN" sz="1600" i="1">
                                  <a:latin typeface="Cambria Math" panose="02040503050406030204" pitchFamily="18" charset="0"/>
                                </a:rPr>
                              </m:ctrlPr>
                            </m:naryPr>
                            <m:sub>
                              <m:r>
                                <m:rPr>
                                  <m:brk m:alnAt="23"/>
                                </m:rPr>
                                <a:rPr lang="en-US" altLang="zh-CN" sz="1600" i="1">
                                  <a:latin typeface="Cambria Math" panose="02040503050406030204" pitchFamily="18" charset="0"/>
                                </a:rPr>
                                <m:t>𝑗</m:t>
                              </m:r>
                              <m:r>
                                <a:rPr lang="en-US" altLang="zh-CN" sz="1600" i="1">
                                  <a:latin typeface="Cambria Math" panose="02040503050406030204" pitchFamily="18" charset="0"/>
                                </a:rPr>
                                <m:t>=1</m:t>
                              </m:r>
                            </m:sub>
                            <m:sup>
                              <m:r>
                                <a:rPr lang="en-US" altLang="zh-CN" sz="1600" i="1">
                                  <a:latin typeface="Cambria Math" panose="02040503050406030204" pitchFamily="18" charset="0"/>
                                </a:rPr>
                                <m:t>𝑀</m:t>
                              </m:r>
                            </m:sup>
                            <m:e>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𝑤</m:t>
                                  </m:r>
                                </m:e>
                                <m:sub>
                                  <m:r>
                                    <a:rPr lang="en-US" altLang="zh-CN" sz="1600" i="1">
                                      <a:latin typeface="Cambria Math" panose="02040503050406030204" pitchFamily="18" charset="0"/>
                                    </a:rPr>
                                    <m:t>𝑘𝑗</m:t>
                                  </m:r>
                                </m:sub>
                                <m:sup>
                                  <m:d>
                                    <m:dPr>
                                      <m:ctrlPr>
                                        <a:rPr lang="en-US" altLang="zh-CN" sz="1600" b="1" i="1">
                                          <a:latin typeface="Cambria Math" panose="02040503050406030204" pitchFamily="18" charset="0"/>
                                        </a:rPr>
                                      </m:ctrlPr>
                                    </m:dPr>
                                    <m:e>
                                      <m:r>
                                        <a:rPr lang="en-US" altLang="zh-CN" sz="1600" i="1">
                                          <a:latin typeface="Cambria Math" panose="02040503050406030204" pitchFamily="18" charset="0"/>
                                        </a:rPr>
                                        <m:t>2</m:t>
                                      </m:r>
                                    </m:e>
                                  </m:d>
                                </m:sup>
                              </m:sSubSup>
                            </m:e>
                          </m:nary>
                          <m:r>
                            <a:rPr lang="en-US" altLang="zh-CN" sz="1600" i="1">
                              <a:latin typeface="Cambria Math" panose="02040503050406030204" pitchFamily="18" charset="0"/>
                            </a:rPr>
                            <m:t>h</m:t>
                          </m:r>
                          <m:d>
                            <m:dPr>
                              <m:ctrlPr>
                                <a:rPr lang="en-US" altLang="zh-CN" sz="1600" b="1" i="1">
                                  <a:latin typeface="Cambria Math" panose="02040503050406030204" pitchFamily="18" charset="0"/>
                                </a:rPr>
                              </m:ctrlPr>
                            </m:dPr>
                            <m:e>
                              <m:nary>
                                <m:naryPr>
                                  <m:chr m:val="∑"/>
                                  <m:ctrlPr>
                                    <a:rPr lang="en-US" altLang="zh-CN" sz="1600" i="1">
                                      <a:latin typeface="Cambria Math" panose="02040503050406030204" pitchFamily="18" charset="0"/>
                                    </a:rPr>
                                  </m:ctrlPr>
                                </m:naryPr>
                                <m:sub>
                                  <m:r>
                                    <a:rPr lang="en-US" altLang="zh-CN" sz="1600" i="1" smtClean="0">
                                      <a:latin typeface="Cambria Math" panose="02040503050406030204" pitchFamily="18" charset="0"/>
                                    </a:rPr>
                                    <m:t>𝑖</m:t>
                                  </m:r>
                                  <m:r>
                                    <a:rPr lang="en-US" altLang="zh-CN" sz="1600" i="1">
                                      <a:latin typeface="Cambria Math" panose="02040503050406030204" pitchFamily="18" charset="0"/>
                                    </a:rPr>
                                    <m:t>=1</m:t>
                                  </m:r>
                                </m:sub>
                                <m:sup>
                                  <m:r>
                                    <a:rPr lang="en-US" altLang="zh-CN" sz="1600" i="1">
                                      <a:latin typeface="Cambria Math" panose="02040503050406030204" pitchFamily="18" charset="0"/>
                                    </a:rPr>
                                    <m:t>𝐷</m:t>
                                  </m:r>
                                </m:sup>
                                <m:e>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𝑤</m:t>
                                      </m:r>
                                    </m:e>
                                    <m:sub>
                                      <m:r>
                                        <a:rPr lang="en-US" altLang="zh-CN" sz="1600" i="1">
                                          <a:latin typeface="Cambria Math" panose="02040503050406030204" pitchFamily="18" charset="0"/>
                                        </a:rPr>
                                        <m:t>𝑗𝑖</m:t>
                                      </m:r>
                                    </m:sub>
                                    <m:sup>
                                      <m:d>
                                        <m:dPr>
                                          <m:ctrlPr>
                                            <a:rPr lang="en-US" altLang="zh-CN" sz="1600" b="1" i="1">
                                              <a:latin typeface="Cambria Math" panose="02040503050406030204" pitchFamily="18" charset="0"/>
                                            </a:rPr>
                                          </m:ctrlPr>
                                        </m:dPr>
                                        <m:e>
                                          <m:r>
                                            <a:rPr lang="en-US" altLang="zh-CN" sz="1600" i="1">
                                              <a:latin typeface="Cambria Math" panose="02040503050406030204" pitchFamily="18" charset="0"/>
                                            </a:rPr>
                                            <m:t>1</m:t>
                                          </m:r>
                                        </m:e>
                                      </m:d>
                                    </m:sup>
                                  </m:sSubSup>
                                  <m:r>
                                    <a:rPr lang="en-US" altLang="zh-CN" sz="1600" i="1">
                                      <a:latin typeface="Cambria Math" panose="02040503050406030204" pitchFamily="18" charset="0"/>
                                    </a:rPr>
                                    <m:t>h</m:t>
                                  </m:r>
                                  <m:d>
                                    <m:dPr>
                                      <m:ctrlPr>
                                        <a:rPr lang="en-US" altLang="zh-CN" sz="1600" b="1" i="1">
                                          <a:latin typeface="Cambria Math" panose="02040503050406030204" pitchFamily="18" charset="0"/>
                                        </a:rPr>
                                      </m:ctrlPr>
                                    </m:dPr>
                                    <m:e>
                                      <m:nary>
                                        <m:naryPr>
                                          <m:chr m:val="∑"/>
                                          <m:ctrlPr>
                                            <a:rPr lang="en-US" altLang="zh-CN" sz="1600" i="1">
                                              <a:latin typeface="Cambria Math" panose="02040503050406030204" pitchFamily="18" charset="0"/>
                                            </a:rPr>
                                          </m:ctrlPr>
                                        </m:naryPr>
                                        <m:sub>
                                          <m:r>
                                            <a:rPr lang="en-US" altLang="zh-CN" sz="1600" b="0" i="1" smtClean="0">
                                              <a:latin typeface="Cambria Math" panose="02040503050406030204" pitchFamily="18" charset="0"/>
                                            </a:rPr>
                                            <m:t>𝑝</m:t>
                                          </m:r>
                                          <m:r>
                                            <a:rPr lang="en-US" altLang="zh-CN" sz="1600" i="1">
                                              <a:latin typeface="Cambria Math" panose="02040503050406030204" pitchFamily="18" charset="0"/>
                                            </a:rPr>
                                            <m:t>=1</m:t>
                                          </m:r>
                                        </m:sub>
                                        <m:sup>
                                          <m:r>
                                            <a:rPr lang="en-US" altLang="zh-CN" sz="1600" b="0" i="1" smtClean="0">
                                              <a:latin typeface="Cambria Math" panose="02040503050406030204" pitchFamily="18" charset="0"/>
                                            </a:rPr>
                                            <m:t>𝑃</m:t>
                                          </m:r>
                                        </m:sup>
                                        <m:e>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𝑤</m:t>
                                              </m:r>
                                            </m:e>
                                            <m:sub>
                                              <m:r>
                                                <a:rPr lang="en-US" altLang="zh-CN" sz="1600" b="0" i="1" smtClean="0">
                                                  <a:latin typeface="Cambria Math" panose="02040503050406030204" pitchFamily="18" charset="0"/>
                                                </a:rPr>
                                                <m:t>𝑖𝑝</m:t>
                                              </m:r>
                                            </m:sub>
                                            <m:sup>
                                              <m:d>
                                                <m:dPr>
                                                  <m:ctrlPr>
                                                    <a:rPr lang="en-US" altLang="zh-CN" sz="1600" b="1" i="1">
                                                      <a:latin typeface="Cambria Math" panose="02040503050406030204" pitchFamily="18" charset="0"/>
                                                    </a:rPr>
                                                  </m:ctrlPr>
                                                </m:dPr>
                                                <m:e>
                                                  <m:r>
                                                    <a:rPr lang="en-US" altLang="zh-CN" sz="1600" i="1">
                                                      <a:latin typeface="Cambria Math" panose="02040503050406030204" pitchFamily="18" charset="0"/>
                                                    </a:rPr>
                                                    <m:t>1</m:t>
                                                  </m:r>
                                                </m:e>
                                              </m:d>
                                            </m:sup>
                                          </m:sSubSup>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𝑥</m:t>
                                              </m:r>
                                            </m:e>
                                            <m:sub>
                                              <m:r>
                                                <a:rPr lang="en-US" altLang="zh-CN" sz="1600" b="0" i="1" smtClean="0">
                                                  <a:latin typeface="Cambria Math" panose="02040503050406030204" pitchFamily="18" charset="0"/>
                                                </a:rPr>
                                                <m:t>𝑝</m:t>
                                              </m:r>
                                            </m:sub>
                                          </m:sSub>
                                        </m:e>
                                      </m:nary>
                                    </m:e>
                                  </m:d>
                                </m:e>
                              </m:nary>
                            </m:e>
                          </m:d>
                        </m:e>
                      </m:d>
                    </m:oMath>
                  </m:oMathPara>
                </a14:m>
                <a:endParaRPr lang="zh-CN" altLang="en-US" sz="1600" dirty="0"/>
              </a:p>
            </p:txBody>
          </p:sp>
        </mc:Choice>
        <mc:Fallback xmlns="">
          <p:sp>
            <p:nvSpPr>
              <p:cNvPr id="5" name="矩形 4">
                <a:extLst>
                  <a:ext uri="{FF2B5EF4-FFF2-40B4-BE49-F238E27FC236}">
                    <a16:creationId xmlns:a16="http://schemas.microsoft.com/office/drawing/2014/main" id="{B8318330-AA46-46AC-8C75-05A185BDA999}"/>
                  </a:ext>
                </a:extLst>
              </p:cNvPr>
              <p:cNvSpPr>
                <a:spLocks noRot="1" noChangeAspect="1" noMove="1" noResize="1" noEditPoints="1" noAdjustHandles="1" noChangeArrowheads="1" noChangeShapeType="1" noTextEdit="1"/>
              </p:cNvSpPr>
              <p:nvPr/>
            </p:nvSpPr>
            <p:spPr>
              <a:xfrm>
                <a:off x="6947011" y="1705051"/>
                <a:ext cx="5063309" cy="1012072"/>
              </a:xfrm>
              <a:prstGeom prst="rect">
                <a:avLst/>
              </a:prstGeom>
              <a:blipFill>
                <a:blip r:embed="rId4"/>
                <a:stretch>
                  <a:fillRect/>
                </a:stretch>
              </a:blipFill>
            </p:spPr>
            <p:txBody>
              <a:bodyPr/>
              <a:lstStyle/>
              <a:p>
                <a:r>
                  <a:rPr lang="zh-CN" altLang="en-US">
                    <a:noFill/>
                  </a:rPr>
                  <a:t> </a:t>
                </a:r>
              </a:p>
            </p:txBody>
          </p:sp>
        </mc:Fallback>
      </mc:AlternateContent>
      <p:sp>
        <p:nvSpPr>
          <p:cNvPr id="22" name="矩形 21">
            <a:extLst>
              <a:ext uri="{FF2B5EF4-FFF2-40B4-BE49-F238E27FC236}">
                <a16:creationId xmlns:a16="http://schemas.microsoft.com/office/drawing/2014/main" id="{9AA7F31E-642F-43F0-B837-01ED2BB67606}"/>
              </a:ext>
            </a:extLst>
          </p:cNvPr>
          <p:cNvSpPr/>
          <p:nvPr/>
        </p:nvSpPr>
        <p:spPr>
          <a:xfrm>
            <a:off x="7105892" y="1710392"/>
            <a:ext cx="1149674" cy="369332"/>
          </a:xfrm>
          <a:prstGeom prst="rect">
            <a:avLst/>
          </a:prstGeom>
        </p:spPr>
        <p:txBody>
          <a:bodyPr wrap="none">
            <a:spAutoFit/>
          </a:bodyPr>
          <a:lstStyle/>
          <a:p>
            <a:r>
              <a:rPr lang="en-US" altLang="zh-CN" dirty="0">
                <a:latin typeface="Monaco" panose="020B0509030404040204" pitchFamily="49" charset="0"/>
                <a:ea typeface="思源黑体 CN Bold" panose="020B0800000000000000" pitchFamily="34" charset="-122"/>
              </a:rPr>
              <a:t>Forward</a:t>
            </a:r>
            <a:endParaRPr lang="zh-CN" altLang="en-US" dirty="0"/>
          </a:p>
        </p:txBody>
      </p:sp>
      <mc:AlternateContent xmlns:mc="http://schemas.openxmlformats.org/markup-compatibility/2006" xmlns:a14="http://schemas.microsoft.com/office/drawing/2010/main">
        <mc:Choice Requires="a14">
          <p:sp>
            <p:nvSpPr>
              <p:cNvPr id="29" name="矩形 28">
                <a:extLst>
                  <a:ext uri="{FF2B5EF4-FFF2-40B4-BE49-F238E27FC236}">
                    <a16:creationId xmlns:a16="http://schemas.microsoft.com/office/drawing/2014/main" id="{D16E2DB8-19F4-4A39-B072-D996B43C299B}"/>
                  </a:ext>
                </a:extLst>
              </p:cNvPr>
              <p:cNvSpPr/>
              <p:nvPr/>
            </p:nvSpPr>
            <p:spPr>
              <a:xfrm>
                <a:off x="4793482" y="2237488"/>
                <a:ext cx="1787156" cy="90165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𝑖</m:t>
                          </m:r>
                        </m:sub>
                      </m:sSub>
                      <m:r>
                        <a:rPr lang="en-US" altLang="zh-CN" i="1">
                          <a:latin typeface="Cambria Math" panose="02040503050406030204" pitchFamily="18" charset="0"/>
                        </a:rPr>
                        <m:t>=</m:t>
                      </m:r>
                      <m:nary>
                        <m:naryPr>
                          <m:chr m:val="∑"/>
                          <m:ctrlPr>
                            <a:rPr lang="en-US" altLang="zh-CN" i="1">
                              <a:latin typeface="Cambria Math" panose="02040503050406030204" pitchFamily="18" charset="0"/>
                            </a:rPr>
                          </m:ctrlPr>
                        </m:naryPr>
                        <m:sub>
                          <m:r>
                            <a:rPr lang="en-US" altLang="zh-CN" i="1">
                              <a:latin typeface="Cambria Math" panose="02040503050406030204" pitchFamily="18" charset="0"/>
                            </a:rPr>
                            <m:t>𝑝</m:t>
                          </m:r>
                          <m:r>
                            <a:rPr lang="en-US" altLang="zh-CN" i="1">
                              <a:latin typeface="Cambria Math" panose="02040503050406030204" pitchFamily="18" charset="0"/>
                            </a:rPr>
                            <m:t>=1</m:t>
                          </m:r>
                        </m:sub>
                        <m:sup>
                          <m:r>
                            <a:rPr lang="en-US" altLang="zh-CN" i="1">
                              <a:latin typeface="Cambria Math" panose="02040503050406030204" pitchFamily="18" charset="0"/>
                            </a:rPr>
                            <m:t>𝑃</m:t>
                          </m:r>
                        </m:sup>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i="1">
                                  <a:latin typeface="Cambria Math" panose="02040503050406030204" pitchFamily="18" charset="0"/>
                                </a:rPr>
                                <m:t>𝑖𝑝</m:t>
                              </m:r>
                            </m:sub>
                            <m:sup>
                              <m:d>
                                <m:dPr>
                                  <m:ctrlPr>
                                    <a:rPr lang="en-US" altLang="zh-CN" b="1" i="1">
                                      <a:latin typeface="Cambria Math" panose="02040503050406030204" pitchFamily="18" charset="0"/>
                                    </a:rPr>
                                  </m:ctrlPr>
                                </m:dPr>
                                <m:e>
                                  <m:r>
                                    <a:rPr lang="en-US" altLang="zh-CN" b="0" i="1" smtClean="0">
                                      <a:latin typeface="Cambria Math" panose="02040503050406030204" pitchFamily="18" charset="0"/>
                                    </a:rPr>
                                    <m:t>0</m:t>
                                  </m:r>
                                </m:e>
                              </m:d>
                            </m:sup>
                          </m:sSubSup>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𝑝</m:t>
                              </m:r>
                            </m:sub>
                          </m:sSub>
                        </m:e>
                      </m:nary>
                    </m:oMath>
                  </m:oMathPara>
                </a14:m>
                <a:endParaRPr lang="zh-CN" altLang="en-US" dirty="0"/>
              </a:p>
            </p:txBody>
          </p:sp>
        </mc:Choice>
        <mc:Fallback xmlns="">
          <p:sp>
            <p:nvSpPr>
              <p:cNvPr id="29" name="矩形 28">
                <a:extLst>
                  <a:ext uri="{FF2B5EF4-FFF2-40B4-BE49-F238E27FC236}">
                    <a16:creationId xmlns:a16="http://schemas.microsoft.com/office/drawing/2014/main" id="{D16E2DB8-19F4-4A39-B072-D996B43C299B}"/>
                  </a:ext>
                </a:extLst>
              </p:cNvPr>
              <p:cNvSpPr>
                <a:spLocks noRot="1" noChangeAspect="1" noMove="1" noResize="1" noEditPoints="1" noAdjustHandles="1" noChangeArrowheads="1" noChangeShapeType="1" noTextEdit="1"/>
              </p:cNvSpPr>
              <p:nvPr/>
            </p:nvSpPr>
            <p:spPr>
              <a:xfrm>
                <a:off x="4793482" y="2237488"/>
                <a:ext cx="1787156" cy="901657"/>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矩形 29">
                <a:extLst>
                  <a:ext uri="{FF2B5EF4-FFF2-40B4-BE49-F238E27FC236}">
                    <a16:creationId xmlns:a16="http://schemas.microsoft.com/office/drawing/2014/main" id="{E0A1848D-74FB-4F4F-A58C-A22468433461}"/>
                  </a:ext>
                </a:extLst>
              </p:cNvPr>
              <p:cNvSpPr/>
              <p:nvPr/>
            </p:nvSpPr>
            <p:spPr>
              <a:xfrm>
                <a:off x="10239569" y="674520"/>
                <a:ext cx="863763" cy="786947"/>
              </a:xfrm>
              <a:prstGeom prst="rect">
                <a:avLst/>
              </a:prstGeom>
              <a:ln>
                <a:solidFill>
                  <a:srgbClr val="FF0000"/>
                </a:solidFill>
              </a:ln>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rPr>
                        <m:t> </m:t>
                      </m:r>
                      <m:f>
                        <m:fPr>
                          <m:ctrlPr>
                            <a:rPr lang="en-US" altLang="zh-CN" i="1">
                              <a:latin typeface="Cambria Math" panose="02040503050406030204" pitchFamily="18" charset="0"/>
                            </a:rPr>
                          </m:ctrlPr>
                        </m:fPr>
                        <m:num>
                          <m:r>
                            <a:rPr lang="en-US" altLang="zh-CN" i="1">
                              <a:latin typeface="Cambria Math" panose="02040503050406030204" pitchFamily="18" charset="0"/>
                            </a:rPr>
                            <m:t>𝜕</m:t>
                          </m:r>
                          <m:r>
                            <a:rPr lang="en-US" altLang="zh-CN" i="1">
                              <a:latin typeface="Cambria Math" panose="02040503050406030204" pitchFamily="18" charset="0"/>
                            </a:rPr>
                            <m:t>𝐿</m:t>
                          </m:r>
                        </m:num>
                        <m:den>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b="0" i="1" smtClean="0">
                                  <a:latin typeface="Cambria Math" panose="02040503050406030204" pitchFamily="18" charset="0"/>
                                </a:rPr>
                                <m:t>𝑖𝑝</m:t>
                              </m:r>
                            </m:sub>
                            <m:sup>
                              <m:d>
                                <m:dPr>
                                  <m:ctrlPr>
                                    <a:rPr lang="en-US" altLang="zh-CN" b="1" i="1">
                                      <a:latin typeface="Cambria Math" panose="02040503050406030204" pitchFamily="18" charset="0"/>
                                    </a:rPr>
                                  </m:ctrlPr>
                                </m:dPr>
                                <m:e>
                                  <m:r>
                                    <a:rPr lang="en-US" altLang="zh-CN" b="0" i="1" smtClean="0">
                                      <a:latin typeface="Cambria Math" panose="02040503050406030204" pitchFamily="18" charset="0"/>
                                    </a:rPr>
                                    <m:t>0</m:t>
                                  </m:r>
                                </m:e>
                              </m:d>
                            </m:sup>
                          </m:sSubSup>
                        </m:den>
                      </m:f>
                    </m:oMath>
                  </m:oMathPara>
                </a14:m>
                <a:endParaRPr lang="zh-CN" altLang="en-US" dirty="0"/>
              </a:p>
            </p:txBody>
          </p:sp>
        </mc:Choice>
        <mc:Fallback xmlns="">
          <p:sp>
            <p:nvSpPr>
              <p:cNvPr id="30" name="矩形 29">
                <a:extLst>
                  <a:ext uri="{FF2B5EF4-FFF2-40B4-BE49-F238E27FC236}">
                    <a16:creationId xmlns:a16="http://schemas.microsoft.com/office/drawing/2014/main" id="{E0A1848D-74FB-4F4F-A58C-A22468433461}"/>
                  </a:ext>
                </a:extLst>
              </p:cNvPr>
              <p:cNvSpPr>
                <a:spLocks noRot="1" noChangeAspect="1" noMove="1" noResize="1" noEditPoints="1" noAdjustHandles="1" noChangeArrowheads="1" noChangeShapeType="1" noTextEdit="1"/>
              </p:cNvSpPr>
              <p:nvPr/>
            </p:nvSpPr>
            <p:spPr>
              <a:xfrm>
                <a:off x="10239569" y="674520"/>
                <a:ext cx="863763" cy="786947"/>
              </a:xfrm>
              <a:prstGeom prst="rect">
                <a:avLst/>
              </a:prstGeom>
              <a:blipFill>
                <a:blip r:embed="rId11"/>
                <a:stretch>
                  <a:fillRect/>
                </a:stretch>
              </a:blipFill>
              <a:ln>
                <a:solidFill>
                  <a:srgbClr val="FF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矩形 42">
                <a:extLst>
                  <a:ext uri="{FF2B5EF4-FFF2-40B4-BE49-F238E27FC236}">
                    <a16:creationId xmlns:a16="http://schemas.microsoft.com/office/drawing/2014/main" id="{959E8F91-D9DA-47DC-AA2E-1094A0385D58}"/>
                  </a:ext>
                </a:extLst>
              </p:cNvPr>
              <p:cNvSpPr/>
              <p:nvPr/>
            </p:nvSpPr>
            <p:spPr>
              <a:xfrm>
                <a:off x="243403" y="1461467"/>
                <a:ext cx="212686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i="1">
                              <a:latin typeface="Cambria Math" panose="02040503050406030204" pitchFamily="18" charset="0"/>
                            </a:rPr>
                            <m:t>𝑘</m:t>
                          </m:r>
                        </m:sub>
                      </m:sSub>
                      <m:r>
                        <a:rPr lang="en-US" altLang="zh-CN" i="1">
                          <a:latin typeface="Cambria Math" panose="02040503050406030204" pitchFamily="18" charset="0"/>
                        </a:rPr>
                        <m:t>=</m:t>
                      </m:r>
                      <m:r>
                        <a:rPr lang="en-US" altLang="zh-CN" i="1">
                          <a:latin typeface="Cambria Math" panose="02040503050406030204" pitchFamily="18" charset="0"/>
                        </a:rPr>
                        <m:t>𝑠𝑜𝑓𝑡𝑚𝑎𝑥</m:t>
                      </m:r>
                      <m:d>
                        <m:dPr>
                          <m:ctrlPr>
                            <a:rPr lang="en-US" altLang="zh-CN" i="1">
                              <a:latin typeface="Cambria Math" panose="02040503050406030204" pitchFamily="18" charset="0"/>
                            </a:rPr>
                          </m:ctrlPr>
                        </m:dPr>
                        <m:e>
                          <m:sSub>
                            <m:sSubPr>
                              <m:ctrlPr>
                                <a:rPr lang="en-US" altLang="zh-CN" b="1"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𝑘</m:t>
                              </m:r>
                            </m:sub>
                          </m:sSub>
                        </m:e>
                      </m:d>
                    </m:oMath>
                  </m:oMathPara>
                </a14:m>
                <a:endParaRPr lang="zh-CN" altLang="en-US" dirty="0"/>
              </a:p>
            </p:txBody>
          </p:sp>
        </mc:Choice>
        <mc:Fallback xmlns="">
          <p:sp>
            <p:nvSpPr>
              <p:cNvPr id="43" name="矩形 42">
                <a:extLst>
                  <a:ext uri="{FF2B5EF4-FFF2-40B4-BE49-F238E27FC236}">
                    <a16:creationId xmlns:a16="http://schemas.microsoft.com/office/drawing/2014/main" id="{959E8F91-D9DA-47DC-AA2E-1094A0385D58}"/>
                  </a:ext>
                </a:extLst>
              </p:cNvPr>
              <p:cNvSpPr>
                <a:spLocks noRot="1" noChangeAspect="1" noMove="1" noResize="1" noEditPoints="1" noAdjustHandles="1" noChangeArrowheads="1" noChangeShapeType="1" noTextEdit="1"/>
              </p:cNvSpPr>
              <p:nvPr/>
            </p:nvSpPr>
            <p:spPr>
              <a:xfrm>
                <a:off x="243403" y="1461467"/>
                <a:ext cx="2126864" cy="369332"/>
              </a:xfrm>
              <a:prstGeom prst="rect">
                <a:avLst/>
              </a:prstGeom>
              <a:blipFill>
                <a:blip r:embed="rId13"/>
                <a:stretch>
                  <a:fillRect b="-1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矩形 44">
                <a:extLst>
                  <a:ext uri="{FF2B5EF4-FFF2-40B4-BE49-F238E27FC236}">
                    <a16:creationId xmlns:a16="http://schemas.microsoft.com/office/drawing/2014/main" id="{1943A705-3126-4048-8F9D-1D3D72A03510}"/>
                  </a:ext>
                </a:extLst>
              </p:cNvPr>
              <p:cNvSpPr/>
              <p:nvPr/>
            </p:nvSpPr>
            <p:spPr>
              <a:xfrm>
                <a:off x="1756238" y="1543093"/>
                <a:ext cx="2110706" cy="90255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𝑘</m:t>
                          </m:r>
                        </m:sub>
                      </m:sSub>
                      <m:r>
                        <a:rPr lang="en-US" altLang="zh-CN" i="1">
                          <a:latin typeface="Cambria Math" panose="02040503050406030204" pitchFamily="18" charset="0"/>
                        </a:rPr>
                        <m:t>=</m:t>
                      </m:r>
                      <m:nary>
                        <m:naryPr>
                          <m:chr m:val="∑"/>
                          <m:ctrlPr>
                            <a:rPr lang="en-US" altLang="zh-CN" i="1">
                              <a:latin typeface="Cambria Math" panose="02040503050406030204" pitchFamily="18" charset="0"/>
                            </a:rPr>
                          </m:ctrlPr>
                        </m:naryPr>
                        <m:sub>
                          <m:r>
                            <a:rPr lang="en-US" altLang="zh-CN" b="0" i="1" smtClean="0">
                              <a:latin typeface="Cambria Math" panose="02040503050406030204" pitchFamily="18" charset="0"/>
                            </a:rPr>
                            <m:t>𝑗</m:t>
                          </m:r>
                          <m:r>
                            <a:rPr lang="en-US" altLang="zh-CN" i="1">
                              <a:latin typeface="Cambria Math" panose="02040503050406030204" pitchFamily="18" charset="0"/>
                            </a:rPr>
                            <m:t>=1</m:t>
                          </m:r>
                        </m:sub>
                        <m:sup>
                          <m:r>
                            <a:rPr lang="en-US" altLang="zh-CN" b="0" i="1" smtClean="0">
                              <a:latin typeface="Cambria Math" panose="02040503050406030204" pitchFamily="18" charset="0"/>
                            </a:rPr>
                            <m:t>𝑀</m:t>
                          </m:r>
                        </m:sup>
                        <m:e>
                          <m:sSubSup>
                            <m:sSubSupPr>
                              <m:ctrlPr>
                                <a:rPr lang="en-US" altLang="zh-CN" i="1" smtClean="0">
                                  <a:latin typeface="Cambria Math" panose="02040503050406030204" pitchFamily="18" charset="0"/>
                                </a:rPr>
                              </m:ctrlPr>
                            </m:sSubSupPr>
                            <m:e>
                              <m:r>
                                <a:rPr lang="en-US" altLang="zh-CN" i="1">
                                  <a:latin typeface="Cambria Math" panose="02040503050406030204" pitchFamily="18" charset="0"/>
                                </a:rPr>
                                <m:t>𝑤</m:t>
                              </m:r>
                            </m:e>
                            <m:sub>
                              <m:r>
                                <a:rPr lang="en-US" altLang="zh-CN" b="0" i="1" smtClean="0">
                                  <a:latin typeface="Cambria Math" panose="02040503050406030204" pitchFamily="18" charset="0"/>
                                </a:rPr>
                                <m:t>𝑘𝑗</m:t>
                              </m:r>
                            </m:sub>
                            <m:sup>
                              <m:d>
                                <m:dPr>
                                  <m:ctrlPr>
                                    <a:rPr lang="en-US" altLang="zh-CN" b="1" i="1">
                                      <a:latin typeface="Cambria Math" panose="02040503050406030204" pitchFamily="18" charset="0"/>
                                    </a:rPr>
                                  </m:ctrlPr>
                                </m:dPr>
                                <m:e>
                                  <m:r>
                                    <a:rPr lang="en-US" altLang="zh-CN" b="0" i="1" smtClean="0">
                                      <a:latin typeface="Cambria Math" panose="02040503050406030204" pitchFamily="18" charset="0"/>
                                    </a:rPr>
                                    <m:t>2</m:t>
                                  </m:r>
                                </m:e>
                              </m:d>
                            </m:sup>
                          </m:sSubSup>
                          <m:r>
                            <a:rPr lang="en-US" altLang="zh-CN" b="0" i="1" smtClean="0">
                              <a:latin typeface="Cambria Math" panose="02040503050406030204" pitchFamily="18" charset="0"/>
                            </a:rPr>
                            <m:t>h</m:t>
                          </m:r>
                          <m:d>
                            <m:dPr>
                              <m:ctrlPr>
                                <a:rPr lang="en-US" altLang="zh-CN" b="0" i="1" smtClean="0">
                                  <a:latin typeface="Cambria Math" panose="02040503050406030204" pitchFamily="18" charset="0"/>
                                </a:rPr>
                              </m:ctrlPr>
                            </m:dPr>
                            <m:e>
                              <m:sSub>
                                <m:sSubPr>
                                  <m:ctrlPr>
                                    <a:rPr lang="en-US" altLang="zh-CN" b="1" i="1">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𝑗</m:t>
                                  </m:r>
                                </m:sub>
                              </m:sSub>
                            </m:e>
                          </m:d>
                        </m:e>
                      </m:nary>
                    </m:oMath>
                  </m:oMathPara>
                </a14:m>
                <a:endParaRPr lang="zh-CN" altLang="en-US" dirty="0"/>
              </a:p>
            </p:txBody>
          </p:sp>
        </mc:Choice>
        <mc:Fallback xmlns="">
          <p:sp>
            <p:nvSpPr>
              <p:cNvPr id="45" name="矩形 44">
                <a:extLst>
                  <a:ext uri="{FF2B5EF4-FFF2-40B4-BE49-F238E27FC236}">
                    <a16:creationId xmlns:a16="http://schemas.microsoft.com/office/drawing/2014/main" id="{1943A705-3126-4048-8F9D-1D3D72A03510}"/>
                  </a:ext>
                </a:extLst>
              </p:cNvPr>
              <p:cNvSpPr>
                <a:spLocks noRot="1" noChangeAspect="1" noMove="1" noResize="1" noEditPoints="1" noAdjustHandles="1" noChangeArrowheads="1" noChangeShapeType="1" noTextEdit="1"/>
              </p:cNvSpPr>
              <p:nvPr/>
            </p:nvSpPr>
            <p:spPr>
              <a:xfrm>
                <a:off x="1756238" y="1543093"/>
                <a:ext cx="2110706" cy="902555"/>
              </a:xfrm>
              <a:prstGeom prst="rect">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 name="矩形 45">
                <a:extLst>
                  <a:ext uri="{FF2B5EF4-FFF2-40B4-BE49-F238E27FC236}">
                    <a16:creationId xmlns:a16="http://schemas.microsoft.com/office/drawing/2014/main" id="{A0BC6FB2-F88D-4A23-9757-B2A911AC7F11}"/>
                  </a:ext>
                </a:extLst>
              </p:cNvPr>
              <p:cNvSpPr/>
              <p:nvPr/>
            </p:nvSpPr>
            <p:spPr>
              <a:xfrm>
                <a:off x="3286298" y="1901495"/>
                <a:ext cx="2099293" cy="87126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solidFill>
                                <a:srgbClr val="FF0000"/>
                              </a:solidFill>
                              <a:latin typeface="Cambria Math" panose="02040503050406030204" pitchFamily="18" charset="0"/>
                            </a:rPr>
                          </m:ctrlPr>
                        </m:sSubPr>
                        <m:e>
                          <m:r>
                            <a:rPr lang="en-US" altLang="zh-CN" i="1">
                              <a:solidFill>
                                <a:srgbClr val="FF0000"/>
                              </a:solidFill>
                              <a:latin typeface="Cambria Math" panose="02040503050406030204" pitchFamily="18" charset="0"/>
                            </a:rPr>
                            <m:t>𝑎</m:t>
                          </m:r>
                        </m:e>
                        <m:sub>
                          <m:r>
                            <a:rPr lang="en-US" altLang="zh-CN" b="0" i="1" smtClean="0">
                              <a:solidFill>
                                <a:srgbClr val="FF0000"/>
                              </a:solidFill>
                              <a:latin typeface="Cambria Math" panose="02040503050406030204" pitchFamily="18" charset="0"/>
                            </a:rPr>
                            <m:t>𝑗</m:t>
                          </m:r>
                        </m:sub>
                      </m:sSub>
                      <m:r>
                        <a:rPr lang="en-US" altLang="zh-CN" i="1">
                          <a:solidFill>
                            <a:srgbClr val="FF0000"/>
                          </a:solidFill>
                          <a:latin typeface="Cambria Math" panose="02040503050406030204" pitchFamily="18" charset="0"/>
                        </a:rPr>
                        <m:t>=</m:t>
                      </m:r>
                      <m:nary>
                        <m:naryPr>
                          <m:chr m:val="∑"/>
                          <m:ctrlPr>
                            <a:rPr lang="en-US" altLang="zh-CN" i="1">
                              <a:solidFill>
                                <a:srgbClr val="FF0000"/>
                              </a:solidFill>
                              <a:latin typeface="Cambria Math" panose="02040503050406030204" pitchFamily="18" charset="0"/>
                            </a:rPr>
                          </m:ctrlPr>
                        </m:naryPr>
                        <m:sub>
                          <m:r>
                            <a:rPr lang="en-US" altLang="zh-CN" i="1">
                              <a:solidFill>
                                <a:srgbClr val="FF0000"/>
                              </a:solidFill>
                              <a:latin typeface="Cambria Math" panose="02040503050406030204" pitchFamily="18" charset="0"/>
                            </a:rPr>
                            <m:t>𝑖</m:t>
                          </m:r>
                          <m:r>
                            <a:rPr lang="en-US" altLang="zh-CN" i="1">
                              <a:solidFill>
                                <a:srgbClr val="FF0000"/>
                              </a:solidFill>
                              <a:latin typeface="Cambria Math" panose="02040503050406030204" pitchFamily="18" charset="0"/>
                            </a:rPr>
                            <m:t>=1</m:t>
                          </m:r>
                        </m:sub>
                        <m:sup>
                          <m:r>
                            <a:rPr lang="en-US" altLang="zh-CN" i="1">
                              <a:solidFill>
                                <a:srgbClr val="FF0000"/>
                              </a:solidFill>
                              <a:latin typeface="Cambria Math" panose="02040503050406030204" pitchFamily="18" charset="0"/>
                            </a:rPr>
                            <m:t>𝐷</m:t>
                          </m:r>
                        </m:sup>
                        <m:e>
                          <m:sSubSup>
                            <m:sSubSupPr>
                              <m:ctrlPr>
                                <a:rPr lang="en-US" altLang="zh-CN" i="1">
                                  <a:solidFill>
                                    <a:srgbClr val="FF0000"/>
                                  </a:solidFill>
                                  <a:latin typeface="Cambria Math" panose="02040503050406030204" pitchFamily="18" charset="0"/>
                                </a:rPr>
                              </m:ctrlPr>
                            </m:sSubSupPr>
                            <m:e>
                              <m:r>
                                <a:rPr lang="en-US" altLang="zh-CN" i="1">
                                  <a:solidFill>
                                    <a:srgbClr val="FF0000"/>
                                  </a:solidFill>
                                  <a:latin typeface="Cambria Math" panose="02040503050406030204" pitchFamily="18" charset="0"/>
                                </a:rPr>
                                <m:t>𝑤</m:t>
                              </m:r>
                            </m:e>
                            <m:sub>
                              <m:r>
                                <a:rPr lang="en-US" altLang="zh-CN" i="1">
                                  <a:solidFill>
                                    <a:srgbClr val="FF0000"/>
                                  </a:solidFill>
                                  <a:latin typeface="Cambria Math" panose="02040503050406030204" pitchFamily="18" charset="0"/>
                                </a:rPr>
                                <m:t>𝑗𝑖</m:t>
                              </m:r>
                            </m:sub>
                            <m:sup>
                              <m:d>
                                <m:dPr>
                                  <m:ctrlPr>
                                    <a:rPr lang="en-US" altLang="zh-CN" b="1" i="1">
                                      <a:solidFill>
                                        <a:srgbClr val="FF0000"/>
                                      </a:solidFill>
                                      <a:latin typeface="Cambria Math" panose="02040503050406030204" pitchFamily="18" charset="0"/>
                                    </a:rPr>
                                  </m:ctrlPr>
                                </m:dPr>
                                <m:e>
                                  <m:r>
                                    <a:rPr lang="en-US" altLang="zh-CN" i="1">
                                      <a:solidFill>
                                        <a:srgbClr val="FF0000"/>
                                      </a:solidFill>
                                      <a:latin typeface="Cambria Math" panose="02040503050406030204" pitchFamily="18" charset="0"/>
                                    </a:rPr>
                                    <m:t>1</m:t>
                                  </m:r>
                                </m:e>
                              </m:d>
                            </m:sup>
                          </m:sSubSup>
                          <m:r>
                            <a:rPr lang="en-US" altLang="zh-CN" i="1">
                              <a:solidFill>
                                <a:srgbClr val="FF0000"/>
                              </a:solidFill>
                              <a:latin typeface="Cambria Math" panose="02040503050406030204" pitchFamily="18" charset="0"/>
                            </a:rPr>
                            <m:t>h</m:t>
                          </m:r>
                          <m:d>
                            <m:dPr>
                              <m:ctrlPr>
                                <a:rPr lang="en-US" altLang="zh-CN" b="1" i="1">
                                  <a:solidFill>
                                    <a:srgbClr val="FF0000"/>
                                  </a:solidFill>
                                  <a:latin typeface="Cambria Math" panose="02040503050406030204" pitchFamily="18" charset="0"/>
                                </a:rPr>
                              </m:ctrlPr>
                            </m:dPr>
                            <m:e>
                              <m:sSub>
                                <m:sSubPr>
                                  <m:ctrlPr>
                                    <a:rPr lang="en-US" altLang="zh-CN" b="1" i="1">
                                      <a:solidFill>
                                        <a:srgbClr val="FF0000"/>
                                      </a:solidFill>
                                      <a:latin typeface="Cambria Math" panose="02040503050406030204" pitchFamily="18" charset="0"/>
                                    </a:rPr>
                                  </m:ctrlPr>
                                </m:sSubPr>
                                <m:e>
                                  <m:r>
                                    <a:rPr lang="en-US" altLang="zh-CN" i="1">
                                      <a:solidFill>
                                        <a:srgbClr val="FF0000"/>
                                      </a:solidFill>
                                      <a:latin typeface="Cambria Math" panose="02040503050406030204" pitchFamily="18" charset="0"/>
                                    </a:rPr>
                                    <m:t>𝑎</m:t>
                                  </m:r>
                                </m:e>
                                <m:sub>
                                  <m:r>
                                    <a:rPr lang="en-US" altLang="zh-CN" b="0" i="1" smtClean="0">
                                      <a:solidFill>
                                        <a:srgbClr val="FF0000"/>
                                      </a:solidFill>
                                      <a:latin typeface="Cambria Math" panose="02040503050406030204" pitchFamily="18" charset="0"/>
                                    </a:rPr>
                                    <m:t>𝑖</m:t>
                                  </m:r>
                                </m:sub>
                              </m:sSub>
                            </m:e>
                          </m:d>
                        </m:e>
                      </m:nary>
                    </m:oMath>
                  </m:oMathPara>
                </a14:m>
                <a:endParaRPr lang="zh-CN" altLang="en-US" dirty="0"/>
              </a:p>
            </p:txBody>
          </p:sp>
        </mc:Choice>
        <mc:Fallback xmlns="">
          <p:sp>
            <p:nvSpPr>
              <p:cNvPr id="46" name="矩形 45">
                <a:extLst>
                  <a:ext uri="{FF2B5EF4-FFF2-40B4-BE49-F238E27FC236}">
                    <a16:creationId xmlns:a16="http://schemas.microsoft.com/office/drawing/2014/main" id="{A0BC6FB2-F88D-4A23-9757-B2A911AC7F11}"/>
                  </a:ext>
                </a:extLst>
              </p:cNvPr>
              <p:cNvSpPr>
                <a:spLocks noRot="1" noChangeAspect="1" noMove="1" noResize="1" noEditPoints="1" noAdjustHandles="1" noChangeArrowheads="1" noChangeShapeType="1" noTextEdit="1"/>
              </p:cNvSpPr>
              <p:nvPr/>
            </p:nvSpPr>
            <p:spPr>
              <a:xfrm>
                <a:off x="3286298" y="1901495"/>
                <a:ext cx="2099293" cy="871264"/>
              </a:xfrm>
              <a:prstGeom prst="rect">
                <a:avLst/>
              </a:prstGeom>
              <a:blipFill>
                <a:blip r:embed="rId15"/>
                <a:stretch>
                  <a:fillRect/>
                </a:stretch>
              </a:blipFill>
            </p:spPr>
            <p:txBody>
              <a:bodyPr/>
              <a:lstStyle/>
              <a:p>
                <a:r>
                  <a:rPr lang="zh-CN" altLang="en-US">
                    <a:noFill/>
                  </a:rPr>
                  <a:t> </a:t>
                </a:r>
              </a:p>
            </p:txBody>
          </p:sp>
        </mc:Fallback>
      </mc:AlternateContent>
      <p:grpSp>
        <p:nvGrpSpPr>
          <p:cNvPr id="21" name="组合 20">
            <a:extLst>
              <a:ext uri="{FF2B5EF4-FFF2-40B4-BE49-F238E27FC236}">
                <a16:creationId xmlns:a16="http://schemas.microsoft.com/office/drawing/2014/main" id="{00B90280-45D9-48EE-9D6A-69FE6D3F6B79}"/>
              </a:ext>
            </a:extLst>
          </p:cNvPr>
          <p:cNvGrpSpPr/>
          <p:nvPr/>
        </p:nvGrpSpPr>
        <p:grpSpPr>
          <a:xfrm>
            <a:off x="6795188" y="2757867"/>
            <a:ext cx="5272369" cy="3564000"/>
            <a:chOff x="6795188" y="2757867"/>
            <a:chExt cx="5272369" cy="3564000"/>
          </a:xfrm>
        </p:grpSpPr>
        <p:sp>
          <p:nvSpPr>
            <p:cNvPr id="11" name="矩形 10">
              <a:extLst>
                <a:ext uri="{FF2B5EF4-FFF2-40B4-BE49-F238E27FC236}">
                  <a16:creationId xmlns:a16="http://schemas.microsoft.com/office/drawing/2014/main" id="{60C96A5F-D55F-477C-8E1C-1BF3B779066A}"/>
                </a:ext>
              </a:extLst>
            </p:cNvPr>
            <p:cNvSpPr/>
            <p:nvPr/>
          </p:nvSpPr>
          <p:spPr>
            <a:xfrm>
              <a:off x="6865853" y="2757867"/>
              <a:ext cx="1416170" cy="356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8" name="组合 27">
              <a:extLst>
                <a:ext uri="{FF2B5EF4-FFF2-40B4-BE49-F238E27FC236}">
                  <a16:creationId xmlns:a16="http://schemas.microsoft.com/office/drawing/2014/main" id="{EE491A68-20D7-4A65-9AF0-34F9BE4F6D56}"/>
                </a:ext>
              </a:extLst>
            </p:cNvPr>
            <p:cNvGrpSpPr/>
            <p:nvPr/>
          </p:nvGrpSpPr>
          <p:grpSpPr>
            <a:xfrm>
              <a:off x="8270466" y="2757867"/>
              <a:ext cx="3797091" cy="3563473"/>
              <a:chOff x="8270466" y="2757867"/>
              <a:chExt cx="3797091" cy="3563473"/>
            </a:xfrm>
          </p:grpSpPr>
          <p:grpSp>
            <p:nvGrpSpPr>
              <p:cNvPr id="6" name="组合 5">
                <a:extLst>
                  <a:ext uri="{FF2B5EF4-FFF2-40B4-BE49-F238E27FC236}">
                    <a16:creationId xmlns:a16="http://schemas.microsoft.com/office/drawing/2014/main" id="{4BB3E588-BAED-4F8F-AB01-470C5A04F55F}"/>
                  </a:ext>
                </a:extLst>
              </p:cNvPr>
              <p:cNvGrpSpPr>
                <a:grpSpLocks noChangeAspect="1"/>
              </p:cNvGrpSpPr>
              <p:nvPr/>
            </p:nvGrpSpPr>
            <p:grpSpPr>
              <a:xfrm>
                <a:off x="8270466" y="2757867"/>
                <a:ext cx="3797091" cy="3563473"/>
                <a:chOff x="7116596" y="1782638"/>
                <a:chExt cx="4652370" cy="4351337"/>
              </a:xfrm>
            </p:grpSpPr>
            <p:pic>
              <p:nvPicPr>
                <p:cNvPr id="4" name="图片 3">
                  <a:extLst>
                    <a:ext uri="{FF2B5EF4-FFF2-40B4-BE49-F238E27FC236}">
                      <a16:creationId xmlns:a16="http://schemas.microsoft.com/office/drawing/2014/main" id="{0ACFECF1-2C94-4CF1-AF10-846AEB0254C2}"/>
                    </a:ext>
                  </a:extLst>
                </p:cNvPr>
                <p:cNvPicPr>
                  <a:picLocks noChangeAspect="1"/>
                </p:cNvPicPr>
                <p:nvPr/>
              </p:nvPicPr>
              <p:blipFill rotWithShape="1">
                <a:blip r:embed="rId16">
                  <a:extLst>
                    <a:ext uri="{28A0092B-C50C-407E-A947-70E740481C1C}">
                      <a14:useLocalDpi xmlns:a14="http://schemas.microsoft.com/office/drawing/2010/main" val="0"/>
                    </a:ext>
                  </a:extLst>
                </a:blip>
                <a:srcRect l="12468"/>
                <a:stretch/>
              </p:blipFill>
              <p:spPr>
                <a:xfrm>
                  <a:off x="7116596" y="1782638"/>
                  <a:ext cx="4652370" cy="4351337"/>
                </a:xfrm>
                <a:prstGeom prst="rect">
                  <a:avLst/>
                </a:prstGeom>
              </p:spPr>
            </p:pic>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1AFC9801-156C-468B-8FDD-E05A184C3F61}"/>
                        </a:ext>
                      </a:extLst>
                    </p:cNvPr>
                    <p:cNvSpPr/>
                    <p:nvPr/>
                  </p:nvSpPr>
                  <p:spPr>
                    <a:xfrm>
                      <a:off x="9274638" y="3141169"/>
                      <a:ext cx="605869" cy="39164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𝑘𝑗</m:t>
                                </m:r>
                              </m:sub>
                            </m:sSub>
                          </m:oMath>
                        </m:oMathPara>
                      </a14:m>
                      <a:endParaRPr lang="zh-CN" altLang="en-US" dirty="0"/>
                    </a:p>
                  </p:txBody>
                </p:sp>
              </mc:Choice>
              <mc:Fallback xmlns="">
                <p:sp>
                  <p:nvSpPr>
                    <p:cNvPr id="8" name="矩形 7">
                      <a:extLst>
                        <a:ext uri="{FF2B5EF4-FFF2-40B4-BE49-F238E27FC236}">
                          <a16:creationId xmlns:a16="http://schemas.microsoft.com/office/drawing/2014/main" id="{1AFC9801-156C-468B-8FDD-E05A184C3F61}"/>
                        </a:ext>
                      </a:extLst>
                    </p:cNvPr>
                    <p:cNvSpPr>
                      <a:spLocks noRot="1" noChangeAspect="1" noMove="1" noResize="1" noEditPoints="1" noAdjustHandles="1" noChangeArrowheads="1" noChangeShapeType="1" noTextEdit="1"/>
                    </p:cNvSpPr>
                    <p:nvPr/>
                  </p:nvSpPr>
                  <p:spPr>
                    <a:xfrm>
                      <a:off x="9274638" y="3141169"/>
                      <a:ext cx="605869" cy="391646"/>
                    </a:xfrm>
                    <a:prstGeom prst="rect">
                      <a:avLst/>
                    </a:prstGeom>
                    <a:blipFill>
                      <a:blip r:embed="rId6"/>
                      <a:stretch>
                        <a:fillRect r="-4938" b="-3018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766DA921-987A-4800-8643-1FFF170B7BA4}"/>
                        </a:ext>
                      </a:extLst>
                    </p:cNvPr>
                    <p:cNvSpPr/>
                    <p:nvPr/>
                  </p:nvSpPr>
                  <p:spPr>
                    <a:xfrm>
                      <a:off x="7797187" y="3001947"/>
                      <a:ext cx="542071" cy="39164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𝑗𝑖</m:t>
                                </m:r>
                              </m:sub>
                            </m:sSub>
                          </m:oMath>
                        </m:oMathPara>
                      </a14:m>
                      <a:endParaRPr lang="zh-CN" altLang="en-US" dirty="0"/>
                    </a:p>
                  </p:txBody>
                </p:sp>
              </mc:Choice>
              <mc:Fallback xmlns="">
                <p:sp>
                  <p:nvSpPr>
                    <p:cNvPr id="10" name="矩形 9">
                      <a:extLst>
                        <a:ext uri="{FF2B5EF4-FFF2-40B4-BE49-F238E27FC236}">
                          <a16:creationId xmlns:a16="http://schemas.microsoft.com/office/drawing/2014/main" id="{766DA921-987A-4800-8643-1FFF170B7BA4}"/>
                        </a:ext>
                      </a:extLst>
                    </p:cNvPr>
                    <p:cNvSpPr>
                      <a:spLocks noRot="1" noChangeAspect="1" noMove="1" noResize="1" noEditPoints="1" noAdjustHandles="1" noChangeArrowheads="1" noChangeShapeType="1" noTextEdit="1"/>
                    </p:cNvSpPr>
                    <p:nvPr/>
                  </p:nvSpPr>
                  <p:spPr>
                    <a:xfrm>
                      <a:off x="7797187" y="3001947"/>
                      <a:ext cx="542071" cy="391646"/>
                    </a:xfrm>
                    <a:prstGeom prst="rect">
                      <a:avLst/>
                    </a:prstGeom>
                    <a:blipFill>
                      <a:blip r:embed="rId7"/>
                      <a:stretch>
                        <a:fillRect r="-2778" b="-32075"/>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26" name="矩形 25">
                    <a:extLst>
                      <a:ext uri="{FF2B5EF4-FFF2-40B4-BE49-F238E27FC236}">
                        <a16:creationId xmlns:a16="http://schemas.microsoft.com/office/drawing/2014/main" id="{B4B17DDD-2D12-4C19-8FDE-3CF5E518B706}"/>
                      </a:ext>
                    </a:extLst>
                  </p:cNvPr>
                  <p:cNvSpPr/>
                  <p:nvPr/>
                </p:nvSpPr>
                <p:spPr>
                  <a:xfrm>
                    <a:off x="9291613" y="3290398"/>
                    <a:ext cx="448777" cy="39164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𝑗</m:t>
                              </m:r>
                            </m:sub>
                          </m:sSub>
                        </m:oMath>
                      </m:oMathPara>
                    </a14:m>
                    <a:endParaRPr lang="zh-CN" altLang="en-US" dirty="0"/>
                  </a:p>
                </p:txBody>
              </p:sp>
            </mc:Choice>
            <mc:Fallback xmlns="">
              <p:sp>
                <p:nvSpPr>
                  <p:cNvPr id="26" name="矩形 25">
                    <a:extLst>
                      <a:ext uri="{FF2B5EF4-FFF2-40B4-BE49-F238E27FC236}">
                        <a16:creationId xmlns:a16="http://schemas.microsoft.com/office/drawing/2014/main" id="{B4B17DDD-2D12-4C19-8FDE-3CF5E518B706}"/>
                      </a:ext>
                    </a:extLst>
                  </p:cNvPr>
                  <p:cNvSpPr>
                    <a:spLocks noRot="1" noChangeAspect="1" noMove="1" noResize="1" noEditPoints="1" noAdjustHandles="1" noChangeArrowheads="1" noChangeShapeType="1" noTextEdit="1"/>
                  </p:cNvSpPr>
                  <p:nvPr/>
                </p:nvSpPr>
                <p:spPr>
                  <a:xfrm>
                    <a:off x="9291613" y="3290398"/>
                    <a:ext cx="448777" cy="391646"/>
                  </a:xfrm>
                  <a:prstGeom prst="rect">
                    <a:avLst/>
                  </a:prstGeom>
                  <a:blipFill>
                    <a:blip r:embed="rId8"/>
                    <a:stretch>
                      <a:fillRect b="-781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矩形 26">
                    <a:extLst>
                      <a:ext uri="{FF2B5EF4-FFF2-40B4-BE49-F238E27FC236}">
                        <a16:creationId xmlns:a16="http://schemas.microsoft.com/office/drawing/2014/main" id="{7AB3C284-ED01-48A0-9DC7-CCD8D08CF70D}"/>
                      </a:ext>
                    </a:extLst>
                  </p:cNvPr>
                  <p:cNvSpPr/>
                  <p:nvPr/>
                </p:nvSpPr>
                <p:spPr>
                  <a:xfrm>
                    <a:off x="10738643" y="4442692"/>
                    <a:ext cx="49250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𝑘</m:t>
                              </m:r>
                            </m:sub>
                          </m:sSub>
                        </m:oMath>
                      </m:oMathPara>
                    </a14:m>
                    <a:endParaRPr lang="zh-CN" altLang="en-US" dirty="0"/>
                  </a:p>
                </p:txBody>
              </p:sp>
            </mc:Choice>
            <mc:Fallback xmlns="">
              <p:sp>
                <p:nvSpPr>
                  <p:cNvPr id="27" name="矩形 26">
                    <a:extLst>
                      <a:ext uri="{FF2B5EF4-FFF2-40B4-BE49-F238E27FC236}">
                        <a16:creationId xmlns:a16="http://schemas.microsoft.com/office/drawing/2014/main" id="{7AB3C284-ED01-48A0-9DC7-CCD8D08CF70D}"/>
                      </a:ext>
                    </a:extLst>
                  </p:cNvPr>
                  <p:cNvSpPr>
                    <a:spLocks noRot="1" noChangeAspect="1" noMove="1" noResize="1" noEditPoints="1" noAdjustHandles="1" noChangeArrowheads="1" noChangeShapeType="1" noTextEdit="1"/>
                  </p:cNvSpPr>
                  <p:nvPr/>
                </p:nvSpPr>
                <p:spPr>
                  <a:xfrm>
                    <a:off x="10738643" y="4442692"/>
                    <a:ext cx="492507" cy="369332"/>
                  </a:xfrm>
                  <a:prstGeom prst="rect">
                    <a:avLst/>
                  </a:prstGeom>
                  <a:blipFill>
                    <a:blip r:embed="rId9"/>
                    <a:stretch>
                      <a:fillRect/>
                    </a:stretch>
                  </a:blipFill>
                </p:spPr>
                <p:txBody>
                  <a:bodyPr/>
                  <a:lstStyle/>
                  <a:p>
                    <a:r>
                      <a:rPr lang="zh-CN" altLang="en-US">
                        <a:noFill/>
                      </a:rPr>
                      <a:t> </a:t>
                    </a:r>
                  </a:p>
                </p:txBody>
              </p:sp>
            </mc:Fallback>
          </mc:AlternateContent>
        </p:grpSp>
        <p:sp>
          <p:nvSpPr>
            <p:cNvPr id="31" name="矩形: 圆角 30">
              <a:extLst>
                <a:ext uri="{FF2B5EF4-FFF2-40B4-BE49-F238E27FC236}">
                  <a16:creationId xmlns:a16="http://schemas.microsoft.com/office/drawing/2014/main" id="{DC566904-61BD-4611-80CF-BF7E95F0861A}"/>
                </a:ext>
              </a:extLst>
            </p:cNvPr>
            <p:cNvSpPr/>
            <p:nvPr/>
          </p:nvSpPr>
          <p:spPr>
            <a:xfrm rot="18580401">
              <a:off x="8255140" y="4179798"/>
              <a:ext cx="1800000" cy="72000"/>
            </a:xfrm>
            <a:prstGeom prst="roundRect">
              <a:avLst/>
            </a:prstGeom>
            <a:noFill/>
            <a:ln>
              <a:solidFill>
                <a:srgbClr val="008573"/>
              </a:solidFill>
            </a:ln>
            <a:effectLst>
              <a:glow rad="635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圆角 31">
              <a:extLst>
                <a:ext uri="{FF2B5EF4-FFF2-40B4-BE49-F238E27FC236}">
                  <a16:creationId xmlns:a16="http://schemas.microsoft.com/office/drawing/2014/main" id="{5ABCBE90-0B48-4C55-AF0B-DC1104BE2251}"/>
                </a:ext>
              </a:extLst>
            </p:cNvPr>
            <p:cNvSpPr/>
            <p:nvPr/>
          </p:nvSpPr>
          <p:spPr>
            <a:xfrm rot="651969">
              <a:off x="8611373" y="5153577"/>
              <a:ext cx="1080000" cy="72000"/>
            </a:xfrm>
            <a:prstGeom prst="roundRect">
              <a:avLst/>
            </a:prstGeom>
            <a:noFill/>
            <a:ln>
              <a:solidFill>
                <a:srgbClr val="00B050"/>
              </a:solidFill>
            </a:ln>
            <a:effectLst>
              <a:glow rad="635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a:extLst>
                <a:ext uri="{FF2B5EF4-FFF2-40B4-BE49-F238E27FC236}">
                  <a16:creationId xmlns:a16="http://schemas.microsoft.com/office/drawing/2014/main" id="{D0C61A32-84AE-4772-A324-9D4726CFAD35}"/>
                </a:ext>
              </a:extLst>
            </p:cNvPr>
            <p:cNvSpPr/>
            <p:nvPr/>
          </p:nvSpPr>
          <p:spPr>
            <a:xfrm>
              <a:off x="7186352" y="3843963"/>
              <a:ext cx="288000" cy="288000"/>
            </a:xfrm>
            <a:prstGeom prst="ellipse">
              <a:avLst/>
            </a:prstGeom>
            <a:noFill/>
            <a:ln w="57150">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244A746E-9213-457F-9757-E52E0743B7D2}"/>
                </a:ext>
              </a:extLst>
            </p:cNvPr>
            <p:cNvSpPr/>
            <p:nvPr/>
          </p:nvSpPr>
          <p:spPr>
            <a:xfrm>
              <a:off x="7186352" y="4721752"/>
              <a:ext cx="288000" cy="288000"/>
            </a:xfrm>
            <a:prstGeom prst="ellipse">
              <a:avLst/>
            </a:prstGeom>
            <a:noFill/>
            <a:ln w="57150">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39D939E1-3F3E-4BB6-A4DF-7E255E873650}"/>
                </a:ext>
              </a:extLst>
            </p:cNvPr>
            <p:cNvSpPr/>
            <p:nvPr/>
          </p:nvSpPr>
          <p:spPr>
            <a:xfrm>
              <a:off x="7294007" y="4225410"/>
              <a:ext cx="72691" cy="72000"/>
            </a:xfrm>
            <a:prstGeom prst="ellipse">
              <a:avLst/>
            </a:prstGeom>
            <a:solidFill>
              <a:srgbClr val="0208A7"/>
            </a:solidFill>
            <a:ln>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a:extLst>
                <a:ext uri="{FF2B5EF4-FFF2-40B4-BE49-F238E27FC236}">
                  <a16:creationId xmlns:a16="http://schemas.microsoft.com/office/drawing/2014/main" id="{FDE3195E-7208-44CC-B1C4-857F79EB6F31}"/>
                </a:ext>
              </a:extLst>
            </p:cNvPr>
            <p:cNvSpPr/>
            <p:nvPr/>
          </p:nvSpPr>
          <p:spPr>
            <a:xfrm>
              <a:off x="7294007" y="4390857"/>
              <a:ext cx="72691" cy="72000"/>
            </a:xfrm>
            <a:prstGeom prst="ellipse">
              <a:avLst/>
            </a:prstGeom>
            <a:solidFill>
              <a:srgbClr val="0208A7"/>
            </a:solidFill>
            <a:ln>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1AA9ABDC-5B89-46E0-BB78-8E52522EF2AE}"/>
                </a:ext>
              </a:extLst>
            </p:cNvPr>
            <p:cNvSpPr/>
            <p:nvPr/>
          </p:nvSpPr>
          <p:spPr>
            <a:xfrm>
              <a:off x="7294007" y="4556304"/>
              <a:ext cx="72691" cy="72000"/>
            </a:xfrm>
            <a:prstGeom prst="ellipse">
              <a:avLst/>
            </a:prstGeom>
            <a:solidFill>
              <a:srgbClr val="0208A7"/>
            </a:solidFill>
            <a:ln>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连接符 12">
              <a:extLst>
                <a:ext uri="{FF2B5EF4-FFF2-40B4-BE49-F238E27FC236}">
                  <a16:creationId xmlns:a16="http://schemas.microsoft.com/office/drawing/2014/main" id="{B4AFE395-33EE-48BC-9777-93B8624B2333}"/>
                </a:ext>
              </a:extLst>
            </p:cNvPr>
            <p:cNvCxnSpPr>
              <a:cxnSpLocks/>
              <a:stCxn id="7" idx="6"/>
            </p:cNvCxnSpPr>
            <p:nvPr/>
          </p:nvCxnSpPr>
          <p:spPr>
            <a:xfrm flipV="1">
              <a:off x="7474352" y="3665445"/>
              <a:ext cx="854535" cy="322518"/>
            </a:xfrm>
            <a:prstGeom prst="line">
              <a:avLst/>
            </a:prstGeom>
            <a:ln w="28575">
              <a:solidFill>
                <a:srgbClr val="0202BF"/>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9E7E5F9C-CC3F-488A-86A2-62E337924EEC}"/>
                </a:ext>
              </a:extLst>
            </p:cNvPr>
            <p:cNvCxnSpPr>
              <a:cxnSpLocks/>
              <a:stCxn id="7" idx="5"/>
            </p:cNvCxnSpPr>
            <p:nvPr/>
          </p:nvCxnSpPr>
          <p:spPr>
            <a:xfrm>
              <a:off x="7432175" y="4089786"/>
              <a:ext cx="923394" cy="850557"/>
            </a:xfrm>
            <a:prstGeom prst="line">
              <a:avLst/>
            </a:prstGeom>
            <a:ln w="28575">
              <a:solidFill>
                <a:srgbClr val="0202BF"/>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D163F457-9FDF-404D-A2E6-E39BD0D12EC8}"/>
                </a:ext>
              </a:extLst>
            </p:cNvPr>
            <p:cNvCxnSpPr>
              <a:cxnSpLocks/>
              <a:stCxn id="20" idx="7"/>
            </p:cNvCxnSpPr>
            <p:nvPr/>
          </p:nvCxnSpPr>
          <p:spPr>
            <a:xfrm flipV="1">
              <a:off x="7432175" y="3756405"/>
              <a:ext cx="934254" cy="1007524"/>
            </a:xfrm>
            <a:prstGeom prst="line">
              <a:avLst/>
            </a:prstGeom>
            <a:ln w="28575">
              <a:solidFill>
                <a:srgbClr val="0202BF"/>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B39C1F41-769C-438E-9372-B233097D7639}"/>
                </a:ext>
              </a:extLst>
            </p:cNvPr>
            <p:cNvCxnSpPr>
              <a:cxnSpLocks/>
              <a:stCxn id="20" idx="6"/>
            </p:cNvCxnSpPr>
            <p:nvPr/>
          </p:nvCxnSpPr>
          <p:spPr>
            <a:xfrm>
              <a:off x="7474352" y="4865752"/>
              <a:ext cx="838291" cy="157619"/>
            </a:xfrm>
            <a:prstGeom prst="line">
              <a:avLst/>
            </a:prstGeom>
            <a:ln w="28575">
              <a:solidFill>
                <a:srgbClr val="0202BF"/>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1" name="矩形 40">
                  <a:extLst>
                    <a:ext uri="{FF2B5EF4-FFF2-40B4-BE49-F238E27FC236}">
                      <a16:creationId xmlns:a16="http://schemas.microsoft.com/office/drawing/2014/main" id="{A948F816-5A40-4EB6-B16B-92C8F35A77E9}"/>
                    </a:ext>
                  </a:extLst>
                </p:cNvPr>
                <p:cNvSpPr/>
                <p:nvPr/>
              </p:nvSpPr>
              <p:spPr>
                <a:xfrm>
                  <a:off x="7445573" y="3845512"/>
                  <a:ext cx="678391" cy="47179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i="1">
                                <a:latin typeface="Cambria Math" panose="02040503050406030204" pitchFamily="18" charset="0"/>
                              </a:rPr>
                              <m:t>𝑤</m:t>
                            </m:r>
                          </m:e>
                          <m:sub>
                            <m:r>
                              <a:rPr lang="en-US" altLang="zh-CN" b="0" i="1" smtClean="0">
                                <a:latin typeface="Cambria Math" panose="02040503050406030204" pitchFamily="18" charset="0"/>
                              </a:rPr>
                              <m:t>𝑖𝑝</m:t>
                            </m:r>
                          </m:sub>
                          <m:sup>
                            <m:d>
                              <m:dPr>
                                <m:ctrlPr>
                                  <a:rPr lang="en-US" altLang="zh-CN" b="1" i="1">
                                    <a:latin typeface="Cambria Math" panose="02040503050406030204" pitchFamily="18" charset="0"/>
                                  </a:rPr>
                                </m:ctrlPr>
                              </m:dPr>
                              <m:e>
                                <m:r>
                                  <a:rPr lang="en-US" altLang="zh-CN" b="0" i="1" smtClean="0">
                                    <a:latin typeface="Cambria Math" panose="02040503050406030204" pitchFamily="18" charset="0"/>
                                  </a:rPr>
                                  <m:t>0</m:t>
                                </m:r>
                              </m:e>
                            </m:d>
                          </m:sup>
                        </m:sSubSup>
                      </m:oMath>
                    </m:oMathPara>
                  </a14:m>
                  <a:endParaRPr lang="zh-CN" altLang="en-US" dirty="0"/>
                </a:p>
              </p:txBody>
            </p:sp>
          </mc:Choice>
          <mc:Fallback xmlns="">
            <p:sp>
              <p:nvSpPr>
                <p:cNvPr id="41" name="矩形 40">
                  <a:extLst>
                    <a:ext uri="{FF2B5EF4-FFF2-40B4-BE49-F238E27FC236}">
                      <a16:creationId xmlns:a16="http://schemas.microsoft.com/office/drawing/2014/main" id="{A948F816-5A40-4EB6-B16B-92C8F35A77E9}"/>
                    </a:ext>
                  </a:extLst>
                </p:cNvPr>
                <p:cNvSpPr>
                  <a:spLocks noRot="1" noChangeAspect="1" noMove="1" noResize="1" noEditPoints="1" noAdjustHandles="1" noChangeArrowheads="1" noChangeShapeType="1" noTextEdit="1"/>
                </p:cNvSpPr>
                <p:nvPr/>
              </p:nvSpPr>
              <p:spPr>
                <a:xfrm>
                  <a:off x="7445573" y="3845512"/>
                  <a:ext cx="678391" cy="471796"/>
                </a:xfrm>
                <a:prstGeom prst="rect">
                  <a:avLst/>
                </a:prstGeom>
                <a:blipFill>
                  <a:blip r:embed="rId17"/>
                  <a:stretch>
                    <a:fillRect b="-6494"/>
                  </a:stretch>
                </a:blipFill>
              </p:spPr>
              <p:txBody>
                <a:bodyPr/>
                <a:lstStyle/>
                <a:p>
                  <a:r>
                    <a:rPr lang="zh-CN" altLang="en-US">
                      <a:noFill/>
                    </a:rPr>
                    <a:t> </a:t>
                  </a:r>
                </a:p>
              </p:txBody>
            </p:sp>
          </mc:Fallback>
        </mc:AlternateContent>
        <p:sp>
          <p:nvSpPr>
            <p:cNvPr id="42" name="矩形: 圆角 41">
              <a:extLst>
                <a:ext uri="{FF2B5EF4-FFF2-40B4-BE49-F238E27FC236}">
                  <a16:creationId xmlns:a16="http://schemas.microsoft.com/office/drawing/2014/main" id="{DCCDC670-19BC-4918-9D39-D33B1828B17E}"/>
                </a:ext>
              </a:extLst>
            </p:cNvPr>
            <p:cNvSpPr/>
            <p:nvPr/>
          </p:nvSpPr>
          <p:spPr>
            <a:xfrm rot="2559722">
              <a:off x="7314672" y="4497730"/>
              <a:ext cx="1188000" cy="72000"/>
            </a:xfrm>
            <a:prstGeom prst="roundRect">
              <a:avLst/>
            </a:prstGeom>
            <a:noFill/>
            <a:ln>
              <a:solidFill>
                <a:srgbClr val="FF0000"/>
              </a:solidFill>
            </a:ln>
            <a:effectLst>
              <a:glow rad="635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47" name="矩形 46">
                  <a:extLst>
                    <a:ext uri="{FF2B5EF4-FFF2-40B4-BE49-F238E27FC236}">
                      <a16:creationId xmlns:a16="http://schemas.microsoft.com/office/drawing/2014/main" id="{1F38DC07-7056-46A0-9FD5-1C5E189E0949}"/>
                    </a:ext>
                  </a:extLst>
                </p:cNvPr>
                <p:cNvSpPr/>
                <p:nvPr/>
              </p:nvSpPr>
              <p:spPr>
                <a:xfrm>
                  <a:off x="8112163" y="4472531"/>
                  <a:ext cx="45005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𝑖</m:t>
                            </m:r>
                          </m:sub>
                        </m:sSub>
                      </m:oMath>
                    </m:oMathPara>
                  </a14:m>
                  <a:endParaRPr lang="zh-CN" altLang="en-US" dirty="0"/>
                </a:p>
              </p:txBody>
            </p:sp>
          </mc:Choice>
          <mc:Fallback xmlns="">
            <p:sp>
              <p:nvSpPr>
                <p:cNvPr id="47" name="矩形 46">
                  <a:extLst>
                    <a:ext uri="{FF2B5EF4-FFF2-40B4-BE49-F238E27FC236}">
                      <a16:creationId xmlns:a16="http://schemas.microsoft.com/office/drawing/2014/main" id="{1F38DC07-7056-46A0-9FD5-1C5E189E0949}"/>
                    </a:ext>
                  </a:extLst>
                </p:cNvPr>
                <p:cNvSpPr>
                  <a:spLocks noRot="1" noChangeAspect="1" noMove="1" noResize="1" noEditPoints="1" noAdjustHandles="1" noChangeArrowheads="1" noChangeShapeType="1" noTextEdit="1"/>
                </p:cNvSpPr>
                <p:nvPr/>
              </p:nvSpPr>
              <p:spPr>
                <a:xfrm>
                  <a:off x="8112163" y="4472531"/>
                  <a:ext cx="450059" cy="369332"/>
                </a:xfrm>
                <a:prstGeom prst="rect">
                  <a:avLst/>
                </a:prstGeom>
                <a:blipFill>
                  <a:blip r:embed="rId18"/>
                  <a:stretch>
                    <a:fillRect b="-1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矩形 47">
                  <a:extLst>
                    <a:ext uri="{FF2B5EF4-FFF2-40B4-BE49-F238E27FC236}">
                      <a16:creationId xmlns:a16="http://schemas.microsoft.com/office/drawing/2014/main" id="{337CF272-5081-4151-89BE-D9D2FD95C0F8}"/>
                    </a:ext>
                  </a:extLst>
                </p:cNvPr>
                <p:cNvSpPr/>
                <p:nvPr/>
              </p:nvSpPr>
              <p:spPr>
                <a:xfrm>
                  <a:off x="6795188" y="4682905"/>
                  <a:ext cx="47038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oMath>
                    </m:oMathPara>
                  </a14:m>
                  <a:endParaRPr lang="zh-CN" altLang="en-US" dirty="0"/>
                </a:p>
              </p:txBody>
            </p:sp>
          </mc:Choice>
          <mc:Fallback xmlns="">
            <p:sp>
              <p:nvSpPr>
                <p:cNvPr id="48" name="矩形 47">
                  <a:extLst>
                    <a:ext uri="{FF2B5EF4-FFF2-40B4-BE49-F238E27FC236}">
                      <a16:creationId xmlns:a16="http://schemas.microsoft.com/office/drawing/2014/main" id="{337CF272-5081-4151-89BE-D9D2FD95C0F8}"/>
                    </a:ext>
                  </a:extLst>
                </p:cNvPr>
                <p:cNvSpPr>
                  <a:spLocks noRot="1" noChangeAspect="1" noMove="1" noResize="1" noEditPoints="1" noAdjustHandles="1" noChangeArrowheads="1" noChangeShapeType="1" noTextEdit="1"/>
                </p:cNvSpPr>
                <p:nvPr/>
              </p:nvSpPr>
              <p:spPr>
                <a:xfrm>
                  <a:off x="6795188" y="4682905"/>
                  <a:ext cx="470385" cy="369332"/>
                </a:xfrm>
                <a:prstGeom prst="rect">
                  <a:avLst/>
                </a:prstGeom>
                <a:blipFill>
                  <a:blip r:embed="rId1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9" name="矩形 48">
                  <a:extLst>
                    <a:ext uri="{FF2B5EF4-FFF2-40B4-BE49-F238E27FC236}">
                      <a16:creationId xmlns:a16="http://schemas.microsoft.com/office/drawing/2014/main" id="{A06DDD53-EB53-4F8E-898F-263CB0F00920}"/>
                    </a:ext>
                  </a:extLst>
                </p:cNvPr>
                <p:cNvSpPr/>
                <p:nvPr/>
              </p:nvSpPr>
              <p:spPr>
                <a:xfrm>
                  <a:off x="7508920" y="3314663"/>
                  <a:ext cx="678391" cy="44140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i="1">
                                <a:latin typeface="Cambria Math" panose="02040503050406030204" pitchFamily="18" charset="0"/>
                              </a:rPr>
                              <m:t>𝑤</m:t>
                            </m:r>
                          </m:e>
                          <m:sub>
                            <m:r>
                              <a:rPr lang="en-US" altLang="zh-CN" b="0" i="1" smtClean="0">
                                <a:latin typeface="Cambria Math" panose="02040503050406030204" pitchFamily="18" charset="0"/>
                              </a:rPr>
                              <m:t>𝐷𝑃</m:t>
                            </m:r>
                          </m:sub>
                          <m:sup>
                            <m:d>
                              <m:dPr>
                                <m:ctrlPr>
                                  <a:rPr lang="en-US" altLang="zh-CN" b="1" i="1">
                                    <a:latin typeface="Cambria Math" panose="02040503050406030204" pitchFamily="18" charset="0"/>
                                  </a:rPr>
                                </m:ctrlPr>
                              </m:dPr>
                              <m:e>
                                <m:r>
                                  <a:rPr lang="en-US" altLang="zh-CN" b="0" i="1" smtClean="0">
                                    <a:latin typeface="Cambria Math" panose="02040503050406030204" pitchFamily="18" charset="0"/>
                                  </a:rPr>
                                  <m:t>0</m:t>
                                </m:r>
                              </m:e>
                            </m:d>
                          </m:sup>
                        </m:sSubSup>
                      </m:oMath>
                    </m:oMathPara>
                  </a14:m>
                  <a:endParaRPr lang="zh-CN" altLang="en-US" dirty="0"/>
                </a:p>
              </p:txBody>
            </p:sp>
          </mc:Choice>
          <mc:Fallback xmlns="">
            <p:sp>
              <p:nvSpPr>
                <p:cNvPr id="49" name="矩形 48">
                  <a:extLst>
                    <a:ext uri="{FF2B5EF4-FFF2-40B4-BE49-F238E27FC236}">
                      <a16:creationId xmlns:a16="http://schemas.microsoft.com/office/drawing/2014/main" id="{A06DDD53-EB53-4F8E-898F-263CB0F00920}"/>
                    </a:ext>
                  </a:extLst>
                </p:cNvPr>
                <p:cNvSpPr>
                  <a:spLocks noRot="1" noChangeAspect="1" noMove="1" noResize="1" noEditPoints="1" noAdjustHandles="1" noChangeArrowheads="1" noChangeShapeType="1" noTextEdit="1"/>
                </p:cNvSpPr>
                <p:nvPr/>
              </p:nvSpPr>
              <p:spPr>
                <a:xfrm>
                  <a:off x="7508920" y="3314663"/>
                  <a:ext cx="678391" cy="441403"/>
                </a:xfrm>
                <a:prstGeom prst="rect">
                  <a:avLst/>
                </a:prstGeom>
                <a:blipFill>
                  <a:blip r:embed="rId20"/>
                  <a:stretch>
                    <a:fillRect b="-1389"/>
                  </a:stretch>
                </a:blipFill>
              </p:spPr>
              <p:txBody>
                <a:bodyPr/>
                <a:lstStyle/>
                <a:p>
                  <a:r>
                    <a:rPr lang="zh-CN" altLang="en-US">
                      <a:noFill/>
                    </a:rPr>
                    <a:t> </a:t>
                  </a:r>
                </a:p>
              </p:txBody>
            </p:sp>
          </mc:Fallback>
        </mc:AlternateContent>
        <p:sp>
          <p:nvSpPr>
            <p:cNvPr id="50" name="椭圆 49">
              <a:extLst>
                <a:ext uri="{FF2B5EF4-FFF2-40B4-BE49-F238E27FC236}">
                  <a16:creationId xmlns:a16="http://schemas.microsoft.com/office/drawing/2014/main" id="{81BCC714-6153-4CEE-ADDA-21F5E7E62DD3}"/>
                </a:ext>
              </a:extLst>
            </p:cNvPr>
            <p:cNvSpPr/>
            <p:nvPr/>
          </p:nvSpPr>
          <p:spPr>
            <a:xfrm>
              <a:off x="7188833" y="5364589"/>
              <a:ext cx="288000" cy="288000"/>
            </a:xfrm>
            <a:prstGeom prst="ellipse">
              <a:avLst/>
            </a:prstGeom>
            <a:solidFill>
              <a:srgbClr val="0208A7"/>
            </a:solidFill>
            <a:ln w="57150">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1" name="直接连接符 50">
              <a:extLst>
                <a:ext uri="{FF2B5EF4-FFF2-40B4-BE49-F238E27FC236}">
                  <a16:creationId xmlns:a16="http://schemas.microsoft.com/office/drawing/2014/main" id="{204BE1FD-C4BD-489E-9139-161BD488DA39}"/>
                </a:ext>
              </a:extLst>
            </p:cNvPr>
            <p:cNvCxnSpPr>
              <a:cxnSpLocks/>
              <a:stCxn id="50" idx="7"/>
            </p:cNvCxnSpPr>
            <p:nvPr/>
          </p:nvCxnSpPr>
          <p:spPr>
            <a:xfrm flipV="1">
              <a:off x="7434656" y="3750516"/>
              <a:ext cx="963998" cy="1656250"/>
            </a:xfrm>
            <a:prstGeom prst="line">
              <a:avLst/>
            </a:prstGeom>
            <a:ln w="28575">
              <a:solidFill>
                <a:srgbClr val="0202BF"/>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89DAD916-5738-4B9F-A92B-F32EC65B9C92}"/>
                </a:ext>
              </a:extLst>
            </p:cNvPr>
            <p:cNvCxnSpPr>
              <a:cxnSpLocks/>
              <a:stCxn id="50" idx="6"/>
            </p:cNvCxnSpPr>
            <p:nvPr/>
          </p:nvCxnSpPr>
          <p:spPr>
            <a:xfrm flipV="1">
              <a:off x="7476833" y="5035929"/>
              <a:ext cx="827986" cy="472660"/>
            </a:xfrm>
            <a:prstGeom prst="line">
              <a:avLst/>
            </a:prstGeom>
            <a:ln w="28575">
              <a:solidFill>
                <a:srgbClr val="0202BF"/>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7" name="矩形 56">
                  <a:extLst>
                    <a:ext uri="{FF2B5EF4-FFF2-40B4-BE49-F238E27FC236}">
                      <a16:creationId xmlns:a16="http://schemas.microsoft.com/office/drawing/2014/main" id="{F42B194B-7441-4CFD-ACE8-C97C1508646E}"/>
                    </a:ext>
                  </a:extLst>
                </p:cNvPr>
                <p:cNvSpPr/>
                <p:nvPr/>
              </p:nvSpPr>
              <p:spPr>
                <a:xfrm>
                  <a:off x="6814604" y="3766551"/>
                  <a:ext cx="49084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𝑃</m:t>
                            </m:r>
                          </m:sub>
                        </m:sSub>
                      </m:oMath>
                    </m:oMathPara>
                  </a14:m>
                  <a:endParaRPr lang="zh-CN" altLang="en-US" dirty="0"/>
                </a:p>
              </p:txBody>
            </p:sp>
          </mc:Choice>
          <mc:Fallback xmlns="">
            <p:sp>
              <p:nvSpPr>
                <p:cNvPr id="57" name="矩形 56">
                  <a:extLst>
                    <a:ext uri="{FF2B5EF4-FFF2-40B4-BE49-F238E27FC236}">
                      <a16:creationId xmlns:a16="http://schemas.microsoft.com/office/drawing/2014/main" id="{F42B194B-7441-4CFD-ACE8-C97C1508646E}"/>
                    </a:ext>
                  </a:extLst>
                </p:cNvPr>
                <p:cNvSpPr>
                  <a:spLocks noRot="1" noChangeAspect="1" noMove="1" noResize="1" noEditPoints="1" noAdjustHandles="1" noChangeArrowheads="1" noChangeShapeType="1" noTextEdit="1"/>
                </p:cNvSpPr>
                <p:nvPr/>
              </p:nvSpPr>
              <p:spPr>
                <a:xfrm>
                  <a:off x="6814604" y="3766551"/>
                  <a:ext cx="490840" cy="369332"/>
                </a:xfrm>
                <a:prstGeom prst="rect">
                  <a:avLst/>
                </a:prstGeom>
                <a:blipFill>
                  <a:blip r:embed="rId2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 name="矩形 57">
                  <a:extLst>
                    <a:ext uri="{FF2B5EF4-FFF2-40B4-BE49-F238E27FC236}">
                      <a16:creationId xmlns:a16="http://schemas.microsoft.com/office/drawing/2014/main" id="{B1352BC4-F127-48DC-9F2A-A26F961E57F2}"/>
                    </a:ext>
                  </a:extLst>
                </p:cNvPr>
                <p:cNvSpPr/>
                <p:nvPr/>
              </p:nvSpPr>
              <p:spPr>
                <a:xfrm>
                  <a:off x="8142257" y="3178441"/>
                  <a:ext cx="48763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𝑧</m:t>
                            </m:r>
                          </m:e>
                          <m:sub>
                            <m:r>
                              <a:rPr lang="en-US" altLang="zh-CN" b="0" i="1" smtClean="0">
                                <a:latin typeface="Cambria Math" panose="02040503050406030204" pitchFamily="18" charset="0"/>
                              </a:rPr>
                              <m:t>𝐷</m:t>
                            </m:r>
                          </m:sub>
                        </m:sSub>
                      </m:oMath>
                    </m:oMathPara>
                  </a14:m>
                  <a:endParaRPr lang="zh-CN" altLang="en-US" dirty="0"/>
                </a:p>
              </p:txBody>
            </p:sp>
          </mc:Choice>
          <mc:Fallback xmlns="">
            <p:sp>
              <p:nvSpPr>
                <p:cNvPr id="58" name="矩形 57">
                  <a:extLst>
                    <a:ext uri="{FF2B5EF4-FFF2-40B4-BE49-F238E27FC236}">
                      <a16:creationId xmlns:a16="http://schemas.microsoft.com/office/drawing/2014/main" id="{B1352BC4-F127-48DC-9F2A-A26F961E57F2}"/>
                    </a:ext>
                  </a:extLst>
                </p:cNvPr>
                <p:cNvSpPr>
                  <a:spLocks noRot="1" noChangeAspect="1" noMove="1" noResize="1" noEditPoints="1" noAdjustHandles="1" noChangeArrowheads="1" noChangeShapeType="1" noTextEdit="1"/>
                </p:cNvSpPr>
                <p:nvPr/>
              </p:nvSpPr>
              <p:spPr>
                <a:xfrm>
                  <a:off x="8142257" y="3178441"/>
                  <a:ext cx="487634" cy="369332"/>
                </a:xfrm>
                <a:prstGeom prst="rect">
                  <a:avLst/>
                </a:prstGeom>
                <a:blipFill>
                  <a:blip r:embed="rId22"/>
                  <a:stretch>
                    <a:fillRect/>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59" name="矩形 58">
                <a:extLst>
                  <a:ext uri="{FF2B5EF4-FFF2-40B4-BE49-F238E27FC236}">
                    <a16:creationId xmlns:a16="http://schemas.microsoft.com/office/drawing/2014/main" id="{7CC8527C-0EA2-4E0F-BF51-3C3091ACABF7}"/>
                  </a:ext>
                </a:extLst>
              </p:cNvPr>
              <p:cNvSpPr/>
              <p:nvPr/>
            </p:nvSpPr>
            <p:spPr>
              <a:xfrm>
                <a:off x="947779" y="5761603"/>
                <a:ext cx="3054747" cy="87120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solidFill>
                                <a:srgbClr val="FF0000"/>
                              </a:solidFill>
                              <a:latin typeface="Cambria Math" panose="02040503050406030204" pitchFamily="18" charset="0"/>
                            </a:rPr>
                          </m:ctrlPr>
                        </m:sSubPr>
                        <m:e>
                          <m:r>
                            <a:rPr lang="zh-CN" altLang="en-US" i="1">
                              <a:solidFill>
                                <a:srgbClr val="FF0000"/>
                              </a:solidFill>
                              <a:latin typeface="Cambria Math" panose="02040503050406030204" pitchFamily="18" charset="0"/>
                            </a:rPr>
                            <m:t>𝛿</m:t>
                          </m:r>
                        </m:e>
                        <m:sub>
                          <m:r>
                            <a:rPr lang="en-US" altLang="zh-CN" i="1">
                              <a:solidFill>
                                <a:srgbClr val="FF0000"/>
                              </a:solidFill>
                              <a:latin typeface="Cambria Math" panose="02040503050406030204" pitchFamily="18" charset="0"/>
                            </a:rPr>
                            <m:t>𝑗</m:t>
                          </m:r>
                        </m:sub>
                      </m:sSub>
                      <m:r>
                        <a:rPr lang="en-US" altLang="zh-CN" i="1">
                          <a:solidFill>
                            <a:srgbClr val="FF0000"/>
                          </a:solidFill>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m:t>
                          </m:r>
                          <m:r>
                            <a:rPr lang="en-US" altLang="zh-CN" i="1">
                              <a:latin typeface="Cambria Math" panose="02040503050406030204" pitchFamily="18" charset="0"/>
                            </a:rPr>
                            <m:t>𝐿</m:t>
                          </m:r>
                        </m:num>
                        <m:den>
                          <m:r>
                            <a:rPr lang="en-US" altLang="zh-CN" i="1">
                              <a:latin typeface="Cambria Math" panose="02040503050406030204" pitchFamily="18" charset="0"/>
                            </a:rPr>
                            <m:t>𝜕</m:t>
                          </m:r>
                          <m:sSub>
                            <m:sSubPr>
                              <m:ctrlPr>
                                <a:rPr lang="en-US" altLang="zh-CN" b="1"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𝑗</m:t>
                              </m:r>
                            </m:sub>
                          </m:sSub>
                        </m:den>
                      </m:f>
                      <m:r>
                        <a:rPr lang="en-US" altLang="zh-CN" b="0" i="1" smtClean="0">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h</m:t>
                          </m:r>
                        </m:e>
                        <m:sup>
                          <m:r>
                            <a:rPr lang="en-US" altLang="zh-CN" i="1">
                              <a:latin typeface="Cambria Math" panose="02040503050406030204" pitchFamily="18" charset="0"/>
                            </a:rPr>
                            <m:t>′</m:t>
                          </m:r>
                        </m:sup>
                      </m:sSup>
                      <m:d>
                        <m:dPr>
                          <m:ctrlPr>
                            <a:rPr lang="en-US" altLang="zh-CN" b="1" i="1">
                              <a:latin typeface="Cambria Math" panose="02040503050406030204" pitchFamily="18" charset="0"/>
                            </a:rPr>
                          </m:ctrlPr>
                        </m:dPr>
                        <m:e>
                          <m:sSub>
                            <m:sSubPr>
                              <m:ctrlPr>
                                <a:rPr lang="en-US" altLang="zh-CN" b="1"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𝑗</m:t>
                              </m:r>
                            </m:sub>
                          </m:sSub>
                        </m:e>
                      </m:d>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𝑘</m:t>
                          </m:r>
                          <m:r>
                            <a:rPr lang="en-US" altLang="zh-CN" i="1">
                              <a:latin typeface="Cambria Math" panose="02040503050406030204" pitchFamily="18" charset="0"/>
                            </a:rPr>
                            <m:t>=1</m:t>
                          </m:r>
                        </m:sub>
                        <m:sup>
                          <m:r>
                            <a:rPr lang="en-US" altLang="zh-CN" i="1">
                              <a:latin typeface="Cambria Math" panose="02040503050406030204" pitchFamily="18" charset="0"/>
                            </a:rPr>
                            <m:t>𝐾</m:t>
                          </m:r>
                        </m:sup>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i="1">
                                  <a:latin typeface="Cambria Math" panose="02040503050406030204" pitchFamily="18" charset="0"/>
                                </a:rPr>
                                <m:t>𝑘𝑗</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sSub>
                            <m:sSubPr>
                              <m:ctrlPr>
                                <a:rPr lang="en-US" altLang="zh-CN" b="1" i="1">
                                  <a:latin typeface="Cambria Math" panose="02040503050406030204" pitchFamily="18" charset="0"/>
                                </a:rPr>
                              </m:ctrlPr>
                            </m:sSubPr>
                            <m:e>
                              <m:r>
                                <a:rPr lang="zh-CN" altLang="en-US" i="1">
                                  <a:latin typeface="Cambria Math" panose="02040503050406030204" pitchFamily="18" charset="0"/>
                                </a:rPr>
                                <m:t>𝛿</m:t>
                              </m:r>
                            </m:e>
                            <m:sub>
                              <m:r>
                                <a:rPr lang="en-US" altLang="zh-CN" i="1">
                                  <a:latin typeface="Cambria Math" panose="02040503050406030204" pitchFamily="18" charset="0"/>
                                </a:rPr>
                                <m:t>𝑘</m:t>
                              </m:r>
                            </m:sub>
                          </m:sSub>
                        </m:e>
                      </m:nary>
                    </m:oMath>
                  </m:oMathPara>
                </a14:m>
                <a:endParaRPr lang="zh-CN" altLang="en-US" dirty="0"/>
              </a:p>
            </p:txBody>
          </p:sp>
        </mc:Choice>
        <mc:Fallback xmlns="">
          <p:sp>
            <p:nvSpPr>
              <p:cNvPr id="59" name="矩形 58">
                <a:extLst>
                  <a:ext uri="{FF2B5EF4-FFF2-40B4-BE49-F238E27FC236}">
                    <a16:creationId xmlns:a16="http://schemas.microsoft.com/office/drawing/2014/main" id="{7CC8527C-0EA2-4E0F-BF51-3C3091ACABF7}"/>
                  </a:ext>
                </a:extLst>
              </p:cNvPr>
              <p:cNvSpPr>
                <a:spLocks noRot="1" noChangeAspect="1" noMove="1" noResize="1" noEditPoints="1" noAdjustHandles="1" noChangeArrowheads="1" noChangeShapeType="1" noTextEdit="1"/>
              </p:cNvSpPr>
              <p:nvPr/>
            </p:nvSpPr>
            <p:spPr>
              <a:xfrm>
                <a:off x="947779" y="5761603"/>
                <a:ext cx="3054747" cy="871201"/>
              </a:xfrm>
              <a:prstGeom prst="rect">
                <a:avLst/>
              </a:prstGeom>
              <a:blipFill>
                <a:blip r:embed="rId2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 name="矩形 62">
                <a:extLst>
                  <a:ext uri="{FF2B5EF4-FFF2-40B4-BE49-F238E27FC236}">
                    <a16:creationId xmlns:a16="http://schemas.microsoft.com/office/drawing/2014/main" id="{0B24A365-0F25-483F-9AD6-EE08B75DCF9F}"/>
                  </a:ext>
                </a:extLst>
              </p:cNvPr>
              <p:cNvSpPr/>
              <p:nvPr/>
            </p:nvSpPr>
            <p:spPr>
              <a:xfrm>
                <a:off x="4484932" y="5885805"/>
                <a:ext cx="2785827" cy="78694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altLang="zh-CN" i="1" smtClean="0">
                              <a:latin typeface="Cambria Math" panose="02040503050406030204" pitchFamily="18" charset="0"/>
                            </a:rPr>
                          </m:ctrlPr>
                        </m:fPr>
                        <m:num>
                          <m:r>
                            <a:rPr lang="en-US" altLang="zh-CN" i="1">
                              <a:latin typeface="Cambria Math" panose="02040503050406030204" pitchFamily="18" charset="0"/>
                            </a:rPr>
                            <m:t>𝜕</m:t>
                          </m:r>
                          <m:r>
                            <a:rPr lang="en-US" altLang="zh-CN" i="1">
                              <a:latin typeface="Cambria Math" panose="02040503050406030204" pitchFamily="18" charset="0"/>
                            </a:rPr>
                            <m:t>𝐿</m:t>
                          </m:r>
                        </m:num>
                        <m:den>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i="1">
                                  <a:latin typeface="Cambria Math" panose="02040503050406030204" pitchFamily="18" charset="0"/>
                                </a:rPr>
                                <m:t>𝑖𝑝</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0</m:t>
                                  </m:r>
                                </m:e>
                              </m:d>
                            </m:sup>
                          </m:sSubSup>
                        </m:den>
                      </m:f>
                      <m:r>
                        <a:rPr lang="en-US" altLang="zh-CN" b="1"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m:t>
                          </m:r>
                          <m:r>
                            <a:rPr lang="en-US" altLang="zh-CN" i="1">
                              <a:latin typeface="Cambria Math" panose="02040503050406030204" pitchFamily="18" charset="0"/>
                            </a:rPr>
                            <m:t>𝐿</m:t>
                          </m:r>
                        </m:num>
                        <m:den>
                          <m:r>
                            <a:rPr lang="en-US" altLang="zh-CN" i="1">
                              <a:latin typeface="Cambria Math" panose="02040503050406030204" pitchFamily="18" charset="0"/>
                            </a:rPr>
                            <m:t>𝜕</m:t>
                          </m:r>
                          <m:sSub>
                            <m:sSubPr>
                              <m:ctrlPr>
                                <a:rPr lang="en-US" altLang="zh-CN" b="1"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𝑖</m:t>
                              </m:r>
                            </m:sub>
                          </m:sSub>
                        </m:den>
                      </m:f>
                      <m:f>
                        <m:fPr>
                          <m:ctrlPr>
                            <a:rPr lang="en-US" altLang="zh-CN" i="1">
                              <a:latin typeface="Cambria Math" panose="02040503050406030204" pitchFamily="18" charset="0"/>
                            </a:rPr>
                          </m:ctrlPr>
                        </m:fPr>
                        <m:num>
                          <m:r>
                            <a:rPr lang="en-US" altLang="zh-CN" i="1">
                              <a:latin typeface="Cambria Math" panose="02040503050406030204" pitchFamily="18" charset="0"/>
                            </a:rPr>
                            <m:t>𝜕</m:t>
                          </m:r>
                          <m:sSub>
                            <m:sSubPr>
                              <m:ctrlPr>
                                <a:rPr lang="en-US" altLang="zh-CN" b="1"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𝑖</m:t>
                              </m:r>
                            </m:sub>
                          </m:sSub>
                        </m:num>
                        <m:den>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i="1">
                                  <a:latin typeface="Cambria Math" panose="02040503050406030204" pitchFamily="18" charset="0"/>
                                </a:rPr>
                                <m:t>𝑖𝑝</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0</m:t>
                                  </m:r>
                                </m:e>
                              </m:d>
                            </m:sup>
                          </m:sSubSup>
                        </m:den>
                      </m:f>
                      <m:r>
                        <a:rPr lang="en-US" altLang="zh-CN" b="1" i="1">
                          <a:latin typeface="Cambria Math" panose="02040503050406030204" pitchFamily="18" charset="0"/>
                        </a:rPr>
                        <m:t>=</m:t>
                      </m:r>
                      <m:sSub>
                        <m:sSubPr>
                          <m:ctrlPr>
                            <a:rPr lang="en-US" altLang="zh-CN" b="1" i="1">
                              <a:solidFill>
                                <a:srgbClr val="FF0000"/>
                              </a:solidFill>
                              <a:latin typeface="Cambria Math" panose="02040503050406030204" pitchFamily="18" charset="0"/>
                            </a:rPr>
                          </m:ctrlPr>
                        </m:sSubPr>
                        <m:e>
                          <m:r>
                            <a:rPr lang="zh-CN" altLang="en-US" i="1">
                              <a:solidFill>
                                <a:srgbClr val="FF0000"/>
                              </a:solidFill>
                              <a:latin typeface="Cambria Math" panose="02040503050406030204" pitchFamily="18" charset="0"/>
                            </a:rPr>
                            <m:t>𝛿</m:t>
                          </m:r>
                        </m:e>
                        <m:sub>
                          <m:r>
                            <a:rPr lang="en-US" altLang="zh-CN" i="1">
                              <a:solidFill>
                                <a:srgbClr val="FF0000"/>
                              </a:solidFill>
                              <a:latin typeface="Cambria Math" panose="02040503050406030204" pitchFamily="18" charset="0"/>
                            </a:rPr>
                            <m:t>𝑖</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𝑝</m:t>
                          </m:r>
                        </m:sub>
                      </m:sSub>
                    </m:oMath>
                  </m:oMathPara>
                </a14:m>
                <a:endParaRPr lang="zh-CN" altLang="en-US" dirty="0"/>
              </a:p>
            </p:txBody>
          </p:sp>
        </mc:Choice>
        <mc:Fallback xmlns="">
          <p:sp>
            <p:nvSpPr>
              <p:cNvPr id="63" name="矩形 62">
                <a:extLst>
                  <a:ext uri="{FF2B5EF4-FFF2-40B4-BE49-F238E27FC236}">
                    <a16:creationId xmlns:a16="http://schemas.microsoft.com/office/drawing/2014/main" id="{0B24A365-0F25-483F-9AD6-EE08B75DCF9F}"/>
                  </a:ext>
                </a:extLst>
              </p:cNvPr>
              <p:cNvSpPr>
                <a:spLocks noRot="1" noChangeAspect="1" noMove="1" noResize="1" noEditPoints="1" noAdjustHandles="1" noChangeArrowheads="1" noChangeShapeType="1" noTextEdit="1"/>
              </p:cNvSpPr>
              <p:nvPr/>
            </p:nvSpPr>
            <p:spPr>
              <a:xfrm>
                <a:off x="4484932" y="5885805"/>
                <a:ext cx="2785827" cy="786947"/>
              </a:xfrm>
              <a:prstGeom prst="rect">
                <a:avLst/>
              </a:prstGeom>
              <a:blipFill>
                <a:blip r:embed="rId24"/>
                <a:stretch>
                  <a:fillRect/>
                </a:stretch>
              </a:blipFill>
            </p:spPr>
            <p:txBody>
              <a:bodyPr/>
              <a:lstStyle/>
              <a:p>
                <a:r>
                  <a:rPr lang="zh-CN" altLang="en-US">
                    <a:noFill/>
                  </a:rPr>
                  <a:t> </a:t>
                </a:r>
              </a:p>
            </p:txBody>
          </p:sp>
        </mc:Fallback>
      </mc:AlternateContent>
      <p:sp>
        <p:nvSpPr>
          <p:cNvPr id="16" name="右大括号 15">
            <a:extLst>
              <a:ext uri="{FF2B5EF4-FFF2-40B4-BE49-F238E27FC236}">
                <a16:creationId xmlns:a16="http://schemas.microsoft.com/office/drawing/2014/main" id="{AFC232D6-7D6D-4E51-8F6B-19F70874A6CD}"/>
              </a:ext>
            </a:extLst>
          </p:cNvPr>
          <p:cNvSpPr/>
          <p:nvPr/>
        </p:nvSpPr>
        <p:spPr>
          <a:xfrm rot="5400000">
            <a:off x="2791444" y="3740374"/>
            <a:ext cx="216000" cy="1476000"/>
          </a:xfrm>
          <a:prstGeom prst="rightBrace">
            <a:avLst>
              <a:gd name="adj1" fmla="val 8333"/>
              <a:gd name="adj2" fmla="val 48426"/>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7" name="矩形 16">
                <a:extLst>
                  <a:ext uri="{FF2B5EF4-FFF2-40B4-BE49-F238E27FC236}">
                    <a16:creationId xmlns:a16="http://schemas.microsoft.com/office/drawing/2014/main" id="{C0BCF1DA-CCBA-43FD-A197-B5AAD6BC5D6D}"/>
                  </a:ext>
                </a:extLst>
              </p:cNvPr>
              <p:cNvSpPr/>
              <p:nvPr/>
            </p:nvSpPr>
            <p:spPr>
              <a:xfrm>
                <a:off x="2753701" y="4598157"/>
                <a:ext cx="448777" cy="39164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a:solidFill>
                                <a:srgbClr val="FF0000"/>
                              </a:solidFill>
                              <a:latin typeface="Cambria Math" panose="02040503050406030204" pitchFamily="18" charset="0"/>
                            </a:rPr>
                          </m:ctrlPr>
                        </m:sSubPr>
                        <m:e>
                          <m:r>
                            <a:rPr lang="en-US" altLang="zh-CN" i="1">
                              <a:solidFill>
                                <a:srgbClr val="FF0000"/>
                              </a:solidFill>
                              <a:latin typeface="Cambria Math" panose="02040503050406030204" pitchFamily="18" charset="0"/>
                            </a:rPr>
                            <m:t>𝑎</m:t>
                          </m:r>
                        </m:e>
                        <m:sub>
                          <m:r>
                            <a:rPr lang="en-US" altLang="zh-CN" i="1">
                              <a:solidFill>
                                <a:srgbClr val="FF0000"/>
                              </a:solidFill>
                              <a:latin typeface="Cambria Math" panose="02040503050406030204" pitchFamily="18" charset="0"/>
                            </a:rPr>
                            <m:t>𝑗</m:t>
                          </m:r>
                        </m:sub>
                      </m:sSub>
                    </m:oMath>
                  </m:oMathPara>
                </a14:m>
                <a:endParaRPr lang="zh-CN" altLang="en-US" dirty="0"/>
              </a:p>
            </p:txBody>
          </p:sp>
        </mc:Choice>
        <mc:Fallback xmlns="">
          <p:sp>
            <p:nvSpPr>
              <p:cNvPr id="17" name="矩形 16">
                <a:extLst>
                  <a:ext uri="{FF2B5EF4-FFF2-40B4-BE49-F238E27FC236}">
                    <a16:creationId xmlns:a16="http://schemas.microsoft.com/office/drawing/2014/main" id="{C0BCF1DA-CCBA-43FD-A197-B5AAD6BC5D6D}"/>
                  </a:ext>
                </a:extLst>
              </p:cNvPr>
              <p:cNvSpPr>
                <a:spLocks noRot="1" noChangeAspect="1" noMove="1" noResize="1" noEditPoints="1" noAdjustHandles="1" noChangeArrowheads="1" noChangeShapeType="1" noTextEdit="1"/>
              </p:cNvSpPr>
              <p:nvPr/>
            </p:nvSpPr>
            <p:spPr>
              <a:xfrm>
                <a:off x="2753701" y="4598157"/>
                <a:ext cx="448777" cy="391646"/>
              </a:xfrm>
              <a:prstGeom prst="rect">
                <a:avLst/>
              </a:prstGeom>
              <a:blipFill>
                <a:blip r:embed="rId25"/>
                <a:stretch>
                  <a:fillRect b="-7692"/>
                </a:stretch>
              </a:blipFill>
            </p:spPr>
            <p:txBody>
              <a:bodyPr/>
              <a:lstStyle/>
              <a:p>
                <a:r>
                  <a:rPr lang="zh-CN" altLang="en-US">
                    <a:noFill/>
                  </a:rPr>
                  <a:t> </a:t>
                </a:r>
              </a:p>
            </p:txBody>
          </p:sp>
        </mc:Fallback>
      </mc:AlternateContent>
      <p:sp>
        <p:nvSpPr>
          <p:cNvPr id="52" name="矩形 51">
            <a:extLst>
              <a:ext uri="{FF2B5EF4-FFF2-40B4-BE49-F238E27FC236}">
                <a16:creationId xmlns:a16="http://schemas.microsoft.com/office/drawing/2014/main" id="{41B61B3A-19FE-46E8-A374-BA4AD48463AF}"/>
              </a:ext>
            </a:extLst>
          </p:cNvPr>
          <p:cNvSpPr/>
          <p:nvPr/>
        </p:nvSpPr>
        <p:spPr>
          <a:xfrm>
            <a:off x="1891046" y="1502334"/>
            <a:ext cx="252000" cy="666917"/>
          </a:xfrm>
          <a:prstGeom prst="rect">
            <a:avLst/>
          </a:prstGeom>
          <a:ln w="12700">
            <a:solidFill>
              <a:srgbClr val="0070C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3" name="矩形 52">
            <a:extLst>
              <a:ext uri="{FF2B5EF4-FFF2-40B4-BE49-F238E27FC236}">
                <a16:creationId xmlns:a16="http://schemas.microsoft.com/office/drawing/2014/main" id="{E464F68C-3FC7-472D-8113-EDB400BF70BB}"/>
              </a:ext>
            </a:extLst>
          </p:cNvPr>
          <p:cNvSpPr/>
          <p:nvPr/>
        </p:nvSpPr>
        <p:spPr>
          <a:xfrm>
            <a:off x="3413554" y="1855644"/>
            <a:ext cx="252000" cy="666917"/>
          </a:xfrm>
          <a:prstGeom prst="rect">
            <a:avLst/>
          </a:prstGeom>
          <a:ln w="12700">
            <a:solidFill>
              <a:srgbClr val="0070C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5" name="矩形 54">
            <a:extLst>
              <a:ext uri="{FF2B5EF4-FFF2-40B4-BE49-F238E27FC236}">
                <a16:creationId xmlns:a16="http://schemas.microsoft.com/office/drawing/2014/main" id="{665BA6A5-7A06-44FF-842E-84208A332B9A}"/>
              </a:ext>
            </a:extLst>
          </p:cNvPr>
          <p:cNvSpPr/>
          <p:nvPr/>
        </p:nvSpPr>
        <p:spPr>
          <a:xfrm>
            <a:off x="4914361" y="2199532"/>
            <a:ext cx="252000" cy="666917"/>
          </a:xfrm>
          <a:prstGeom prst="rect">
            <a:avLst/>
          </a:prstGeom>
          <a:ln w="12700">
            <a:solidFill>
              <a:srgbClr val="0070C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8" name="矩形 17">
                <a:extLst>
                  <a:ext uri="{FF2B5EF4-FFF2-40B4-BE49-F238E27FC236}">
                    <a16:creationId xmlns:a16="http://schemas.microsoft.com/office/drawing/2014/main" id="{6B2DD881-0F58-458E-A19D-F36A251BAA02}"/>
                  </a:ext>
                </a:extLst>
              </p:cNvPr>
              <p:cNvSpPr/>
              <p:nvPr/>
            </p:nvSpPr>
            <p:spPr>
              <a:xfrm>
                <a:off x="468539" y="2696651"/>
                <a:ext cx="2784352" cy="391646"/>
              </a:xfrm>
              <a:prstGeom prst="rect">
                <a:avLst/>
              </a:prstGeom>
            </p:spPr>
            <p:txBody>
              <a:bodyPr wrap="none">
                <a:spAutoFit/>
              </a:bodyPr>
              <a:lstStyle/>
              <a:p>
                <a:pPr>
                  <a:spcAft>
                    <a:spcPts val="500"/>
                  </a:spcAft>
                </a:pPr>
                <a:r>
                  <a:rPr lang="zh-CN" altLang="en-US" dirty="0">
                    <a:latin typeface="Monaco" panose="020B0509030404040204" pitchFamily="49" charset="0"/>
                    <a:ea typeface="思源黑体 CN Bold" panose="020B0800000000000000" pitchFamily="34" charset="-122"/>
                  </a:rPr>
                  <a:t>把</a:t>
                </a:r>
                <a:r>
                  <a:rPr lang="en-US" altLang="zh-CN" dirty="0">
                    <a:latin typeface="Monaco" panose="020B0509030404040204" pitchFamily="49" charset="0"/>
                    <a:ea typeface="思源黑体 CN Bold" panose="020B0800000000000000" pitchFamily="34" charset="-122"/>
                  </a:rPr>
                  <a:t>Loss</a:t>
                </a:r>
                <a:r>
                  <a:rPr lang="zh-CN" altLang="en-US" dirty="0">
                    <a:latin typeface="Monaco" panose="020B0509030404040204" pitchFamily="49" charset="0"/>
                    <a:ea typeface="思源黑体 CN Bold" panose="020B0800000000000000" pitchFamily="34" charset="-122"/>
                  </a:rPr>
                  <a:t>展开为</a:t>
                </a:r>
                <a14:m>
                  <m:oMath xmlns:m="http://schemas.openxmlformats.org/officeDocument/2006/math">
                    <m:sSub>
                      <m:sSubPr>
                        <m:ctrlPr>
                          <a:rPr lang="en-US" altLang="zh-CN" b="1" i="1">
                            <a:solidFill>
                              <a:srgbClr val="FF0000"/>
                            </a:solidFill>
                            <a:latin typeface="Cambria Math" panose="02040503050406030204" pitchFamily="18" charset="0"/>
                          </a:rPr>
                        </m:ctrlPr>
                      </m:sSubPr>
                      <m:e>
                        <m:r>
                          <a:rPr lang="en-US" altLang="zh-CN" i="1">
                            <a:solidFill>
                              <a:srgbClr val="FF0000"/>
                            </a:solidFill>
                            <a:latin typeface="Cambria Math" panose="02040503050406030204" pitchFamily="18" charset="0"/>
                          </a:rPr>
                          <m:t>𝑎</m:t>
                        </m:r>
                      </m:e>
                      <m:sub>
                        <m:r>
                          <a:rPr lang="en-US" altLang="zh-CN" i="1">
                            <a:solidFill>
                              <a:srgbClr val="FF0000"/>
                            </a:solidFill>
                            <a:latin typeface="Cambria Math" panose="02040503050406030204" pitchFamily="18" charset="0"/>
                          </a:rPr>
                          <m:t>𝑗</m:t>
                        </m:r>
                      </m:sub>
                    </m:sSub>
                  </m:oMath>
                </a14:m>
                <a:r>
                  <a:rPr lang="zh-CN" altLang="en-US" dirty="0">
                    <a:latin typeface="Monaco" panose="020B0509030404040204" pitchFamily="49" charset="0"/>
                    <a:ea typeface="思源黑体 CN Bold" panose="020B0800000000000000" pitchFamily="34" charset="-122"/>
                  </a:rPr>
                  <a:t>的表达式</a:t>
                </a:r>
                <a:endParaRPr lang="en-US" altLang="zh-CN" dirty="0">
                  <a:latin typeface="Monaco" panose="020B0509030404040204" pitchFamily="49" charset="0"/>
                  <a:ea typeface="思源黑体 CN Bold" panose="020B0800000000000000" pitchFamily="34" charset="-122"/>
                </a:endParaRPr>
              </a:p>
            </p:txBody>
          </p:sp>
        </mc:Choice>
        <mc:Fallback xmlns="">
          <p:sp>
            <p:nvSpPr>
              <p:cNvPr id="18" name="矩形 17">
                <a:extLst>
                  <a:ext uri="{FF2B5EF4-FFF2-40B4-BE49-F238E27FC236}">
                    <a16:creationId xmlns:a16="http://schemas.microsoft.com/office/drawing/2014/main" id="{6B2DD881-0F58-458E-A19D-F36A251BAA02}"/>
                  </a:ext>
                </a:extLst>
              </p:cNvPr>
              <p:cNvSpPr>
                <a:spLocks noRot="1" noChangeAspect="1" noMove="1" noResize="1" noEditPoints="1" noAdjustHandles="1" noChangeArrowheads="1" noChangeShapeType="1" noTextEdit="1"/>
              </p:cNvSpPr>
              <p:nvPr/>
            </p:nvSpPr>
            <p:spPr>
              <a:xfrm>
                <a:off x="468539" y="2696651"/>
                <a:ext cx="2784352" cy="391646"/>
              </a:xfrm>
              <a:prstGeom prst="rect">
                <a:avLst/>
              </a:prstGeom>
              <a:blipFill>
                <a:blip r:embed="rId26"/>
                <a:stretch>
                  <a:fillRect l="-1969" t="-13846" r="-1532" b="-18462"/>
                </a:stretch>
              </a:blipFill>
            </p:spPr>
            <p:txBody>
              <a:bodyPr/>
              <a:lstStyle/>
              <a:p>
                <a:r>
                  <a:rPr lang="zh-CN" altLang="en-US">
                    <a:noFill/>
                  </a:rPr>
                  <a:t> </a:t>
                </a:r>
              </a:p>
            </p:txBody>
          </p:sp>
        </mc:Fallback>
      </mc:AlternateContent>
      <p:sp>
        <p:nvSpPr>
          <p:cNvPr id="56" name="矩形 55">
            <a:extLst>
              <a:ext uri="{FF2B5EF4-FFF2-40B4-BE49-F238E27FC236}">
                <a16:creationId xmlns:a16="http://schemas.microsoft.com/office/drawing/2014/main" id="{B49D2E37-8D77-46B7-B4B8-DED538E4E8E4}"/>
              </a:ext>
            </a:extLst>
          </p:cNvPr>
          <p:cNvSpPr/>
          <p:nvPr/>
        </p:nvSpPr>
        <p:spPr>
          <a:xfrm>
            <a:off x="1530483" y="5035928"/>
            <a:ext cx="370073" cy="1555999"/>
          </a:xfrm>
          <a:prstGeom prst="rect">
            <a:avLst/>
          </a:prstGeom>
          <a:ln w="12700">
            <a:solidFill>
              <a:srgbClr val="0070C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9" name="矩形 18">
                <a:extLst>
                  <a:ext uri="{FF2B5EF4-FFF2-40B4-BE49-F238E27FC236}">
                    <a16:creationId xmlns:a16="http://schemas.microsoft.com/office/drawing/2014/main" id="{BEF6861E-CF48-4DF5-885C-A00A25EF1EE6}"/>
                  </a:ext>
                </a:extLst>
              </p:cNvPr>
              <p:cNvSpPr/>
              <p:nvPr/>
            </p:nvSpPr>
            <p:spPr>
              <a:xfrm>
                <a:off x="4607091" y="4904531"/>
                <a:ext cx="2362234" cy="902555"/>
              </a:xfrm>
              <a:prstGeom prst="rect">
                <a:avLst/>
              </a:prstGeom>
              <a:solidFill>
                <a:srgbClr val="FFFF00"/>
              </a:solidFill>
              <a:ln>
                <a:solidFill>
                  <a:srgbClr val="FF0000"/>
                </a:solidFill>
              </a:ln>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altLang="zh-CN" b="1" i="1">
                              <a:solidFill>
                                <a:srgbClr val="FF0000"/>
                              </a:solidFill>
                              <a:latin typeface="Cambria Math" panose="02040503050406030204" pitchFamily="18" charset="0"/>
                            </a:rPr>
                          </m:ctrlPr>
                        </m:sSubPr>
                        <m:e>
                          <m:r>
                            <a:rPr lang="zh-CN" altLang="en-US" i="1">
                              <a:solidFill>
                                <a:srgbClr val="FF0000"/>
                              </a:solidFill>
                              <a:latin typeface="Cambria Math" panose="02040503050406030204" pitchFamily="18" charset="0"/>
                            </a:rPr>
                            <m:t>𝛿</m:t>
                          </m:r>
                        </m:e>
                        <m:sub>
                          <m:r>
                            <a:rPr lang="en-US" altLang="zh-CN" i="1">
                              <a:solidFill>
                                <a:srgbClr val="FF0000"/>
                              </a:solidFill>
                              <a:latin typeface="Cambria Math" panose="02040503050406030204" pitchFamily="18" charset="0"/>
                            </a:rPr>
                            <m:t>𝑖</m:t>
                          </m:r>
                        </m:sub>
                      </m:sSub>
                      <m:r>
                        <a:rPr lang="en-US" altLang="zh-CN" b="1" i="1">
                          <a:solidFill>
                            <a:srgbClr val="FF0000"/>
                          </a:solidFill>
                          <a:latin typeface="Cambria Math" panose="02040503050406030204" pitchFamily="18" charset="0"/>
                        </a:rPr>
                        <m:t> </m:t>
                      </m:r>
                      <m:r>
                        <a:rPr lang="en-US" altLang="zh-CN" b="1"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h</m:t>
                          </m:r>
                        </m:e>
                        <m:sup>
                          <m:r>
                            <a:rPr lang="en-US" altLang="zh-CN" i="1">
                              <a:latin typeface="Cambria Math" panose="02040503050406030204" pitchFamily="18" charset="0"/>
                            </a:rPr>
                            <m:t>′</m:t>
                          </m:r>
                        </m:sup>
                      </m:sSup>
                      <m:d>
                        <m:dPr>
                          <m:ctrlPr>
                            <a:rPr lang="en-US" altLang="zh-CN" b="1" i="1">
                              <a:latin typeface="Cambria Math" panose="02040503050406030204" pitchFamily="18" charset="0"/>
                            </a:rPr>
                          </m:ctrlPr>
                        </m:dPr>
                        <m:e>
                          <m:sSub>
                            <m:sSubPr>
                              <m:ctrlPr>
                                <a:rPr lang="en-US" altLang="zh-CN" b="1"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𝑖</m:t>
                              </m:r>
                            </m:sub>
                          </m:sSub>
                        </m:e>
                      </m:d>
                      <m:nary>
                        <m:naryPr>
                          <m:chr m:val="∑"/>
                          <m:ctrlPr>
                            <a:rPr lang="en-US" altLang="zh-CN" i="1">
                              <a:latin typeface="Cambria Math" panose="02040503050406030204" pitchFamily="18" charset="0"/>
                            </a:rPr>
                          </m:ctrlPr>
                        </m:naryPr>
                        <m:sub>
                          <m:r>
                            <a:rPr lang="en-US" altLang="zh-CN" i="1">
                              <a:latin typeface="Cambria Math" panose="02040503050406030204" pitchFamily="18" charset="0"/>
                            </a:rPr>
                            <m:t>𝑗</m:t>
                          </m:r>
                          <m:r>
                            <a:rPr lang="en-US" altLang="zh-CN" i="1">
                              <a:latin typeface="Cambria Math" panose="02040503050406030204" pitchFamily="18" charset="0"/>
                            </a:rPr>
                            <m:t>=1</m:t>
                          </m:r>
                        </m:sub>
                        <m:sup>
                          <m:r>
                            <a:rPr lang="en-US" altLang="zh-CN" i="1">
                              <a:latin typeface="Cambria Math" panose="02040503050406030204" pitchFamily="18" charset="0"/>
                            </a:rPr>
                            <m:t>𝑀</m:t>
                          </m:r>
                        </m:sup>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i="1">
                                  <a:latin typeface="Cambria Math" panose="02040503050406030204" pitchFamily="18" charset="0"/>
                                </a:rPr>
                                <m:t>𝑗𝑖</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1</m:t>
                                  </m:r>
                                </m:e>
                              </m:d>
                            </m:sup>
                          </m:sSubSup>
                          <m:sSub>
                            <m:sSubPr>
                              <m:ctrlPr>
                                <a:rPr lang="en-US" altLang="zh-CN" b="1" i="1">
                                  <a:latin typeface="Cambria Math" panose="02040503050406030204" pitchFamily="18" charset="0"/>
                                </a:rPr>
                              </m:ctrlPr>
                            </m:sSubPr>
                            <m:e>
                              <m:r>
                                <a:rPr lang="zh-CN" altLang="en-US" i="1">
                                  <a:latin typeface="Cambria Math" panose="02040503050406030204" pitchFamily="18" charset="0"/>
                                </a:rPr>
                                <m:t>𝛿</m:t>
                              </m:r>
                            </m:e>
                            <m:sub>
                              <m:r>
                                <a:rPr lang="en-US" altLang="zh-CN" i="1">
                                  <a:latin typeface="Cambria Math" panose="02040503050406030204" pitchFamily="18" charset="0"/>
                                </a:rPr>
                                <m:t>𝑗</m:t>
                              </m:r>
                            </m:sub>
                          </m:sSub>
                        </m:e>
                      </m:nary>
                    </m:oMath>
                  </m:oMathPara>
                </a14:m>
                <a:endParaRPr lang="zh-CN" altLang="en-US" dirty="0"/>
              </a:p>
            </p:txBody>
          </p:sp>
        </mc:Choice>
        <mc:Fallback xmlns="">
          <p:sp>
            <p:nvSpPr>
              <p:cNvPr id="19" name="矩形 18">
                <a:extLst>
                  <a:ext uri="{FF2B5EF4-FFF2-40B4-BE49-F238E27FC236}">
                    <a16:creationId xmlns:a16="http://schemas.microsoft.com/office/drawing/2014/main" id="{BEF6861E-CF48-4DF5-885C-A00A25EF1EE6}"/>
                  </a:ext>
                </a:extLst>
              </p:cNvPr>
              <p:cNvSpPr>
                <a:spLocks noRot="1" noChangeAspect="1" noMove="1" noResize="1" noEditPoints="1" noAdjustHandles="1" noChangeArrowheads="1" noChangeShapeType="1" noTextEdit="1"/>
              </p:cNvSpPr>
              <p:nvPr/>
            </p:nvSpPr>
            <p:spPr>
              <a:xfrm>
                <a:off x="4607091" y="4904531"/>
                <a:ext cx="2362234" cy="902555"/>
              </a:xfrm>
              <a:prstGeom prst="rect">
                <a:avLst/>
              </a:prstGeom>
              <a:blipFill>
                <a:blip r:embed="rId27"/>
                <a:stretch>
                  <a:fillRect/>
                </a:stretch>
              </a:blipFill>
              <a:ln>
                <a:solidFill>
                  <a:srgbClr val="FF0000"/>
                </a:solidFill>
              </a:ln>
            </p:spPr>
            <p:txBody>
              <a:bodyPr/>
              <a:lstStyle/>
              <a:p>
                <a:r>
                  <a:rPr lang="zh-CN" altLang="en-US">
                    <a:noFill/>
                  </a:rPr>
                  <a:t> </a:t>
                </a:r>
              </a:p>
            </p:txBody>
          </p:sp>
        </mc:Fallback>
      </mc:AlternateContent>
      <p:sp>
        <p:nvSpPr>
          <p:cNvPr id="60" name="直角三角形 59">
            <a:extLst>
              <a:ext uri="{FF2B5EF4-FFF2-40B4-BE49-F238E27FC236}">
                <a16:creationId xmlns:a16="http://schemas.microsoft.com/office/drawing/2014/main" id="{EEE7E23C-F06B-46EE-B95B-CFC691C28C79}"/>
              </a:ext>
            </a:extLst>
          </p:cNvPr>
          <p:cNvSpPr/>
          <p:nvPr/>
        </p:nvSpPr>
        <p:spPr>
          <a:xfrm rot="16809541">
            <a:off x="8363269" y="3844384"/>
            <a:ext cx="1601969" cy="945849"/>
          </a:xfrm>
          <a:prstGeom prst="rtTriangle">
            <a:avLst/>
          </a:prstGeom>
          <a:solidFill>
            <a:srgbClr val="BDE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0173146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6AF3F0-4352-4D79-A227-6FCBA2EBA88A}"/>
              </a:ext>
            </a:extLst>
          </p:cNvPr>
          <p:cNvSpPr>
            <a:spLocks noGrp="1"/>
          </p:cNvSpPr>
          <p:nvPr>
            <p:ph type="title" idx="4294967295"/>
          </p:nvPr>
        </p:nvSpPr>
        <p:spPr>
          <a:xfrm>
            <a:off x="386661" y="141080"/>
            <a:ext cx="8034217" cy="471410"/>
          </a:xfrm>
        </p:spPr>
        <p:txBody>
          <a:bodyPr>
            <a:noAutofit/>
          </a:bodyPr>
          <a:lstStyle/>
          <a:p>
            <a:r>
              <a:rPr lang="en-US" altLang="zh-CN" sz="3200" dirty="0">
                <a:latin typeface="思源黑体 CN Bold" panose="020B0800000000000000" pitchFamily="34" charset="-122"/>
                <a:ea typeface="思源黑体 CN Bold" panose="020B0800000000000000" pitchFamily="34" charset="-122"/>
              </a:rPr>
              <a:t>4 </a:t>
            </a:r>
            <a:r>
              <a:rPr lang="zh-CN" altLang="en-US" sz="3200" dirty="0">
                <a:latin typeface="思源黑体 CN Bold" panose="020B0800000000000000" pitchFamily="34" charset="-122"/>
                <a:ea typeface="思源黑体 CN Bold" panose="020B0800000000000000" pitchFamily="34" charset="-122"/>
              </a:rPr>
              <a:t>误差后向传播：</a:t>
            </a:r>
            <a:r>
              <a:rPr lang="zh-CN" altLang="en-US" sz="2400" dirty="0">
                <a:latin typeface="思源黑体 CN Bold" panose="020B0800000000000000" pitchFamily="34" charset="-122"/>
                <a:ea typeface="思源黑体 CN Bold" panose="020B0800000000000000" pitchFamily="34" charset="-122"/>
              </a:rPr>
              <a:t>多个隐含层权值的梯度递归</a:t>
            </a:r>
            <a:endParaRPr lang="zh-CN" altLang="en-US" sz="3200"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B5F15897-98F0-4E08-931A-45E1DC23C6B6}"/>
                  </a:ext>
                </a:extLst>
              </p:cNvPr>
              <p:cNvSpPr>
                <a:spLocks noGrp="1"/>
              </p:cNvSpPr>
              <p:nvPr>
                <p:ph idx="4294967295"/>
              </p:nvPr>
            </p:nvSpPr>
            <p:spPr>
              <a:xfrm>
                <a:off x="3140015" y="1483567"/>
                <a:ext cx="5280863" cy="4725955"/>
              </a:xfrm>
            </p:spPr>
            <p:txBody>
              <a:bodyPr>
                <a:noAutofit/>
              </a:bodyPr>
              <a:lstStyle/>
              <a:p>
                <a:pPr marL="0" indent="0">
                  <a:lnSpc>
                    <a:spcPct val="100000"/>
                  </a:lnSpc>
                  <a:spcAft>
                    <a:spcPts val="500"/>
                  </a:spcAft>
                  <a:buNone/>
                </a:pPr>
                <a14:m>
                  <m:oMathPara xmlns:m="http://schemas.openxmlformats.org/officeDocument/2006/math">
                    <m:oMathParaPr>
                      <m:jc m:val="left"/>
                    </m:oMathParaPr>
                    <m:oMath xmlns:m="http://schemas.openxmlformats.org/officeDocument/2006/math">
                      <m:sSub>
                        <m:sSubPr>
                          <m:ctrlPr>
                            <a:rPr lang="en-US" altLang="zh-CN" sz="3200" b="1" i="1" smtClean="0">
                              <a:solidFill>
                                <a:srgbClr val="FF0000"/>
                              </a:solidFill>
                              <a:latin typeface="Cambria Math" panose="02040503050406030204" pitchFamily="18" charset="0"/>
                            </a:rPr>
                          </m:ctrlPr>
                        </m:sSubPr>
                        <m:e>
                          <m:r>
                            <a:rPr lang="zh-CN" altLang="en-US" sz="3200" i="1">
                              <a:solidFill>
                                <a:srgbClr val="FF0000"/>
                              </a:solidFill>
                              <a:latin typeface="Cambria Math" panose="02040503050406030204" pitchFamily="18" charset="0"/>
                            </a:rPr>
                            <m:t>𝛿</m:t>
                          </m:r>
                        </m:e>
                        <m:sub>
                          <m:r>
                            <a:rPr lang="en-US" altLang="zh-CN" sz="3200" i="1">
                              <a:solidFill>
                                <a:srgbClr val="FF0000"/>
                              </a:solidFill>
                              <a:latin typeface="Cambria Math" panose="02040503050406030204" pitchFamily="18" charset="0"/>
                            </a:rPr>
                            <m:t>𝑘</m:t>
                          </m:r>
                        </m:sub>
                      </m:sSub>
                      <m:r>
                        <a:rPr lang="en-US" altLang="zh-CN" sz="3200" b="0" i="1" smtClean="0">
                          <a:latin typeface="Cambria Math" panose="02040503050406030204" pitchFamily="18" charset="0"/>
                        </a:rPr>
                        <m:t>=</m:t>
                      </m:r>
                      <m:f>
                        <m:fPr>
                          <m:ctrlPr>
                            <a:rPr lang="en-US" altLang="zh-CN" sz="3200" i="1">
                              <a:latin typeface="Cambria Math" panose="02040503050406030204" pitchFamily="18" charset="0"/>
                            </a:rPr>
                          </m:ctrlPr>
                        </m:fPr>
                        <m:num>
                          <m:r>
                            <a:rPr lang="en-US" altLang="zh-CN" sz="3200" i="1">
                              <a:latin typeface="Cambria Math" panose="02040503050406030204" pitchFamily="18" charset="0"/>
                            </a:rPr>
                            <m:t>𝜕</m:t>
                          </m:r>
                          <m:r>
                            <a:rPr lang="en-US" altLang="zh-CN" sz="3200" i="1">
                              <a:latin typeface="Cambria Math" panose="02040503050406030204" pitchFamily="18" charset="0"/>
                            </a:rPr>
                            <m:t>𝐿</m:t>
                          </m:r>
                        </m:num>
                        <m:den>
                          <m:r>
                            <a:rPr lang="en-US" altLang="zh-CN" sz="3200" i="1">
                              <a:latin typeface="Cambria Math" panose="02040503050406030204" pitchFamily="18" charset="0"/>
                            </a:rPr>
                            <m:t>𝜕</m:t>
                          </m:r>
                          <m:sSub>
                            <m:sSubPr>
                              <m:ctrlPr>
                                <a:rPr lang="en-US" altLang="zh-CN" sz="3200" b="1" i="1">
                                  <a:latin typeface="Cambria Math" panose="02040503050406030204" pitchFamily="18" charset="0"/>
                                </a:rPr>
                              </m:ctrlPr>
                            </m:sSubPr>
                            <m:e>
                              <m:r>
                                <a:rPr lang="en-US" altLang="zh-CN" sz="3200" i="1">
                                  <a:latin typeface="Cambria Math" panose="02040503050406030204" pitchFamily="18" charset="0"/>
                                </a:rPr>
                                <m:t>𝑎</m:t>
                              </m:r>
                            </m:e>
                            <m:sub>
                              <m:r>
                                <a:rPr lang="en-US" altLang="zh-CN" sz="3200" i="1">
                                  <a:latin typeface="Cambria Math" panose="02040503050406030204" pitchFamily="18" charset="0"/>
                                </a:rPr>
                                <m:t>𝑘</m:t>
                              </m:r>
                            </m:sub>
                          </m:sSub>
                        </m:den>
                      </m:f>
                      <m:r>
                        <a:rPr lang="en-US" altLang="zh-CN" sz="3200" b="1" i="1">
                          <a:latin typeface="Cambria Math" panose="02040503050406030204" pitchFamily="18" charset="0"/>
                        </a:rPr>
                        <m:t>=</m:t>
                      </m:r>
                      <m:sSub>
                        <m:sSubPr>
                          <m:ctrlPr>
                            <a:rPr lang="en-US" altLang="zh-CN" sz="3200" i="1" smtClean="0">
                              <a:solidFill>
                                <a:schemeClr val="tx1"/>
                              </a:solidFill>
                              <a:latin typeface="Cambria Math" panose="02040503050406030204" pitchFamily="18" charset="0"/>
                            </a:rPr>
                          </m:ctrlPr>
                        </m:sSubPr>
                        <m:e>
                          <m:r>
                            <a:rPr lang="en-US" altLang="zh-CN" sz="3200" i="1">
                              <a:solidFill>
                                <a:schemeClr val="tx1"/>
                              </a:solidFill>
                              <a:latin typeface="Cambria Math" panose="02040503050406030204" pitchFamily="18" charset="0"/>
                            </a:rPr>
                            <m:t>𝑦</m:t>
                          </m:r>
                        </m:e>
                        <m:sub>
                          <m:r>
                            <a:rPr lang="en-US" altLang="zh-CN" sz="3200" i="1">
                              <a:solidFill>
                                <a:schemeClr val="tx1"/>
                              </a:solidFill>
                              <a:latin typeface="Cambria Math" panose="02040503050406030204" pitchFamily="18" charset="0"/>
                            </a:rPr>
                            <m:t>𝑘</m:t>
                          </m:r>
                        </m:sub>
                      </m:sSub>
                      <m:r>
                        <a:rPr lang="en-US" altLang="zh-CN" sz="3200" i="1">
                          <a:solidFill>
                            <a:schemeClr val="tx1"/>
                          </a:solidFill>
                          <a:latin typeface="Cambria Math" panose="02040503050406030204" pitchFamily="18" charset="0"/>
                        </a:rPr>
                        <m:t>−</m:t>
                      </m:r>
                      <m:sSub>
                        <m:sSubPr>
                          <m:ctrlPr>
                            <a:rPr lang="en-US" altLang="zh-CN" sz="3200" b="1" i="1">
                              <a:solidFill>
                                <a:schemeClr val="tx1"/>
                              </a:solidFill>
                              <a:latin typeface="Cambria Math" panose="02040503050406030204" pitchFamily="18" charset="0"/>
                            </a:rPr>
                          </m:ctrlPr>
                        </m:sSubPr>
                        <m:e>
                          <m:r>
                            <a:rPr lang="en-US" altLang="zh-CN" sz="3200" i="1">
                              <a:solidFill>
                                <a:schemeClr val="tx1"/>
                              </a:solidFill>
                              <a:latin typeface="Cambria Math" panose="02040503050406030204" pitchFamily="18" charset="0"/>
                            </a:rPr>
                            <m:t>𝑡</m:t>
                          </m:r>
                        </m:e>
                        <m:sub>
                          <m:r>
                            <a:rPr lang="en-US" altLang="zh-CN" sz="3200" i="1">
                              <a:solidFill>
                                <a:schemeClr val="tx1"/>
                              </a:solidFill>
                              <a:latin typeface="Cambria Math" panose="02040503050406030204" pitchFamily="18" charset="0"/>
                            </a:rPr>
                            <m:t>𝑘</m:t>
                          </m:r>
                        </m:sub>
                      </m:sSub>
                    </m:oMath>
                  </m:oMathPara>
                </a14:m>
                <a:endParaRPr lang="en-US" altLang="zh-CN" sz="3200" i="1" dirty="0">
                  <a:latin typeface="Cambria Math" panose="02040503050406030204" pitchFamily="18" charset="0"/>
                </a:endParaRPr>
              </a:p>
              <a:p>
                <a:pPr marL="0" indent="0">
                  <a:lnSpc>
                    <a:spcPct val="100000"/>
                  </a:lnSpc>
                  <a:spcAft>
                    <a:spcPts val="500"/>
                  </a:spcAft>
                  <a:buNone/>
                </a:pPr>
                <a14:m>
                  <m:oMathPara xmlns:m="http://schemas.openxmlformats.org/officeDocument/2006/math">
                    <m:oMathParaPr>
                      <m:jc m:val="left"/>
                    </m:oMathParaPr>
                    <m:oMath xmlns:m="http://schemas.openxmlformats.org/officeDocument/2006/math">
                      <m:sSub>
                        <m:sSubPr>
                          <m:ctrlPr>
                            <a:rPr lang="en-US" altLang="zh-CN" sz="3200" b="1" i="1" smtClean="0">
                              <a:solidFill>
                                <a:srgbClr val="0202BF"/>
                              </a:solidFill>
                              <a:latin typeface="Cambria Math" panose="02040503050406030204" pitchFamily="18" charset="0"/>
                            </a:rPr>
                          </m:ctrlPr>
                        </m:sSubPr>
                        <m:e>
                          <m:r>
                            <a:rPr lang="zh-CN" altLang="en-US" sz="3200" i="1">
                              <a:solidFill>
                                <a:srgbClr val="0202BF"/>
                              </a:solidFill>
                              <a:latin typeface="Cambria Math" panose="02040503050406030204" pitchFamily="18" charset="0"/>
                            </a:rPr>
                            <m:t>𝛿</m:t>
                          </m:r>
                        </m:e>
                        <m:sub>
                          <m:r>
                            <a:rPr lang="en-US" altLang="zh-CN" sz="3200" i="1">
                              <a:solidFill>
                                <a:srgbClr val="0202BF"/>
                              </a:solidFill>
                              <a:latin typeface="Cambria Math" panose="02040503050406030204" pitchFamily="18" charset="0"/>
                            </a:rPr>
                            <m:t>𝑗</m:t>
                          </m:r>
                        </m:sub>
                      </m:sSub>
                      <m:r>
                        <a:rPr lang="en-US" altLang="zh-CN" sz="3200" i="1">
                          <a:solidFill>
                            <a:schemeClr val="tx1"/>
                          </a:solidFill>
                          <a:latin typeface="Cambria Math" panose="02040503050406030204" pitchFamily="18" charset="0"/>
                        </a:rPr>
                        <m:t>=</m:t>
                      </m:r>
                      <m:f>
                        <m:fPr>
                          <m:ctrlPr>
                            <a:rPr lang="en-US" altLang="zh-CN" sz="3200" i="1">
                              <a:latin typeface="Cambria Math" panose="02040503050406030204" pitchFamily="18" charset="0"/>
                            </a:rPr>
                          </m:ctrlPr>
                        </m:fPr>
                        <m:num>
                          <m:r>
                            <a:rPr lang="en-US" altLang="zh-CN" sz="3200" i="1">
                              <a:latin typeface="Cambria Math" panose="02040503050406030204" pitchFamily="18" charset="0"/>
                            </a:rPr>
                            <m:t>𝜕</m:t>
                          </m:r>
                          <m:r>
                            <a:rPr lang="en-US" altLang="zh-CN" sz="3200" i="1">
                              <a:latin typeface="Cambria Math" panose="02040503050406030204" pitchFamily="18" charset="0"/>
                            </a:rPr>
                            <m:t>𝐿</m:t>
                          </m:r>
                        </m:num>
                        <m:den>
                          <m:r>
                            <a:rPr lang="en-US" altLang="zh-CN" sz="3200" i="1">
                              <a:latin typeface="Cambria Math" panose="02040503050406030204" pitchFamily="18" charset="0"/>
                            </a:rPr>
                            <m:t>𝜕</m:t>
                          </m:r>
                          <m:sSub>
                            <m:sSubPr>
                              <m:ctrlPr>
                                <a:rPr lang="en-US" altLang="zh-CN" sz="3200" b="1" i="1">
                                  <a:latin typeface="Cambria Math" panose="02040503050406030204" pitchFamily="18" charset="0"/>
                                </a:rPr>
                              </m:ctrlPr>
                            </m:sSubPr>
                            <m:e>
                              <m:r>
                                <a:rPr lang="en-US" altLang="zh-CN" sz="3200" i="1">
                                  <a:latin typeface="Cambria Math" panose="02040503050406030204" pitchFamily="18" charset="0"/>
                                </a:rPr>
                                <m:t>𝑎</m:t>
                              </m:r>
                            </m:e>
                            <m:sub>
                              <m:r>
                                <a:rPr lang="en-US" altLang="zh-CN" sz="3200" i="1">
                                  <a:latin typeface="Cambria Math" panose="02040503050406030204" pitchFamily="18" charset="0"/>
                                </a:rPr>
                                <m:t>𝑗</m:t>
                              </m:r>
                            </m:sub>
                          </m:sSub>
                        </m:den>
                      </m:f>
                      <m:r>
                        <a:rPr lang="en-US" altLang="zh-CN" sz="3200" i="1">
                          <a:latin typeface="Cambria Math" panose="02040503050406030204" pitchFamily="18" charset="0"/>
                        </a:rPr>
                        <m:t>=</m:t>
                      </m:r>
                      <m:sSup>
                        <m:sSupPr>
                          <m:ctrlPr>
                            <a:rPr lang="en-US" altLang="zh-CN" sz="3200" i="1">
                              <a:latin typeface="Cambria Math" panose="02040503050406030204" pitchFamily="18" charset="0"/>
                            </a:rPr>
                          </m:ctrlPr>
                        </m:sSupPr>
                        <m:e>
                          <m:r>
                            <a:rPr lang="en-US" altLang="zh-CN" sz="3200" i="1">
                              <a:latin typeface="Cambria Math" panose="02040503050406030204" pitchFamily="18" charset="0"/>
                            </a:rPr>
                            <m:t>h</m:t>
                          </m:r>
                        </m:e>
                        <m:sup>
                          <m:r>
                            <a:rPr lang="en-US" altLang="zh-CN" sz="3200" i="1">
                              <a:latin typeface="Cambria Math" panose="02040503050406030204" pitchFamily="18" charset="0"/>
                            </a:rPr>
                            <m:t>′</m:t>
                          </m:r>
                        </m:sup>
                      </m:sSup>
                      <m:d>
                        <m:dPr>
                          <m:ctrlPr>
                            <a:rPr lang="en-US" altLang="zh-CN" sz="3200" b="1" i="1">
                              <a:latin typeface="Cambria Math" panose="02040503050406030204" pitchFamily="18" charset="0"/>
                            </a:rPr>
                          </m:ctrlPr>
                        </m:dPr>
                        <m:e>
                          <m:sSub>
                            <m:sSubPr>
                              <m:ctrlPr>
                                <a:rPr lang="en-US" altLang="zh-CN" sz="3200" b="1" i="1">
                                  <a:latin typeface="Cambria Math" panose="02040503050406030204" pitchFamily="18" charset="0"/>
                                </a:rPr>
                              </m:ctrlPr>
                            </m:sSubPr>
                            <m:e>
                              <m:r>
                                <a:rPr lang="en-US" altLang="zh-CN" sz="3200" i="1">
                                  <a:latin typeface="Cambria Math" panose="02040503050406030204" pitchFamily="18" charset="0"/>
                                </a:rPr>
                                <m:t>𝑎</m:t>
                              </m:r>
                            </m:e>
                            <m:sub>
                              <m:r>
                                <a:rPr lang="en-US" altLang="zh-CN" sz="3200" i="1">
                                  <a:latin typeface="Cambria Math" panose="02040503050406030204" pitchFamily="18" charset="0"/>
                                </a:rPr>
                                <m:t>𝑗</m:t>
                              </m:r>
                            </m:sub>
                          </m:sSub>
                        </m:e>
                      </m:d>
                      <m:nary>
                        <m:naryPr>
                          <m:chr m:val="∑"/>
                          <m:ctrlPr>
                            <a:rPr lang="en-US" altLang="zh-CN" sz="3200" i="1">
                              <a:latin typeface="Cambria Math" panose="02040503050406030204" pitchFamily="18" charset="0"/>
                            </a:rPr>
                          </m:ctrlPr>
                        </m:naryPr>
                        <m:sub>
                          <m:r>
                            <m:rPr>
                              <m:brk m:alnAt="23"/>
                            </m:rPr>
                            <a:rPr lang="en-US" altLang="zh-CN" sz="3200" i="1">
                              <a:latin typeface="Cambria Math" panose="02040503050406030204" pitchFamily="18" charset="0"/>
                            </a:rPr>
                            <m:t>𝑘</m:t>
                          </m:r>
                          <m:r>
                            <a:rPr lang="en-US" altLang="zh-CN" sz="3200" i="1">
                              <a:latin typeface="Cambria Math" panose="02040503050406030204" pitchFamily="18" charset="0"/>
                            </a:rPr>
                            <m:t>=1</m:t>
                          </m:r>
                        </m:sub>
                        <m:sup>
                          <m:r>
                            <a:rPr lang="en-US" altLang="zh-CN" sz="3200" i="1">
                              <a:latin typeface="Cambria Math" panose="02040503050406030204" pitchFamily="18" charset="0"/>
                            </a:rPr>
                            <m:t>𝐾</m:t>
                          </m:r>
                        </m:sup>
                        <m:e>
                          <m:sSubSup>
                            <m:sSubSupPr>
                              <m:ctrlPr>
                                <a:rPr lang="en-US" altLang="zh-CN" sz="3200" i="1">
                                  <a:latin typeface="Cambria Math" panose="02040503050406030204" pitchFamily="18" charset="0"/>
                                </a:rPr>
                              </m:ctrlPr>
                            </m:sSubSupPr>
                            <m:e>
                              <m:r>
                                <a:rPr lang="en-US" altLang="zh-CN" sz="3200" i="1">
                                  <a:latin typeface="Cambria Math" panose="02040503050406030204" pitchFamily="18" charset="0"/>
                                </a:rPr>
                                <m:t>𝑤</m:t>
                              </m:r>
                            </m:e>
                            <m:sub>
                              <m:r>
                                <a:rPr lang="en-US" altLang="zh-CN" sz="3200" i="1">
                                  <a:latin typeface="Cambria Math" panose="02040503050406030204" pitchFamily="18" charset="0"/>
                                </a:rPr>
                                <m:t>𝑘𝑗</m:t>
                              </m:r>
                            </m:sub>
                            <m:sup>
                              <m:d>
                                <m:dPr>
                                  <m:ctrlPr>
                                    <a:rPr lang="en-US" altLang="zh-CN" sz="3200" b="1" i="1">
                                      <a:latin typeface="Cambria Math" panose="02040503050406030204" pitchFamily="18" charset="0"/>
                                    </a:rPr>
                                  </m:ctrlPr>
                                </m:dPr>
                                <m:e>
                                  <m:r>
                                    <a:rPr lang="en-US" altLang="zh-CN" sz="3200" i="1">
                                      <a:latin typeface="Cambria Math" panose="02040503050406030204" pitchFamily="18" charset="0"/>
                                    </a:rPr>
                                    <m:t>2</m:t>
                                  </m:r>
                                </m:e>
                              </m:d>
                            </m:sup>
                          </m:sSubSup>
                          <m:sSub>
                            <m:sSubPr>
                              <m:ctrlPr>
                                <a:rPr lang="en-US" altLang="zh-CN" sz="3200" b="1" i="1" smtClean="0">
                                  <a:solidFill>
                                    <a:srgbClr val="FF0000"/>
                                  </a:solidFill>
                                  <a:latin typeface="Cambria Math" panose="02040503050406030204" pitchFamily="18" charset="0"/>
                                </a:rPr>
                              </m:ctrlPr>
                            </m:sSubPr>
                            <m:e>
                              <m:r>
                                <a:rPr lang="zh-CN" altLang="en-US" sz="3200" i="1">
                                  <a:solidFill>
                                    <a:srgbClr val="FF0000"/>
                                  </a:solidFill>
                                  <a:latin typeface="Cambria Math" panose="02040503050406030204" pitchFamily="18" charset="0"/>
                                </a:rPr>
                                <m:t>𝛿</m:t>
                              </m:r>
                            </m:e>
                            <m:sub>
                              <m:r>
                                <a:rPr lang="en-US" altLang="zh-CN" sz="3200" i="1">
                                  <a:solidFill>
                                    <a:srgbClr val="FF0000"/>
                                  </a:solidFill>
                                  <a:latin typeface="Cambria Math" panose="02040503050406030204" pitchFamily="18" charset="0"/>
                                </a:rPr>
                                <m:t>𝑘</m:t>
                              </m:r>
                            </m:sub>
                          </m:sSub>
                        </m:e>
                      </m:nary>
                    </m:oMath>
                  </m:oMathPara>
                </a14:m>
                <a:endParaRPr lang="en-US" altLang="zh-CN" sz="3200" i="1" dirty="0">
                  <a:latin typeface="Cambria Math" panose="02040503050406030204" pitchFamily="18" charset="0"/>
                </a:endParaRPr>
              </a:p>
              <a:p>
                <a:pPr marL="0" indent="0">
                  <a:lnSpc>
                    <a:spcPct val="100000"/>
                  </a:lnSpc>
                  <a:spcAft>
                    <a:spcPts val="500"/>
                  </a:spcAft>
                  <a:buNone/>
                </a:pPr>
                <a14:m>
                  <m:oMathPara xmlns:m="http://schemas.openxmlformats.org/officeDocument/2006/math">
                    <m:oMathParaPr>
                      <m:jc m:val="left"/>
                    </m:oMathParaPr>
                    <m:oMath xmlns:m="http://schemas.openxmlformats.org/officeDocument/2006/math">
                      <m:sSub>
                        <m:sSubPr>
                          <m:ctrlPr>
                            <a:rPr lang="en-US" altLang="zh-CN" sz="3200" b="1" i="1" smtClean="0">
                              <a:solidFill>
                                <a:schemeClr val="tx1"/>
                              </a:solidFill>
                              <a:latin typeface="Cambria Math" panose="02040503050406030204" pitchFamily="18" charset="0"/>
                            </a:rPr>
                          </m:ctrlPr>
                        </m:sSubPr>
                        <m:e>
                          <m:r>
                            <a:rPr lang="zh-CN" altLang="en-US" sz="3200" i="1">
                              <a:solidFill>
                                <a:schemeClr val="tx1"/>
                              </a:solidFill>
                              <a:latin typeface="Cambria Math" panose="02040503050406030204" pitchFamily="18" charset="0"/>
                            </a:rPr>
                            <m:t>𝛿</m:t>
                          </m:r>
                        </m:e>
                        <m:sub>
                          <m:r>
                            <a:rPr lang="en-US" altLang="zh-CN" sz="3200" i="1">
                              <a:solidFill>
                                <a:schemeClr val="tx1"/>
                              </a:solidFill>
                              <a:latin typeface="Cambria Math" panose="02040503050406030204" pitchFamily="18" charset="0"/>
                            </a:rPr>
                            <m:t>𝑖</m:t>
                          </m:r>
                        </m:sub>
                      </m:sSub>
                      <m:r>
                        <a:rPr lang="en-US" altLang="zh-CN" sz="3200" b="0" i="1" smtClean="0">
                          <a:solidFill>
                            <a:schemeClr val="tx1"/>
                          </a:solidFill>
                          <a:latin typeface="Cambria Math" panose="02040503050406030204" pitchFamily="18" charset="0"/>
                        </a:rPr>
                        <m:t>=</m:t>
                      </m:r>
                      <m:f>
                        <m:fPr>
                          <m:ctrlPr>
                            <a:rPr lang="en-US" altLang="zh-CN" sz="3200" i="1">
                              <a:latin typeface="Cambria Math" panose="02040503050406030204" pitchFamily="18" charset="0"/>
                            </a:rPr>
                          </m:ctrlPr>
                        </m:fPr>
                        <m:num>
                          <m:r>
                            <a:rPr lang="en-US" altLang="zh-CN" sz="3200" i="1">
                              <a:latin typeface="Cambria Math" panose="02040503050406030204" pitchFamily="18" charset="0"/>
                            </a:rPr>
                            <m:t>𝜕</m:t>
                          </m:r>
                          <m:r>
                            <a:rPr lang="en-US" altLang="zh-CN" sz="3200" i="1">
                              <a:latin typeface="Cambria Math" panose="02040503050406030204" pitchFamily="18" charset="0"/>
                            </a:rPr>
                            <m:t>𝐿</m:t>
                          </m:r>
                        </m:num>
                        <m:den>
                          <m:r>
                            <a:rPr lang="en-US" altLang="zh-CN" sz="3200" i="1">
                              <a:latin typeface="Cambria Math" panose="02040503050406030204" pitchFamily="18" charset="0"/>
                            </a:rPr>
                            <m:t>𝜕</m:t>
                          </m:r>
                          <m:sSub>
                            <m:sSubPr>
                              <m:ctrlPr>
                                <a:rPr lang="en-US" altLang="zh-CN" sz="3200" b="1" i="1">
                                  <a:latin typeface="Cambria Math" panose="02040503050406030204" pitchFamily="18" charset="0"/>
                                </a:rPr>
                              </m:ctrlPr>
                            </m:sSubPr>
                            <m:e>
                              <m:r>
                                <a:rPr lang="en-US" altLang="zh-CN" sz="3200" i="1">
                                  <a:latin typeface="Cambria Math" panose="02040503050406030204" pitchFamily="18" charset="0"/>
                                </a:rPr>
                                <m:t>𝑎</m:t>
                              </m:r>
                            </m:e>
                            <m:sub>
                              <m:r>
                                <a:rPr lang="en-US" altLang="zh-CN" sz="3200" b="0" i="1" smtClean="0">
                                  <a:latin typeface="Cambria Math" panose="02040503050406030204" pitchFamily="18" charset="0"/>
                                </a:rPr>
                                <m:t>𝑖</m:t>
                              </m:r>
                            </m:sub>
                          </m:sSub>
                        </m:den>
                      </m:f>
                      <m:r>
                        <a:rPr lang="en-US" altLang="zh-CN" sz="3200" b="1" i="1">
                          <a:latin typeface="Cambria Math" panose="02040503050406030204" pitchFamily="18" charset="0"/>
                        </a:rPr>
                        <m:t>=</m:t>
                      </m:r>
                      <m:sSup>
                        <m:sSupPr>
                          <m:ctrlPr>
                            <a:rPr lang="en-US" altLang="zh-CN" sz="3200" i="1">
                              <a:latin typeface="Cambria Math" panose="02040503050406030204" pitchFamily="18" charset="0"/>
                            </a:rPr>
                          </m:ctrlPr>
                        </m:sSupPr>
                        <m:e>
                          <m:r>
                            <a:rPr lang="en-US" altLang="zh-CN" sz="3200" i="1">
                              <a:latin typeface="Cambria Math" panose="02040503050406030204" pitchFamily="18" charset="0"/>
                            </a:rPr>
                            <m:t>h</m:t>
                          </m:r>
                        </m:e>
                        <m:sup>
                          <m:r>
                            <a:rPr lang="en-US" altLang="zh-CN" sz="3200" i="1">
                              <a:latin typeface="Cambria Math" panose="02040503050406030204" pitchFamily="18" charset="0"/>
                            </a:rPr>
                            <m:t>′</m:t>
                          </m:r>
                        </m:sup>
                      </m:sSup>
                      <m:d>
                        <m:dPr>
                          <m:ctrlPr>
                            <a:rPr lang="en-US" altLang="zh-CN" sz="3200" b="1" i="1">
                              <a:latin typeface="Cambria Math" panose="02040503050406030204" pitchFamily="18" charset="0"/>
                            </a:rPr>
                          </m:ctrlPr>
                        </m:dPr>
                        <m:e>
                          <m:sSub>
                            <m:sSubPr>
                              <m:ctrlPr>
                                <a:rPr lang="en-US" altLang="zh-CN" sz="3200" b="1" i="1">
                                  <a:latin typeface="Cambria Math" panose="02040503050406030204" pitchFamily="18" charset="0"/>
                                </a:rPr>
                              </m:ctrlPr>
                            </m:sSubPr>
                            <m:e>
                              <m:r>
                                <a:rPr lang="en-US" altLang="zh-CN" sz="3200" i="1">
                                  <a:latin typeface="Cambria Math" panose="02040503050406030204" pitchFamily="18" charset="0"/>
                                </a:rPr>
                                <m:t>𝑎</m:t>
                              </m:r>
                            </m:e>
                            <m:sub>
                              <m:r>
                                <a:rPr lang="en-US" altLang="zh-CN" sz="3200" b="0" i="1" smtClean="0">
                                  <a:latin typeface="Cambria Math" panose="02040503050406030204" pitchFamily="18" charset="0"/>
                                </a:rPr>
                                <m:t>𝑖</m:t>
                              </m:r>
                            </m:sub>
                          </m:sSub>
                        </m:e>
                      </m:d>
                      <m:nary>
                        <m:naryPr>
                          <m:chr m:val="∑"/>
                          <m:ctrlPr>
                            <a:rPr lang="en-US" altLang="zh-CN" sz="3200" i="1">
                              <a:latin typeface="Cambria Math" panose="02040503050406030204" pitchFamily="18" charset="0"/>
                            </a:rPr>
                          </m:ctrlPr>
                        </m:naryPr>
                        <m:sub>
                          <m:r>
                            <a:rPr lang="en-US" altLang="zh-CN" sz="3200" b="0" i="1" smtClean="0">
                              <a:latin typeface="Cambria Math" panose="02040503050406030204" pitchFamily="18" charset="0"/>
                            </a:rPr>
                            <m:t>𝑗</m:t>
                          </m:r>
                          <m:r>
                            <a:rPr lang="en-US" altLang="zh-CN" sz="3200" i="1">
                              <a:latin typeface="Cambria Math" panose="02040503050406030204" pitchFamily="18" charset="0"/>
                            </a:rPr>
                            <m:t>=1</m:t>
                          </m:r>
                        </m:sub>
                        <m:sup>
                          <m:r>
                            <a:rPr lang="en-US" altLang="zh-CN" sz="3200" b="0" i="1" smtClean="0">
                              <a:latin typeface="Cambria Math" panose="02040503050406030204" pitchFamily="18" charset="0"/>
                            </a:rPr>
                            <m:t>𝑀</m:t>
                          </m:r>
                        </m:sup>
                        <m:e>
                          <m:sSubSup>
                            <m:sSubSupPr>
                              <m:ctrlPr>
                                <a:rPr lang="en-US" altLang="zh-CN" sz="3200" i="1">
                                  <a:latin typeface="Cambria Math" panose="02040503050406030204" pitchFamily="18" charset="0"/>
                                </a:rPr>
                              </m:ctrlPr>
                            </m:sSubSupPr>
                            <m:e>
                              <m:r>
                                <a:rPr lang="en-US" altLang="zh-CN" sz="3200" i="1">
                                  <a:latin typeface="Cambria Math" panose="02040503050406030204" pitchFamily="18" charset="0"/>
                                </a:rPr>
                                <m:t>𝑤</m:t>
                              </m:r>
                            </m:e>
                            <m:sub>
                              <m:r>
                                <a:rPr lang="en-US" altLang="zh-CN" sz="3200" i="1">
                                  <a:latin typeface="Cambria Math" panose="02040503050406030204" pitchFamily="18" charset="0"/>
                                </a:rPr>
                                <m:t>𝑗</m:t>
                              </m:r>
                              <m:r>
                                <a:rPr lang="en-US" altLang="zh-CN" sz="3200" b="0" i="1" smtClean="0">
                                  <a:latin typeface="Cambria Math" panose="02040503050406030204" pitchFamily="18" charset="0"/>
                                </a:rPr>
                                <m:t>𝑖</m:t>
                              </m:r>
                            </m:sub>
                            <m:sup>
                              <m:d>
                                <m:dPr>
                                  <m:ctrlPr>
                                    <a:rPr lang="en-US" altLang="zh-CN" sz="3200" b="1" i="1">
                                      <a:latin typeface="Cambria Math" panose="02040503050406030204" pitchFamily="18" charset="0"/>
                                    </a:rPr>
                                  </m:ctrlPr>
                                </m:dPr>
                                <m:e>
                                  <m:r>
                                    <a:rPr lang="en-US" altLang="zh-CN" sz="3200" b="0" i="1" smtClean="0">
                                      <a:latin typeface="Cambria Math" panose="02040503050406030204" pitchFamily="18" charset="0"/>
                                    </a:rPr>
                                    <m:t>1</m:t>
                                  </m:r>
                                </m:e>
                              </m:d>
                            </m:sup>
                          </m:sSubSup>
                          <m:sSub>
                            <m:sSubPr>
                              <m:ctrlPr>
                                <a:rPr lang="en-US" altLang="zh-CN" sz="3200" b="1" i="1" smtClean="0">
                                  <a:solidFill>
                                    <a:srgbClr val="0202BF"/>
                                  </a:solidFill>
                                  <a:latin typeface="Cambria Math" panose="02040503050406030204" pitchFamily="18" charset="0"/>
                                </a:rPr>
                              </m:ctrlPr>
                            </m:sSubPr>
                            <m:e>
                              <m:r>
                                <a:rPr lang="zh-CN" altLang="en-US" sz="3200" i="1">
                                  <a:solidFill>
                                    <a:srgbClr val="0202BF"/>
                                  </a:solidFill>
                                  <a:latin typeface="Cambria Math" panose="02040503050406030204" pitchFamily="18" charset="0"/>
                                </a:rPr>
                                <m:t>𝛿</m:t>
                              </m:r>
                            </m:e>
                            <m:sub>
                              <m:r>
                                <a:rPr lang="en-US" altLang="zh-CN" sz="3200" b="0" i="1" smtClean="0">
                                  <a:solidFill>
                                    <a:srgbClr val="0202BF"/>
                                  </a:solidFill>
                                  <a:latin typeface="Cambria Math" panose="02040503050406030204" pitchFamily="18" charset="0"/>
                                </a:rPr>
                                <m:t>𝑗</m:t>
                              </m:r>
                            </m:sub>
                          </m:sSub>
                        </m:e>
                      </m:nary>
                    </m:oMath>
                  </m:oMathPara>
                </a14:m>
                <a:endParaRPr lang="en-US" altLang="zh-CN" sz="3200" dirty="0">
                  <a:latin typeface="Monaco" panose="020B0509030404040204" pitchFamily="49" charset="0"/>
                  <a:ea typeface="思源黑体 CN Bold" panose="020B0800000000000000" pitchFamily="34" charset="-122"/>
                  <a:cs typeface="+mj-cs"/>
                </a:endParaRPr>
              </a:p>
              <a:p>
                <a:pPr marL="0" indent="0">
                  <a:lnSpc>
                    <a:spcPct val="100000"/>
                  </a:lnSpc>
                  <a:spcAft>
                    <a:spcPts val="500"/>
                  </a:spcAft>
                  <a:buNone/>
                </a:pPr>
                <a:endParaRPr lang="en-US" altLang="zh-CN" sz="1400" i="1" dirty="0">
                  <a:latin typeface="Cambria Math" panose="02040503050406030204" pitchFamily="18" charset="0"/>
                  <a:ea typeface="思源黑体 CN Bold" panose="020B0800000000000000" pitchFamily="34" charset="-122"/>
                  <a:cs typeface="+mj-cs"/>
                </a:endParaRPr>
              </a:p>
              <a:p>
                <a:pPr marL="0" indent="0">
                  <a:lnSpc>
                    <a:spcPct val="100000"/>
                  </a:lnSpc>
                  <a:spcAft>
                    <a:spcPts val="500"/>
                  </a:spcAft>
                  <a:buNone/>
                </a:pPr>
                <a14:m>
                  <m:oMathPara xmlns:m="http://schemas.openxmlformats.org/officeDocument/2006/math">
                    <m:oMathParaPr>
                      <m:jc m:val="center"/>
                    </m:oMathParaPr>
                    <m:oMath xmlns:m="http://schemas.openxmlformats.org/officeDocument/2006/math">
                      <m:r>
                        <a:rPr lang="en-US" altLang="zh-CN" sz="3200" i="1" smtClean="0">
                          <a:latin typeface="Cambria Math" panose="02040503050406030204" pitchFamily="18" charset="0"/>
                          <a:ea typeface="思源黑体 CN Bold" panose="020B0800000000000000" pitchFamily="34" charset="-122"/>
                          <a:cs typeface="+mj-cs"/>
                        </a:rPr>
                        <m:t>⋯</m:t>
                      </m:r>
                      <m:r>
                        <a:rPr lang="en-US" altLang="zh-CN" sz="3200" i="1">
                          <a:latin typeface="Cambria Math" panose="02040503050406030204" pitchFamily="18" charset="0"/>
                          <a:ea typeface="思源黑体 CN Bold" panose="020B0800000000000000" pitchFamily="34" charset="-122"/>
                        </a:rPr>
                        <m:t>⋯</m:t>
                      </m:r>
                    </m:oMath>
                  </m:oMathPara>
                </a14:m>
                <a:endParaRPr lang="en-US" altLang="zh-CN" sz="3200" dirty="0">
                  <a:latin typeface="Monaco" panose="020B0509030404040204" pitchFamily="49" charset="0"/>
                  <a:ea typeface="思源黑体 CN Bold" panose="020B0800000000000000" pitchFamily="34" charset="-122"/>
                  <a:cs typeface="+mj-cs"/>
                </a:endParaRPr>
              </a:p>
            </p:txBody>
          </p:sp>
        </mc:Choice>
        <mc:Fallback xmlns="">
          <p:sp>
            <p:nvSpPr>
              <p:cNvPr id="3" name="内容占位符 2">
                <a:extLst>
                  <a:ext uri="{FF2B5EF4-FFF2-40B4-BE49-F238E27FC236}">
                    <a16:creationId xmlns:a16="http://schemas.microsoft.com/office/drawing/2014/main" id="{B5F15897-98F0-4E08-931A-45E1DC23C6B6}"/>
                  </a:ext>
                </a:extLst>
              </p:cNvPr>
              <p:cNvSpPr>
                <a:spLocks noGrp="1" noRot="1" noChangeAspect="1" noMove="1" noResize="1" noEditPoints="1" noAdjustHandles="1" noChangeArrowheads="1" noChangeShapeType="1" noTextEdit="1"/>
              </p:cNvSpPr>
              <p:nvPr>
                <p:ph idx="1"/>
              </p:nvPr>
            </p:nvSpPr>
            <p:spPr>
              <a:xfrm>
                <a:off x="3140015" y="1483567"/>
                <a:ext cx="5280863" cy="4725955"/>
              </a:xfrm>
              <a:blipFill>
                <a:blip r:embed="rId3"/>
                <a:stretch>
                  <a:fillRect b="-387"/>
                </a:stretch>
              </a:blipFill>
            </p:spPr>
            <p:txBody>
              <a:bodyPr/>
              <a:lstStyle/>
              <a:p>
                <a:r>
                  <a:rPr lang="zh-CN" altLang="en-US">
                    <a:noFill/>
                  </a:rPr>
                  <a:t> </a:t>
                </a:r>
              </a:p>
            </p:txBody>
          </p:sp>
        </mc:Fallback>
      </mc:AlternateContent>
      <p:cxnSp>
        <p:nvCxnSpPr>
          <p:cNvPr id="52" name="连接符: 曲线 51">
            <a:extLst>
              <a:ext uri="{FF2B5EF4-FFF2-40B4-BE49-F238E27FC236}">
                <a16:creationId xmlns:a16="http://schemas.microsoft.com/office/drawing/2014/main" id="{76590537-EBF2-4ACA-AF97-5727BC57C06D}"/>
              </a:ext>
            </a:extLst>
          </p:cNvPr>
          <p:cNvCxnSpPr>
            <a:cxnSpLocks/>
            <a:stCxn id="14" idx="6"/>
            <a:endCxn id="53" idx="6"/>
          </p:cNvCxnSpPr>
          <p:nvPr/>
        </p:nvCxnSpPr>
        <p:spPr>
          <a:xfrm>
            <a:off x="3463991" y="2553030"/>
            <a:ext cx="4814595" cy="789575"/>
          </a:xfrm>
          <a:prstGeom prst="curvedConnector3">
            <a:avLst>
              <a:gd name="adj1" fmla="val 104748"/>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椭圆 13">
            <a:extLst>
              <a:ext uri="{FF2B5EF4-FFF2-40B4-BE49-F238E27FC236}">
                <a16:creationId xmlns:a16="http://schemas.microsoft.com/office/drawing/2014/main" id="{184F5FD6-B109-41D6-AB07-3BD0622AF311}"/>
              </a:ext>
            </a:extLst>
          </p:cNvPr>
          <p:cNvSpPr/>
          <p:nvPr/>
        </p:nvSpPr>
        <p:spPr>
          <a:xfrm>
            <a:off x="3356689" y="2499030"/>
            <a:ext cx="107302" cy="108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a:extLst>
              <a:ext uri="{FF2B5EF4-FFF2-40B4-BE49-F238E27FC236}">
                <a16:creationId xmlns:a16="http://schemas.microsoft.com/office/drawing/2014/main" id="{CF40BB61-C85C-48AC-8A1F-05D52F39D612}"/>
              </a:ext>
            </a:extLst>
          </p:cNvPr>
          <p:cNvSpPr/>
          <p:nvPr/>
        </p:nvSpPr>
        <p:spPr>
          <a:xfrm>
            <a:off x="8171284" y="3288605"/>
            <a:ext cx="107302" cy="108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a:extLst>
              <a:ext uri="{FF2B5EF4-FFF2-40B4-BE49-F238E27FC236}">
                <a16:creationId xmlns:a16="http://schemas.microsoft.com/office/drawing/2014/main" id="{A5DF6497-AFEF-42E0-9DB3-7D6DDBE6EA7A}"/>
              </a:ext>
            </a:extLst>
          </p:cNvPr>
          <p:cNvSpPr/>
          <p:nvPr/>
        </p:nvSpPr>
        <p:spPr>
          <a:xfrm>
            <a:off x="8171284" y="4700100"/>
            <a:ext cx="107302" cy="108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a:extLst>
              <a:ext uri="{FF2B5EF4-FFF2-40B4-BE49-F238E27FC236}">
                <a16:creationId xmlns:a16="http://schemas.microsoft.com/office/drawing/2014/main" id="{FEA5B080-3425-4568-841B-D4BED0140A0B}"/>
              </a:ext>
            </a:extLst>
          </p:cNvPr>
          <p:cNvSpPr/>
          <p:nvPr/>
        </p:nvSpPr>
        <p:spPr>
          <a:xfrm>
            <a:off x="8224935" y="6191511"/>
            <a:ext cx="107302" cy="108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9" name="连接符: 曲线 58">
            <a:extLst>
              <a:ext uri="{FF2B5EF4-FFF2-40B4-BE49-F238E27FC236}">
                <a16:creationId xmlns:a16="http://schemas.microsoft.com/office/drawing/2014/main" id="{E569742A-ADF8-4EA4-ADC7-59B26F74B9E8}"/>
              </a:ext>
            </a:extLst>
          </p:cNvPr>
          <p:cNvCxnSpPr>
            <a:cxnSpLocks/>
            <a:stCxn id="61" idx="6"/>
            <a:endCxn id="55" idx="6"/>
          </p:cNvCxnSpPr>
          <p:nvPr/>
        </p:nvCxnSpPr>
        <p:spPr>
          <a:xfrm>
            <a:off x="3459325" y="3903102"/>
            <a:ext cx="4819261" cy="850998"/>
          </a:xfrm>
          <a:prstGeom prst="curvedConnector3">
            <a:avLst>
              <a:gd name="adj1" fmla="val 10474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连接符: 曲线 59">
            <a:extLst>
              <a:ext uri="{FF2B5EF4-FFF2-40B4-BE49-F238E27FC236}">
                <a16:creationId xmlns:a16="http://schemas.microsoft.com/office/drawing/2014/main" id="{95EE0C2F-E31E-4876-AABA-0B3AC95773B5}"/>
              </a:ext>
            </a:extLst>
          </p:cNvPr>
          <p:cNvCxnSpPr>
            <a:cxnSpLocks/>
            <a:stCxn id="62" idx="6"/>
            <a:endCxn id="56" idx="6"/>
          </p:cNvCxnSpPr>
          <p:nvPr/>
        </p:nvCxnSpPr>
        <p:spPr>
          <a:xfrm>
            <a:off x="3459325" y="5361174"/>
            <a:ext cx="4872912" cy="884337"/>
          </a:xfrm>
          <a:prstGeom prst="curvedConnector3">
            <a:avLst>
              <a:gd name="adj1" fmla="val 104691"/>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椭圆 60">
            <a:extLst>
              <a:ext uri="{FF2B5EF4-FFF2-40B4-BE49-F238E27FC236}">
                <a16:creationId xmlns:a16="http://schemas.microsoft.com/office/drawing/2014/main" id="{249AFD0B-B08D-4725-A1F7-84419EBA44F9}"/>
              </a:ext>
            </a:extLst>
          </p:cNvPr>
          <p:cNvSpPr/>
          <p:nvPr/>
        </p:nvSpPr>
        <p:spPr>
          <a:xfrm>
            <a:off x="3352023" y="3849102"/>
            <a:ext cx="107302" cy="108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椭圆 61">
            <a:extLst>
              <a:ext uri="{FF2B5EF4-FFF2-40B4-BE49-F238E27FC236}">
                <a16:creationId xmlns:a16="http://schemas.microsoft.com/office/drawing/2014/main" id="{64726B52-8D22-4A7E-8DE5-6E9652E42613}"/>
              </a:ext>
            </a:extLst>
          </p:cNvPr>
          <p:cNvSpPr/>
          <p:nvPr/>
        </p:nvSpPr>
        <p:spPr>
          <a:xfrm>
            <a:off x="3352023" y="5307174"/>
            <a:ext cx="107302" cy="108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2CDEBE90-EA51-4B06-8F03-0249865F9BA5}"/>
              </a:ext>
            </a:extLst>
          </p:cNvPr>
          <p:cNvSpPr/>
          <p:nvPr/>
        </p:nvSpPr>
        <p:spPr>
          <a:xfrm>
            <a:off x="1427454" y="1914553"/>
            <a:ext cx="1015021" cy="369332"/>
          </a:xfrm>
          <a:prstGeom prst="rect">
            <a:avLst/>
          </a:prstGeom>
        </p:spPr>
        <p:txBody>
          <a:bodyPr wrap="none">
            <a:spAutoFit/>
          </a:bodyPr>
          <a:lstStyle/>
          <a:p>
            <a:r>
              <a:rPr lang="zh-CN" altLang="en-US" dirty="0">
                <a:latin typeface="Monaco" panose="020B0509030404040204" pitchFamily="49" charset="0"/>
                <a:ea typeface="思源黑体 CN Bold" panose="020B0800000000000000" pitchFamily="34" charset="-122"/>
              </a:rPr>
              <a:t>输出层</a:t>
            </a:r>
            <a:r>
              <a:rPr lang="en-US" altLang="zh-CN" dirty="0">
                <a:latin typeface="Monaco" panose="020B0509030404040204" pitchFamily="49" charset="0"/>
                <a:ea typeface="思源黑体 CN Bold" panose="020B0800000000000000" pitchFamily="34" charset="-122"/>
              </a:rPr>
              <a:t>k</a:t>
            </a:r>
            <a:endParaRPr lang="zh-CN" altLang="en-US" dirty="0"/>
          </a:p>
        </p:txBody>
      </p:sp>
      <p:sp>
        <p:nvSpPr>
          <p:cNvPr id="15" name="矩形 14">
            <a:extLst>
              <a:ext uri="{FF2B5EF4-FFF2-40B4-BE49-F238E27FC236}">
                <a16:creationId xmlns:a16="http://schemas.microsoft.com/office/drawing/2014/main" id="{1C6FA0B2-BA60-43ED-8F30-C3F43B06349F}"/>
              </a:ext>
            </a:extLst>
          </p:cNvPr>
          <p:cNvSpPr/>
          <p:nvPr/>
        </p:nvSpPr>
        <p:spPr>
          <a:xfrm>
            <a:off x="1427454" y="3244334"/>
            <a:ext cx="1566454" cy="369332"/>
          </a:xfrm>
          <a:prstGeom prst="rect">
            <a:avLst/>
          </a:prstGeom>
        </p:spPr>
        <p:txBody>
          <a:bodyPr wrap="none">
            <a:spAutoFit/>
          </a:bodyPr>
          <a:lstStyle/>
          <a:p>
            <a:r>
              <a:rPr lang="zh-CN" altLang="en-US" dirty="0">
                <a:latin typeface="Monaco" panose="020B0509030404040204" pitchFamily="49" charset="0"/>
                <a:ea typeface="思源黑体 CN Bold" panose="020B0800000000000000" pitchFamily="34" charset="-122"/>
              </a:rPr>
              <a:t>隐含层</a:t>
            </a:r>
            <a:r>
              <a:rPr lang="en-US" altLang="zh-CN" dirty="0">
                <a:latin typeface="Monaco" panose="020B0509030404040204" pitchFamily="49" charset="0"/>
                <a:ea typeface="思源黑体 CN Bold" panose="020B0800000000000000" pitchFamily="34" charset="-122"/>
              </a:rPr>
              <a:t>j=k-1</a:t>
            </a:r>
            <a:endParaRPr lang="zh-CN" altLang="en-US" dirty="0"/>
          </a:p>
        </p:txBody>
      </p:sp>
      <p:sp>
        <p:nvSpPr>
          <p:cNvPr id="16" name="矩形 15">
            <a:extLst>
              <a:ext uri="{FF2B5EF4-FFF2-40B4-BE49-F238E27FC236}">
                <a16:creationId xmlns:a16="http://schemas.microsoft.com/office/drawing/2014/main" id="{F5263775-6956-4857-968A-B1AD7436D768}"/>
              </a:ext>
            </a:extLst>
          </p:cNvPr>
          <p:cNvSpPr/>
          <p:nvPr/>
        </p:nvSpPr>
        <p:spPr>
          <a:xfrm>
            <a:off x="1427454" y="4700100"/>
            <a:ext cx="1566454" cy="369332"/>
          </a:xfrm>
          <a:prstGeom prst="rect">
            <a:avLst/>
          </a:prstGeom>
        </p:spPr>
        <p:txBody>
          <a:bodyPr wrap="none">
            <a:spAutoFit/>
          </a:bodyPr>
          <a:lstStyle/>
          <a:p>
            <a:r>
              <a:rPr lang="zh-CN" altLang="en-US" dirty="0">
                <a:latin typeface="Monaco" panose="020B0509030404040204" pitchFamily="49" charset="0"/>
                <a:ea typeface="思源黑体 CN Bold" panose="020B0800000000000000" pitchFamily="34" charset="-122"/>
              </a:rPr>
              <a:t>隐含层</a:t>
            </a:r>
            <a:r>
              <a:rPr lang="en-US" altLang="zh-CN" dirty="0" err="1">
                <a:latin typeface="Monaco" panose="020B0509030404040204" pitchFamily="49" charset="0"/>
                <a:ea typeface="思源黑体 CN Bold" panose="020B0800000000000000" pitchFamily="34" charset="-122"/>
              </a:rPr>
              <a:t>i</a:t>
            </a:r>
            <a:r>
              <a:rPr lang="en-US" altLang="zh-CN" dirty="0">
                <a:latin typeface="Monaco" panose="020B0509030404040204" pitchFamily="49" charset="0"/>
                <a:ea typeface="思源黑体 CN Bold" panose="020B0800000000000000" pitchFamily="34" charset="-122"/>
              </a:rPr>
              <a:t>=j-1</a:t>
            </a:r>
            <a:endParaRPr lang="zh-CN" altLang="en-US" dirty="0"/>
          </a:p>
        </p:txBody>
      </p:sp>
    </p:spTree>
    <p:extLst>
      <p:ext uri="{BB962C8B-B14F-4D97-AF65-F5344CB8AC3E}">
        <p14:creationId xmlns:p14="http://schemas.microsoft.com/office/powerpoint/2010/main" val="7099456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6AF3F0-4352-4D79-A227-6FCBA2EBA88A}"/>
              </a:ext>
            </a:extLst>
          </p:cNvPr>
          <p:cNvSpPr>
            <a:spLocks noGrp="1"/>
          </p:cNvSpPr>
          <p:nvPr>
            <p:ph type="title" idx="4294967295"/>
          </p:nvPr>
        </p:nvSpPr>
        <p:spPr>
          <a:xfrm>
            <a:off x="315686" y="165378"/>
            <a:ext cx="8288603" cy="455415"/>
          </a:xfrm>
        </p:spPr>
        <p:txBody>
          <a:bodyPr>
            <a:noAutofit/>
          </a:bodyPr>
          <a:lstStyle/>
          <a:p>
            <a:r>
              <a:rPr lang="en-US" altLang="zh-CN" sz="3600" dirty="0">
                <a:latin typeface="思源黑体 CN Bold" panose="020B0800000000000000" pitchFamily="34" charset="-122"/>
                <a:ea typeface="思源黑体 CN Bold" panose="020B0800000000000000" pitchFamily="34" charset="-122"/>
              </a:rPr>
              <a:t>4 </a:t>
            </a:r>
            <a:r>
              <a:rPr lang="zh-CN" altLang="en-US" sz="3600" dirty="0">
                <a:latin typeface="思源黑体 CN Bold" panose="020B0800000000000000" pitchFamily="34" charset="-122"/>
                <a:ea typeface="思源黑体 CN Bold" panose="020B0800000000000000" pitchFamily="34" charset="-122"/>
              </a:rPr>
              <a:t>误差后向传播：</a:t>
            </a:r>
            <a:r>
              <a:rPr lang="zh-CN" altLang="en-US" sz="2800" dirty="0">
                <a:latin typeface="思源黑体 CN Bold" panose="020B0800000000000000" pitchFamily="34" charset="-122"/>
                <a:ea typeface="思源黑体 CN Bold" panose="020B0800000000000000" pitchFamily="34" charset="-122"/>
              </a:rPr>
              <a:t>多个隐含层权值的梯度递归</a:t>
            </a:r>
            <a:endParaRPr lang="zh-CN" altLang="en-US" sz="3600" dirty="0"/>
          </a:p>
        </p:txBody>
      </p:sp>
      <mc:AlternateContent xmlns:mc="http://schemas.openxmlformats.org/markup-compatibility/2006">
        <mc:Choice xmlns:a14="http://schemas.microsoft.com/office/drawing/2010/main" Requires="a14">
          <p:sp>
            <p:nvSpPr>
              <p:cNvPr id="5" name="矩形 4">
                <a:extLst>
                  <a:ext uri="{FF2B5EF4-FFF2-40B4-BE49-F238E27FC236}">
                    <a16:creationId xmlns:a16="http://schemas.microsoft.com/office/drawing/2014/main" id="{B8318330-AA46-46AC-8C75-05A185BDA999}"/>
                  </a:ext>
                </a:extLst>
              </p:cNvPr>
              <p:cNvSpPr/>
              <p:nvPr/>
            </p:nvSpPr>
            <p:spPr>
              <a:xfrm>
                <a:off x="862389" y="3446452"/>
                <a:ext cx="5063309" cy="1012072"/>
              </a:xfrm>
              <a:prstGeom prst="rect">
                <a:avLst/>
              </a:prstGeom>
              <a:solidFill>
                <a:srgbClr val="FFC000"/>
              </a:solidFill>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i="1">
                              <a:latin typeface="Cambria Math" panose="02040503050406030204" pitchFamily="18" charset="0"/>
                            </a:rPr>
                            <m:t>𝑦</m:t>
                          </m:r>
                        </m:e>
                        <m:sub>
                          <m:r>
                            <a:rPr lang="en-US" altLang="zh-CN" sz="1600" i="1">
                              <a:latin typeface="Cambria Math" panose="02040503050406030204" pitchFamily="18" charset="0"/>
                            </a:rPr>
                            <m:t>𝑘</m:t>
                          </m:r>
                        </m:sub>
                      </m:sSub>
                      <m:r>
                        <a:rPr lang="en-US" altLang="zh-CN" sz="1600" i="1">
                          <a:latin typeface="Cambria Math" panose="02040503050406030204" pitchFamily="18" charset="0"/>
                        </a:rPr>
                        <m:t>=</m:t>
                      </m:r>
                      <m:r>
                        <a:rPr lang="en-US" altLang="zh-CN" sz="1600" i="1">
                          <a:latin typeface="Cambria Math" panose="02040503050406030204" pitchFamily="18" charset="0"/>
                        </a:rPr>
                        <m:t>𝑠𝑜𝑓𝑡𝑚𝑎𝑥</m:t>
                      </m:r>
                      <m:d>
                        <m:dPr>
                          <m:ctrlPr>
                            <a:rPr lang="en-US" altLang="zh-CN" sz="1600" i="1">
                              <a:latin typeface="Cambria Math" panose="02040503050406030204" pitchFamily="18" charset="0"/>
                            </a:rPr>
                          </m:ctrlPr>
                        </m:dPr>
                        <m:e>
                          <m:nary>
                            <m:naryPr>
                              <m:chr m:val="∑"/>
                              <m:ctrlPr>
                                <a:rPr lang="en-US" altLang="zh-CN" sz="1600" i="1">
                                  <a:latin typeface="Cambria Math" panose="02040503050406030204" pitchFamily="18" charset="0"/>
                                </a:rPr>
                              </m:ctrlPr>
                            </m:naryPr>
                            <m:sub>
                              <m:r>
                                <m:rPr>
                                  <m:brk m:alnAt="23"/>
                                </m:rPr>
                                <a:rPr lang="en-US" altLang="zh-CN" sz="1600" i="1">
                                  <a:latin typeface="Cambria Math" panose="02040503050406030204" pitchFamily="18" charset="0"/>
                                </a:rPr>
                                <m:t>𝑗</m:t>
                              </m:r>
                              <m:r>
                                <a:rPr lang="en-US" altLang="zh-CN" sz="1600" i="1">
                                  <a:latin typeface="Cambria Math" panose="02040503050406030204" pitchFamily="18" charset="0"/>
                                </a:rPr>
                                <m:t>=1</m:t>
                              </m:r>
                            </m:sub>
                            <m:sup>
                              <m:r>
                                <a:rPr lang="en-US" altLang="zh-CN" sz="1600" i="1">
                                  <a:latin typeface="Cambria Math" panose="02040503050406030204" pitchFamily="18" charset="0"/>
                                </a:rPr>
                                <m:t>𝑀</m:t>
                              </m:r>
                            </m:sup>
                            <m:e>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𝑤</m:t>
                                  </m:r>
                                </m:e>
                                <m:sub>
                                  <m:r>
                                    <a:rPr lang="en-US" altLang="zh-CN" sz="1600" i="1">
                                      <a:latin typeface="Cambria Math" panose="02040503050406030204" pitchFamily="18" charset="0"/>
                                    </a:rPr>
                                    <m:t>𝑘𝑗</m:t>
                                  </m:r>
                                </m:sub>
                                <m:sup>
                                  <m:d>
                                    <m:dPr>
                                      <m:ctrlPr>
                                        <a:rPr lang="en-US" altLang="zh-CN" sz="1600" b="1" i="1">
                                          <a:latin typeface="Cambria Math" panose="02040503050406030204" pitchFamily="18" charset="0"/>
                                        </a:rPr>
                                      </m:ctrlPr>
                                    </m:dPr>
                                    <m:e>
                                      <m:r>
                                        <a:rPr lang="en-US" altLang="zh-CN" sz="1600" i="1">
                                          <a:latin typeface="Cambria Math" panose="02040503050406030204" pitchFamily="18" charset="0"/>
                                        </a:rPr>
                                        <m:t>2</m:t>
                                      </m:r>
                                    </m:e>
                                  </m:d>
                                </m:sup>
                              </m:sSubSup>
                            </m:e>
                          </m:nary>
                          <m:r>
                            <a:rPr lang="en-US" altLang="zh-CN" sz="1600" i="1">
                              <a:latin typeface="Cambria Math" panose="02040503050406030204" pitchFamily="18" charset="0"/>
                            </a:rPr>
                            <m:t>h</m:t>
                          </m:r>
                          <m:d>
                            <m:dPr>
                              <m:ctrlPr>
                                <a:rPr lang="en-US" altLang="zh-CN" sz="1600" b="1" i="1">
                                  <a:latin typeface="Cambria Math" panose="02040503050406030204" pitchFamily="18" charset="0"/>
                                </a:rPr>
                              </m:ctrlPr>
                            </m:dPr>
                            <m:e>
                              <m:nary>
                                <m:naryPr>
                                  <m:chr m:val="∑"/>
                                  <m:ctrlPr>
                                    <a:rPr lang="en-US" altLang="zh-CN" sz="1600" i="1">
                                      <a:latin typeface="Cambria Math" panose="02040503050406030204" pitchFamily="18" charset="0"/>
                                    </a:rPr>
                                  </m:ctrlPr>
                                </m:naryPr>
                                <m:sub>
                                  <m:r>
                                    <a:rPr lang="en-US" altLang="zh-CN" sz="1600" i="1" smtClean="0">
                                      <a:latin typeface="Cambria Math" panose="02040503050406030204" pitchFamily="18" charset="0"/>
                                    </a:rPr>
                                    <m:t>𝑖</m:t>
                                  </m:r>
                                  <m:r>
                                    <a:rPr lang="en-US" altLang="zh-CN" sz="1600" i="1">
                                      <a:latin typeface="Cambria Math" panose="02040503050406030204" pitchFamily="18" charset="0"/>
                                    </a:rPr>
                                    <m:t>=1</m:t>
                                  </m:r>
                                </m:sub>
                                <m:sup>
                                  <m:r>
                                    <a:rPr lang="en-US" altLang="zh-CN" sz="1600" i="1">
                                      <a:latin typeface="Cambria Math" panose="02040503050406030204" pitchFamily="18" charset="0"/>
                                    </a:rPr>
                                    <m:t>𝐷</m:t>
                                  </m:r>
                                </m:sup>
                                <m:e>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𝑤</m:t>
                                      </m:r>
                                    </m:e>
                                    <m:sub>
                                      <m:r>
                                        <a:rPr lang="en-US" altLang="zh-CN" sz="1600" i="1">
                                          <a:latin typeface="Cambria Math" panose="02040503050406030204" pitchFamily="18" charset="0"/>
                                        </a:rPr>
                                        <m:t>𝑗𝑖</m:t>
                                      </m:r>
                                    </m:sub>
                                    <m:sup>
                                      <m:d>
                                        <m:dPr>
                                          <m:ctrlPr>
                                            <a:rPr lang="en-US" altLang="zh-CN" sz="1600" b="1" i="1">
                                              <a:latin typeface="Cambria Math" panose="02040503050406030204" pitchFamily="18" charset="0"/>
                                            </a:rPr>
                                          </m:ctrlPr>
                                        </m:dPr>
                                        <m:e>
                                          <m:r>
                                            <a:rPr lang="en-US" altLang="zh-CN" sz="1600" i="1">
                                              <a:latin typeface="Cambria Math" panose="02040503050406030204" pitchFamily="18" charset="0"/>
                                            </a:rPr>
                                            <m:t>1</m:t>
                                          </m:r>
                                        </m:e>
                                      </m:d>
                                    </m:sup>
                                  </m:sSubSup>
                                  <m:r>
                                    <a:rPr lang="en-US" altLang="zh-CN" sz="1600" i="1">
                                      <a:latin typeface="Cambria Math" panose="02040503050406030204" pitchFamily="18" charset="0"/>
                                    </a:rPr>
                                    <m:t>h</m:t>
                                  </m:r>
                                  <m:d>
                                    <m:dPr>
                                      <m:ctrlPr>
                                        <a:rPr lang="en-US" altLang="zh-CN" sz="1600" b="1" i="1">
                                          <a:latin typeface="Cambria Math" panose="02040503050406030204" pitchFamily="18" charset="0"/>
                                        </a:rPr>
                                      </m:ctrlPr>
                                    </m:dPr>
                                    <m:e>
                                      <m:nary>
                                        <m:naryPr>
                                          <m:chr m:val="∑"/>
                                          <m:ctrlPr>
                                            <a:rPr lang="en-US" altLang="zh-CN" sz="1600" i="1">
                                              <a:latin typeface="Cambria Math" panose="02040503050406030204" pitchFamily="18" charset="0"/>
                                            </a:rPr>
                                          </m:ctrlPr>
                                        </m:naryPr>
                                        <m:sub>
                                          <m:r>
                                            <a:rPr lang="en-US" altLang="zh-CN" sz="1600" b="0" i="1" smtClean="0">
                                              <a:latin typeface="Cambria Math" panose="02040503050406030204" pitchFamily="18" charset="0"/>
                                            </a:rPr>
                                            <m:t>𝑝</m:t>
                                          </m:r>
                                          <m:r>
                                            <a:rPr lang="en-US" altLang="zh-CN" sz="1600" i="1">
                                              <a:latin typeface="Cambria Math" panose="02040503050406030204" pitchFamily="18" charset="0"/>
                                            </a:rPr>
                                            <m:t>=1</m:t>
                                          </m:r>
                                        </m:sub>
                                        <m:sup>
                                          <m:r>
                                            <a:rPr lang="en-US" altLang="zh-CN" sz="1600" b="0" i="1" smtClean="0">
                                              <a:latin typeface="Cambria Math" panose="02040503050406030204" pitchFamily="18" charset="0"/>
                                            </a:rPr>
                                            <m:t>𝑃</m:t>
                                          </m:r>
                                        </m:sup>
                                        <m:e>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𝑤</m:t>
                                              </m:r>
                                            </m:e>
                                            <m:sub>
                                              <m:r>
                                                <a:rPr lang="en-US" altLang="zh-CN" sz="1600" b="0" i="1" smtClean="0">
                                                  <a:latin typeface="Cambria Math" panose="02040503050406030204" pitchFamily="18" charset="0"/>
                                                </a:rPr>
                                                <m:t>𝑖𝑝</m:t>
                                              </m:r>
                                            </m:sub>
                                            <m:sup>
                                              <m:d>
                                                <m:dPr>
                                                  <m:ctrlPr>
                                                    <a:rPr lang="en-US" altLang="zh-CN" sz="1600" b="1" i="1">
                                                      <a:latin typeface="Cambria Math" panose="02040503050406030204" pitchFamily="18" charset="0"/>
                                                    </a:rPr>
                                                  </m:ctrlPr>
                                                </m:dPr>
                                                <m:e>
                                                  <m:r>
                                                    <a:rPr lang="en-US" altLang="zh-CN" sz="1600" i="1">
                                                      <a:latin typeface="Cambria Math" panose="02040503050406030204" pitchFamily="18" charset="0"/>
                                                    </a:rPr>
                                                    <m:t>1</m:t>
                                                  </m:r>
                                                </m:e>
                                              </m:d>
                                            </m:sup>
                                          </m:sSubSup>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𝑥</m:t>
                                              </m:r>
                                            </m:e>
                                            <m:sub>
                                              <m:r>
                                                <a:rPr lang="en-US" altLang="zh-CN" sz="1600" b="0" i="1" smtClean="0">
                                                  <a:latin typeface="Cambria Math" panose="02040503050406030204" pitchFamily="18" charset="0"/>
                                                </a:rPr>
                                                <m:t>𝑝</m:t>
                                              </m:r>
                                            </m:sub>
                                          </m:sSub>
                                        </m:e>
                                      </m:nary>
                                    </m:e>
                                  </m:d>
                                </m:e>
                              </m:nary>
                            </m:e>
                          </m:d>
                        </m:e>
                      </m:d>
                    </m:oMath>
                  </m:oMathPara>
                </a14:m>
                <a:endParaRPr lang="zh-CN" altLang="en-US" sz="1600" dirty="0"/>
              </a:p>
            </p:txBody>
          </p:sp>
        </mc:Choice>
        <mc:Fallback>
          <p:sp>
            <p:nvSpPr>
              <p:cNvPr id="5" name="矩形 4">
                <a:extLst>
                  <a:ext uri="{FF2B5EF4-FFF2-40B4-BE49-F238E27FC236}">
                    <a16:creationId xmlns:a16="http://schemas.microsoft.com/office/drawing/2014/main" id="{B8318330-AA46-46AC-8C75-05A185BDA999}"/>
                  </a:ext>
                </a:extLst>
              </p:cNvPr>
              <p:cNvSpPr>
                <a:spLocks noRot="1" noChangeAspect="1" noMove="1" noResize="1" noEditPoints="1" noAdjustHandles="1" noChangeArrowheads="1" noChangeShapeType="1" noTextEdit="1"/>
              </p:cNvSpPr>
              <p:nvPr/>
            </p:nvSpPr>
            <p:spPr>
              <a:xfrm>
                <a:off x="862389" y="3446452"/>
                <a:ext cx="5063309" cy="1012072"/>
              </a:xfrm>
              <a:prstGeom prst="rect">
                <a:avLst/>
              </a:prstGeom>
              <a:blipFill>
                <a:blip r:embed="rId3"/>
                <a:stretch>
                  <a:fillRect/>
                </a:stretch>
              </a:blipFill>
            </p:spPr>
            <p:txBody>
              <a:bodyPr/>
              <a:lstStyle/>
              <a:p>
                <a:r>
                  <a:rPr lang="zh-CN" altLang="en-US">
                    <a:noFill/>
                  </a:rPr>
                  <a:t> </a:t>
                </a:r>
              </a:p>
            </p:txBody>
          </p:sp>
        </mc:Fallback>
      </mc:AlternateContent>
      <p:grpSp>
        <p:nvGrpSpPr>
          <p:cNvPr id="65" name="组合 64">
            <a:extLst>
              <a:ext uri="{FF2B5EF4-FFF2-40B4-BE49-F238E27FC236}">
                <a16:creationId xmlns:a16="http://schemas.microsoft.com/office/drawing/2014/main" id="{17FBDBB2-5674-44B9-AED6-99C152E71128}"/>
              </a:ext>
            </a:extLst>
          </p:cNvPr>
          <p:cNvGrpSpPr/>
          <p:nvPr/>
        </p:nvGrpSpPr>
        <p:grpSpPr>
          <a:xfrm>
            <a:off x="6674850" y="978423"/>
            <a:ext cx="5272369" cy="3564000"/>
            <a:chOff x="6795188" y="2757867"/>
            <a:chExt cx="5272369" cy="3564000"/>
          </a:xfrm>
        </p:grpSpPr>
        <p:sp>
          <p:nvSpPr>
            <p:cNvPr id="11" name="矩形 10">
              <a:extLst>
                <a:ext uri="{FF2B5EF4-FFF2-40B4-BE49-F238E27FC236}">
                  <a16:creationId xmlns:a16="http://schemas.microsoft.com/office/drawing/2014/main" id="{60C96A5F-D55F-477C-8E1C-1BF3B779066A}"/>
                </a:ext>
              </a:extLst>
            </p:cNvPr>
            <p:cNvSpPr/>
            <p:nvPr/>
          </p:nvSpPr>
          <p:spPr>
            <a:xfrm>
              <a:off x="6865853" y="2757867"/>
              <a:ext cx="1416170" cy="356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8" name="组合 27">
              <a:extLst>
                <a:ext uri="{FF2B5EF4-FFF2-40B4-BE49-F238E27FC236}">
                  <a16:creationId xmlns:a16="http://schemas.microsoft.com/office/drawing/2014/main" id="{EE491A68-20D7-4A65-9AF0-34F9BE4F6D56}"/>
                </a:ext>
              </a:extLst>
            </p:cNvPr>
            <p:cNvGrpSpPr/>
            <p:nvPr/>
          </p:nvGrpSpPr>
          <p:grpSpPr>
            <a:xfrm>
              <a:off x="8270466" y="2757867"/>
              <a:ext cx="3797091" cy="3563473"/>
              <a:chOff x="8270466" y="2757867"/>
              <a:chExt cx="3797091" cy="3563473"/>
            </a:xfrm>
          </p:grpSpPr>
          <p:grpSp>
            <p:nvGrpSpPr>
              <p:cNvPr id="6" name="组合 5">
                <a:extLst>
                  <a:ext uri="{FF2B5EF4-FFF2-40B4-BE49-F238E27FC236}">
                    <a16:creationId xmlns:a16="http://schemas.microsoft.com/office/drawing/2014/main" id="{4BB3E588-BAED-4F8F-AB01-470C5A04F55F}"/>
                  </a:ext>
                </a:extLst>
              </p:cNvPr>
              <p:cNvGrpSpPr>
                <a:grpSpLocks noChangeAspect="1"/>
              </p:cNvGrpSpPr>
              <p:nvPr/>
            </p:nvGrpSpPr>
            <p:grpSpPr>
              <a:xfrm>
                <a:off x="8270466" y="2757867"/>
                <a:ext cx="3797091" cy="3563473"/>
                <a:chOff x="7116596" y="1782638"/>
                <a:chExt cx="4652370" cy="4351337"/>
              </a:xfrm>
            </p:grpSpPr>
            <p:pic>
              <p:nvPicPr>
                <p:cNvPr id="4" name="图片 3">
                  <a:extLst>
                    <a:ext uri="{FF2B5EF4-FFF2-40B4-BE49-F238E27FC236}">
                      <a16:creationId xmlns:a16="http://schemas.microsoft.com/office/drawing/2014/main" id="{0ACFECF1-2C94-4CF1-AF10-846AEB0254C2}"/>
                    </a:ext>
                  </a:extLst>
                </p:cNvPr>
                <p:cNvPicPr>
                  <a:picLocks noChangeAspect="1"/>
                </p:cNvPicPr>
                <p:nvPr/>
              </p:nvPicPr>
              <p:blipFill rotWithShape="1">
                <a:blip r:embed="rId4">
                  <a:extLst>
                    <a:ext uri="{28A0092B-C50C-407E-A947-70E740481C1C}">
                      <a14:useLocalDpi xmlns:a14="http://schemas.microsoft.com/office/drawing/2010/main" val="0"/>
                    </a:ext>
                  </a:extLst>
                </a:blip>
                <a:srcRect l="12468"/>
                <a:stretch/>
              </p:blipFill>
              <p:spPr>
                <a:xfrm>
                  <a:off x="7116596" y="1782638"/>
                  <a:ext cx="4652370" cy="4351337"/>
                </a:xfrm>
                <a:prstGeom prst="rect">
                  <a:avLst/>
                </a:prstGeom>
              </p:spPr>
            </p:pic>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1AFC9801-156C-468B-8FDD-E05A184C3F61}"/>
                        </a:ext>
                      </a:extLst>
                    </p:cNvPr>
                    <p:cNvSpPr/>
                    <p:nvPr/>
                  </p:nvSpPr>
                  <p:spPr>
                    <a:xfrm>
                      <a:off x="9274638" y="3141169"/>
                      <a:ext cx="605869" cy="39164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𝑘𝑗</m:t>
                                </m:r>
                              </m:sub>
                            </m:sSub>
                          </m:oMath>
                        </m:oMathPara>
                      </a14:m>
                      <a:endParaRPr lang="zh-CN" altLang="en-US" dirty="0"/>
                    </a:p>
                  </p:txBody>
                </p:sp>
              </mc:Choice>
              <mc:Fallback xmlns="">
                <p:sp>
                  <p:nvSpPr>
                    <p:cNvPr id="8" name="矩形 7">
                      <a:extLst>
                        <a:ext uri="{FF2B5EF4-FFF2-40B4-BE49-F238E27FC236}">
                          <a16:creationId xmlns:a16="http://schemas.microsoft.com/office/drawing/2014/main" id="{1AFC9801-156C-468B-8FDD-E05A184C3F61}"/>
                        </a:ext>
                      </a:extLst>
                    </p:cNvPr>
                    <p:cNvSpPr>
                      <a:spLocks noRot="1" noChangeAspect="1" noMove="1" noResize="1" noEditPoints="1" noAdjustHandles="1" noChangeArrowheads="1" noChangeShapeType="1" noTextEdit="1"/>
                    </p:cNvSpPr>
                    <p:nvPr/>
                  </p:nvSpPr>
                  <p:spPr>
                    <a:xfrm>
                      <a:off x="9274638" y="3141169"/>
                      <a:ext cx="605869" cy="391646"/>
                    </a:xfrm>
                    <a:prstGeom prst="rect">
                      <a:avLst/>
                    </a:prstGeom>
                    <a:blipFill>
                      <a:blip r:embed="rId6"/>
                      <a:stretch>
                        <a:fillRect r="-4938" b="-3018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766DA921-987A-4800-8643-1FFF170B7BA4}"/>
                        </a:ext>
                      </a:extLst>
                    </p:cNvPr>
                    <p:cNvSpPr/>
                    <p:nvPr/>
                  </p:nvSpPr>
                  <p:spPr>
                    <a:xfrm>
                      <a:off x="7797187" y="3001947"/>
                      <a:ext cx="542071" cy="39164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𝑗𝑖</m:t>
                                </m:r>
                              </m:sub>
                            </m:sSub>
                          </m:oMath>
                        </m:oMathPara>
                      </a14:m>
                      <a:endParaRPr lang="zh-CN" altLang="en-US" dirty="0"/>
                    </a:p>
                  </p:txBody>
                </p:sp>
              </mc:Choice>
              <mc:Fallback xmlns="">
                <p:sp>
                  <p:nvSpPr>
                    <p:cNvPr id="10" name="矩形 9">
                      <a:extLst>
                        <a:ext uri="{FF2B5EF4-FFF2-40B4-BE49-F238E27FC236}">
                          <a16:creationId xmlns:a16="http://schemas.microsoft.com/office/drawing/2014/main" id="{766DA921-987A-4800-8643-1FFF170B7BA4}"/>
                        </a:ext>
                      </a:extLst>
                    </p:cNvPr>
                    <p:cNvSpPr>
                      <a:spLocks noRot="1" noChangeAspect="1" noMove="1" noResize="1" noEditPoints="1" noAdjustHandles="1" noChangeArrowheads="1" noChangeShapeType="1" noTextEdit="1"/>
                    </p:cNvSpPr>
                    <p:nvPr/>
                  </p:nvSpPr>
                  <p:spPr>
                    <a:xfrm>
                      <a:off x="7797187" y="3001947"/>
                      <a:ext cx="542071" cy="391646"/>
                    </a:xfrm>
                    <a:prstGeom prst="rect">
                      <a:avLst/>
                    </a:prstGeom>
                    <a:blipFill>
                      <a:blip r:embed="rId7"/>
                      <a:stretch>
                        <a:fillRect r="-2778" b="-32075"/>
                      </a:stretch>
                    </a:blipFill>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26" name="矩形 25">
                    <a:extLst>
                      <a:ext uri="{FF2B5EF4-FFF2-40B4-BE49-F238E27FC236}">
                        <a16:creationId xmlns:a16="http://schemas.microsoft.com/office/drawing/2014/main" id="{B4B17DDD-2D12-4C19-8FDE-3CF5E518B706}"/>
                      </a:ext>
                    </a:extLst>
                  </p:cNvPr>
                  <p:cNvSpPr/>
                  <p:nvPr/>
                </p:nvSpPr>
                <p:spPr>
                  <a:xfrm>
                    <a:off x="9291613" y="3290398"/>
                    <a:ext cx="448777" cy="391646"/>
                  </a:xfrm>
                  <a:prstGeom prst="rect">
                    <a:avLst/>
                  </a:prstGeom>
                  <a:ln>
                    <a:solidFill>
                      <a:schemeClr val="accent6">
                        <a:lumMod val="75000"/>
                      </a:schemeClr>
                    </a:solidFill>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𝑗</m:t>
                              </m:r>
                            </m:sub>
                          </m:sSub>
                        </m:oMath>
                      </m:oMathPara>
                    </a14:m>
                    <a:endParaRPr lang="zh-CN" altLang="en-US" dirty="0"/>
                  </a:p>
                </p:txBody>
              </p:sp>
            </mc:Choice>
            <mc:Fallback>
              <p:sp>
                <p:nvSpPr>
                  <p:cNvPr id="26" name="矩形 25">
                    <a:extLst>
                      <a:ext uri="{FF2B5EF4-FFF2-40B4-BE49-F238E27FC236}">
                        <a16:creationId xmlns:a16="http://schemas.microsoft.com/office/drawing/2014/main" id="{B4B17DDD-2D12-4C19-8FDE-3CF5E518B706}"/>
                      </a:ext>
                    </a:extLst>
                  </p:cNvPr>
                  <p:cNvSpPr>
                    <a:spLocks noRot="1" noChangeAspect="1" noMove="1" noResize="1" noEditPoints="1" noAdjustHandles="1" noChangeArrowheads="1" noChangeShapeType="1" noTextEdit="1"/>
                  </p:cNvSpPr>
                  <p:nvPr/>
                </p:nvSpPr>
                <p:spPr>
                  <a:xfrm>
                    <a:off x="9291613" y="3290398"/>
                    <a:ext cx="448777" cy="391646"/>
                  </a:xfrm>
                  <a:prstGeom prst="rect">
                    <a:avLst/>
                  </a:prstGeom>
                  <a:blipFill>
                    <a:blip r:embed="rId8"/>
                    <a:stretch>
                      <a:fillRect b="-6061"/>
                    </a:stretch>
                  </a:blipFill>
                  <a:ln>
                    <a:solidFill>
                      <a:schemeClr val="accent6">
                        <a:lumMod val="75000"/>
                      </a:schemeClr>
                    </a:solid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7" name="矩形 26">
                    <a:extLst>
                      <a:ext uri="{FF2B5EF4-FFF2-40B4-BE49-F238E27FC236}">
                        <a16:creationId xmlns:a16="http://schemas.microsoft.com/office/drawing/2014/main" id="{7AB3C284-ED01-48A0-9DC7-CCD8D08CF70D}"/>
                      </a:ext>
                    </a:extLst>
                  </p:cNvPr>
                  <p:cNvSpPr/>
                  <p:nvPr/>
                </p:nvSpPr>
                <p:spPr>
                  <a:xfrm>
                    <a:off x="10738643" y="4442692"/>
                    <a:ext cx="492507" cy="369332"/>
                  </a:xfrm>
                  <a:prstGeom prst="rect">
                    <a:avLst/>
                  </a:prstGeom>
                  <a:ln>
                    <a:solidFill>
                      <a:srgbClr val="002060"/>
                    </a:solidFill>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𝑘</m:t>
                              </m:r>
                            </m:sub>
                          </m:sSub>
                        </m:oMath>
                      </m:oMathPara>
                    </a14:m>
                    <a:endParaRPr lang="zh-CN" altLang="en-US" dirty="0"/>
                  </a:p>
                </p:txBody>
              </p:sp>
            </mc:Choice>
            <mc:Fallback>
              <p:sp>
                <p:nvSpPr>
                  <p:cNvPr id="27" name="矩形 26">
                    <a:extLst>
                      <a:ext uri="{FF2B5EF4-FFF2-40B4-BE49-F238E27FC236}">
                        <a16:creationId xmlns:a16="http://schemas.microsoft.com/office/drawing/2014/main" id="{7AB3C284-ED01-48A0-9DC7-CCD8D08CF70D}"/>
                      </a:ext>
                    </a:extLst>
                  </p:cNvPr>
                  <p:cNvSpPr>
                    <a:spLocks noRot="1" noChangeAspect="1" noMove="1" noResize="1" noEditPoints="1" noAdjustHandles="1" noChangeArrowheads="1" noChangeShapeType="1" noTextEdit="1"/>
                  </p:cNvSpPr>
                  <p:nvPr/>
                </p:nvSpPr>
                <p:spPr>
                  <a:xfrm>
                    <a:off x="10738643" y="4442692"/>
                    <a:ext cx="492507" cy="369332"/>
                  </a:xfrm>
                  <a:prstGeom prst="rect">
                    <a:avLst/>
                  </a:prstGeom>
                  <a:blipFill>
                    <a:blip r:embed="rId9"/>
                    <a:stretch>
                      <a:fillRect/>
                    </a:stretch>
                  </a:blipFill>
                  <a:ln>
                    <a:solidFill>
                      <a:srgbClr val="002060"/>
                    </a:solidFill>
                  </a:ln>
                </p:spPr>
                <p:txBody>
                  <a:bodyPr/>
                  <a:lstStyle/>
                  <a:p>
                    <a:r>
                      <a:rPr lang="zh-CN" altLang="en-US">
                        <a:noFill/>
                      </a:rPr>
                      <a:t> </a:t>
                    </a:r>
                  </a:p>
                </p:txBody>
              </p:sp>
            </mc:Fallback>
          </mc:AlternateContent>
        </p:grpSp>
        <p:sp>
          <p:nvSpPr>
            <p:cNvPr id="31" name="矩形: 圆角 30">
              <a:extLst>
                <a:ext uri="{FF2B5EF4-FFF2-40B4-BE49-F238E27FC236}">
                  <a16:creationId xmlns:a16="http://schemas.microsoft.com/office/drawing/2014/main" id="{DC566904-61BD-4611-80CF-BF7E95F0861A}"/>
                </a:ext>
              </a:extLst>
            </p:cNvPr>
            <p:cNvSpPr/>
            <p:nvPr/>
          </p:nvSpPr>
          <p:spPr>
            <a:xfrm rot="18580401">
              <a:off x="8255140" y="4179798"/>
              <a:ext cx="1800000" cy="72000"/>
            </a:xfrm>
            <a:prstGeom prst="roundRect">
              <a:avLst/>
            </a:prstGeom>
            <a:noFill/>
            <a:ln>
              <a:solidFill>
                <a:srgbClr val="008573"/>
              </a:solidFill>
            </a:ln>
            <a:effectLst>
              <a:glow rad="635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圆角 31">
              <a:extLst>
                <a:ext uri="{FF2B5EF4-FFF2-40B4-BE49-F238E27FC236}">
                  <a16:creationId xmlns:a16="http://schemas.microsoft.com/office/drawing/2014/main" id="{5ABCBE90-0B48-4C55-AF0B-DC1104BE2251}"/>
                </a:ext>
              </a:extLst>
            </p:cNvPr>
            <p:cNvSpPr/>
            <p:nvPr/>
          </p:nvSpPr>
          <p:spPr>
            <a:xfrm rot="651969">
              <a:off x="8611373" y="5153577"/>
              <a:ext cx="1080000" cy="72000"/>
            </a:xfrm>
            <a:prstGeom prst="roundRect">
              <a:avLst/>
            </a:prstGeom>
            <a:noFill/>
            <a:ln>
              <a:solidFill>
                <a:srgbClr val="00B050"/>
              </a:solidFill>
            </a:ln>
            <a:effectLst>
              <a:glow rad="635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a:extLst>
                <a:ext uri="{FF2B5EF4-FFF2-40B4-BE49-F238E27FC236}">
                  <a16:creationId xmlns:a16="http://schemas.microsoft.com/office/drawing/2014/main" id="{D0C61A32-84AE-4772-A324-9D4726CFAD35}"/>
                </a:ext>
              </a:extLst>
            </p:cNvPr>
            <p:cNvSpPr/>
            <p:nvPr/>
          </p:nvSpPr>
          <p:spPr>
            <a:xfrm>
              <a:off x="7186352" y="3843963"/>
              <a:ext cx="288000" cy="288000"/>
            </a:xfrm>
            <a:prstGeom prst="ellipse">
              <a:avLst/>
            </a:prstGeom>
            <a:noFill/>
            <a:ln w="57150">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244A746E-9213-457F-9757-E52E0743B7D2}"/>
                </a:ext>
              </a:extLst>
            </p:cNvPr>
            <p:cNvSpPr/>
            <p:nvPr/>
          </p:nvSpPr>
          <p:spPr>
            <a:xfrm>
              <a:off x="7186352" y="4721752"/>
              <a:ext cx="288000" cy="288000"/>
            </a:xfrm>
            <a:prstGeom prst="ellipse">
              <a:avLst/>
            </a:prstGeom>
            <a:noFill/>
            <a:ln w="57150">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39D939E1-3F3E-4BB6-A4DF-7E255E873650}"/>
                </a:ext>
              </a:extLst>
            </p:cNvPr>
            <p:cNvSpPr/>
            <p:nvPr/>
          </p:nvSpPr>
          <p:spPr>
            <a:xfrm>
              <a:off x="7294007" y="4225410"/>
              <a:ext cx="72691" cy="72000"/>
            </a:xfrm>
            <a:prstGeom prst="ellipse">
              <a:avLst/>
            </a:prstGeom>
            <a:solidFill>
              <a:srgbClr val="0208A7"/>
            </a:solidFill>
            <a:ln>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a:extLst>
                <a:ext uri="{FF2B5EF4-FFF2-40B4-BE49-F238E27FC236}">
                  <a16:creationId xmlns:a16="http://schemas.microsoft.com/office/drawing/2014/main" id="{FDE3195E-7208-44CC-B1C4-857F79EB6F31}"/>
                </a:ext>
              </a:extLst>
            </p:cNvPr>
            <p:cNvSpPr/>
            <p:nvPr/>
          </p:nvSpPr>
          <p:spPr>
            <a:xfrm>
              <a:off x="7294007" y="4390857"/>
              <a:ext cx="72691" cy="72000"/>
            </a:xfrm>
            <a:prstGeom prst="ellipse">
              <a:avLst/>
            </a:prstGeom>
            <a:solidFill>
              <a:srgbClr val="0208A7"/>
            </a:solidFill>
            <a:ln>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1AA9ABDC-5B89-46E0-BB78-8E52522EF2AE}"/>
                </a:ext>
              </a:extLst>
            </p:cNvPr>
            <p:cNvSpPr/>
            <p:nvPr/>
          </p:nvSpPr>
          <p:spPr>
            <a:xfrm>
              <a:off x="7294007" y="4556304"/>
              <a:ext cx="72691" cy="72000"/>
            </a:xfrm>
            <a:prstGeom prst="ellipse">
              <a:avLst/>
            </a:prstGeom>
            <a:solidFill>
              <a:srgbClr val="0208A7"/>
            </a:solidFill>
            <a:ln>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连接符 12">
              <a:extLst>
                <a:ext uri="{FF2B5EF4-FFF2-40B4-BE49-F238E27FC236}">
                  <a16:creationId xmlns:a16="http://schemas.microsoft.com/office/drawing/2014/main" id="{B4AFE395-33EE-48BC-9777-93B8624B2333}"/>
                </a:ext>
              </a:extLst>
            </p:cNvPr>
            <p:cNvCxnSpPr>
              <a:cxnSpLocks/>
              <a:stCxn id="7" idx="6"/>
            </p:cNvCxnSpPr>
            <p:nvPr/>
          </p:nvCxnSpPr>
          <p:spPr>
            <a:xfrm flipV="1">
              <a:off x="7474352" y="3665445"/>
              <a:ext cx="854535" cy="322518"/>
            </a:xfrm>
            <a:prstGeom prst="line">
              <a:avLst/>
            </a:prstGeom>
            <a:ln w="28575">
              <a:solidFill>
                <a:srgbClr val="0202BF"/>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9E7E5F9C-CC3F-488A-86A2-62E337924EEC}"/>
                </a:ext>
              </a:extLst>
            </p:cNvPr>
            <p:cNvCxnSpPr>
              <a:cxnSpLocks/>
              <a:stCxn id="7" idx="5"/>
            </p:cNvCxnSpPr>
            <p:nvPr/>
          </p:nvCxnSpPr>
          <p:spPr>
            <a:xfrm>
              <a:off x="7432175" y="4089786"/>
              <a:ext cx="923394" cy="850557"/>
            </a:xfrm>
            <a:prstGeom prst="line">
              <a:avLst/>
            </a:prstGeom>
            <a:ln w="28575">
              <a:solidFill>
                <a:srgbClr val="0202BF"/>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D163F457-9FDF-404D-A2E6-E39BD0D12EC8}"/>
                </a:ext>
              </a:extLst>
            </p:cNvPr>
            <p:cNvCxnSpPr>
              <a:cxnSpLocks/>
              <a:stCxn id="20" idx="7"/>
            </p:cNvCxnSpPr>
            <p:nvPr/>
          </p:nvCxnSpPr>
          <p:spPr>
            <a:xfrm flipV="1">
              <a:off x="7432175" y="3756405"/>
              <a:ext cx="934254" cy="1007524"/>
            </a:xfrm>
            <a:prstGeom prst="line">
              <a:avLst/>
            </a:prstGeom>
            <a:ln w="28575">
              <a:solidFill>
                <a:srgbClr val="0202BF"/>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B39C1F41-769C-438E-9372-B233097D7639}"/>
                </a:ext>
              </a:extLst>
            </p:cNvPr>
            <p:cNvCxnSpPr>
              <a:cxnSpLocks/>
              <a:stCxn id="20" idx="6"/>
            </p:cNvCxnSpPr>
            <p:nvPr/>
          </p:nvCxnSpPr>
          <p:spPr>
            <a:xfrm>
              <a:off x="7474352" y="4865752"/>
              <a:ext cx="838291" cy="157619"/>
            </a:xfrm>
            <a:prstGeom prst="line">
              <a:avLst/>
            </a:prstGeom>
            <a:ln w="28575">
              <a:solidFill>
                <a:srgbClr val="0202BF"/>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1" name="矩形 40">
                  <a:extLst>
                    <a:ext uri="{FF2B5EF4-FFF2-40B4-BE49-F238E27FC236}">
                      <a16:creationId xmlns:a16="http://schemas.microsoft.com/office/drawing/2014/main" id="{A948F816-5A40-4EB6-B16B-92C8F35A77E9}"/>
                    </a:ext>
                  </a:extLst>
                </p:cNvPr>
                <p:cNvSpPr/>
                <p:nvPr/>
              </p:nvSpPr>
              <p:spPr>
                <a:xfrm>
                  <a:off x="7445573" y="3845512"/>
                  <a:ext cx="678391" cy="47179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i="1">
                                <a:latin typeface="Cambria Math" panose="02040503050406030204" pitchFamily="18" charset="0"/>
                              </a:rPr>
                              <m:t>𝑤</m:t>
                            </m:r>
                          </m:e>
                          <m:sub>
                            <m:r>
                              <a:rPr lang="en-US" altLang="zh-CN" b="0" i="1" smtClean="0">
                                <a:latin typeface="Cambria Math" panose="02040503050406030204" pitchFamily="18" charset="0"/>
                              </a:rPr>
                              <m:t>𝑖𝑝</m:t>
                            </m:r>
                          </m:sub>
                          <m:sup>
                            <m:d>
                              <m:dPr>
                                <m:ctrlPr>
                                  <a:rPr lang="en-US" altLang="zh-CN" b="1" i="1">
                                    <a:latin typeface="Cambria Math" panose="02040503050406030204" pitchFamily="18" charset="0"/>
                                  </a:rPr>
                                </m:ctrlPr>
                              </m:dPr>
                              <m:e>
                                <m:r>
                                  <a:rPr lang="en-US" altLang="zh-CN" b="0" i="1" smtClean="0">
                                    <a:latin typeface="Cambria Math" panose="02040503050406030204" pitchFamily="18" charset="0"/>
                                  </a:rPr>
                                  <m:t>0</m:t>
                                </m:r>
                              </m:e>
                            </m:d>
                          </m:sup>
                        </m:sSubSup>
                      </m:oMath>
                    </m:oMathPara>
                  </a14:m>
                  <a:endParaRPr lang="zh-CN" altLang="en-US" dirty="0"/>
                </a:p>
              </p:txBody>
            </p:sp>
          </mc:Choice>
          <mc:Fallback xmlns="">
            <p:sp>
              <p:nvSpPr>
                <p:cNvPr id="41" name="矩形 40">
                  <a:extLst>
                    <a:ext uri="{FF2B5EF4-FFF2-40B4-BE49-F238E27FC236}">
                      <a16:creationId xmlns:a16="http://schemas.microsoft.com/office/drawing/2014/main" id="{A948F816-5A40-4EB6-B16B-92C8F35A77E9}"/>
                    </a:ext>
                  </a:extLst>
                </p:cNvPr>
                <p:cNvSpPr>
                  <a:spLocks noRot="1" noChangeAspect="1" noMove="1" noResize="1" noEditPoints="1" noAdjustHandles="1" noChangeArrowheads="1" noChangeShapeType="1" noTextEdit="1"/>
                </p:cNvSpPr>
                <p:nvPr/>
              </p:nvSpPr>
              <p:spPr>
                <a:xfrm>
                  <a:off x="7445573" y="3845512"/>
                  <a:ext cx="678391" cy="471796"/>
                </a:xfrm>
                <a:prstGeom prst="rect">
                  <a:avLst/>
                </a:prstGeom>
                <a:blipFill>
                  <a:blip r:embed="rId10"/>
                  <a:stretch>
                    <a:fillRect b="-6410"/>
                  </a:stretch>
                </a:blipFill>
              </p:spPr>
              <p:txBody>
                <a:bodyPr/>
                <a:lstStyle/>
                <a:p>
                  <a:r>
                    <a:rPr lang="zh-CN" altLang="en-US">
                      <a:noFill/>
                    </a:rPr>
                    <a:t> </a:t>
                  </a:r>
                </a:p>
              </p:txBody>
            </p:sp>
          </mc:Fallback>
        </mc:AlternateContent>
        <p:sp>
          <p:nvSpPr>
            <p:cNvPr id="42" name="矩形: 圆角 41">
              <a:extLst>
                <a:ext uri="{FF2B5EF4-FFF2-40B4-BE49-F238E27FC236}">
                  <a16:creationId xmlns:a16="http://schemas.microsoft.com/office/drawing/2014/main" id="{DCCDC670-19BC-4918-9D39-D33B1828B17E}"/>
                </a:ext>
              </a:extLst>
            </p:cNvPr>
            <p:cNvSpPr/>
            <p:nvPr/>
          </p:nvSpPr>
          <p:spPr>
            <a:xfrm rot="2559722">
              <a:off x="7314672" y="4497730"/>
              <a:ext cx="1188000" cy="72000"/>
            </a:xfrm>
            <a:prstGeom prst="roundRect">
              <a:avLst/>
            </a:prstGeom>
            <a:noFill/>
            <a:ln>
              <a:solidFill>
                <a:srgbClr val="FF0000"/>
              </a:solidFill>
            </a:ln>
            <a:effectLst>
              <a:glow rad="635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47" name="矩形 46">
                  <a:extLst>
                    <a:ext uri="{FF2B5EF4-FFF2-40B4-BE49-F238E27FC236}">
                      <a16:creationId xmlns:a16="http://schemas.microsoft.com/office/drawing/2014/main" id="{1F38DC07-7056-46A0-9FD5-1C5E189E0949}"/>
                    </a:ext>
                  </a:extLst>
                </p:cNvPr>
                <p:cNvSpPr/>
                <p:nvPr/>
              </p:nvSpPr>
              <p:spPr>
                <a:xfrm>
                  <a:off x="8112163" y="4472531"/>
                  <a:ext cx="450059" cy="369332"/>
                </a:xfrm>
                <a:prstGeom prst="rect">
                  <a:avLst/>
                </a:prstGeom>
                <a:ln>
                  <a:solidFill>
                    <a:schemeClr val="accent2">
                      <a:lumMod val="75000"/>
                    </a:schemeClr>
                  </a:solidFill>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𝑖</m:t>
                            </m:r>
                          </m:sub>
                        </m:sSub>
                      </m:oMath>
                    </m:oMathPara>
                  </a14:m>
                  <a:endParaRPr lang="zh-CN" altLang="en-US" dirty="0"/>
                </a:p>
              </p:txBody>
            </p:sp>
          </mc:Choice>
          <mc:Fallback>
            <p:sp>
              <p:nvSpPr>
                <p:cNvPr id="47" name="矩形 46">
                  <a:extLst>
                    <a:ext uri="{FF2B5EF4-FFF2-40B4-BE49-F238E27FC236}">
                      <a16:creationId xmlns:a16="http://schemas.microsoft.com/office/drawing/2014/main" id="{1F38DC07-7056-46A0-9FD5-1C5E189E0949}"/>
                    </a:ext>
                  </a:extLst>
                </p:cNvPr>
                <p:cNvSpPr>
                  <a:spLocks noRot="1" noChangeAspect="1" noMove="1" noResize="1" noEditPoints="1" noAdjustHandles="1" noChangeArrowheads="1" noChangeShapeType="1" noTextEdit="1"/>
                </p:cNvSpPr>
                <p:nvPr/>
              </p:nvSpPr>
              <p:spPr>
                <a:xfrm>
                  <a:off x="8112163" y="4472531"/>
                  <a:ext cx="450059" cy="369332"/>
                </a:xfrm>
                <a:prstGeom prst="rect">
                  <a:avLst/>
                </a:prstGeom>
                <a:blipFill>
                  <a:blip r:embed="rId11"/>
                  <a:stretch>
                    <a:fillRect/>
                  </a:stretch>
                </a:blipFill>
                <a:ln>
                  <a:solidFill>
                    <a:schemeClr val="accent2">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矩形 47">
                  <a:extLst>
                    <a:ext uri="{FF2B5EF4-FFF2-40B4-BE49-F238E27FC236}">
                      <a16:creationId xmlns:a16="http://schemas.microsoft.com/office/drawing/2014/main" id="{337CF272-5081-4151-89BE-D9D2FD95C0F8}"/>
                    </a:ext>
                  </a:extLst>
                </p:cNvPr>
                <p:cNvSpPr/>
                <p:nvPr/>
              </p:nvSpPr>
              <p:spPr>
                <a:xfrm>
                  <a:off x="6795188" y="4682905"/>
                  <a:ext cx="47038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oMath>
                    </m:oMathPara>
                  </a14:m>
                  <a:endParaRPr lang="zh-CN" altLang="en-US" dirty="0"/>
                </a:p>
              </p:txBody>
            </p:sp>
          </mc:Choice>
          <mc:Fallback xmlns="">
            <p:sp>
              <p:nvSpPr>
                <p:cNvPr id="48" name="矩形 47">
                  <a:extLst>
                    <a:ext uri="{FF2B5EF4-FFF2-40B4-BE49-F238E27FC236}">
                      <a16:creationId xmlns:a16="http://schemas.microsoft.com/office/drawing/2014/main" id="{337CF272-5081-4151-89BE-D9D2FD95C0F8}"/>
                    </a:ext>
                  </a:extLst>
                </p:cNvPr>
                <p:cNvSpPr>
                  <a:spLocks noRot="1" noChangeAspect="1" noMove="1" noResize="1" noEditPoints="1" noAdjustHandles="1" noChangeArrowheads="1" noChangeShapeType="1" noTextEdit="1"/>
                </p:cNvSpPr>
                <p:nvPr/>
              </p:nvSpPr>
              <p:spPr>
                <a:xfrm>
                  <a:off x="6795188" y="4682905"/>
                  <a:ext cx="470385" cy="369332"/>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9" name="矩形 48">
                  <a:extLst>
                    <a:ext uri="{FF2B5EF4-FFF2-40B4-BE49-F238E27FC236}">
                      <a16:creationId xmlns:a16="http://schemas.microsoft.com/office/drawing/2014/main" id="{A06DDD53-EB53-4F8E-898F-263CB0F00920}"/>
                    </a:ext>
                  </a:extLst>
                </p:cNvPr>
                <p:cNvSpPr/>
                <p:nvPr/>
              </p:nvSpPr>
              <p:spPr>
                <a:xfrm>
                  <a:off x="7508920" y="3314663"/>
                  <a:ext cx="678391" cy="44140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i="1">
                                <a:latin typeface="Cambria Math" panose="02040503050406030204" pitchFamily="18" charset="0"/>
                              </a:rPr>
                              <m:t>𝑤</m:t>
                            </m:r>
                          </m:e>
                          <m:sub>
                            <m:r>
                              <a:rPr lang="en-US" altLang="zh-CN" b="0" i="1" smtClean="0">
                                <a:latin typeface="Cambria Math" panose="02040503050406030204" pitchFamily="18" charset="0"/>
                              </a:rPr>
                              <m:t>𝐷𝑃</m:t>
                            </m:r>
                          </m:sub>
                          <m:sup>
                            <m:d>
                              <m:dPr>
                                <m:ctrlPr>
                                  <a:rPr lang="en-US" altLang="zh-CN" b="1" i="1">
                                    <a:latin typeface="Cambria Math" panose="02040503050406030204" pitchFamily="18" charset="0"/>
                                  </a:rPr>
                                </m:ctrlPr>
                              </m:dPr>
                              <m:e>
                                <m:r>
                                  <a:rPr lang="en-US" altLang="zh-CN" b="0" i="1" smtClean="0">
                                    <a:latin typeface="Cambria Math" panose="02040503050406030204" pitchFamily="18" charset="0"/>
                                  </a:rPr>
                                  <m:t>0</m:t>
                                </m:r>
                              </m:e>
                            </m:d>
                          </m:sup>
                        </m:sSubSup>
                      </m:oMath>
                    </m:oMathPara>
                  </a14:m>
                  <a:endParaRPr lang="zh-CN" altLang="en-US" dirty="0"/>
                </a:p>
              </p:txBody>
            </p:sp>
          </mc:Choice>
          <mc:Fallback xmlns="">
            <p:sp>
              <p:nvSpPr>
                <p:cNvPr id="49" name="矩形 48">
                  <a:extLst>
                    <a:ext uri="{FF2B5EF4-FFF2-40B4-BE49-F238E27FC236}">
                      <a16:creationId xmlns:a16="http://schemas.microsoft.com/office/drawing/2014/main" id="{A06DDD53-EB53-4F8E-898F-263CB0F00920}"/>
                    </a:ext>
                  </a:extLst>
                </p:cNvPr>
                <p:cNvSpPr>
                  <a:spLocks noRot="1" noChangeAspect="1" noMove="1" noResize="1" noEditPoints="1" noAdjustHandles="1" noChangeArrowheads="1" noChangeShapeType="1" noTextEdit="1"/>
                </p:cNvSpPr>
                <p:nvPr/>
              </p:nvSpPr>
              <p:spPr>
                <a:xfrm>
                  <a:off x="7508920" y="3314663"/>
                  <a:ext cx="678391" cy="441403"/>
                </a:xfrm>
                <a:prstGeom prst="rect">
                  <a:avLst/>
                </a:prstGeom>
                <a:blipFill>
                  <a:blip r:embed="rId13"/>
                  <a:stretch>
                    <a:fillRect/>
                  </a:stretch>
                </a:blipFill>
              </p:spPr>
              <p:txBody>
                <a:bodyPr/>
                <a:lstStyle/>
                <a:p>
                  <a:r>
                    <a:rPr lang="zh-CN" altLang="en-US">
                      <a:noFill/>
                    </a:rPr>
                    <a:t> </a:t>
                  </a:r>
                </a:p>
              </p:txBody>
            </p:sp>
          </mc:Fallback>
        </mc:AlternateContent>
        <p:sp>
          <p:nvSpPr>
            <p:cNvPr id="50" name="椭圆 49">
              <a:extLst>
                <a:ext uri="{FF2B5EF4-FFF2-40B4-BE49-F238E27FC236}">
                  <a16:creationId xmlns:a16="http://schemas.microsoft.com/office/drawing/2014/main" id="{81BCC714-6153-4CEE-ADDA-21F5E7E62DD3}"/>
                </a:ext>
              </a:extLst>
            </p:cNvPr>
            <p:cNvSpPr/>
            <p:nvPr/>
          </p:nvSpPr>
          <p:spPr>
            <a:xfrm>
              <a:off x="7188833" y="5364589"/>
              <a:ext cx="288000" cy="288000"/>
            </a:xfrm>
            <a:prstGeom prst="ellipse">
              <a:avLst/>
            </a:prstGeom>
            <a:solidFill>
              <a:srgbClr val="0208A7"/>
            </a:solidFill>
            <a:ln w="57150">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1" name="直接连接符 50">
              <a:extLst>
                <a:ext uri="{FF2B5EF4-FFF2-40B4-BE49-F238E27FC236}">
                  <a16:creationId xmlns:a16="http://schemas.microsoft.com/office/drawing/2014/main" id="{204BE1FD-C4BD-489E-9139-161BD488DA39}"/>
                </a:ext>
              </a:extLst>
            </p:cNvPr>
            <p:cNvCxnSpPr>
              <a:cxnSpLocks/>
              <a:stCxn id="50" idx="7"/>
            </p:cNvCxnSpPr>
            <p:nvPr/>
          </p:nvCxnSpPr>
          <p:spPr>
            <a:xfrm flipV="1">
              <a:off x="7434656" y="3750516"/>
              <a:ext cx="963998" cy="1656250"/>
            </a:xfrm>
            <a:prstGeom prst="line">
              <a:avLst/>
            </a:prstGeom>
            <a:ln w="28575">
              <a:solidFill>
                <a:srgbClr val="0202BF"/>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89DAD916-5738-4B9F-A92B-F32EC65B9C92}"/>
                </a:ext>
              </a:extLst>
            </p:cNvPr>
            <p:cNvCxnSpPr>
              <a:cxnSpLocks/>
              <a:stCxn id="50" idx="6"/>
            </p:cNvCxnSpPr>
            <p:nvPr/>
          </p:nvCxnSpPr>
          <p:spPr>
            <a:xfrm flipV="1">
              <a:off x="7476833" y="5035929"/>
              <a:ext cx="827986" cy="472660"/>
            </a:xfrm>
            <a:prstGeom prst="line">
              <a:avLst/>
            </a:prstGeom>
            <a:ln w="28575">
              <a:solidFill>
                <a:srgbClr val="0202BF"/>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7" name="矩形 56">
                  <a:extLst>
                    <a:ext uri="{FF2B5EF4-FFF2-40B4-BE49-F238E27FC236}">
                      <a16:creationId xmlns:a16="http://schemas.microsoft.com/office/drawing/2014/main" id="{F42B194B-7441-4CFD-ACE8-C97C1508646E}"/>
                    </a:ext>
                  </a:extLst>
                </p:cNvPr>
                <p:cNvSpPr/>
                <p:nvPr/>
              </p:nvSpPr>
              <p:spPr>
                <a:xfrm>
                  <a:off x="6814604" y="3766551"/>
                  <a:ext cx="49084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𝑃</m:t>
                            </m:r>
                          </m:sub>
                        </m:sSub>
                      </m:oMath>
                    </m:oMathPara>
                  </a14:m>
                  <a:endParaRPr lang="zh-CN" altLang="en-US" dirty="0"/>
                </a:p>
              </p:txBody>
            </p:sp>
          </mc:Choice>
          <mc:Fallback xmlns="">
            <p:sp>
              <p:nvSpPr>
                <p:cNvPr id="57" name="矩形 56">
                  <a:extLst>
                    <a:ext uri="{FF2B5EF4-FFF2-40B4-BE49-F238E27FC236}">
                      <a16:creationId xmlns:a16="http://schemas.microsoft.com/office/drawing/2014/main" id="{F42B194B-7441-4CFD-ACE8-C97C1508646E}"/>
                    </a:ext>
                  </a:extLst>
                </p:cNvPr>
                <p:cNvSpPr>
                  <a:spLocks noRot="1" noChangeAspect="1" noMove="1" noResize="1" noEditPoints="1" noAdjustHandles="1" noChangeArrowheads="1" noChangeShapeType="1" noTextEdit="1"/>
                </p:cNvSpPr>
                <p:nvPr/>
              </p:nvSpPr>
              <p:spPr>
                <a:xfrm>
                  <a:off x="6814604" y="3766551"/>
                  <a:ext cx="490840" cy="369332"/>
                </a:xfrm>
                <a:prstGeom prst="rect">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 name="矩形 57">
                  <a:extLst>
                    <a:ext uri="{FF2B5EF4-FFF2-40B4-BE49-F238E27FC236}">
                      <a16:creationId xmlns:a16="http://schemas.microsoft.com/office/drawing/2014/main" id="{B1352BC4-F127-48DC-9F2A-A26F961E57F2}"/>
                    </a:ext>
                  </a:extLst>
                </p:cNvPr>
                <p:cNvSpPr/>
                <p:nvPr/>
              </p:nvSpPr>
              <p:spPr>
                <a:xfrm>
                  <a:off x="8142257" y="3178441"/>
                  <a:ext cx="48763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𝑧</m:t>
                            </m:r>
                          </m:e>
                          <m:sub>
                            <m:r>
                              <a:rPr lang="en-US" altLang="zh-CN" b="0" i="1" smtClean="0">
                                <a:latin typeface="Cambria Math" panose="02040503050406030204" pitchFamily="18" charset="0"/>
                              </a:rPr>
                              <m:t>𝐷</m:t>
                            </m:r>
                          </m:sub>
                        </m:sSub>
                      </m:oMath>
                    </m:oMathPara>
                  </a14:m>
                  <a:endParaRPr lang="zh-CN" altLang="en-US" dirty="0"/>
                </a:p>
              </p:txBody>
            </p:sp>
          </mc:Choice>
          <mc:Fallback xmlns="">
            <p:sp>
              <p:nvSpPr>
                <p:cNvPr id="58" name="矩形 57">
                  <a:extLst>
                    <a:ext uri="{FF2B5EF4-FFF2-40B4-BE49-F238E27FC236}">
                      <a16:creationId xmlns:a16="http://schemas.microsoft.com/office/drawing/2014/main" id="{B1352BC4-F127-48DC-9F2A-A26F961E57F2}"/>
                    </a:ext>
                  </a:extLst>
                </p:cNvPr>
                <p:cNvSpPr>
                  <a:spLocks noRot="1" noChangeAspect="1" noMove="1" noResize="1" noEditPoints="1" noAdjustHandles="1" noChangeArrowheads="1" noChangeShapeType="1" noTextEdit="1"/>
                </p:cNvSpPr>
                <p:nvPr/>
              </p:nvSpPr>
              <p:spPr>
                <a:xfrm>
                  <a:off x="8142257" y="3178441"/>
                  <a:ext cx="487634" cy="369332"/>
                </a:xfrm>
                <a:prstGeom prst="rect">
                  <a:avLst/>
                </a:prstGeom>
                <a:blipFill>
                  <a:blip r:embed="rId15"/>
                  <a:stretch>
                    <a:fillRect/>
                  </a:stretch>
                </a:blipFill>
              </p:spPr>
              <p:txBody>
                <a:bodyPr/>
                <a:lstStyle/>
                <a:p>
                  <a:r>
                    <a:rPr lang="zh-CN" altLang="en-US">
                      <a:noFill/>
                    </a:rPr>
                    <a:t> </a:t>
                  </a:r>
                </a:p>
              </p:txBody>
            </p:sp>
          </mc:Fallback>
        </mc:AlternateContent>
      </p:grpSp>
      <p:sp>
        <p:nvSpPr>
          <p:cNvPr id="44" name="矩形 43">
            <a:extLst>
              <a:ext uri="{FF2B5EF4-FFF2-40B4-BE49-F238E27FC236}">
                <a16:creationId xmlns:a16="http://schemas.microsoft.com/office/drawing/2014/main" id="{704444B0-9006-4B15-ADCA-32BD4814BAB9}"/>
              </a:ext>
            </a:extLst>
          </p:cNvPr>
          <p:cNvSpPr/>
          <p:nvPr/>
        </p:nvSpPr>
        <p:spPr>
          <a:xfrm>
            <a:off x="632440" y="4999138"/>
            <a:ext cx="1746028" cy="720000"/>
          </a:xfrm>
          <a:prstGeom prst="rect">
            <a:avLst/>
          </a:prstGeom>
        </p:spPr>
        <p:txBody>
          <a:bodyPr wrap="square" anchor="ctr" anchorCtr="0">
            <a:noAutofit/>
          </a:bodyPr>
          <a:lstStyle/>
          <a:p>
            <a:pPr algn="ctr"/>
            <a:r>
              <a:rPr lang="zh-CN" altLang="en-US" dirty="0">
                <a:latin typeface="Monaco" panose="020B0509030404040204" pitchFamily="49" charset="0"/>
                <a:ea typeface="思源黑体 CN Bold" panose="020B0800000000000000" pitchFamily="34" charset="-122"/>
              </a:rPr>
              <a:t>误差后向传播</a:t>
            </a:r>
            <a:endParaRPr lang="zh-CN" altLang="en-US" dirty="0"/>
          </a:p>
        </p:txBody>
      </p:sp>
      <p:sp>
        <p:nvSpPr>
          <p:cNvPr id="12" name="矩形 11">
            <a:extLst>
              <a:ext uri="{FF2B5EF4-FFF2-40B4-BE49-F238E27FC236}">
                <a16:creationId xmlns:a16="http://schemas.microsoft.com/office/drawing/2014/main" id="{3ADC67B9-C924-4916-834F-1F8D407B344C}"/>
              </a:ext>
            </a:extLst>
          </p:cNvPr>
          <p:cNvSpPr/>
          <p:nvPr/>
        </p:nvSpPr>
        <p:spPr>
          <a:xfrm>
            <a:off x="2255398" y="4999138"/>
            <a:ext cx="1287532" cy="720000"/>
          </a:xfrm>
          <a:prstGeom prst="rect">
            <a:avLst/>
          </a:prstGeom>
        </p:spPr>
        <p:txBody>
          <a:bodyPr wrap="none" anchor="ctr" anchorCtr="0">
            <a:noAutofit/>
          </a:bodyPr>
          <a:lstStyle/>
          <a:p>
            <a:r>
              <a:rPr lang="en-US" altLang="zh-CN" dirty="0">
                <a:latin typeface="Monaco" panose="020B0509030404040204" pitchFamily="49" charset="0"/>
                <a:ea typeface="思源黑体 CN Bold" panose="020B0800000000000000" pitchFamily="34" charset="-122"/>
              </a:rPr>
              <a:t>Backward</a:t>
            </a:r>
            <a:endParaRPr lang="zh-CN" altLang="en-US" dirty="0"/>
          </a:p>
        </p:txBody>
      </p:sp>
      <mc:AlternateContent xmlns:mc="http://schemas.openxmlformats.org/markup-compatibility/2006">
        <mc:Choice xmlns:a14="http://schemas.microsoft.com/office/drawing/2010/main" Requires="a14">
          <p:sp>
            <p:nvSpPr>
              <p:cNvPr id="15" name="矩形 14">
                <a:extLst>
                  <a:ext uri="{FF2B5EF4-FFF2-40B4-BE49-F238E27FC236}">
                    <a16:creationId xmlns:a16="http://schemas.microsoft.com/office/drawing/2014/main" id="{BA3BDF3D-9F30-4BD0-97CA-A9EA0A8C6619}"/>
                  </a:ext>
                </a:extLst>
              </p:cNvPr>
              <p:cNvSpPr/>
              <p:nvPr/>
            </p:nvSpPr>
            <p:spPr>
              <a:xfrm>
                <a:off x="9924783" y="5000270"/>
                <a:ext cx="1728000" cy="720000"/>
              </a:xfrm>
              <a:prstGeom prst="rect">
                <a:avLst/>
              </a:prstGeom>
              <a:ln>
                <a:solidFill>
                  <a:srgbClr val="0070C0"/>
                </a:solidFill>
              </a:ln>
            </p:spPr>
            <p:txBody>
              <a:bodyPr wrap="square" anchor="ctr" anchorCtr="0">
                <a:noAutofit/>
              </a:bodyPr>
              <a:lstStyle/>
              <a:p>
                <a:pPr>
                  <a:spcAft>
                    <a:spcPts val="500"/>
                  </a:spcAft>
                </a:pPr>
                <a14:m>
                  <m:oMathPara xmlns:m="http://schemas.openxmlformats.org/officeDocument/2006/math">
                    <m:oMathParaPr>
                      <m:jc m:val="left"/>
                    </m:oMathParaPr>
                    <m:oMath xmlns:m="http://schemas.openxmlformats.org/officeDocument/2006/math">
                      <m:sSub>
                        <m:sSubPr>
                          <m:ctrlPr>
                            <a:rPr lang="en-US" altLang="zh-CN" sz="1400" b="1" i="1">
                              <a:solidFill>
                                <a:srgbClr val="FF0000"/>
                              </a:solidFill>
                              <a:latin typeface="Cambria Math" panose="02040503050406030204" pitchFamily="18" charset="0"/>
                            </a:rPr>
                          </m:ctrlPr>
                        </m:sSubPr>
                        <m:e>
                          <m:r>
                            <a:rPr lang="zh-CN" altLang="en-US" sz="1400" i="1">
                              <a:solidFill>
                                <a:srgbClr val="FF0000"/>
                              </a:solidFill>
                              <a:latin typeface="Cambria Math" panose="02040503050406030204" pitchFamily="18" charset="0"/>
                            </a:rPr>
                            <m:t>𝛿</m:t>
                          </m:r>
                        </m:e>
                        <m:sub>
                          <m:r>
                            <a:rPr lang="en-US" altLang="zh-CN" sz="1400" i="1">
                              <a:solidFill>
                                <a:srgbClr val="FF0000"/>
                              </a:solidFill>
                              <a:latin typeface="Cambria Math" panose="02040503050406030204" pitchFamily="18" charset="0"/>
                            </a:rPr>
                            <m:t>𝑘</m:t>
                          </m:r>
                        </m:sub>
                      </m:sSub>
                      <m:r>
                        <a:rPr lang="en-US" altLang="zh-CN" sz="1400" i="1">
                          <a:latin typeface="Cambria Math" panose="02040503050406030204" pitchFamily="18" charset="0"/>
                        </a:rPr>
                        <m:t>=</m:t>
                      </m:r>
                      <m:f>
                        <m:fPr>
                          <m:ctrlPr>
                            <a:rPr lang="en-US" altLang="zh-CN" sz="1400" i="1" smtClean="0">
                              <a:effectLst>
                                <a:glow rad="101600">
                                  <a:schemeClr val="accent2">
                                    <a:satMod val="175000"/>
                                    <a:alpha val="40000"/>
                                  </a:schemeClr>
                                </a:glow>
                              </a:effectLst>
                              <a:latin typeface="Cambria Math" panose="02040503050406030204" pitchFamily="18" charset="0"/>
                            </a:rPr>
                          </m:ctrlPr>
                        </m:fPr>
                        <m:num>
                          <m:r>
                            <a:rPr lang="en-US" altLang="zh-CN" sz="1400" i="1">
                              <a:effectLst>
                                <a:glow rad="101600">
                                  <a:schemeClr val="accent2">
                                    <a:satMod val="175000"/>
                                    <a:alpha val="40000"/>
                                  </a:schemeClr>
                                </a:glow>
                              </a:effectLst>
                              <a:latin typeface="Cambria Math" panose="02040503050406030204" pitchFamily="18" charset="0"/>
                            </a:rPr>
                            <m:t>𝜕</m:t>
                          </m:r>
                          <m:r>
                            <a:rPr lang="en-US" altLang="zh-CN" sz="1400" i="1">
                              <a:effectLst>
                                <a:glow rad="101600">
                                  <a:schemeClr val="accent2">
                                    <a:satMod val="175000"/>
                                    <a:alpha val="40000"/>
                                  </a:schemeClr>
                                </a:glow>
                              </a:effectLst>
                              <a:latin typeface="Cambria Math" panose="02040503050406030204" pitchFamily="18" charset="0"/>
                            </a:rPr>
                            <m:t>𝐿</m:t>
                          </m:r>
                        </m:num>
                        <m:den>
                          <m:r>
                            <a:rPr lang="en-US" altLang="zh-CN" sz="1400" i="1">
                              <a:effectLst>
                                <a:glow rad="101600">
                                  <a:schemeClr val="accent2">
                                    <a:satMod val="175000"/>
                                    <a:alpha val="40000"/>
                                  </a:schemeClr>
                                </a:glow>
                              </a:effectLst>
                              <a:latin typeface="Cambria Math" panose="02040503050406030204" pitchFamily="18" charset="0"/>
                            </a:rPr>
                            <m:t>𝜕</m:t>
                          </m:r>
                          <m:sSub>
                            <m:sSubPr>
                              <m:ctrlPr>
                                <a:rPr lang="en-US" altLang="zh-CN" sz="1400" b="1" i="1">
                                  <a:effectLst>
                                    <a:glow rad="101600">
                                      <a:schemeClr val="accent2">
                                        <a:satMod val="175000"/>
                                        <a:alpha val="40000"/>
                                      </a:schemeClr>
                                    </a:glow>
                                  </a:effectLst>
                                  <a:latin typeface="Cambria Math" panose="02040503050406030204" pitchFamily="18" charset="0"/>
                                </a:rPr>
                              </m:ctrlPr>
                            </m:sSubPr>
                            <m:e>
                              <m:r>
                                <a:rPr lang="en-US" altLang="zh-CN" sz="1400" i="1">
                                  <a:effectLst>
                                    <a:glow rad="101600">
                                      <a:schemeClr val="accent2">
                                        <a:satMod val="175000"/>
                                        <a:alpha val="40000"/>
                                      </a:schemeClr>
                                    </a:glow>
                                  </a:effectLst>
                                  <a:latin typeface="Cambria Math" panose="02040503050406030204" pitchFamily="18" charset="0"/>
                                </a:rPr>
                                <m:t>𝑎</m:t>
                              </m:r>
                            </m:e>
                            <m:sub>
                              <m:r>
                                <a:rPr lang="en-US" altLang="zh-CN" sz="1400" i="1">
                                  <a:effectLst>
                                    <a:glow rad="101600">
                                      <a:schemeClr val="accent2">
                                        <a:satMod val="175000"/>
                                        <a:alpha val="40000"/>
                                      </a:schemeClr>
                                    </a:glow>
                                  </a:effectLst>
                                  <a:latin typeface="Cambria Math" panose="02040503050406030204" pitchFamily="18" charset="0"/>
                                </a:rPr>
                                <m:t>𝑘</m:t>
                              </m:r>
                            </m:sub>
                          </m:sSub>
                        </m:den>
                      </m:f>
                      <m:r>
                        <a:rPr lang="en-US" altLang="zh-CN" sz="1400" b="1" i="1">
                          <a:latin typeface="Cambria Math" panose="02040503050406030204" pitchFamily="18" charset="0"/>
                        </a:rPr>
                        <m:t>=</m:t>
                      </m:r>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𝑦</m:t>
                          </m:r>
                        </m:e>
                        <m:sub>
                          <m:r>
                            <a:rPr lang="en-US" altLang="zh-CN" sz="1400" i="1">
                              <a:latin typeface="Cambria Math" panose="02040503050406030204" pitchFamily="18" charset="0"/>
                            </a:rPr>
                            <m:t>𝑘</m:t>
                          </m:r>
                        </m:sub>
                      </m:sSub>
                      <m:r>
                        <a:rPr lang="en-US" altLang="zh-CN" sz="1400" i="1">
                          <a:latin typeface="Cambria Math" panose="02040503050406030204" pitchFamily="18" charset="0"/>
                        </a:rPr>
                        <m:t>−</m:t>
                      </m:r>
                      <m:sSub>
                        <m:sSubPr>
                          <m:ctrlPr>
                            <a:rPr lang="en-US" altLang="zh-CN" sz="1400" b="1" i="1">
                              <a:latin typeface="Cambria Math" panose="02040503050406030204" pitchFamily="18" charset="0"/>
                            </a:rPr>
                          </m:ctrlPr>
                        </m:sSubPr>
                        <m:e>
                          <m:r>
                            <a:rPr lang="en-US" altLang="zh-CN" sz="1400" i="1">
                              <a:latin typeface="Cambria Math" panose="02040503050406030204" pitchFamily="18" charset="0"/>
                            </a:rPr>
                            <m:t>𝑡</m:t>
                          </m:r>
                        </m:e>
                        <m:sub>
                          <m:r>
                            <a:rPr lang="en-US" altLang="zh-CN" sz="1400" i="1">
                              <a:latin typeface="Cambria Math" panose="02040503050406030204" pitchFamily="18" charset="0"/>
                            </a:rPr>
                            <m:t>𝑘</m:t>
                          </m:r>
                        </m:sub>
                      </m:sSub>
                    </m:oMath>
                  </m:oMathPara>
                </a14:m>
                <a:endParaRPr lang="en-US" altLang="zh-CN" sz="1400" b="1" i="1" dirty="0">
                  <a:latin typeface="Cambria Math" panose="02040503050406030204" pitchFamily="18" charset="0"/>
                </a:endParaRPr>
              </a:p>
            </p:txBody>
          </p:sp>
        </mc:Choice>
        <mc:Fallback>
          <p:sp>
            <p:nvSpPr>
              <p:cNvPr id="15" name="矩形 14">
                <a:extLst>
                  <a:ext uri="{FF2B5EF4-FFF2-40B4-BE49-F238E27FC236}">
                    <a16:creationId xmlns:a16="http://schemas.microsoft.com/office/drawing/2014/main" id="{BA3BDF3D-9F30-4BD0-97CA-A9EA0A8C6619}"/>
                  </a:ext>
                </a:extLst>
              </p:cNvPr>
              <p:cNvSpPr>
                <a:spLocks noRot="1" noChangeAspect="1" noMove="1" noResize="1" noEditPoints="1" noAdjustHandles="1" noChangeArrowheads="1" noChangeShapeType="1" noTextEdit="1"/>
              </p:cNvSpPr>
              <p:nvPr/>
            </p:nvSpPr>
            <p:spPr>
              <a:xfrm>
                <a:off x="9924783" y="5000270"/>
                <a:ext cx="1728000" cy="720000"/>
              </a:xfrm>
              <a:prstGeom prst="rect">
                <a:avLst/>
              </a:prstGeom>
              <a:blipFill>
                <a:blip r:embed="rId16"/>
                <a:stretch>
                  <a:fillRect/>
                </a:stretch>
              </a:blipFill>
              <a:ln>
                <a:solidFill>
                  <a:srgbClr val="0070C0"/>
                </a:solid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矩形 15">
                <a:extLst>
                  <a:ext uri="{FF2B5EF4-FFF2-40B4-BE49-F238E27FC236}">
                    <a16:creationId xmlns:a16="http://schemas.microsoft.com/office/drawing/2014/main" id="{1E1FBAA0-6547-43B9-AF69-76F6D270BF83}"/>
                  </a:ext>
                </a:extLst>
              </p:cNvPr>
              <p:cNvSpPr/>
              <p:nvPr/>
            </p:nvSpPr>
            <p:spPr>
              <a:xfrm>
                <a:off x="7000624" y="5000270"/>
                <a:ext cx="2412000" cy="720000"/>
              </a:xfrm>
              <a:prstGeom prst="rect">
                <a:avLst/>
              </a:prstGeom>
              <a:ln>
                <a:solidFill>
                  <a:srgbClr val="0070C0"/>
                </a:solidFill>
              </a:ln>
            </p:spPr>
            <p:txBody>
              <a:bodyPr wrap="square" anchor="ctr" anchorCtr="0">
                <a:noAutofit/>
              </a:bodyPr>
              <a:lstStyle/>
              <a:p>
                <a:pPr>
                  <a:spcAft>
                    <a:spcPts val="500"/>
                  </a:spcAft>
                </a:pPr>
                <a14:m>
                  <m:oMathPara xmlns:m="http://schemas.openxmlformats.org/officeDocument/2006/math">
                    <m:oMathParaPr>
                      <m:jc m:val="left"/>
                    </m:oMathParaPr>
                    <m:oMath xmlns:m="http://schemas.openxmlformats.org/officeDocument/2006/math">
                      <m:sSub>
                        <m:sSubPr>
                          <m:ctrlPr>
                            <a:rPr lang="en-US" altLang="zh-CN" sz="1400" b="1" i="1">
                              <a:solidFill>
                                <a:srgbClr val="0202BF"/>
                              </a:solidFill>
                              <a:latin typeface="Cambria Math" panose="02040503050406030204" pitchFamily="18" charset="0"/>
                            </a:rPr>
                          </m:ctrlPr>
                        </m:sSubPr>
                        <m:e>
                          <m:r>
                            <a:rPr lang="zh-CN" altLang="en-US" sz="1400" i="1">
                              <a:solidFill>
                                <a:srgbClr val="0202BF"/>
                              </a:solidFill>
                              <a:latin typeface="Cambria Math" panose="02040503050406030204" pitchFamily="18" charset="0"/>
                            </a:rPr>
                            <m:t>𝛿</m:t>
                          </m:r>
                        </m:e>
                        <m:sub>
                          <m:r>
                            <a:rPr lang="en-US" altLang="zh-CN" sz="1400" i="1">
                              <a:solidFill>
                                <a:srgbClr val="0202BF"/>
                              </a:solidFill>
                              <a:latin typeface="Cambria Math" panose="02040503050406030204" pitchFamily="18" charset="0"/>
                            </a:rPr>
                            <m:t>𝑗</m:t>
                          </m:r>
                        </m:sub>
                      </m:sSub>
                      <m:r>
                        <a:rPr lang="en-US" altLang="zh-CN" sz="1400" i="1">
                          <a:latin typeface="Cambria Math" panose="02040503050406030204" pitchFamily="18" charset="0"/>
                        </a:rPr>
                        <m:t>=</m:t>
                      </m:r>
                      <m:f>
                        <m:fPr>
                          <m:ctrlPr>
                            <a:rPr lang="en-US" altLang="zh-CN" sz="1400" i="1" smtClean="0">
                              <a:effectLst>
                                <a:glow rad="101600">
                                  <a:schemeClr val="accent2">
                                    <a:satMod val="175000"/>
                                    <a:alpha val="40000"/>
                                  </a:schemeClr>
                                </a:glow>
                              </a:effectLst>
                              <a:latin typeface="Cambria Math" panose="02040503050406030204" pitchFamily="18" charset="0"/>
                            </a:rPr>
                          </m:ctrlPr>
                        </m:fPr>
                        <m:num>
                          <m:r>
                            <a:rPr lang="en-US" altLang="zh-CN" sz="1400" i="1">
                              <a:effectLst>
                                <a:glow rad="101600">
                                  <a:schemeClr val="accent2">
                                    <a:satMod val="175000"/>
                                    <a:alpha val="40000"/>
                                  </a:schemeClr>
                                </a:glow>
                              </a:effectLst>
                              <a:latin typeface="Cambria Math" panose="02040503050406030204" pitchFamily="18" charset="0"/>
                            </a:rPr>
                            <m:t>𝜕</m:t>
                          </m:r>
                          <m:r>
                            <a:rPr lang="en-US" altLang="zh-CN" sz="1400" i="1">
                              <a:effectLst>
                                <a:glow rad="101600">
                                  <a:schemeClr val="accent2">
                                    <a:satMod val="175000"/>
                                    <a:alpha val="40000"/>
                                  </a:schemeClr>
                                </a:glow>
                              </a:effectLst>
                              <a:latin typeface="Cambria Math" panose="02040503050406030204" pitchFamily="18" charset="0"/>
                            </a:rPr>
                            <m:t>𝐿</m:t>
                          </m:r>
                        </m:num>
                        <m:den>
                          <m:r>
                            <a:rPr lang="en-US" altLang="zh-CN" sz="1400" i="1">
                              <a:effectLst>
                                <a:glow rad="101600">
                                  <a:schemeClr val="accent2">
                                    <a:satMod val="175000"/>
                                    <a:alpha val="40000"/>
                                  </a:schemeClr>
                                </a:glow>
                              </a:effectLst>
                              <a:latin typeface="Cambria Math" panose="02040503050406030204" pitchFamily="18" charset="0"/>
                            </a:rPr>
                            <m:t>𝜕</m:t>
                          </m:r>
                          <m:sSub>
                            <m:sSubPr>
                              <m:ctrlPr>
                                <a:rPr lang="en-US" altLang="zh-CN" sz="1400" b="1" i="1">
                                  <a:effectLst>
                                    <a:glow rad="101600">
                                      <a:schemeClr val="accent2">
                                        <a:satMod val="175000"/>
                                        <a:alpha val="40000"/>
                                      </a:schemeClr>
                                    </a:glow>
                                  </a:effectLst>
                                  <a:latin typeface="Cambria Math" panose="02040503050406030204" pitchFamily="18" charset="0"/>
                                </a:rPr>
                              </m:ctrlPr>
                            </m:sSubPr>
                            <m:e>
                              <m:r>
                                <a:rPr lang="en-US" altLang="zh-CN" sz="1400" i="1">
                                  <a:effectLst>
                                    <a:glow rad="101600">
                                      <a:schemeClr val="accent2">
                                        <a:satMod val="175000"/>
                                        <a:alpha val="40000"/>
                                      </a:schemeClr>
                                    </a:glow>
                                  </a:effectLst>
                                  <a:latin typeface="Cambria Math" panose="02040503050406030204" pitchFamily="18" charset="0"/>
                                </a:rPr>
                                <m:t>𝑎</m:t>
                              </m:r>
                            </m:e>
                            <m:sub>
                              <m:r>
                                <a:rPr lang="en-US" altLang="zh-CN" sz="1400" i="1">
                                  <a:effectLst>
                                    <a:glow rad="101600">
                                      <a:schemeClr val="accent2">
                                        <a:satMod val="175000"/>
                                        <a:alpha val="40000"/>
                                      </a:schemeClr>
                                    </a:glow>
                                  </a:effectLst>
                                  <a:latin typeface="Cambria Math" panose="02040503050406030204" pitchFamily="18" charset="0"/>
                                </a:rPr>
                                <m:t>𝑗</m:t>
                              </m:r>
                            </m:sub>
                          </m:sSub>
                        </m:den>
                      </m:f>
                      <m:r>
                        <a:rPr lang="en-US" altLang="zh-CN" sz="1400" i="1">
                          <a:latin typeface="Cambria Math" panose="02040503050406030204" pitchFamily="18" charset="0"/>
                        </a:rPr>
                        <m:t>=</m:t>
                      </m:r>
                      <m:sSup>
                        <m:sSupPr>
                          <m:ctrlPr>
                            <a:rPr lang="en-US" altLang="zh-CN" sz="1400" i="1">
                              <a:latin typeface="Cambria Math" panose="02040503050406030204" pitchFamily="18" charset="0"/>
                            </a:rPr>
                          </m:ctrlPr>
                        </m:sSupPr>
                        <m:e>
                          <m:r>
                            <a:rPr lang="en-US" altLang="zh-CN" sz="1400" i="1">
                              <a:latin typeface="Cambria Math" panose="02040503050406030204" pitchFamily="18" charset="0"/>
                            </a:rPr>
                            <m:t>h</m:t>
                          </m:r>
                        </m:e>
                        <m:sup>
                          <m:r>
                            <a:rPr lang="en-US" altLang="zh-CN" sz="1400" i="1">
                              <a:latin typeface="Cambria Math" panose="02040503050406030204" pitchFamily="18" charset="0"/>
                            </a:rPr>
                            <m:t>′</m:t>
                          </m:r>
                        </m:sup>
                      </m:sSup>
                      <m:d>
                        <m:dPr>
                          <m:ctrlPr>
                            <a:rPr lang="en-US" altLang="zh-CN" sz="1400" b="1" i="1">
                              <a:latin typeface="Cambria Math" panose="02040503050406030204" pitchFamily="18" charset="0"/>
                            </a:rPr>
                          </m:ctrlPr>
                        </m:dPr>
                        <m:e>
                          <m:sSub>
                            <m:sSubPr>
                              <m:ctrlPr>
                                <a:rPr lang="en-US" altLang="zh-CN" sz="1400" b="1" i="1">
                                  <a:latin typeface="Cambria Math" panose="02040503050406030204" pitchFamily="18" charset="0"/>
                                </a:rPr>
                              </m:ctrlPr>
                            </m:sSubPr>
                            <m:e>
                              <m:r>
                                <a:rPr lang="en-US" altLang="zh-CN" sz="1400" i="1">
                                  <a:latin typeface="Cambria Math" panose="02040503050406030204" pitchFamily="18" charset="0"/>
                                </a:rPr>
                                <m:t>𝑎</m:t>
                              </m:r>
                            </m:e>
                            <m:sub>
                              <m:r>
                                <a:rPr lang="en-US" altLang="zh-CN" sz="1400" i="1">
                                  <a:latin typeface="Cambria Math" panose="02040503050406030204" pitchFamily="18" charset="0"/>
                                </a:rPr>
                                <m:t>𝑗</m:t>
                              </m:r>
                            </m:sub>
                          </m:sSub>
                        </m:e>
                      </m:d>
                      <m:nary>
                        <m:naryPr>
                          <m:chr m:val="∑"/>
                          <m:ctrlPr>
                            <a:rPr lang="en-US" altLang="zh-CN" sz="1400" i="1">
                              <a:latin typeface="Cambria Math" panose="02040503050406030204" pitchFamily="18" charset="0"/>
                            </a:rPr>
                          </m:ctrlPr>
                        </m:naryPr>
                        <m:sub>
                          <m:r>
                            <m:rPr>
                              <m:brk m:alnAt="23"/>
                            </m:rPr>
                            <a:rPr lang="en-US" altLang="zh-CN" sz="1400" i="1">
                              <a:latin typeface="Cambria Math" panose="02040503050406030204" pitchFamily="18" charset="0"/>
                            </a:rPr>
                            <m:t>𝑘</m:t>
                          </m:r>
                          <m:r>
                            <a:rPr lang="en-US" altLang="zh-CN" sz="1400" i="1">
                              <a:latin typeface="Cambria Math" panose="02040503050406030204" pitchFamily="18" charset="0"/>
                            </a:rPr>
                            <m:t>=1</m:t>
                          </m:r>
                        </m:sub>
                        <m:sup>
                          <m:r>
                            <a:rPr lang="en-US" altLang="zh-CN" sz="1400" i="1">
                              <a:latin typeface="Cambria Math" panose="02040503050406030204" pitchFamily="18" charset="0"/>
                            </a:rPr>
                            <m:t>𝐾</m:t>
                          </m:r>
                        </m:sup>
                        <m:e>
                          <m:sSubSup>
                            <m:sSubSupPr>
                              <m:ctrlPr>
                                <a:rPr lang="en-US" altLang="zh-CN" sz="1400" i="1">
                                  <a:latin typeface="Cambria Math" panose="02040503050406030204" pitchFamily="18" charset="0"/>
                                </a:rPr>
                              </m:ctrlPr>
                            </m:sSubSupPr>
                            <m:e>
                              <m:r>
                                <a:rPr lang="en-US" altLang="zh-CN" sz="1400" i="1">
                                  <a:latin typeface="Cambria Math" panose="02040503050406030204" pitchFamily="18" charset="0"/>
                                </a:rPr>
                                <m:t>𝑤</m:t>
                              </m:r>
                            </m:e>
                            <m:sub>
                              <m:r>
                                <a:rPr lang="en-US" altLang="zh-CN" sz="1400" i="1">
                                  <a:latin typeface="Cambria Math" panose="02040503050406030204" pitchFamily="18" charset="0"/>
                                </a:rPr>
                                <m:t>𝑘𝑗</m:t>
                              </m:r>
                            </m:sub>
                            <m:sup>
                              <m:d>
                                <m:dPr>
                                  <m:ctrlPr>
                                    <a:rPr lang="en-US" altLang="zh-CN" sz="1400" b="1" i="1">
                                      <a:latin typeface="Cambria Math" panose="02040503050406030204" pitchFamily="18" charset="0"/>
                                    </a:rPr>
                                  </m:ctrlPr>
                                </m:dPr>
                                <m:e>
                                  <m:r>
                                    <a:rPr lang="en-US" altLang="zh-CN" sz="1400" i="1">
                                      <a:latin typeface="Cambria Math" panose="02040503050406030204" pitchFamily="18" charset="0"/>
                                    </a:rPr>
                                    <m:t>2</m:t>
                                  </m:r>
                                </m:e>
                              </m:d>
                            </m:sup>
                          </m:sSubSup>
                          <m:sSub>
                            <m:sSubPr>
                              <m:ctrlPr>
                                <a:rPr lang="en-US" altLang="zh-CN" sz="1400" b="1" i="1">
                                  <a:solidFill>
                                    <a:srgbClr val="FF0000"/>
                                  </a:solidFill>
                                  <a:latin typeface="Cambria Math" panose="02040503050406030204" pitchFamily="18" charset="0"/>
                                </a:rPr>
                              </m:ctrlPr>
                            </m:sSubPr>
                            <m:e>
                              <m:r>
                                <a:rPr lang="zh-CN" altLang="en-US" sz="1400" i="1">
                                  <a:solidFill>
                                    <a:srgbClr val="FF0000"/>
                                  </a:solidFill>
                                  <a:latin typeface="Cambria Math" panose="02040503050406030204" pitchFamily="18" charset="0"/>
                                </a:rPr>
                                <m:t>𝛿</m:t>
                              </m:r>
                            </m:e>
                            <m:sub>
                              <m:r>
                                <a:rPr lang="en-US" altLang="zh-CN" sz="1400" i="1">
                                  <a:solidFill>
                                    <a:srgbClr val="FF0000"/>
                                  </a:solidFill>
                                  <a:latin typeface="Cambria Math" panose="02040503050406030204" pitchFamily="18" charset="0"/>
                                </a:rPr>
                                <m:t>𝑘</m:t>
                              </m:r>
                            </m:sub>
                          </m:sSub>
                        </m:e>
                      </m:nary>
                    </m:oMath>
                  </m:oMathPara>
                </a14:m>
                <a:endParaRPr lang="en-US" altLang="zh-CN" sz="1400" i="1" dirty="0">
                  <a:latin typeface="Cambria Math" panose="02040503050406030204" pitchFamily="18" charset="0"/>
                </a:endParaRPr>
              </a:p>
            </p:txBody>
          </p:sp>
        </mc:Choice>
        <mc:Fallback>
          <p:sp>
            <p:nvSpPr>
              <p:cNvPr id="16" name="矩形 15">
                <a:extLst>
                  <a:ext uri="{FF2B5EF4-FFF2-40B4-BE49-F238E27FC236}">
                    <a16:creationId xmlns:a16="http://schemas.microsoft.com/office/drawing/2014/main" id="{1E1FBAA0-6547-43B9-AF69-76F6D270BF83}"/>
                  </a:ext>
                </a:extLst>
              </p:cNvPr>
              <p:cNvSpPr>
                <a:spLocks noRot="1" noChangeAspect="1" noMove="1" noResize="1" noEditPoints="1" noAdjustHandles="1" noChangeArrowheads="1" noChangeShapeType="1" noTextEdit="1"/>
              </p:cNvSpPr>
              <p:nvPr/>
            </p:nvSpPr>
            <p:spPr>
              <a:xfrm>
                <a:off x="7000624" y="5000270"/>
                <a:ext cx="2412000" cy="720000"/>
              </a:xfrm>
              <a:prstGeom prst="rect">
                <a:avLst/>
              </a:prstGeom>
              <a:blipFill>
                <a:blip r:embed="rId17"/>
                <a:stretch>
                  <a:fillRect/>
                </a:stretch>
              </a:blipFill>
              <a:ln>
                <a:solidFill>
                  <a:srgbClr val="0070C0"/>
                </a:solid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7" name="矩形 16">
                <a:extLst>
                  <a:ext uri="{FF2B5EF4-FFF2-40B4-BE49-F238E27FC236}">
                    <a16:creationId xmlns:a16="http://schemas.microsoft.com/office/drawing/2014/main" id="{B24D732C-2DFB-4CC7-B0C5-92B2A9325477}"/>
                  </a:ext>
                </a:extLst>
              </p:cNvPr>
              <p:cNvSpPr/>
              <p:nvPr/>
            </p:nvSpPr>
            <p:spPr>
              <a:xfrm>
                <a:off x="4071531" y="5000270"/>
                <a:ext cx="2376000" cy="720000"/>
              </a:xfrm>
              <a:prstGeom prst="rect">
                <a:avLst/>
              </a:prstGeom>
              <a:ln>
                <a:solidFill>
                  <a:srgbClr val="0070C0"/>
                </a:solidFill>
              </a:ln>
            </p:spPr>
            <p:txBody>
              <a:bodyPr wrap="none" anchor="ctr" anchorCtr="0">
                <a:noAutofit/>
              </a:bodyPr>
              <a:lstStyle/>
              <a:p>
                <a:pPr/>
                <a14:m>
                  <m:oMathPara xmlns:m="http://schemas.openxmlformats.org/officeDocument/2006/math">
                    <m:oMathParaPr>
                      <m:jc m:val="left"/>
                    </m:oMathParaPr>
                    <m:oMath xmlns:m="http://schemas.openxmlformats.org/officeDocument/2006/math">
                      <m:sSub>
                        <m:sSubPr>
                          <m:ctrlPr>
                            <a:rPr lang="en-US" altLang="zh-CN" sz="1400" b="1" i="1">
                              <a:latin typeface="Cambria Math" panose="02040503050406030204" pitchFamily="18" charset="0"/>
                            </a:rPr>
                          </m:ctrlPr>
                        </m:sSubPr>
                        <m:e>
                          <m:r>
                            <a:rPr lang="zh-CN" altLang="en-US" sz="1400" i="1">
                              <a:latin typeface="Cambria Math" panose="02040503050406030204" pitchFamily="18" charset="0"/>
                            </a:rPr>
                            <m:t>𝛿</m:t>
                          </m:r>
                        </m:e>
                        <m:sub>
                          <m:r>
                            <a:rPr lang="en-US" altLang="zh-CN" sz="1400" i="1">
                              <a:latin typeface="Cambria Math" panose="02040503050406030204" pitchFamily="18" charset="0"/>
                            </a:rPr>
                            <m:t>𝑖</m:t>
                          </m:r>
                        </m:sub>
                      </m:sSub>
                      <m:r>
                        <a:rPr lang="en-US" altLang="zh-CN" sz="1400" i="1">
                          <a:latin typeface="Cambria Math" panose="02040503050406030204" pitchFamily="18" charset="0"/>
                        </a:rPr>
                        <m:t>=</m:t>
                      </m:r>
                      <m:f>
                        <m:fPr>
                          <m:ctrlPr>
                            <a:rPr lang="en-US" altLang="zh-CN" sz="1400" i="1" smtClean="0">
                              <a:effectLst>
                                <a:glow rad="101600">
                                  <a:schemeClr val="accent2">
                                    <a:satMod val="175000"/>
                                    <a:alpha val="40000"/>
                                  </a:schemeClr>
                                </a:glow>
                              </a:effectLst>
                              <a:latin typeface="Cambria Math" panose="02040503050406030204" pitchFamily="18" charset="0"/>
                            </a:rPr>
                          </m:ctrlPr>
                        </m:fPr>
                        <m:num>
                          <m:r>
                            <a:rPr lang="en-US" altLang="zh-CN" sz="1400" b="0" i="1">
                              <a:effectLst>
                                <a:glow rad="101600">
                                  <a:schemeClr val="accent2">
                                    <a:satMod val="175000"/>
                                    <a:alpha val="40000"/>
                                  </a:schemeClr>
                                </a:glow>
                              </a:effectLst>
                              <a:latin typeface="Cambria Math" panose="02040503050406030204" pitchFamily="18" charset="0"/>
                            </a:rPr>
                            <m:t>𝜕</m:t>
                          </m:r>
                          <m:r>
                            <a:rPr lang="en-US" altLang="zh-CN" sz="1400" b="0" i="1">
                              <a:effectLst>
                                <a:glow rad="101600">
                                  <a:schemeClr val="accent2">
                                    <a:satMod val="175000"/>
                                    <a:alpha val="40000"/>
                                  </a:schemeClr>
                                </a:glow>
                              </a:effectLst>
                              <a:latin typeface="Cambria Math" panose="02040503050406030204" pitchFamily="18" charset="0"/>
                            </a:rPr>
                            <m:t>𝐿</m:t>
                          </m:r>
                        </m:num>
                        <m:den>
                          <m:r>
                            <a:rPr lang="en-US" altLang="zh-CN" sz="1400" b="0" i="1">
                              <a:effectLst>
                                <a:glow rad="101600">
                                  <a:schemeClr val="accent2">
                                    <a:satMod val="175000"/>
                                    <a:alpha val="40000"/>
                                  </a:schemeClr>
                                </a:glow>
                              </a:effectLst>
                              <a:latin typeface="Cambria Math" panose="02040503050406030204" pitchFamily="18" charset="0"/>
                            </a:rPr>
                            <m:t>𝜕</m:t>
                          </m:r>
                          <m:sSub>
                            <m:sSubPr>
                              <m:ctrlPr>
                                <a:rPr lang="en-US" altLang="zh-CN" sz="1400" i="1">
                                  <a:effectLst>
                                    <a:glow rad="101600">
                                      <a:schemeClr val="accent2">
                                        <a:satMod val="175000"/>
                                        <a:alpha val="40000"/>
                                      </a:schemeClr>
                                    </a:glow>
                                  </a:effectLst>
                                  <a:latin typeface="Cambria Math" panose="02040503050406030204" pitchFamily="18" charset="0"/>
                                </a:rPr>
                              </m:ctrlPr>
                            </m:sSubPr>
                            <m:e>
                              <m:r>
                                <a:rPr lang="en-US" altLang="zh-CN" sz="1400" b="0" i="1">
                                  <a:effectLst>
                                    <a:glow rad="101600">
                                      <a:schemeClr val="accent2">
                                        <a:satMod val="175000"/>
                                        <a:alpha val="40000"/>
                                      </a:schemeClr>
                                    </a:glow>
                                  </a:effectLst>
                                  <a:latin typeface="Cambria Math" panose="02040503050406030204" pitchFamily="18" charset="0"/>
                                </a:rPr>
                                <m:t>𝑎</m:t>
                              </m:r>
                            </m:e>
                            <m:sub>
                              <m:r>
                                <a:rPr lang="en-US" altLang="zh-CN" sz="1400" b="0" i="1">
                                  <a:effectLst>
                                    <a:glow rad="101600">
                                      <a:schemeClr val="accent2">
                                        <a:satMod val="175000"/>
                                        <a:alpha val="40000"/>
                                      </a:schemeClr>
                                    </a:glow>
                                  </a:effectLst>
                                  <a:latin typeface="Cambria Math" panose="02040503050406030204" pitchFamily="18" charset="0"/>
                                </a:rPr>
                                <m:t>𝑖</m:t>
                              </m:r>
                            </m:sub>
                          </m:sSub>
                        </m:den>
                      </m:f>
                      <m:r>
                        <a:rPr lang="en-US" altLang="zh-CN" sz="1400" b="1" i="1">
                          <a:latin typeface="Cambria Math" panose="02040503050406030204" pitchFamily="18" charset="0"/>
                        </a:rPr>
                        <m:t>=</m:t>
                      </m:r>
                      <m:sSup>
                        <m:sSupPr>
                          <m:ctrlPr>
                            <a:rPr lang="en-US" altLang="zh-CN" sz="1400" i="1">
                              <a:latin typeface="Cambria Math" panose="02040503050406030204" pitchFamily="18" charset="0"/>
                            </a:rPr>
                          </m:ctrlPr>
                        </m:sSupPr>
                        <m:e>
                          <m:r>
                            <a:rPr lang="en-US" altLang="zh-CN" sz="1400" i="1">
                              <a:latin typeface="Cambria Math" panose="02040503050406030204" pitchFamily="18" charset="0"/>
                            </a:rPr>
                            <m:t>h</m:t>
                          </m:r>
                        </m:e>
                        <m:sup>
                          <m:r>
                            <a:rPr lang="en-US" altLang="zh-CN" sz="1400" i="1">
                              <a:latin typeface="Cambria Math" panose="02040503050406030204" pitchFamily="18" charset="0"/>
                            </a:rPr>
                            <m:t>′</m:t>
                          </m:r>
                        </m:sup>
                      </m:sSup>
                      <m:d>
                        <m:dPr>
                          <m:ctrlPr>
                            <a:rPr lang="en-US" altLang="zh-CN" sz="1400" b="1" i="1">
                              <a:latin typeface="Cambria Math" panose="02040503050406030204" pitchFamily="18" charset="0"/>
                            </a:rPr>
                          </m:ctrlPr>
                        </m:dPr>
                        <m:e>
                          <m:sSub>
                            <m:sSubPr>
                              <m:ctrlPr>
                                <a:rPr lang="en-US" altLang="zh-CN" sz="1400" b="1" i="1">
                                  <a:latin typeface="Cambria Math" panose="02040503050406030204" pitchFamily="18" charset="0"/>
                                </a:rPr>
                              </m:ctrlPr>
                            </m:sSubPr>
                            <m:e>
                              <m:r>
                                <a:rPr lang="en-US" altLang="zh-CN" sz="1400" i="1">
                                  <a:latin typeface="Cambria Math" panose="02040503050406030204" pitchFamily="18" charset="0"/>
                                </a:rPr>
                                <m:t>𝑎</m:t>
                              </m:r>
                            </m:e>
                            <m:sub>
                              <m:r>
                                <a:rPr lang="en-US" altLang="zh-CN" sz="1400" i="1">
                                  <a:latin typeface="Cambria Math" panose="02040503050406030204" pitchFamily="18" charset="0"/>
                                </a:rPr>
                                <m:t>𝑖</m:t>
                              </m:r>
                            </m:sub>
                          </m:sSub>
                        </m:e>
                      </m:d>
                      <m:nary>
                        <m:naryPr>
                          <m:chr m:val="∑"/>
                          <m:ctrlPr>
                            <a:rPr lang="en-US" altLang="zh-CN" sz="1400" i="1">
                              <a:latin typeface="Cambria Math" panose="02040503050406030204" pitchFamily="18" charset="0"/>
                            </a:rPr>
                          </m:ctrlPr>
                        </m:naryPr>
                        <m:sub>
                          <m:r>
                            <a:rPr lang="en-US" altLang="zh-CN" sz="1400" i="1">
                              <a:latin typeface="Cambria Math" panose="02040503050406030204" pitchFamily="18" charset="0"/>
                            </a:rPr>
                            <m:t>𝑗</m:t>
                          </m:r>
                          <m:r>
                            <a:rPr lang="en-US" altLang="zh-CN" sz="1400" i="1">
                              <a:latin typeface="Cambria Math" panose="02040503050406030204" pitchFamily="18" charset="0"/>
                            </a:rPr>
                            <m:t>=1</m:t>
                          </m:r>
                        </m:sub>
                        <m:sup>
                          <m:r>
                            <a:rPr lang="en-US" altLang="zh-CN" sz="1400" i="1">
                              <a:latin typeface="Cambria Math" panose="02040503050406030204" pitchFamily="18" charset="0"/>
                            </a:rPr>
                            <m:t>𝑀</m:t>
                          </m:r>
                        </m:sup>
                        <m:e>
                          <m:sSubSup>
                            <m:sSubSupPr>
                              <m:ctrlPr>
                                <a:rPr lang="en-US" altLang="zh-CN" sz="1400" i="1">
                                  <a:latin typeface="Cambria Math" panose="02040503050406030204" pitchFamily="18" charset="0"/>
                                </a:rPr>
                              </m:ctrlPr>
                            </m:sSubSupPr>
                            <m:e>
                              <m:r>
                                <a:rPr lang="en-US" altLang="zh-CN" sz="1400" i="1">
                                  <a:latin typeface="Cambria Math" panose="02040503050406030204" pitchFamily="18" charset="0"/>
                                </a:rPr>
                                <m:t>𝑤</m:t>
                              </m:r>
                            </m:e>
                            <m:sub>
                              <m:r>
                                <a:rPr lang="en-US" altLang="zh-CN" sz="1400" i="1">
                                  <a:latin typeface="Cambria Math" panose="02040503050406030204" pitchFamily="18" charset="0"/>
                                </a:rPr>
                                <m:t>𝑗𝑖</m:t>
                              </m:r>
                            </m:sub>
                            <m:sup>
                              <m:d>
                                <m:dPr>
                                  <m:ctrlPr>
                                    <a:rPr lang="en-US" altLang="zh-CN" sz="1400" b="1" i="1">
                                      <a:latin typeface="Cambria Math" panose="02040503050406030204" pitchFamily="18" charset="0"/>
                                    </a:rPr>
                                  </m:ctrlPr>
                                </m:dPr>
                                <m:e>
                                  <m:r>
                                    <a:rPr lang="en-US" altLang="zh-CN" sz="1400" i="1">
                                      <a:latin typeface="Cambria Math" panose="02040503050406030204" pitchFamily="18" charset="0"/>
                                    </a:rPr>
                                    <m:t>1</m:t>
                                  </m:r>
                                </m:e>
                              </m:d>
                            </m:sup>
                          </m:sSubSup>
                          <m:sSub>
                            <m:sSubPr>
                              <m:ctrlPr>
                                <a:rPr lang="en-US" altLang="zh-CN" sz="1400" b="1" i="1">
                                  <a:solidFill>
                                    <a:srgbClr val="0202BF"/>
                                  </a:solidFill>
                                  <a:latin typeface="Cambria Math" panose="02040503050406030204" pitchFamily="18" charset="0"/>
                                </a:rPr>
                              </m:ctrlPr>
                            </m:sSubPr>
                            <m:e>
                              <m:r>
                                <a:rPr lang="zh-CN" altLang="en-US" sz="1400" i="1">
                                  <a:solidFill>
                                    <a:srgbClr val="0202BF"/>
                                  </a:solidFill>
                                  <a:latin typeface="Cambria Math" panose="02040503050406030204" pitchFamily="18" charset="0"/>
                                </a:rPr>
                                <m:t>𝛿</m:t>
                              </m:r>
                            </m:e>
                            <m:sub>
                              <m:r>
                                <a:rPr lang="en-US" altLang="zh-CN" sz="1400" i="1">
                                  <a:solidFill>
                                    <a:srgbClr val="0202BF"/>
                                  </a:solidFill>
                                  <a:latin typeface="Cambria Math" panose="02040503050406030204" pitchFamily="18" charset="0"/>
                                </a:rPr>
                                <m:t>𝑗</m:t>
                              </m:r>
                            </m:sub>
                          </m:sSub>
                        </m:e>
                      </m:nary>
                    </m:oMath>
                  </m:oMathPara>
                </a14:m>
                <a:endParaRPr lang="zh-CN" altLang="en-US" sz="1400" dirty="0"/>
              </a:p>
            </p:txBody>
          </p:sp>
        </mc:Choice>
        <mc:Fallback>
          <p:sp>
            <p:nvSpPr>
              <p:cNvPr id="17" name="矩形 16">
                <a:extLst>
                  <a:ext uri="{FF2B5EF4-FFF2-40B4-BE49-F238E27FC236}">
                    <a16:creationId xmlns:a16="http://schemas.microsoft.com/office/drawing/2014/main" id="{B24D732C-2DFB-4CC7-B0C5-92B2A9325477}"/>
                  </a:ext>
                </a:extLst>
              </p:cNvPr>
              <p:cNvSpPr>
                <a:spLocks noRot="1" noChangeAspect="1" noMove="1" noResize="1" noEditPoints="1" noAdjustHandles="1" noChangeArrowheads="1" noChangeShapeType="1" noTextEdit="1"/>
              </p:cNvSpPr>
              <p:nvPr/>
            </p:nvSpPr>
            <p:spPr>
              <a:xfrm>
                <a:off x="4071531" y="5000270"/>
                <a:ext cx="2376000" cy="720000"/>
              </a:xfrm>
              <a:prstGeom prst="rect">
                <a:avLst/>
              </a:prstGeom>
              <a:blipFill>
                <a:blip r:embed="rId18"/>
                <a:stretch>
                  <a:fillRect/>
                </a:stretch>
              </a:blipFill>
              <a:ln>
                <a:solidFill>
                  <a:srgbClr val="0070C0"/>
                </a:solidFill>
              </a:ln>
            </p:spPr>
            <p:txBody>
              <a:bodyPr/>
              <a:lstStyle/>
              <a:p>
                <a:r>
                  <a:rPr lang="zh-CN" altLang="en-US">
                    <a:noFill/>
                  </a:rPr>
                  <a:t> </a:t>
                </a:r>
              </a:p>
            </p:txBody>
          </p:sp>
        </mc:Fallback>
      </mc:AlternateContent>
      <p:cxnSp>
        <p:nvCxnSpPr>
          <p:cNvPr id="81" name="直接箭头连接符 80">
            <a:extLst>
              <a:ext uri="{FF2B5EF4-FFF2-40B4-BE49-F238E27FC236}">
                <a16:creationId xmlns:a16="http://schemas.microsoft.com/office/drawing/2014/main" id="{B6576DE0-586E-452B-9AC7-ABDD436934A5}"/>
              </a:ext>
            </a:extLst>
          </p:cNvPr>
          <p:cNvCxnSpPr>
            <a:cxnSpLocks/>
            <a:stCxn id="17" idx="2"/>
            <a:endCxn id="55" idx="0"/>
          </p:cNvCxnSpPr>
          <p:nvPr/>
        </p:nvCxnSpPr>
        <p:spPr>
          <a:xfrm>
            <a:off x="5259531" y="5720270"/>
            <a:ext cx="0" cy="260374"/>
          </a:xfrm>
          <a:prstGeom prst="straightConnector1">
            <a:avLst/>
          </a:prstGeom>
          <a:ln w="12700">
            <a:prstDash val="dash"/>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2" name="矩形 81">
                <a:extLst>
                  <a:ext uri="{FF2B5EF4-FFF2-40B4-BE49-F238E27FC236}">
                    <a16:creationId xmlns:a16="http://schemas.microsoft.com/office/drawing/2014/main" id="{2C98C689-5E1C-4007-A3A7-C972307F1BF7}"/>
                  </a:ext>
                </a:extLst>
              </p:cNvPr>
              <p:cNvSpPr/>
              <p:nvPr/>
            </p:nvSpPr>
            <p:spPr>
              <a:xfrm>
                <a:off x="4801683" y="2525316"/>
                <a:ext cx="1787156" cy="90165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𝑖</m:t>
                          </m:r>
                        </m:sub>
                      </m:sSub>
                      <m:r>
                        <a:rPr lang="en-US" altLang="zh-CN" i="1">
                          <a:latin typeface="Cambria Math" panose="02040503050406030204" pitchFamily="18" charset="0"/>
                        </a:rPr>
                        <m:t>=</m:t>
                      </m:r>
                      <m:nary>
                        <m:naryPr>
                          <m:chr m:val="∑"/>
                          <m:ctrlPr>
                            <a:rPr lang="en-US" altLang="zh-CN" i="1">
                              <a:latin typeface="Cambria Math" panose="02040503050406030204" pitchFamily="18" charset="0"/>
                            </a:rPr>
                          </m:ctrlPr>
                        </m:naryPr>
                        <m:sub>
                          <m:r>
                            <a:rPr lang="en-US" altLang="zh-CN" i="1">
                              <a:latin typeface="Cambria Math" panose="02040503050406030204" pitchFamily="18" charset="0"/>
                            </a:rPr>
                            <m:t>𝑝</m:t>
                          </m:r>
                          <m:r>
                            <a:rPr lang="en-US" altLang="zh-CN" i="1">
                              <a:latin typeface="Cambria Math" panose="02040503050406030204" pitchFamily="18" charset="0"/>
                            </a:rPr>
                            <m:t>=1</m:t>
                          </m:r>
                        </m:sub>
                        <m:sup>
                          <m:r>
                            <a:rPr lang="en-US" altLang="zh-CN" i="1">
                              <a:latin typeface="Cambria Math" panose="02040503050406030204" pitchFamily="18" charset="0"/>
                            </a:rPr>
                            <m:t>𝑃</m:t>
                          </m:r>
                        </m:sup>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i="1">
                                  <a:latin typeface="Cambria Math" panose="02040503050406030204" pitchFamily="18" charset="0"/>
                                </a:rPr>
                                <m:t>𝑖𝑝</m:t>
                              </m:r>
                            </m:sub>
                            <m:sup>
                              <m:d>
                                <m:dPr>
                                  <m:ctrlPr>
                                    <a:rPr lang="en-US" altLang="zh-CN" b="1" i="1">
                                      <a:latin typeface="Cambria Math" panose="02040503050406030204" pitchFamily="18" charset="0"/>
                                    </a:rPr>
                                  </m:ctrlPr>
                                </m:dPr>
                                <m:e>
                                  <m:r>
                                    <a:rPr lang="en-US" altLang="zh-CN" b="0" i="1" smtClean="0">
                                      <a:latin typeface="Cambria Math" panose="02040503050406030204" pitchFamily="18" charset="0"/>
                                    </a:rPr>
                                    <m:t>0</m:t>
                                  </m:r>
                                </m:e>
                              </m:d>
                            </m:sup>
                          </m:sSubSup>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𝑝</m:t>
                              </m:r>
                            </m:sub>
                          </m:sSub>
                        </m:e>
                      </m:nary>
                    </m:oMath>
                  </m:oMathPara>
                </a14:m>
                <a:endParaRPr lang="zh-CN" altLang="en-US" dirty="0"/>
              </a:p>
            </p:txBody>
          </p:sp>
        </mc:Choice>
        <mc:Fallback xmlns="">
          <p:sp>
            <p:nvSpPr>
              <p:cNvPr id="82" name="矩形 81">
                <a:extLst>
                  <a:ext uri="{FF2B5EF4-FFF2-40B4-BE49-F238E27FC236}">
                    <a16:creationId xmlns:a16="http://schemas.microsoft.com/office/drawing/2014/main" id="{2C98C689-5E1C-4007-A3A7-C972307F1BF7}"/>
                  </a:ext>
                </a:extLst>
              </p:cNvPr>
              <p:cNvSpPr>
                <a:spLocks noRot="1" noChangeAspect="1" noMove="1" noResize="1" noEditPoints="1" noAdjustHandles="1" noChangeArrowheads="1" noChangeShapeType="1" noTextEdit="1"/>
              </p:cNvSpPr>
              <p:nvPr/>
            </p:nvSpPr>
            <p:spPr>
              <a:xfrm>
                <a:off x="4801683" y="2525316"/>
                <a:ext cx="1787156" cy="901657"/>
              </a:xfrm>
              <a:prstGeom prst="rect">
                <a:avLst/>
              </a:prstGeom>
              <a:blipFill>
                <a:blip r:embed="rId1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3" name="矩形 82">
                <a:extLst>
                  <a:ext uri="{FF2B5EF4-FFF2-40B4-BE49-F238E27FC236}">
                    <a16:creationId xmlns:a16="http://schemas.microsoft.com/office/drawing/2014/main" id="{7B7EBFB8-9995-4E69-BE22-C74DADAEC225}"/>
                  </a:ext>
                </a:extLst>
              </p:cNvPr>
              <p:cNvSpPr/>
              <p:nvPr/>
            </p:nvSpPr>
            <p:spPr>
              <a:xfrm>
                <a:off x="251604" y="1749295"/>
                <a:ext cx="212686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i="1">
                              <a:latin typeface="Cambria Math" panose="02040503050406030204" pitchFamily="18" charset="0"/>
                            </a:rPr>
                            <m:t>𝑘</m:t>
                          </m:r>
                        </m:sub>
                      </m:sSub>
                      <m:r>
                        <a:rPr lang="en-US" altLang="zh-CN" i="1">
                          <a:latin typeface="Cambria Math" panose="02040503050406030204" pitchFamily="18" charset="0"/>
                        </a:rPr>
                        <m:t>=</m:t>
                      </m:r>
                      <m:r>
                        <a:rPr lang="en-US" altLang="zh-CN" i="1">
                          <a:latin typeface="Cambria Math" panose="02040503050406030204" pitchFamily="18" charset="0"/>
                        </a:rPr>
                        <m:t>𝑠𝑜𝑓𝑡𝑚𝑎𝑥</m:t>
                      </m:r>
                      <m:d>
                        <m:dPr>
                          <m:ctrlPr>
                            <a:rPr lang="en-US" altLang="zh-CN" i="1">
                              <a:latin typeface="Cambria Math" panose="02040503050406030204" pitchFamily="18" charset="0"/>
                            </a:rPr>
                          </m:ctrlPr>
                        </m:dPr>
                        <m:e>
                          <m:sSub>
                            <m:sSubPr>
                              <m:ctrlPr>
                                <a:rPr lang="en-US" altLang="zh-CN" b="1"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𝑘</m:t>
                              </m:r>
                            </m:sub>
                          </m:sSub>
                        </m:e>
                      </m:d>
                    </m:oMath>
                  </m:oMathPara>
                </a14:m>
                <a:endParaRPr lang="zh-CN" altLang="en-US" dirty="0"/>
              </a:p>
            </p:txBody>
          </p:sp>
        </mc:Choice>
        <mc:Fallback xmlns="">
          <p:sp>
            <p:nvSpPr>
              <p:cNvPr id="83" name="矩形 82">
                <a:extLst>
                  <a:ext uri="{FF2B5EF4-FFF2-40B4-BE49-F238E27FC236}">
                    <a16:creationId xmlns:a16="http://schemas.microsoft.com/office/drawing/2014/main" id="{7B7EBFB8-9995-4E69-BE22-C74DADAEC225}"/>
                  </a:ext>
                </a:extLst>
              </p:cNvPr>
              <p:cNvSpPr>
                <a:spLocks noRot="1" noChangeAspect="1" noMove="1" noResize="1" noEditPoints="1" noAdjustHandles="1" noChangeArrowheads="1" noChangeShapeType="1" noTextEdit="1"/>
              </p:cNvSpPr>
              <p:nvPr/>
            </p:nvSpPr>
            <p:spPr>
              <a:xfrm>
                <a:off x="251604" y="1749295"/>
                <a:ext cx="2126864" cy="369332"/>
              </a:xfrm>
              <a:prstGeom prst="rect">
                <a:avLst/>
              </a:prstGeom>
              <a:blipFill>
                <a:blip r:embed="rId20"/>
                <a:stretch>
                  <a:fillRect b="-114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4" name="矩形 83">
                <a:extLst>
                  <a:ext uri="{FF2B5EF4-FFF2-40B4-BE49-F238E27FC236}">
                    <a16:creationId xmlns:a16="http://schemas.microsoft.com/office/drawing/2014/main" id="{D7E04C46-0DBB-4168-A425-9C6873112FE5}"/>
                  </a:ext>
                </a:extLst>
              </p:cNvPr>
              <p:cNvSpPr/>
              <p:nvPr/>
            </p:nvSpPr>
            <p:spPr>
              <a:xfrm>
                <a:off x="1764439" y="1830921"/>
                <a:ext cx="2110706" cy="90255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𝑘</m:t>
                          </m:r>
                        </m:sub>
                      </m:sSub>
                      <m:r>
                        <a:rPr lang="en-US" altLang="zh-CN" i="1">
                          <a:latin typeface="Cambria Math" panose="02040503050406030204" pitchFamily="18" charset="0"/>
                        </a:rPr>
                        <m:t>=</m:t>
                      </m:r>
                      <m:nary>
                        <m:naryPr>
                          <m:chr m:val="∑"/>
                          <m:ctrlPr>
                            <a:rPr lang="en-US" altLang="zh-CN" i="1">
                              <a:latin typeface="Cambria Math" panose="02040503050406030204" pitchFamily="18" charset="0"/>
                            </a:rPr>
                          </m:ctrlPr>
                        </m:naryPr>
                        <m:sub>
                          <m:r>
                            <a:rPr lang="en-US" altLang="zh-CN" b="0" i="1" smtClean="0">
                              <a:latin typeface="Cambria Math" panose="02040503050406030204" pitchFamily="18" charset="0"/>
                            </a:rPr>
                            <m:t>𝑗</m:t>
                          </m:r>
                          <m:r>
                            <a:rPr lang="en-US" altLang="zh-CN" i="1">
                              <a:latin typeface="Cambria Math" panose="02040503050406030204" pitchFamily="18" charset="0"/>
                            </a:rPr>
                            <m:t>=1</m:t>
                          </m:r>
                        </m:sub>
                        <m:sup>
                          <m:r>
                            <a:rPr lang="en-US" altLang="zh-CN" b="0" i="1" smtClean="0">
                              <a:latin typeface="Cambria Math" panose="02040503050406030204" pitchFamily="18" charset="0"/>
                            </a:rPr>
                            <m:t>𝑀</m:t>
                          </m:r>
                        </m:sup>
                        <m:e>
                          <m:sSubSup>
                            <m:sSubSupPr>
                              <m:ctrlPr>
                                <a:rPr lang="en-US" altLang="zh-CN" i="1" smtClean="0">
                                  <a:latin typeface="Cambria Math" panose="02040503050406030204" pitchFamily="18" charset="0"/>
                                </a:rPr>
                              </m:ctrlPr>
                            </m:sSubSupPr>
                            <m:e>
                              <m:r>
                                <a:rPr lang="en-US" altLang="zh-CN" i="1">
                                  <a:latin typeface="Cambria Math" panose="02040503050406030204" pitchFamily="18" charset="0"/>
                                </a:rPr>
                                <m:t>𝑤</m:t>
                              </m:r>
                            </m:e>
                            <m:sub>
                              <m:r>
                                <a:rPr lang="en-US" altLang="zh-CN" b="0" i="1" smtClean="0">
                                  <a:latin typeface="Cambria Math" panose="02040503050406030204" pitchFamily="18" charset="0"/>
                                </a:rPr>
                                <m:t>𝑘𝑗</m:t>
                              </m:r>
                            </m:sub>
                            <m:sup>
                              <m:d>
                                <m:dPr>
                                  <m:ctrlPr>
                                    <a:rPr lang="en-US" altLang="zh-CN" b="1" i="1">
                                      <a:latin typeface="Cambria Math" panose="02040503050406030204" pitchFamily="18" charset="0"/>
                                    </a:rPr>
                                  </m:ctrlPr>
                                </m:dPr>
                                <m:e>
                                  <m:r>
                                    <a:rPr lang="en-US" altLang="zh-CN" b="0" i="1" smtClean="0">
                                      <a:latin typeface="Cambria Math" panose="02040503050406030204" pitchFamily="18" charset="0"/>
                                    </a:rPr>
                                    <m:t>2</m:t>
                                  </m:r>
                                </m:e>
                              </m:d>
                            </m:sup>
                          </m:sSubSup>
                          <m:r>
                            <a:rPr lang="en-US" altLang="zh-CN" b="0" i="1" smtClean="0">
                              <a:latin typeface="Cambria Math" panose="02040503050406030204" pitchFamily="18" charset="0"/>
                            </a:rPr>
                            <m:t>h</m:t>
                          </m:r>
                          <m:d>
                            <m:dPr>
                              <m:ctrlPr>
                                <a:rPr lang="en-US" altLang="zh-CN" b="0" i="1" smtClean="0">
                                  <a:latin typeface="Cambria Math" panose="02040503050406030204" pitchFamily="18" charset="0"/>
                                </a:rPr>
                              </m:ctrlPr>
                            </m:dPr>
                            <m:e>
                              <m:sSub>
                                <m:sSubPr>
                                  <m:ctrlPr>
                                    <a:rPr lang="en-US" altLang="zh-CN" b="1" i="1">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𝑗</m:t>
                                  </m:r>
                                </m:sub>
                              </m:sSub>
                            </m:e>
                          </m:d>
                        </m:e>
                      </m:nary>
                    </m:oMath>
                  </m:oMathPara>
                </a14:m>
                <a:endParaRPr lang="zh-CN" altLang="en-US" dirty="0"/>
              </a:p>
            </p:txBody>
          </p:sp>
        </mc:Choice>
        <mc:Fallback xmlns="">
          <p:sp>
            <p:nvSpPr>
              <p:cNvPr id="84" name="矩形 83">
                <a:extLst>
                  <a:ext uri="{FF2B5EF4-FFF2-40B4-BE49-F238E27FC236}">
                    <a16:creationId xmlns:a16="http://schemas.microsoft.com/office/drawing/2014/main" id="{D7E04C46-0DBB-4168-A425-9C6873112FE5}"/>
                  </a:ext>
                </a:extLst>
              </p:cNvPr>
              <p:cNvSpPr>
                <a:spLocks noRot="1" noChangeAspect="1" noMove="1" noResize="1" noEditPoints="1" noAdjustHandles="1" noChangeArrowheads="1" noChangeShapeType="1" noTextEdit="1"/>
              </p:cNvSpPr>
              <p:nvPr/>
            </p:nvSpPr>
            <p:spPr>
              <a:xfrm>
                <a:off x="1764439" y="1830921"/>
                <a:ext cx="2110706" cy="902555"/>
              </a:xfrm>
              <a:prstGeom prst="rect">
                <a:avLst/>
              </a:prstGeom>
              <a:blipFill>
                <a:blip r:embed="rId2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5" name="矩形 84">
                <a:extLst>
                  <a:ext uri="{FF2B5EF4-FFF2-40B4-BE49-F238E27FC236}">
                    <a16:creationId xmlns:a16="http://schemas.microsoft.com/office/drawing/2014/main" id="{E6E17E9C-271E-43ED-9FD3-F558F6D2E73A}"/>
                  </a:ext>
                </a:extLst>
              </p:cNvPr>
              <p:cNvSpPr/>
              <p:nvPr/>
            </p:nvSpPr>
            <p:spPr>
              <a:xfrm>
                <a:off x="3294499" y="2189323"/>
                <a:ext cx="2099293" cy="87126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solidFill>
                                <a:srgbClr val="FF0000"/>
                              </a:solidFill>
                              <a:latin typeface="Cambria Math" panose="02040503050406030204" pitchFamily="18" charset="0"/>
                            </a:rPr>
                          </m:ctrlPr>
                        </m:sSubPr>
                        <m:e>
                          <m:r>
                            <a:rPr lang="en-US" altLang="zh-CN" i="1">
                              <a:solidFill>
                                <a:srgbClr val="FF0000"/>
                              </a:solidFill>
                              <a:latin typeface="Cambria Math" panose="02040503050406030204" pitchFamily="18" charset="0"/>
                            </a:rPr>
                            <m:t>𝑎</m:t>
                          </m:r>
                        </m:e>
                        <m:sub>
                          <m:r>
                            <a:rPr lang="en-US" altLang="zh-CN" b="0" i="1" smtClean="0">
                              <a:solidFill>
                                <a:srgbClr val="FF0000"/>
                              </a:solidFill>
                              <a:latin typeface="Cambria Math" panose="02040503050406030204" pitchFamily="18" charset="0"/>
                            </a:rPr>
                            <m:t>𝑗</m:t>
                          </m:r>
                        </m:sub>
                      </m:sSub>
                      <m:r>
                        <a:rPr lang="en-US" altLang="zh-CN" i="1">
                          <a:solidFill>
                            <a:srgbClr val="FF0000"/>
                          </a:solidFill>
                          <a:latin typeface="Cambria Math" panose="02040503050406030204" pitchFamily="18" charset="0"/>
                        </a:rPr>
                        <m:t>=</m:t>
                      </m:r>
                      <m:nary>
                        <m:naryPr>
                          <m:chr m:val="∑"/>
                          <m:ctrlPr>
                            <a:rPr lang="en-US" altLang="zh-CN" i="1">
                              <a:solidFill>
                                <a:srgbClr val="FF0000"/>
                              </a:solidFill>
                              <a:latin typeface="Cambria Math" panose="02040503050406030204" pitchFamily="18" charset="0"/>
                            </a:rPr>
                          </m:ctrlPr>
                        </m:naryPr>
                        <m:sub>
                          <m:r>
                            <a:rPr lang="en-US" altLang="zh-CN" i="1">
                              <a:solidFill>
                                <a:srgbClr val="FF0000"/>
                              </a:solidFill>
                              <a:latin typeface="Cambria Math" panose="02040503050406030204" pitchFamily="18" charset="0"/>
                            </a:rPr>
                            <m:t>𝑖</m:t>
                          </m:r>
                          <m:r>
                            <a:rPr lang="en-US" altLang="zh-CN" i="1">
                              <a:solidFill>
                                <a:srgbClr val="FF0000"/>
                              </a:solidFill>
                              <a:latin typeface="Cambria Math" panose="02040503050406030204" pitchFamily="18" charset="0"/>
                            </a:rPr>
                            <m:t>=1</m:t>
                          </m:r>
                        </m:sub>
                        <m:sup>
                          <m:r>
                            <a:rPr lang="en-US" altLang="zh-CN" i="1">
                              <a:solidFill>
                                <a:srgbClr val="FF0000"/>
                              </a:solidFill>
                              <a:latin typeface="Cambria Math" panose="02040503050406030204" pitchFamily="18" charset="0"/>
                            </a:rPr>
                            <m:t>𝐷</m:t>
                          </m:r>
                        </m:sup>
                        <m:e>
                          <m:sSubSup>
                            <m:sSubSupPr>
                              <m:ctrlPr>
                                <a:rPr lang="en-US" altLang="zh-CN" i="1">
                                  <a:solidFill>
                                    <a:srgbClr val="FF0000"/>
                                  </a:solidFill>
                                  <a:latin typeface="Cambria Math" panose="02040503050406030204" pitchFamily="18" charset="0"/>
                                </a:rPr>
                              </m:ctrlPr>
                            </m:sSubSupPr>
                            <m:e>
                              <m:r>
                                <a:rPr lang="en-US" altLang="zh-CN" i="1">
                                  <a:solidFill>
                                    <a:srgbClr val="FF0000"/>
                                  </a:solidFill>
                                  <a:latin typeface="Cambria Math" panose="02040503050406030204" pitchFamily="18" charset="0"/>
                                </a:rPr>
                                <m:t>𝑤</m:t>
                              </m:r>
                            </m:e>
                            <m:sub>
                              <m:r>
                                <a:rPr lang="en-US" altLang="zh-CN" i="1">
                                  <a:solidFill>
                                    <a:srgbClr val="FF0000"/>
                                  </a:solidFill>
                                  <a:latin typeface="Cambria Math" panose="02040503050406030204" pitchFamily="18" charset="0"/>
                                </a:rPr>
                                <m:t>𝑗𝑖</m:t>
                              </m:r>
                            </m:sub>
                            <m:sup>
                              <m:d>
                                <m:dPr>
                                  <m:ctrlPr>
                                    <a:rPr lang="en-US" altLang="zh-CN" b="1" i="1">
                                      <a:solidFill>
                                        <a:srgbClr val="FF0000"/>
                                      </a:solidFill>
                                      <a:latin typeface="Cambria Math" panose="02040503050406030204" pitchFamily="18" charset="0"/>
                                    </a:rPr>
                                  </m:ctrlPr>
                                </m:dPr>
                                <m:e>
                                  <m:r>
                                    <a:rPr lang="en-US" altLang="zh-CN" i="1">
                                      <a:solidFill>
                                        <a:srgbClr val="FF0000"/>
                                      </a:solidFill>
                                      <a:latin typeface="Cambria Math" panose="02040503050406030204" pitchFamily="18" charset="0"/>
                                    </a:rPr>
                                    <m:t>1</m:t>
                                  </m:r>
                                </m:e>
                              </m:d>
                            </m:sup>
                          </m:sSubSup>
                          <m:r>
                            <a:rPr lang="en-US" altLang="zh-CN" i="1">
                              <a:solidFill>
                                <a:srgbClr val="FF0000"/>
                              </a:solidFill>
                              <a:latin typeface="Cambria Math" panose="02040503050406030204" pitchFamily="18" charset="0"/>
                            </a:rPr>
                            <m:t>h</m:t>
                          </m:r>
                          <m:d>
                            <m:dPr>
                              <m:ctrlPr>
                                <a:rPr lang="en-US" altLang="zh-CN" b="1" i="1">
                                  <a:solidFill>
                                    <a:srgbClr val="FF0000"/>
                                  </a:solidFill>
                                  <a:latin typeface="Cambria Math" panose="02040503050406030204" pitchFamily="18" charset="0"/>
                                </a:rPr>
                              </m:ctrlPr>
                            </m:dPr>
                            <m:e>
                              <m:sSub>
                                <m:sSubPr>
                                  <m:ctrlPr>
                                    <a:rPr lang="en-US" altLang="zh-CN" b="1" i="1">
                                      <a:solidFill>
                                        <a:srgbClr val="FF0000"/>
                                      </a:solidFill>
                                      <a:latin typeface="Cambria Math" panose="02040503050406030204" pitchFamily="18" charset="0"/>
                                    </a:rPr>
                                  </m:ctrlPr>
                                </m:sSubPr>
                                <m:e>
                                  <m:r>
                                    <a:rPr lang="en-US" altLang="zh-CN" i="1">
                                      <a:solidFill>
                                        <a:srgbClr val="FF0000"/>
                                      </a:solidFill>
                                      <a:latin typeface="Cambria Math" panose="02040503050406030204" pitchFamily="18" charset="0"/>
                                    </a:rPr>
                                    <m:t>𝑎</m:t>
                                  </m:r>
                                </m:e>
                                <m:sub>
                                  <m:r>
                                    <a:rPr lang="en-US" altLang="zh-CN" b="0" i="1" smtClean="0">
                                      <a:solidFill>
                                        <a:srgbClr val="FF0000"/>
                                      </a:solidFill>
                                      <a:latin typeface="Cambria Math" panose="02040503050406030204" pitchFamily="18" charset="0"/>
                                    </a:rPr>
                                    <m:t>𝑖</m:t>
                                  </m:r>
                                </m:sub>
                              </m:sSub>
                            </m:e>
                          </m:d>
                        </m:e>
                      </m:nary>
                    </m:oMath>
                  </m:oMathPara>
                </a14:m>
                <a:endParaRPr lang="zh-CN" altLang="en-US" dirty="0"/>
              </a:p>
            </p:txBody>
          </p:sp>
        </mc:Choice>
        <mc:Fallback xmlns="">
          <p:sp>
            <p:nvSpPr>
              <p:cNvPr id="85" name="矩形 84">
                <a:extLst>
                  <a:ext uri="{FF2B5EF4-FFF2-40B4-BE49-F238E27FC236}">
                    <a16:creationId xmlns:a16="http://schemas.microsoft.com/office/drawing/2014/main" id="{E6E17E9C-271E-43ED-9FD3-F558F6D2E73A}"/>
                  </a:ext>
                </a:extLst>
              </p:cNvPr>
              <p:cNvSpPr>
                <a:spLocks noRot="1" noChangeAspect="1" noMove="1" noResize="1" noEditPoints="1" noAdjustHandles="1" noChangeArrowheads="1" noChangeShapeType="1" noTextEdit="1"/>
              </p:cNvSpPr>
              <p:nvPr/>
            </p:nvSpPr>
            <p:spPr>
              <a:xfrm>
                <a:off x="3294499" y="2189323"/>
                <a:ext cx="2099293" cy="871264"/>
              </a:xfrm>
              <a:prstGeom prst="rect">
                <a:avLst/>
              </a:prstGeom>
              <a:blipFill>
                <a:blip r:embed="rId22"/>
                <a:stretch>
                  <a:fillRect/>
                </a:stretch>
              </a:blipFill>
            </p:spPr>
            <p:txBody>
              <a:bodyPr/>
              <a:lstStyle/>
              <a:p>
                <a:r>
                  <a:rPr lang="zh-CN" altLang="en-US">
                    <a:noFill/>
                  </a:rPr>
                  <a:t> </a:t>
                </a:r>
              </a:p>
            </p:txBody>
          </p:sp>
        </mc:Fallback>
      </mc:AlternateContent>
      <p:sp>
        <p:nvSpPr>
          <p:cNvPr id="86" name="矩形 85">
            <a:extLst>
              <a:ext uri="{FF2B5EF4-FFF2-40B4-BE49-F238E27FC236}">
                <a16:creationId xmlns:a16="http://schemas.microsoft.com/office/drawing/2014/main" id="{5ECF5018-3878-4A1F-A033-0E45DA7B670A}"/>
              </a:ext>
            </a:extLst>
          </p:cNvPr>
          <p:cNvSpPr/>
          <p:nvPr/>
        </p:nvSpPr>
        <p:spPr>
          <a:xfrm>
            <a:off x="1899247" y="1790162"/>
            <a:ext cx="252000" cy="666917"/>
          </a:xfrm>
          <a:prstGeom prst="rect">
            <a:avLst/>
          </a:prstGeom>
          <a:ln w="12700">
            <a:solidFill>
              <a:srgbClr val="0070C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7" name="矩形 86">
            <a:extLst>
              <a:ext uri="{FF2B5EF4-FFF2-40B4-BE49-F238E27FC236}">
                <a16:creationId xmlns:a16="http://schemas.microsoft.com/office/drawing/2014/main" id="{BF894380-A4A7-48A5-B716-AAAABEC70182}"/>
              </a:ext>
            </a:extLst>
          </p:cNvPr>
          <p:cNvSpPr/>
          <p:nvPr/>
        </p:nvSpPr>
        <p:spPr>
          <a:xfrm>
            <a:off x="3421755" y="2143472"/>
            <a:ext cx="252000" cy="666917"/>
          </a:xfrm>
          <a:prstGeom prst="rect">
            <a:avLst/>
          </a:prstGeom>
          <a:ln w="12700">
            <a:solidFill>
              <a:srgbClr val="0070C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8" name="矩形 87">
            <a:extLst>
              <a:ext uri="{FF2B5EF4-FFF2-40B4-BE49-F238E27FC236}">
                <a16:creationId xmlns:a16="http://schemas.microsoft.com/office/drawing/2014/main" id="{E6DFC79F-961F-4D7E-844B-C282EB5BB4F8}"/>
              </a:ext>
            </a:extLst>
          </p:cNvPr>
          <p:cNvSpPr/>
          <p:nvPr/>
        </p:nvSpPr>
        <p:spPr>
          <a:xfrm>
            <a:off x="4922562" y="2487360"/>
            <a:ext cx="252000" cy="666917"/>
          </a:xfrm>
          <a:prstGeom prst="rect">
            <a:avLst/>
          </a:prstGeom>
          <a:ln w="12700">
            <a:solidFill>
              <a:srgbClr val="0070C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4" name="矩形 93">
            <a:extLst>
              <a:ext uri="{FF2B5EF4-FFF2-40B4-BE49-F238E27FC236}">
                <a16:creationId xmlns:a16="http://schemas.microsoft.com/office/drawing/2014/main" id="{6089E8E2-BE7C-4363-B5A0-C74BA3AB4C0A}"/>
              </a:ext>
            </a:extLst>
          </p:cNvPr>
          <p:cNvSpPr/>
          <p:nvPr/>
        </p:nvSpPr>
        <p:spPr>
          <a:xfrm rot="900000">
            <a:off x="4360581" y="1873272"/>
            <a:ext cx="1149674" cy="369332"/>
          </a:xfrm>
          <a:prstGeom prst="rect">
            <a:avLst/>
          </a:prstGeom>
        </p:spPr>
        <p:txBody>
          <a:bodyPr wrap="none" anchor="ctr" anchorCtr="0">
            <a:noAutofit/>
          </a:bodyPr>
          <a:lstStyle/>
          <a:p>
            <a:r>
              <a:rPr lang="en-US" altLang="zh-CN" dirty="0">
                <a:latin typeface="Monaco" panose="020B0509030404040204" pitchFamily="49" charset="0"/>
                <a:ea typeface="思源黑体 CN Bold" panose="020B0800000000000000" pitchFamily="34" charset="-122"/>
              </a:rPr>
              <a:t>Forward</a:t>
            </a:r>
            <a:endParaRPr lang="zh-CN" altLang="en-US" dirty="0"/>
          </a:p>
        </p:txBody>
      </p:sp>
      <p:sp>
        <p:nvSpPr>
          <p:cNvPr id="95" name="矩形 94">
            <a:extLst>
              <a:ext uri="{FF2B5EF4-FFF2-40B4-BE49-F238E27FC236}">
                <a16:creationId xmlns:a16="http://schemas.microsoft.com/office/drawing/2014/main" id="{572A1B5E-EA0B-4A75-9EAF-3D4DCB401268}"/>
              </a:ext>
            </a:extLst>
          </p:cNvPr>
          <p:cNvSpPr/>
          <p:nvPr/>
        </p:nvSpPr>
        <p:spPr>
          <a:xfrm rot="900000">
            <a:off x="2826377" y="1527530"/>
            <a:ext cx="1746028" cy="369332"/>
          </a:xfrm>
          <a:prstGeom prst="rect">
            <a:avLst/>
          </a:prstGeom>
        </p:spPr>
        <p:txBody>
          <a:bodyPr wrap="square" anchor="ctr" anchorCtr="0">
            <a:noAutofit/>
          </a:bodyPr>
          <a:lstStyle/>
          <a:p>
            <a:pPr algn="ctr"/>
            <a:r>
              <a:rPr lang="zh-CN" altLang="en-US" dirty="0">
                <a:latin typeface="Monaco" panose="020B0509030404040204" pitchFamily="49" charset="0"/>
                <a:ea typeface="思源黑体 CN Bold" panose="020B0800000000000000" pitchFamily="34" charset="-122"/>
              </a:rPr>
              <a:t>数据前向计算</a:t>
            </a:r>
            <a:endParaRPr lang="zh-CN" altLang="en-US" dirty="0"/>
          </a:p>
        </p:txBody>
      </p:sp>
      <p:sp>
        <p:nvSpPr>
          <p:cNvPr id="56" name="直角三角形 55">
            <a:extLst>
              <a:ext uri="{FF2B5EF4-FFF2-40B4-BE49-F238E27FC236}">
                <a16:creationId xmlns:a16="http://schemas.microsoft.com/office/drawing/2014/main" id="{AB4B3255-3C21-483B-9F33-562AF38F18E8}"/>
              </a:ext>
            </a:extLst>
          </p:cNvPr>
          <p:cNvSpPr/>
          <p:nvPr/>
        </p:nvSpPr>
        <p:spPr>
          <a:xfrm rot="16809541">
            <a:off x="8214317" y="2052390"/>
            <a:ext cx="1601969" cy="945849"/>
          </a:xfrm>
          <a:prstGeom prst="rtTriangle">
            <a:avLst/>
          </a:prstGeom>
          <a:solidFill>
            <a:srgbClr val="BDE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55" name="文本框 54">
                <a:extLst>
                  <a:ext uri="{FF2B5EF4-FFF2-40B4-BE49-F238E27FC236}">
                    <a16:creationId xmlns:a16="http://schemas.microsoft.com/office/drawing/2014/main" id="{8D51937B-99A2-4B0F-8C38-3D45F60D0ADA}"/>
                  </a:ext>
                </a:extLst>
              </p:cNvPr>
              <p:cNvSpPr txBox="1"/>
              <p:nvPr/>
            </p:nvSpPr>
            <p:spPr>
              <a:xfrm>
                <a:off x="4953531" y="5980644"/>
                <a:ext cx="612000" cy="396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rPr>
                            <m:t>𝑤</m:t>
                          </m:r>
                        </m:e>
                        <m:sub>
                          <m:r>
                            <a:rPr lang="en-US" altLang="zh-CN" b="0" i="1" smtClean="0">
                              <a:latin typeface="Cambria Math" panose="02040503050406030204" pitchFamily="18" charset="0"/>
                              <a:ea typeface="Cambria Math" panose="02040503050406030204" pitchFamily="18" charset="0"/>
                            </a:rPr>
                            <m:t>𝑖𝑝</m:t>
                          </m:r>
                        </m:sub>
                      </m:sSub>
                    </m:oMath>
                  </m:oMathPara>
                </a14:m>
                <a:endParaRPr lang="zh-CN" altLang="en-US" dirty="0"/>
              </a:p>
            </p:txBody>
          </p:sp>
        </mc:Choice>
        <mc:Fallback>
          <p:sp>
            <p:nvSpPr>
              <p:cNvPr id="55" name="文本框 54">
                <a:extLst>
                  <a:ext uri="{FF2B5EF4-FFF2-40B4-BE49-F238E27FC236}">
                    <a16:creationId xmlns:a16="http://schemas.microsoft.com/office/drawing/2014/main" id="{8D51937B-99A2-4B0F-8C38-3D45F60D0ADA}"/>
                  </a:ext>
                </a:extLst>
              </p:cNvPr>
              <p:cNvSpPr txBox="1">
                <a:spLocks noRot="1" noChangeAspect="1" noMove="1" noResize="1" noEditPoints="1" noAdjustHandles="1" noChangeArrowheads="1" noChangeShapeType="1" noTextEdit="1"/>
              </p:cNvSpPr>
              <p:nvPr/>
            </p:nvSpPr>
            <p:spPr>
              <a:xfrm>
                <a:off x="4953531" y="5980644"/>
                <a:ext cx="612000" cy="396000"/>
              </a:xfrm>
              <a:prstGeom prst="rect">
                <a:avLst/>
              </a:prstGeom>
              <a:blipFill>
                <a:blip r:embed="rId23"/>
                <a:stretch>
                  <a:fillRect r="-5000" b="-769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9" name="文本框 58">
                <a:extLst>
                  <a:ext uri="{FF2B5EF4-FFF2-40B4-BE49-F238E27FC236}">
                    <a16:creationId xmlns:a16="http://schemas.microsoft.com/office/drawing/2014/main" id="{F52017E4-4C81-4EE2-9FA3-1ED9501BCEE7}"/>
                  </a:ext>
                </a:extLst>
              </p:cNvPr>
              <p:cNvSpPr txBox="1"/>
              <p:nvPr/>
            </p:nvSpPr>
            <p:spPr>
              <a:xfrm>
                <a:off x="10482783" y="5980644"/>
                <a:ext cx="612000" cy="396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rPr>
                            <m:t>𝑤</m:t>
                          </m:r>
                        </m:e>
                        <m:sub>
                          <m:r>
                            <a:rPr lang="en-US" altLang="zh-CN" b="0" i="1" smtClean="0">
                              <a:latin typeface="Cambria Math" panose="02040503050406030204" pitchFamily="18" charset="0"/>
                              <a:ea typeface="Cambria Math" panose="02040503050406030204" pitchFamily="18" charset="0"/>
                            </a:rPr>
                            <m:t>𝑘𝑗</m:t>
                          </m:r>
                        </m:sub>
                      </m:sSub>
                    </m:oMath>
                  </m:oMathPara>
                </a14:m>
                <a:endParaRPr lang="zh-CN" altLang="en-US" dirty="0"/>
              </a:p>
            </p:txBody>
          </p:sp>
        </mc:Choice>
        <mc:Fallback>
          <p:sp>
            <p:nvSpPr>
              <p:cNvPr id="59" name="文本框 58">
                <a:extLst>
                  <a:ext uri="{FF2B5EF4-FFF2-40B4-BE49-F238E27FC236}">
                    <a16:creationId xmlns:a16="http://schemas.microsoft.com/office/drawing/2014/main" id="{F52017E4-4C81-4EE2-9FA3-1ED9501BCEE7}"/>
                  </a:ext>
                </a:extLst>
              </p:cNvPr>
              <p:cNvSpPr txBox="1">
                <a:spLocks noRot="1" noChangeAspect="1" noMove="1" noResize="1" noEditPoints="1" noAdjustHandles="1" noChangeArrowheads="1" noChangeShapeType="1" noTextEdit="1"/>
              </p:cNvSpPr>
              <p:nvPr/>
            </p:nvSpPr>
            <p:spPr>
              <a:xfrm>
                <a:off x="10482783" y="5980644"/>
                <a:ext cx="612000" cy="396000"/>
              </a:xfrm>
              <a:prstGeom prst="rect">
                <a:avLst/>
              </a:prstGeom>
              <a:blipFill>
                <a:blip r:embed="rId24"/>
                <a:stretch>
                  <a:fillRect r="-7000" b="-769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0" name="文本框 59">
                <a:extLst>
                  <a:ext uri="{FF2B5EF4-FFF2-40B4-BE49-F238E27FC236}">
                    <a16:creationId xmlns:a16="http://schemas.microsoft.com/office/drawing/2014/main" id="{E9C420BF-92C0-40A6-BA93-C65BE8677F34}"/>
                  </a:ext>
                </a:extLst>
              </p:cNvPr>
              <p:cNvSpPr txBox="1"/>
              <p:nvPr/>
            </p:nvSpPr>
            <p:spPr>
              <a:xfrm>
                <a:off x="7900624" y="5980644"/>
                <a:ext cx="612000" cy="396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rPr>
                            <m:t>𝑤</m:t>
                          </m:r>
                        </m:e>
                        <m:sub>
                          <m:r>
                            <a:rPr lang="en-US" altLang="zh-CN" b="0" i="1" smtClean="0">
                              <a:latin typeface="Cambria Math" panose="02040503050406030204" pitchFamily="18" charset="0"/>
                              <a:ea typeface="Cambria Math" panose="02040503050406030204" pitchFamily="18" charset="0"/>
                            </a:rPr>
                            <m:t>𝑗𝑖</m:t>
                          </m:r>
                        </m:sub>
                      </m:sSub>
                    </m:oMath>
                  </m:oMathPara>
                </a14:m>
                <a:endParaRPr lang="zh-CN" altLang="en-US" dirty="0"/>
              </a:p>
            </p:txBody>
          </p:sp>
        </mc:Choice>
        <mc:Fallback>
          <p:sp>
            <p:nvSpPr>
              <p:cNvPr id="60" name="文本框 59">
                <a:extLst>
                  <a:ext uri="{FF2B5EF4-FFF2-40B4-BE49-F238E27FC236}">
                    <a16:creationId xmlns:a16="http://schemas.microsoft.com/office/drawing/2014/main" id="{E9C420BF-92C0-40A6-BA93-C65BE8677F34}"/>
                  </a:ext>
                </a:extLst>
              </p:cNvPr>
              <p:cNvSpPr txBox="1">
                <a:spLocks noRot="1" noChangeAspect="1" noMove="1" noResize="1" noEditPoints="1" noAdjustHandles="1" noChangeArrowheads="1" noChangeShapeType="1" noTextEdit="1"/>
              </p:cNvSpPr>
              <p:nvPr/>
            </p:nvSpPr>
            <p:spPr>
              <a:xfrm>
                <a:off x="7900624" y="5980644"/>
                <a:ext cx="612000" cy="396000"/>
              </a:xfrm>
              <a:prstGeom prst="rect">
                <a:avLst/>
              </a:prstGeom>
              <a:blipFill>
                <a:blip r:embed="rId25"/>
                <a:stretch>
                  <a:fillRect b="-7692"/>
                </a:stretch>
              </a:blipFill>
            </p:spPr>
            <p:txBody>
              <a:bodyPr/>
              <a:lstStyle/>
              <a:p>
                <a:r>
                  <a:rPr lang="zh-CN" altLang="en-US">
                    <a:noFill/>
                  </a:rPr>
                  <a:t> </a:t>
                </a:r>
              </a:p>
            </p:txBody>
          </p:sp>
        </mc:Fallback>
      </mc:AlternateContent>
      <p:cxnSp>
        <p:nvCxnSpPr>
          <p:cNvPr id="45" name="直接箭头连接符 44">
            <a:extLst>
              <a:ext uri="{FF2B5EF4-FFF2-40B4-BE49-F238E27FC236}">
                <a16:creationId xmlns:a16="http://schemas.microsoft.com/office/drawing/2014/main" id="{494F1947-59FE-4FC0-890C-BCAE4B2889BD}"/>
              </a:ext>
            </a:extLst>
          </p:cNvPr>
          <p:cNvCxnSpPr>
            <a:stCxn id="16" idx="1"/>
            <a:endCxn id="17" idx="3"/>
          </p:cNvCxnSpPr>
          <p:nvPr/>
        </p:nvCxnSpPr>
        <p:spPr>
          <a:xfrm flipH="1">
            <a:off x="6447531" y="5360270"/>
            <a:ext cx="553093" cy="0"/>
          </a:xfrm>
          <a:prstGeom prst="straightConnector1">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3" name="直接箭头连接符 72">
            <a:extLst>
              <a:ext uri="{FF2B5EF4-FFF2-40B4-BE49-F238E27FC236}">
                <a16:creationId xmlns:a16="http://schemas.microsoft.com/office/drawing/2014/main" id="{CA2B937A-8774-4029-9CD9-1EF87486425B}"/>
              </a:ext>
            </a:extLst>
          </p:cNvPr>
          <p:cNvCxnSpPr>
            <a:cxnSpLocks/>
            <a:stCxn id="15" idx="1"/>
            <a:endCxn id="16" idx="3"/>
          </p:cNvCxnSpPr>
          <p:nvPr/>
        </p:nvCxnSpPr>
        <p:spPr>
          <a:xfrm flipH="1">
            <a:off x="9412624" y="5360270"/>
            <a:ext cx="512159" cy="0"/>
          </a:xfrm>
          <a:prstGeom prst="straightConnector1">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9" name="直接箭头连接符 88">
            <a:extLst>
              <a:ext uri="{FF2B5EF4-FFF2-40B4-BE49-F238E27FC236}">
                <a16:creationId xmlns:a16="http://schemas.microsoft.com/office/drawing/2014/main" id="{9915AE10-9769-4A49-8EC4-7F8EB1315B03}"/>
              </a:ext>
            </a:extLst>
          </p:cNvPr>
          <p:cNvCxnSpPr>
            <a:cxnSpLocks/>
            <a:stCxn id="16" idx="2"/>
            <a:endCxn id="60" idx="0"/>
          </p:cNvCxnSpPr>
          <p:nvPr/>
        </p:nvCxnSpPr>
        <p:spPr>
          <a:xfrm>
            <a:off x="8206624" y="5720270"/>
            <a:ext cx="0" cy="260374"/>
          </a:xfrm>
          <a:prstGeom prst="straightConnector1">
            <a:avLst/>
          </a:prstGeom>
          <a:ln w="12700">
            <a:prstDash val="dash"/>
            <a:tailEnd type="triangle"/>
          </a:ln>
        </p:spPr>
        <p:style>
          <a:lnRef idx="1">
            <a:schemeClr val="dk1"/>
          </a:lnRef>
          <a:fillRef idx="0">
            <a:schemeClr val="dk1"/>
          </a:fillRef>
          <a:effectRef idx="0">
            <a:schemeClr val="dk1"/>
          </a:effectRef>
          <a:fontRef idx="minor">
            <a:schemeClr val="tx1"/>
          </a:fontRef>
        </p:style>
      </p:cxnSp>
      <p:cxnSp>
        <p:nvCxnSpPr>
          <p:cNvPr id="90" name="直接箭头连接符 89">
            <a:extLst>
              <a:ext uri="{FF2B5EF4-FFF2-40B4-BE49-F238E27FC236}">
                <a16:creationId xmlns:a16="http://schemas.microsoft.com/office/drawing/2014/main" id="{EC163B11-957C-4352-BA11-3546C85E993C}"/>
              </a:ext>
            </a:extLst>
          </p:cNvPr>
          <p:cNvCxnSpPr>
            <a:cxnSpLocks/>
            <a:stCxn id="15" idx="2"/>
            <a:endCxn id="59" idx="0"/>
          </p:cNvCxnSpPr>
          <p:nvPr/>
        </p:nvCxnSpPr>
        <p:spPr>
          <a:xfrm>
            <a:off x="10788783" y="5720270"/>
            <a:ext cx="0" cy="260374"/>
          </a:xfrm>
          <a:prstGeom prst="straightConnector1">
            <a:avLst/>
          </a:prstGeom>
          <a:ln w="12700">
            <a:prstDash val="dash"/>
            <a:tailEnd type="triangle"/>
          </a:ln>
        </p:spPr>
        <p:style>
          <a:lnRef idx="1">
            <a:schemeClr val="dk1"/>
          </a:lnRef>
          <a:fillRef idx="0">
            <a:schemeClr val="dk1"/>
          </a:fillRef>
          <a:effectRef idx="0">
            <a:schemeClr val="dk1"/>
          </a:effectRef>
          <a:fontRef idx="minor">
            <a:schemeClr val="tx1"/>
          </a:fontRef>
        </p:style>
      </p:cxnSp>
      <p:cxnSp>
        <p:nvCxnSpPr>
          <p:cNvPr id="80" name="连接符: 曲线 79">
            <a:extLst>
              <a:ext uri="{FF2B5EF4-FFF2-40B4-BE49-F238E27FC236}">
                <a16:creationId xmlns:a16="http://schemas.microsoft.com/office/drawing/2014/main" id="{B73C5A3A-446C-4444-8817-22ABE4FADBA8}"/>
              </a:ext>
            </a:extLst>
          </p:cNvPr>
          <p:cNvCxnSpPr>
            <a:cxnSpLocks/>
            <a:stCxn id="27" idx="2"/>
            <a:endCxn id="15" idx="0"/>
          </p:cNvCxnSpPr>
          <p:nvPr/>
        </p:nvCxnSpPr>
        <p:spPr>
          <a:xfrm rot="5400000">
            <a:off x="9842826" y="3978537"/>
            <a:ext cx="1967690" cy="75776"/>
          </a:xfrm>
          <a:prstGeom prst="curvedConnector3">
            <a:avLst>
              <a:gd name="adj1" fmla="val 82397"/>
            </a:avLst>
          </a:prstGeom>
          <a:ln w="19050">
            <a:solidFill>
              <a:srgbClr val="002060"/>
            </a:solidFill>
            <a:prstDash val="dash"/>
          </a:ln>
        </p:spPr>
        <p:style>
          <a:lnRef idx="1">
            <a:schemeClr val="accent2"/>
          </a:lnRef>
          <a:fillRef idx="0">
            <a:schemeClr val="accent2"/>
          </a:fillRef>
          <a:effectRef idx="0">
            <a:schemeClr val="accent2"/>
          </a:effectRef>
          <a:fontRef idx="minor">
            <a:schemeClr val="tx1"/>
          </a:fontRef>
        </p:style>
      </p:cxnSp>
      <p:cxnSp>
        <p:nvCxnSpPr>
          <p:cNvPr id="96" name="连接符: 曲线 95">
            <a:extLst>
              <a:ext uri="{FF2B5EF4-FFF2-40B4-BE49-F238E27FC236}">
                <a16:creationId xmlns:a16="http://schemas.microsoft.com/office/drawing/2014/main" id="{56F04592-7E39-4257-9011-2ED91E5BA093}"/>
              </a:ext>
            </a:extLst>
          </p:cNvPr>
          <p:cNvCxnSpPr>
            <a:cxnSpLocks/>
            <a:endCxn id="16" idx="0"/>
          </p:cNvCxnSpPr>
          <p:nvPr/>
        </p:nvCxnSpPr>
        <p:spPr>
          <a:xfrm rot="5400000">
            <a:off x="7254785" y="2859392"/>
            <a:ext cx="3092718" cy="1189039"/>
          </a:xfrm>
          <a:prstGeom prst="curvedConnector3">
            <a:avLst>
              <a:gd name="adj1" fmla="val 81594"/>
            </a:avLst>
          </a:prstGeom>
          <a:ln w="19050">
            <a:solidFill>
              <a:schemeClr val="accent6">
                <a:lumMod val="75000"/>
              </a:schemeClr>
            </a:solidFill>
            <a:prstDash val="dash"/>
          </a:ln>
        </p:spPr>
        <p:style>
          <a:lnRef idx="1">
            <a:schemeClr val="accent2"/>
          </a:lnRef>
          <a:fillRef idx="0">
            <a:schemeClr val="accent2"/>
          </a:fillRef>
          <a:effectRef idx="0">
            <a:schemeClr val="accent2"/>
          </a:effectRef>
          <a:fontRef idx="minor">
            <a:schemeClr val="tx1"/>
          </a:fontRef>
        </p:style>
      </p:cxnSp>
      <p:cxnSp>
        <p:nvCxnSpPr>
          <p:cNvPr id="99" name="连接符: 曲线 98">
            <a:extLst>
              <a:ext uri="{FF2B5EF4-FFF2-40B4-BE49-F238E27FC236}">
                <a16:creationId xmlns:a16="http://schemas.microsoft.com/office/drawing/2014/main" id="{5929FBE0-92FE-426D-BDA0-33D81E2FEDA6}"/>
              </a:ext>
            </a:extLst>
          </p:cNvPr>
          <p:cNvCxnSpPr>
            <a:cxnSpLocks/>
            <a:stCxn id="47" idx="2"/>
            <a:endCxn id="17" idx="0"/>
          </p:cNvCxnSpPr>
          <p:nvPr/>
        </p:nvCxnSpPr>
        <p:spPr>
          <a:xfrm rot="5400000">
            <a:off x="5769268" y="2552682"/>
            <a:ext cx="1937851" cy="2957324"/>
          </a:xfrm>
          <a:prstGeom prst="curvedConnector3">
            <a:avLst>
              <a:gd name="adj1" fmla="val 73728"/>
            </a:avLst>
          </a:prstGeom>
          <a:ln w="19050">
            <a:solidFill>
              <a:schemeClr val="accent2">
                <a:lumMod val="75000"/>
              </a:schemeClr>
            </a:solidFill>
            <a:prstDash val="dash"/>
          </a:ln>
        </p:spPr>
        <p:style>
          <a:lnRef idx="1">
            <a:schemeClr val="accent2"/>
          </a:lnRef>
          <a:fillRef idx="0">
            <a:schemeClr val="accent2"/>
          </a:fillRef>
          <a:effectRef idx="0">
            <a:schemeClr val="accent2"/>
          </a:effectRef>
          <a:fontRef idx="minor">
            <a:schemeClr val="tx1"/>
          </a:fontRef>
        </p:style>
      </p:cxnSp>
      <p:cxnSp>
        <p:nvCxnSpPr>
          <p:cNvPr id="108" name="直接箭头连接符 107">
            <a:extLst>
              <a:ext uri="{FF2B5EF4-FFF2-40B4-BE49-F238E27FC236}">
                <a16:creationId xmlns:a16="http://schemas.microsoft.com/office/drawing/2014/main" id="{68792E31-208A-4B5A-83F6-7704931604EC}"/>
              </a:ext>
            </a:extLst>
          </p:cNvPr>
          <p:cNvCxnSpPr>
            <a:cxnSpLocks/>
            <a:stCxn id="17" idx="1"/>
            <a:endCxn id="12" idx="3"/>
          </p:cNvCxnSpPr>
          <p:nvPr/>
        </p:nvCxnSpPr>
        <p:spPr>
          <a:xfrm flipH="1" flipV="1">
            <a:off x="3542930" y="5359138"/>
            <a:ext cx="528601" cy="1132"/>
          </a:xfrm>
          <a:prstGeom prst="straightConnector1">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12" name="直接箭头连接符 111">
            <a:extLst>
              <a:ext uri="{FF2B5EF4-FFF2-40B4-BE49-F238E27FC236}">
                <a16:creationId xmlns:a16="http://schemas.microsoft.com/office/drawing/2014/main" id="{C535F6EB-2A23-4C1E-B38C-E72621F9DFB1}"/>
              </a:ext>
            </a:extLst>
          </p:cNvPr>
          <p:cNvCxnSpPr>
            <a:cxnSpLocks/>
          </p:cNvCxnSpPr>
          <p:nvPr/>
        </p:nvCxnSpPr>
        <p:spPr>
          <a:xfrm rot="900000" flipH="1">
            <a:off x="2144623" y="2031804"/>
            <a:ext cx="4067185" cy="0"/>
          </a:xfrm>
          <a:prstGeom prst="straightConnector1">
            <a:avLst/>
          </a:pr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44895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155AFD-E3B4-4192-B11B-1742F84B5BA3}"/>
              </a:ext>
            </a:extLst>
          </p:cNvPr>
          <p:cNvSpPr>
            <a:spLocks noGrp="1"/>
          </p:cNvSpPr>
          <p:nvPr>
            <p:ph type="title" idx="4294967295"/>
          </p:nvPr>
        </p:nvSpPr>
        <p:spPr>
          <a:xfrm>
            <a:off x="386661" y="163499"/>
            <a:ext cx="6907638" cy="562582"/>
          </a:xfrm>
        </p:spPr>
        <p:txBody>
          <a:bodyPr>
            <a:noAutofit/>
          </a:bodyPr>
          <a:lstStyle/>
          <a:p>
            <a:r>
              <a:rPr lang="en-US" altLang="zh-CN" sz="3600" dirty="0">
                <a:latin typeface="思源黑体 CN Bold" panose="020B0800000000000000" pitchFamily="34" charset="-122"/>
                <a:ea typeface="思源黑体 CN Bold" panose="020B0800000000000000" pitchFamily="34" charset="-122"/>
              </a:rPr>
              <a:t>4 </a:t>
            </a:r>
            <a:r>
              <a:rPr lang="zh-CN" altLang="en-US" sz="3600" dirty="0">
                <a:latin typeface="思源黑体 CN Bold" panose="020B0800000000000000" pitchFamily="34" charset="-122"/>
                <a:ea typeface="思源黑体 CN Bold" panose="020B0800000000000000" pitchFamily="34" charset="-122"/>
              </a:rPr>
              <a:t>误差后向传播：流程图</a:t>
            </a:r>
            <a:endParaRPr lang="zh-CN" altLang="en-US" sz="3600" dirty="0"/>
          </a:p>
        </p:txBody>
      </p:sp>
      <p:grpSp>
        <p:nvGrpSpPr>
          <p:cNvPr id="51" name="组合 50">
            <a:extLst>
              <a:ext uri="{FF2B5EF4-FFF2-40B4-BE49-F238E27FC236}">
                <a16:creationId xmlns:a16="http://schemas.microsoft.com/office/drawing/2014/main" id="{8CF9610F-57F9-45F7-9402-25EDED9224BF}"/>
              </a:ext>
            </a:extLst>
          </p:cNvPr>
          <p:cNvGrpSpPr/>
          <p:nvPr/>
        </p:nvGrpSpPr>
        <p:grpSpPr>
          <a:xfrm>
            <a:off x="1229793" y="1886677"/>
            <a:ext cx="4624331" cy="2887656"/>
            <a:chOff x="1531941" y="1832691"/>
            <a:chExt cx="4624331" cy="2887656"/>
          </a:xfrm>
        </p:grpSpPr>
        <p:sp>
          <p:nvSpPr>
            <p:cNvPr id="9" name="椭圆 8">
              <a:extLst>
                <a:ext uri="{FF2B5EF4-FFF2-40B4-BE49-F238E27FC236}">
                  <a16:creationId xmlns:a16="http://schemas.microsoft.com/office/drawing/2014/main" id="{05EB0D3E-EBB8-4F42-95AB-2DA36E7700BB}"/>
                </a:ext>
              </a:extLst>
            </p:cNvPr>
            <p:cNvSpPr/>
            <p:nvPr/>
          </p:nvSpPr>
          <p:spPr>
            <a:xfrm>
              <a:off x="2632588" y="2911721"/>
              <a:ext cx="288000" cy="288000"/>
            </a:xfrm>
            <a:prstGeom prst="ellipse">
              <a:avLst/>
            </a:prstGeom>
            <a:noFill/>
            <a:ln w="57150">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A7D190AA-BF11-43CF-B77D-E5AD40236D34}"/>
                </a:ext>
              </a:extLst>
            </p:cNvPr>
            <p:cNvSpPr/>
            <p:nvPr/>
          </p:nvSpPr>
          <p:spPr>
            <a:xfrm>
              <a:off x="2632588" y="3789510"/>
              <a:ext cx="288000" cy="288000"/>
            </a:xfrm>
            <a:prstGeom prst="ellipse">
              <a:avLst/>
            </a:prstGeom>
            <a:noFill/>
            <a:ln w="57150">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B22F5B46-9A8E-4A1C-AE12-C6B58F578A09}"/>
                </a:ext>
              </a:extLst>
            </p:cNvPr>
            <p:cNvSpPr/>
            <p:nvPr/>
          </p:nvSpPr>
          <p:spPr>
            <a:xfrm>
              <a:off x="2740243" y="3293168"/>
              <a:ext cx="72691" cy="72000"/>
            </a:xfrm>
            <a:prstGeom prst="ellipse">
              <a:avLst/>
            </a:prstGeom>
            <a:solidFill>
              <a:srgbClr val="0208A7"/>
            </a:solidFill>
            <a:ln>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EAE3EC35-CBAE-4C77-B1A2-8F00BEA14BA5}"/>
                </a:ext>
              </a:extLst>
            </p:cNvPr>
            <p:cNvSpPr/>
            <p:nvPr/>
          </p:nvSpPr>
          <p:spPr>
            <a:xfrm>
              <a:off x="2740243" y="3458615"/>
              <a:ext cx="72691" cy="72000"/>
            </a:xfrm>
            <a:prstGeom prst="ellipse">
              <a:avLst/>
            </a:prstGeom>
            <a:solidFill>
              <a:srgbClr val="0208A7"/>
            </a:solidFill>
            <a:ln>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6C160ABB-C63E-4A30-9E8A-17908C6E4AA5}"/>
                </a:ext>
              </a:extLst>
            </p:cNvPr>
            <p:cNvSpPr/>
            <p:nvPr/>
          </p:nvSpPr>
          <p:spPr>
            <a:xfrm>
              <a:off x="2740243" y="3624062"/>
              <a:ext cx="72691" cy="72000"/>
            </a:xfrm>
            <a:prstGeom prst="ellipse">
              <a:avLst/>
            </a:prstGeom>
            <a:solidFill>
              <a:srgbClr val="0208A7"/>
            </a:solidFill>
            <a:ln>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连接符 13">
              <a:extLst>
                <a:ext uri="{FF2B5EF4-FFF2-40B4-BE49-F238E27FC236}">
                  <a16:creationId xmlns:a16="http://schemas.microsoft.com/office/drawing/2014/main" id="{E52007D8-378F-4926-ACC4-D39C4701267D}"/>
                </a:ext>
              </a:extLst>
            </p:cNvPr>
            <p:cNvCxnSpPr>
              <a:cxnSpLocks/>
              <a:stCxn id="9" idx="6"/>
              <a:endCxn id="34" idx="2"/>
            </p:cNvCxnSpPr>
            <p:nvPr/>
          </p:nvCxnSpPr>
          <p:spPr>
            <a:xfrm flipV="1">
              <a:off x="2920588" y="2477062"/>
              <a:ext cx="984155" cy="578659"/>
            </a:xfrm>
            <a:prstGeom prst="line">
              <a:avLst/>
            </a:prstGeom>
            <a:ln w="28575">
              <a:solidFill>
                <a:srgbClr val="0202B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E312878C-8F13-4A97-902F-EA836FE286A8}"/>
                </a:ext>
              </a:extLst>
            </p:cNvPr>
            <p:cNvCxnSpPr>
              <a:cxnSpLocks/>
              <a:stCxn id="10" idx="7"/>
              <a:endCxn id="34" idx="3"/>
            </p:cNvCxnSpPr>
            <p:nvPr/>
          </p:nvCxnSpPr>
          <p:spPr>
            <a:xfrm flipV="1">
              <a:off x="2878411" y="2578885"/>
              <a:ext cx="1068509" cy="1252802"/>
            </a:xfrm>
            <a:prstGeom prst="line">
              <a:avLst/>
            </a:prstGeom>
            <a:ln w="28575">
              <a:solidFill>
                <a:srgbClr val="0202B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矩形 17">
                  <a:extLst>
                    <a:ext uri="{FF2B5EF4-FFF2-40B4-BE49-F238E27FC236}">
                      <a16:creationId xmlns:a16="http://schemas.microsoft.com/office/drawing/2014/main" id="{E9F3A0AB-F574-4065-9999-1CF7D311C821}"/>
                    </a:ext>
                  </a:extLst>
                </p:cNvPr>
                <p:cNvSpPr/>
                <p:nvPr/>
              </p:nvSpPr>
              <p:spPr>
                <a:xfrm>
                  <a:off x="3428023" y="3324281"/>
                  <a:ext cx="1259191" cy="47622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i="1">
                                <a:latin typeface="Cambria Math" panose="02040503050406030204" pitchFamily="18" charset="0"/>
                              </a:rPr>
                              <m:t>𝑤</m:t>
                            </m:r>
                          </m:e>
                          <m:sub>
                            <m:r>
                              <a:rPr lang="en-US" altLang="zh-CN" b="0" i="1" smtClean="0">
                                <a:latin typeface="Cambria Math" panose="02040503050406030204" pitchFamily="18" charset="0"/>
                              </a:rPr>
                              <m:t>𝑗𝑖</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𝑙𝑎𝑦𝑒𝑟</m:t>
                                </m:r>
                                <m:r>
                                  <a:rPr lang="en-US" altLang="zh-CN" i="1">
                                    <a:latin typeface="Cambria Math" panose="02040503050406030204" pitchFamily="18" charset="0"/>
                                  </a:rPr>
                                  <m:t>−1</m:t>
                                </m:r>
                              </m:e>
                            </m:d>
                          </m:sup>
                        </m:sSubSup>
                      </m:oMath>
                    </m:oMathPara>
                  </a14:m>
                  <a:endParaRPr lang="zh-CN" altLang="en-US" dirty="0"/>
                </a:p>
              </p:txBody>
            </p:sp>
          </mc:Choice>
          <mc:Fallback xmlns="">
            <p:sp>
              <p:nvSpPr>
                <p:cNvPr id="18" name="矩形 17">
                  <a:extLst>
                    <a:ext uri="{FF2B5EF4-FFF2-40B4-BE49-F238E27FC236}">
                      <a16:creationId xmlns:a16="http://schemas.microsoft.com/office/drawing/2014/main" id="{E9F3A0AB-F574-4065-9999-1CF7D311C821}"/>
                    </a:ext>
                  </a:extLst>
                </p:cNvPr>
                <p:cNvSpPr>
                  <a:spLocks noRot="1" noChangeAspect="1" noMove="1" noResize="1" noEditPoints="1" noAdjustHandles="1" noChangeArrowheads="1" noChangeShapeType="1" noTextEdit="1"/>
                </p:cNvSpPr>
                <p:nvPr/>
              </p:nvSpPr>
              <p:spPr>
                <a:xfrm>
                  <a:off x="3428023" y="3324281"/>
                  <a:ext cx="1259191" cy="476221"/>
                </a:xfrm>
                <a:prstGeom prst="rect">
                  <a:avLst/>
                </a:prstGeom>
                <a:blipFill>
                  <a:blip r:embed="rId2"/>
                  <a:stretch>
                    <a:fillRect b="-641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矩形 21">
                  <a:extLst>
                    <a:ext uri="{FF2B5EF4-FFF2-40B4-BE49-F238E27FC236}">
                      <a16:creationId xmlns:a16="http://schemas.microsoft.com/office/drawing/2014/main" id="{32543A01-5565-49BD-9B85-DD81F46FB005}"/>
                    </a:ext>
                  </a:extLst>
                </p:cNvPr>
                <p:cNvSpPr/>
                <p:nvPr/>
              </p:nvSpPr>
              <p:spPr>
                <a:xfrm>
                  <a:off x="4347041" y="2524295"/>
                  <a:ext cx="1039579" cy="47622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i="1">
                                <a:latin typeface="Cambria Math" panose="02040503050406030204" pitchFamily="18" charset="0"/>
                              </a:rPr>
                              <m:t>𝑤</m:t>
                            </m:r>
                          </m:e>
                          <m:sub>
                            <m:r>
                              <a:rPr lang="en-US" altLang="zh-CN" b="0" i="1" smtClean="0">
                                <a:latin typeface="Cambria Math" panose="02040503050406030204" pitchFamily="18" charset="0"/>
                              </a:rPr>
                              <m:t>𝑘𝑗</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𝑙𝑎𝑦𝑒𝑟</m:t>
                                </m:r>
                              </m:e>
                            </m:d>
                          </m:sup>
                        </m:sSubSup>
                      </m:oMath>
                    </m:oMathPara>
                  </a14:m>
                  <a:endParaRPr lang="zh-CN" altLang="en-US" dirty="0"/>
                </a:p>
              </p:txBody>
            </p:sp>
          </mc:Choice>
          <mc:Fallback xmlns="">
            <p:sp>
              <p:nvSpPr>
                <p:cNvPr id="22" name="矩形 21">
                  <a:extLst>
                    <a:ext uri="{FF2B5EF4-FFF2-40B4-BE49-F238E27FC236}">
                      <a16:creationId xmlns:a16="http://schemas.microsoft.com/office/drawing/2014/main" id="{32543A01-5565-49BD-9B85-DD81F46FB005}"/>
                    </a:ext>
                  </a:extLst>
                </p:cNvPr>
                <p:cNvSpPr>
                  <a:spLocks noRot="1" noChangeAspect="1" noMove="1" noResize="1" noEditPoints="1" noAdjustHandles="1" noChangeArrowheads="1" noChangeShapeType="1" noTextEdit="1"/>
                </p:cNvSpPr>
                <p:nvPr/>
              </p:nvSpPr>
              <p:spPr>
                <a:xfrm>
                  <a:off x="4347041" y="2524295"/>
                  <a:ext cx="1039579" cy="476221"/>
                </a:xfrm>
                <a:prstGeom prst="rect">
                  <a:avLst/>
                </a:prstGeom>
                <a:blipFill>
                  <a:blip r:embed="rId3"/>
                  <a:stretch>
                    <a:fillRect b="-5128"/>
                  </a:stretch>
                </a:blipFill>
              </p:spPr>
              <p:txBody>
                <a:bodyPr/>
                <a:lstStyle/>
                <a:p>
                  <a:r>
                    <a:rPr lang="zh-CN" altLang="en-US">
                      <a:noFill/>
                    </a:rPr>
                    <a:t> </a:t>
                  </a:r>
                </a:p>
              </p:txBody>
            </p:sp>
          </mc:Fallback>
        </mc:AlternateContent>
        <p:sp>
          <p:nvSpPr>
            <p:cNvPr id="23" name="椭圆 22">
              <a:extLst>
                <a:ext uri="{FF2B5EF4-FFF2-40B4-BE49-F238E27FC236}">
                  <a16:creationId xmlns:a16="http://schemas.microsoft.com/office/drawing/2014/main" id="{596A4C8B-1D60-430F-A67B-FE080B5C9DF6}"/>
                </a:ext>
              </a:extLst>
            </p:cNvPr>
            <p:cNvSpPr/>
            <p:nvPr/>
          </p:nvSpPr>
          <p:spPr>
            <a:xfrm>
              <a:off x="2635069" y="4432347"/>
              <a:ext cx="288000" cy="288000"/>
            </a:xfrm>
            <a:prstGeom prst="ellipse">
              <a:avLst/>
            </a:prstGeom>
            <a:solidFill>
              <a:srgbClr val="0208A7"/>
            </a:solidFill>
            <a:ln w="57150">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 name="直接连接符 23">
              <a:extLst>
                <a:ext uri="{FF2B5EF4-FFF2-40B4-BE49-F238E27FC236}">
                  <a16:creationId xmlns:a16="http://schemas.microsoft.com/office/drawing/2014/main" id="{E2FF9CE5-7F93-4668-A32D-A2B77807C5EB}"/>
                </a:ext>
              </a:extLst>
            </p:cNvPr>
            <p:cNvCxnSpPr>
              <a:cxnSpLocks/>
              <a:stCxn id="23" idx="7"/>
              <a:endCxn id="34" idx="4"/>
            </p:cNvCxnSpPr>
            <p:nvPr/>
          </p:nvCxnSpPr>
          <p:spPr>
            <a:xfrm flipV="1">
              <a:off x="2880892" y="2621062"/>
              <a:ext cx="1167851" cy="1853462"/>
            </a:xfrm>
            <a:prstGeom prst="line">
              <a:avLst/>
            </a:prstGeom>
            <a:ln w="28575">
              <a:solidFill>
                <a:srgbClr val="0202B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矩形 26">
                  <a:extLst>
                    <a:ext uri="{FF2B5EF4-FFF2-40B4-BE49-F238E27FC236}">
                      <a16:creationId xmlns:a16="http://schemas.microsoft.com/office/drawing/2014/main" id="{DCF43539-272B-4309-B143-66E684DD333D}"/>
                    </a:ext>
                  </a:extLst>
                </p:cNvPr>
                <p:cNvSpPr/>
                <p:nvPr/>
              </p:nvSpPr>
              <p:spPr>
                <a:xfrm>
                  <a:off x="3476946" y="1965193"/>
                  <a:ext cx="1210268" cy="47622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𝑗</m:t>
                            </m:r>
                          </m:sub>
                          <m:sup>
                            <m:r>
                              <a:rPr lang="en-US" altLang="zh-CN" b="0" i="1" smtClean="0">
                                <a:latin typeface="Cambria Math" panose="02040503050406030204" pitchFamily="18" charset="0"/>
                              </a:rPr>
                              <m:t>(</m:t>
                            </m:r>
                            <m:r>
                              <a:rPr lang="en-US" altLang="zh-CN" b="0" i="1" smtClean="0">
                                <a:latin typeface="Cambria Math" panose="02040503050406030204" pitchFamily="18" charset="0"/>
                              </a:rPr>
                              <m:t>𝑙𝑎𝑦𝑒𝑟</m:t>
                            </m:r>
                            <m:r>
                              <a:rPr lang="en-US" altLang="zh-CN" b="0" i="1" smtClean="0">
                                <a:latin typeface="Cambria Math" panose="02040503050406030204" pitchFamily="18" charset="0"/>
                              </a:rPr>
                              <m:t>−1)</m:t>
                            </m:r>
                          </m:sup>
                        </m:sSubSup>
                      </m:oMath>
                    </m:oMathPara>
                  </a14:m>
                  <a:endParaRPr lang="zh-CN" altLang="en-US" dirty="0"/>
                </a:p>
              </p:txBody>
            </p:sp>
          </mc:Choice>
          <mc:Fallback xmlns="">
            <p:sp>
              <p:nvSpPr>
                <p:cNvPr id="27" name="矩形 26">
                  <a:extLst>
                    <a:ext uri="{FF2B5EF4-FFF2-40B4-BE49-F238E27FC236}">
                      <a16:creationId xmlns:a16="http://schemas.microsoft.com/office/drawing/2014/main" id="{DCF43539-272B-4309-B143-66E684DD333D}"/>
                    </a:ext>
                  </a:extLst>
                </p:cNvPr>
                <p:cNvSpPr>
                  <a:spLocks noRot="1" noChangeAspect="1" noMove="1" noResize="1" noEditPoints="1" noAdjustHandles="1" noChangeArrowheads="1" noChangeShapeType="1" noTextEdit="1"/>
                </p:cNvSpPr>
                <p:nvPr/>
              </p:nvSpPr>
              <p:spPr>
                <a:xfrm>
                  <a:off x="3476946" y="1965193"/>
                  <a:ext cx="1210268" cy="476221"/>
                </a:xfrm>
                <a:prstGeom prst="rect">
                  <a:avLst/>
                </a:prstGeom>
                <a:blipFill>
                  <a:blip r:embed="rId4"/>
                  <a:stretch>
                    <a:fillRect b="-7692"/>
                  </a:stretch>
                </a:blipFill>
              </p:spPr>
              <p:txBody>
                <a:bodyPr/>
                <a:lstStyle/>
                <a:p>
                  <a:r>
                    <a:rPr lang="zh-CN" altLang="en-US">
                      <a:noFill/>
                    </a:rPr>
                    <a:t> </a:t>
                  </a:r>
                </a:p>
              </p:txBody>
            </p:sp>
          </mc:Fallback>
        </mc:AlternateContent>
        <p:sp>
          <p:nvSpPr>
            <p:cNvPr id="34" name="椭圆 33">
              <a:extLst>
                <a:ext uri="{FF2B5EF4-FFF2-40B4-BE49-F238E27FC236}">
                  <a16:creationId xmlns:a16="http://schemas.microsoft.com/office/drawing/2014/main" id="{9A563246-2B28-463F-86C4-ACAE3D5D83BC}"/>
                </a:ext>
              </a:extLst>
            </p:cNvPr>
            <p:cNvSpPr/>
            <p:nvPr/>
          </p:nvSpPr>
          <p:spPr>
            <a:xfrm>
              <a:off x="3904743" y="2333062"/>
              <a:ext cx="288000" cy="288000"/>
            </a:xfrm>
            <a:prstGeom prst="ellipse">
              <a:avLst/>
            </a:prstGeom>
            <a:noFill/>
            <a:ln w="57150">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5" name="直接连接符 34">
              <a:extLst>
                <a:ext uri="{FF2B5EF4-FFF2-40B4-BE49-F238E27FC236}">
                  <a16:creationId xmlns:a16="http://schemas.microsoft.com/office/drawing/2014/main" id="{3D1AA499-219C-465E-9154-2B5B20AC224A}"/>
                </a:ext>
              </a:extLst>
            </p:cNvPr>
            <p:cNvCxnSpPr>
              <a:cxnSpLocks/>
              <a:stCxn id="34" idx="6"/>
              <a:endCxn id="41" idx="2"/>
            </p:cNvCxnSpPr>
            <p:nvPr/>
          </p:nvCxnSpPr>
          <p:spPr>
            <a:xfrm flipV="1">
              <a:off x="4192743" y="2309358"/>
              <a:ext cx="1414431" cy="167704"/>
            </a:xfrm>
            <a:prstGeom prst="line">
              <a:avLst/>
            </a:prstGeom>
            <a:ln w="28575">
              <a:solidFill>
                <a:srgbClr val="0202B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1" name="椭圆 40">
              <a:extLst>
                <a:ext uri="{FF2B5EF4-FFF2-40B4-BE49-F238E27FC236}">
                  <a16:creationId xmlns:a16="http://schemas.microsoft.com/office/drawing/2014/main" id="{0752F09C-0C69-4776-81E7-7F604ABF2B04}"/>
                </a:ext>
              </a:extLst>
            </p:cNvPr>
            <p:cNvSpPr/>
            <p:nvPr/>
          </p:nvSpPr>
          <p:spPr>
            <a:xfrm>
              <a:off x="5607174" y="2165358"/>
              <a:ext cx="288000" cy="288000"/>
            </a:xfrm>
            <a:prstGeom prst="ellipse">
              <a:avLst/>
            </a:prstGeom>
            <a:noFill/>
            <a:ln w="57150">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44" name="矩形 43">
                  <a:extLst>
                    <a:ext uri="{FF2B5EF4-FFF2-40B4-BE49-F238E27FC236}">
                      <a16:creationId xmlns:a16="http://schemas.microsoft.com/office/drawing/2014/main" id="{60850ABB-D779-44E6-BFC2-E1E1FB8EAF76}"/>
                    </a:ext>
                  </a:extLst>
                </p:cNvPr>
                <p:cNvSpPr/>
                <p:nvPr/>
              </p:nvSpPr>
              <p:spPr>
                <a:xfrm>
                  <a:off x="5165616" y="1832691"/>
                  <a:ext cx="990656" cy="44287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𝑘</m:t>
                            </m:r>
                          </m:sub>
                          <m:sup>
                            <m:r>
                              <a:rPr lang="en-US" altLang="zh-CN" b="0" i="1" smtClean="0">
                                <a:latin typeface="Cambria Math" panose="02040503050406030204" pitchFamily="18" charset="0"/>
                              </a:rPr>
                              <m:t>(</m:t>
                            </m:r>
                            <m:r>
                              <a:rPr lang="en-US" altLang="zh-CN" b="0" i="1" smtClean="0">
                                <a:latin typeface="Cambria Math" panose="02040503050406030204" pitchFamily="18" charset="0"/>
                              </a:rPr>
                              <m:t>𝑙𝑎𝑦𝑒𝑟</m:t>
                            </m:r>
                            <m:r>
                              <a:rPr lang="en-US" altLang="zh-CN" b="0" i="1" smtClean="0">
                                <a:latin typeface="Cambria Math" panose="02040503050406030204" pitchFamily="18" charset="0"/>
                              </a:rPr>
                              <m:t>)</m:t>
                            </m:r>
                          </m:sup>
                        </m:sSubSup>
                      </m:oMath>
                    </m:oMathPara>
                  </a14:m>
                  <a:endParaRPr lang="zh-CN" altLang="en-US" dirty="0"/>
                </a:p>
              </p:txBody>
            </p:sp>
          </mc:Choice>
          <mc:Fallback xmlns="">
            <p:sp>
              <p:nvSpPr>
                <p:cNvPr id="44" name="矩形 43">
                  <a:extLst>
                    <a:ext uri="{FF2B5EF4-FFF2-40B4-BE49-F238E27FC236}">
                      <a16:creationId xmlns:a16="http://schemas.microsoft.com/office/drawing/2014/main" id="{60850ABB-D779-44E6-BFC2-E1E1FB8EAF76}"/>
                    </a:ext>
                  </a:extLst>
                </p:cNvPr>
                <p:cNvSpPr>
                  <a:spLocks noRot="1" noChangeAspect="1" noMove="1" noResize="1" noEditPoints="1" noAdjustHandles="1" noChangeArrowheads="1" noChangeShapeType="1" noTextEdit="1"/>
                </p:cNvSpPr>
                <p:nvPr/>
              </p:nvSpPr>
              <p:spPr>
                <a:xfrm>
                  <a:off x="5165616" y="1832691"/>
                  <a:ext cx="990656" cy="442878"/>
                </a:xfrm>
                <a:prstGeom prst="rect">
                  <a:avLst/>
                </a:prstGeom>
                <a:blipFill>
                  <a:blip r:embed="rId5"/>
                  <a:stretch>
                    <a:fillRect b="-274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矩形 44">
                  <a:extLst>
                    <a:ext uri="{FF2B5EF4-FFF2-40B4-BE49-F238E27FC236}">
                      <a16:creationId xmlns:a16="http://schemas.microsoft.com/office/drawing/2014/main" id="{13B5A702-78B6-4E58-B199-99795D1109AC}"/>
                    </a:ext>
                  </a:extLst>
                </p:cNvPr>
                <p:cNvSpPr/>
                <p:nvPr/>
              </p:nvSpPr>
              <p:spPr>
                <a:xfrm>
                  <a:off x="1531941" y="2991185"/>
                  <a:ext cx="1210267" cy="44493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m:t>
                            </m:r>
                            <m:r>
                              <a:rPr lang="en-US" altLang="zh-CN" b="0" i="1" smtClean="0">
                                <a:latin typeface="Cambria Math" panose="02040503050406030204" pitchFamily="18" charset="0"/>
                              </a:rPr>
                              <m:t>𝑙𝑎𝑦𝑒𝑟</m:t>
                            </m:r>
                            <m:r>
                              <a:rPr lang="en-US" altLang="zh-CN" b="0" i="1" smtClean="0">
                                <a:latin typeface="Cambria Math" panose="02040503050406030204" pitchFamily="18" charset="0"/>
                              </a:rPr>
                              <m:t>−2)</m:t>
                            </m:r>
                          </m:sup>
                        </m:sSubSup>
                      </m:oMath>
                    </m:oMathPara>
                  </a14:m>
                  <a:endParaRPr lang="zh-CN" altLang="en-US" dirty="0"/>
                </a:p>
              </p:txBody>
            </p:sp>
          </mc:Choice>
          <mc:Fallback xmlns="">
            <p:sp>
              <p:nvSpPr>
                <p:cNvPr id="45" name="矩形 44">
                  <a:extLst>
                    <a:ext uri="{FF2B5EF4-FFF2-40B4-BE49-F238E27FC236}">
                      <a16:creationId xmlns:a16="http://schemas.microsoft.com/office/drawing/2014/main" id="{13B5A702-78B6-4E58-B199-99795D1109AC}"/>
                    </a:ext>
                  </a:extLst>
                </p:cNvPr>
                <p:cNvSpPr>
                  <a:spLocks noRot="1" noChangeAspect="1" noMove="1" noResize="1" noEditPoints="1" noAdjustHandles="1" noChangeArrowheads="1" noChangeShapeType="1" noTextEdit="1"/>
                </p:cNvSpPr>
                <p:nvPr/>
              </p:nvSpPr>
              <p:spPr>
                <a:xfrm>
                  <a:off x="1531941" y="2991185"/>
                  <a:ext cx="1210267" cy="444930"/>
                </a:xfrm>
                <a:prstGeom prst="rect">
                  <a:avLst/>
                </a:prstGeom>
                <a:blipFill>
                  <a:blip r:embed="rId6"/>
                  <a:stretch>
                    <a:fillRect b="-4110"/>
                  </a:stretch>
                </a:blipFill>
              </p:spPr>
              <p:txBody>
                <a:bodyPr/>
                <a:lstStyle/>
                <a:p>
                  <a:r>
                    <a:rPr lang="zh-CN" altLang="en-US">
                      <a:noFill/>
                    </a:rPr>
                    <a:t> </a:t>
                  </a:r>
                </a:p>
              </p:txBody>
            </p:sp>
          </mc:Fallback>
        </mc:AlternateContent>
      </p:grpSp>
      <p:grpSp>
        <p:nvGrpSpPr>
          <p:cNvPr id="52" name="组合 51">
            <a:extLst>
              <a:ext uri="{FF2B5EF4-FFF2-40B4-BE49-F238E27FC236}">
                <a16:creationId xmlns:a16="http://schemas.microsoft.com/office/drawing/2014/main" id="{47B681A1-50F7-4F6B-882F-6852D5054C30}"/>
              </a:ext>
            </a:extLst>
          </p:cNvPr>
          <p:cNvGrpSpPr/>
          <p:nvPr/>
        </p:nvGrpSpPr>
        <p:grpSpPr>
          <a:xfrm>
            <a:off x="6347182" y="1886677"/>
            <a:ext cx="4205357" cy="3273075"/>
            <a:chOff x="2799406" y="1917232"/>
            <a:chExt cx="4205357" cy="3273075"/>
          </a:xfrm>
        </p:grpSpPr>
        <p:sp>
          <p:nvSpPr>
            <p:cNvPr id="53" name="椭圆 52">
              <a:extLst>
                <a:ext uri="{FF2B5EF4-FFF2-40B4-BE49-F238E27FC236}">
                  <a16:creationId xmlns:a16="http://schemas.microsoft.com/office/drawing/2014/main" id="{BC3B3F6C-9B57-496F-B7ED-A16AD67FFF46}"/>
                </a:ext>
              </a:extLst>
            </p:cNvPr>
            <p:cNvSpPr/>
            <p:nvPr/>
          </p:nvSpPr>
          <p:spPr>
            <a:xfrm>
              <a:off x="3220397" y="3234925"/>
              <a:ext cx="288000" cy="288000"/>
            </a:xfrm>
            <a:prstGeom prst="ellipse">
              <a:avLst/>
            </a:prstGeom>
            <a:noFill/>
            <a:ln w="57150">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4" name="直接连接符 53">
              <a:extLst>
                <a:ext uri="{FF2B5EF4-FFF2-40B4-BE49-F238E27FC236}">
                  <a16:creationId xmlns:a16="http://schemas.microsoft.com/office/drawing/2014/main" id="{5CC66D6C-8FC7-47CE-AD34-6C1CFE8CF406}"/>
                </a:ext>
              </a:extLst>
            </p:cNvPr>
            <p:cNvCxnSpPr>
              <a:cxnSpLocks/>
              <a:stCxn id="53" idx="6"/>
              <a:endCxn id="55" idx="2"/>
            </p:cNvCxnSpPr>
            <p:nvPr/>
          </p:nvCxnSpPr>
          <p:spPr>
            <a:xfrm flipV="1">
              <a:off x="3508397" y="2682233"/>
              <a:ext cx="1508948" cy="696692"/>
            </a:xfrm>
            <a:prstGeom prst="line">
              <a:avLst/>
            </a:prstGeom>
            <a:ln w="28575">
              <a:solidFill>
                <a:srgbClr val="0202BF"/>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55" name="椭圆 54">
              <a:extLst>
                <a:ext uri="{FF2B5EF4-FFF2-40B4-BE49-F238E27FC236}">
                  <a16:creationId xmlns:a16="http://schemas.microsoft.com/office/drawing/2014/main" id="{0D6EF144-0168-4A1F-BAF6-60A6BE1625CD}"/>
                </a:ext>
              </a:extLst>
            </p:cNvPr>
            <p:cNvSpPr/>
            <p:nvPr/>
          </p:nvSpPr>
          <p:spPr>
            <a:xfrm>
              <a:off x="5017345" y="2538233"/>
              <a:ext cx="288000" cy="288000"/>
            </a:xfrm>
            <a:prstGeom prst="ellipse">
              <a:avLst/>
            </a:prstGeom>
            <a:noFill/>
            <a:ln w="57150">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a:extLst>
                <a:ext uri="{FF2B5EF4-FFF2-40B4-BE49-F238E27FC236}">
                  <a16:creationId xmlns:a16="http://schemas.microsoft.com/office/drawing/2014/main" id="{70C91F5A-E984-438A-92CA-B2E758D56C34}"/>
                </a:ext>
              </a:extLst>
            </p:cNvPr>
            <p:cNvSpPr/>
            <p:nvPr/>
          </p:nvSpPr>
          <p:spPr>
            <a:xfrm>
              <a:off x="6392024" y="2269358"/>
              <a:ext cx="288000" cy="288000"/>
            </a:xfrm>
            <a:prstGeom prst="ellipse">
              <a:avLst/>
            </a:prstGeom>
            <a:noFill/>
            <a:ln w="57150">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a:extLst>
                <a:ext uri="{FF2B5EF4-FFF2-40B4-BE49-F238E27FC236}">
                  <a16:creationId xmlns:a16="http://schemas.microsoft.com/office/drawing/2014/main" id="{867EE5E9-97B8-40D8-8520-763D42302492}"/>
                </a:ext>
              </a:extLst>
            </p:cNvPr>
            <p:cNvSpPr/>
            <p:nvPr/>
          </p:nvSpPr>
          <p:spPr>
            <a:xfrm>
              <a:off x="6410155" y="4216916"/>
              <a:ext cx="288000" cy="288000"/>
            </a:xfrm>
            <a:prstGeom prst="ellipse">
              <a:avLst/>
            </a:prstGeom>
            <a:noFill/>
            <a:ln w="57150">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8" name="直接连接符 57">
              <a:extLst>
                <a:ext uri="{FF2B5EF4-FFF2-40B4-BE49-F238E27FC236}">
                  <a16:creationId xmlns:a16="http://schemas.microsoft.com/office/drawing/2014/main" id="{18AF5E17-664A-49A2-A2B7-85C9335A8DE0}"/>
                </a:ext>
              </a:extLst>
            </p:cNvPr>
            <p:cNvCxnSpPr>
              <a:cxnSpLocks/>
              <a:stCxn id="56" idx="2"/>
              <a:endCxn id="55" idx="6"/>
            </p:cNvCxnSpPr>
            <p:nvPr/>
          </p:nvCxnSpPr>
          <p:spPr>
            <a:xfrm flipH="1">
              <a:off x="5305345" y="2413358"/>
              <a:ext cx="1086679" cy="268875"/>
            </a:xfrm>
            <a:prstGeom prst="line">
              <a:avLst/>
            </a:prstGeom>
            <a:ln w="28575">
              <a:solidFill>
                <a:srgbClr val="0202B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0D8A5F0F-021C-448E-AB62-CB031A4F8FE7}"/>
                </a:ext>
              </a:extLst>
            </p:cNvPr>
            <p:cNvCxnSpPr>
              <a:cxnSpLocks/>
              <a:stCxn id="57" idx="1"/>
              <a:endCxn id="55" idx="5"/>
            </p:cNvCxnSpPr>
            <p:nvPr/>
          </p:nvCxnSpPr>
          <p:spPr>
            <a:xfrm flipH="1" flipV="1">
              <a:off x="5263168" y="2784056"/>
              <a:ext cx="1189164" cy="1475037"/>
            </a:xfrm>
            <a:prstGeom prst="line">
              <a:avLst/>
            </a:prstGeom>
            <a:ln w="28575">
              <a:solidFill>
                <a:srgbClr val="0202B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11006982-189A-4DA2-9A20-B0447C01BD10}"/>
                </a:ext>
              </a:extLst>
            </p:cNvPr>
            <p:cNvCxnSpPr>
              <a:cxnSpLocks/>
              <a:stCxn id="61" idx="1"/>
              <a:endCxn id="55" idx="4"/>
            </p:cNvCxnSpPr>
            <p:nvPr/>
          </p:nvCxnSpPr>
          <p:spPr>
            <a:xfrm flipH="1" flipV="1">
              <a:off x="5161345" y="2826233"/>
              <a:ext cx="1285097" cy="2118251"/>
            </a:xfrm>
            <a:prstGeom prst="line">
              <a:avLst/>
            </a:prstGeom>
            <a:ln w="28575">
              <a:solidFill>
                <a:srgbClr val="0202B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61" name="椭圆 60">
              <a:extLst>
                <a:ext uri="{FF2B5EF4-FFF2-40B4-BE49-F238E27FC236}">
                  <a16:creationId xmlns:a16="http://schemas.microsoft.com/office/drawing/2014/main" id="{6C8D4782-1DD3-413E-BA42-B14B8AB58A5F}"/>
                </a:ext>
              </a:extLst>
            </p:cNvPr>
            <p:cNvSpPr/>
            <p:nvPr/>
          </p:nvSpPr>
          <p:spPr>
            <a:xfrm>
              <a:off x="6404265" y="4902307"/>
              <a:ext cx="288000" cy="288000"/>
            </a:xfrm>
            <a:prstGeom prst="ellipse">
              <a:avLst/>
            </a:prstGeom>
            <a:solidFill>
              <a:srgbClr val="0208A7"/>
            </a:solidFill>
            <a:ln w="57150">
              <a:solidFill>
                <a:srgbClr val="0400B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椭圆 61">
              <a:extLst>
                <a:ext uri="{FF2B5EF4-FFF2-40B4-BE49-F238E27FC236}">
                  <a16:creationId xmlns:a16="http://schemas.microsoft.com/office/drawing/2014/main" id="{677095ED-B251-40A3-96B8-139FB6550024}"/>
                </a:ext>
              </a:extLst>
            </p:cNvPr>
            <p:cNvSpPr/>
            <p:nvPr/>
          </p:nvSpPr>
          <p:spPr>
            <a:xfrm>
              <a:off x="6521205" y="2837864"/>
              <a:ext cx="72691" cy="72000"/>
            </a:xfrm>
            <a:prstGeom prst="ellipse">
              <a:avLst/>
            </a:prstGeom>
            <a:solidFill>
              <a:srgbClr val="0208A7"/>
            </a:solidFill>
            <a:ln>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椭圆 62">
              <a:extLst>
                <a:ext uri="{FF2B5EF4-FFF2-40B4-BE49-F238E27FC236}">
                  <a16:creationId xmlns:a16="http://schemas.microsoft.com/office/drawing/2014/main" id="{48645FBC-E2FD-48DF-9C29-2D91E3392EB9}"/>
                </a:ext>
              </a:extLst>
            </p:cNvPr>
            <p:cNvSpPr/>
            <p:nvPr/>
          </p:nvSpPr>
          <p:spPr>
            <a:xfrm>
              <a:off x="6521205" y="3031074"/>
              <a:ext cx="72691" cy="72000"/>
            </a:xfrm>
            <a:prstGeom prst="ellipse">
              <a:avLst/>
            </a:prstGeom>
            <a:solidFill>
              <a:srgbClr val="0208A7"/>
            </a:solidFill>
            <a:ln>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椭圆 63">
              <a:extLst>
                <a:ext uri="{FF2B5EF4-FFF2-40B4-BE49-F238E27FC236}">
                  <a16:creationId xmlns:a16="http://schemas.microsoft.com/office/drawing/2014/main" id="{CEF302A8-5E63-4FFD-9D98-87204677EC42}"/>
                </a:ext>
              </a:extLst>
            </p:cNvPr>
            <p:cNvSpPr/>
            <p:nvPr/>
          </p:nvSpPr>
          <p:spPr>
            <a:xfrm>
              <a:off x="6521205" y="3224284"/>
              <a:ext cx="72691" cy="72000"/>
            </a:xfrm>
            <a:prstGeom prst="ellipse">
              <a:avLst/>
            </a:prstGeom>
            <a:solidFill>
              <a:srgbClr val="0208A7"/>
            </a:solidFill>
            <a:ln>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椭圆 64">
              <a:extLst>
                <a:ext uri="{FF2B5EF4-FFF2-40B4-BE49-F238E27FC236}">
                  <a16:creationId xmlns:a16="http://schemas.microsoft.com/office/drawing/2014/main" id="{FF9143E8-59DB-4554-AE64-D6FA87A5E9DA}"/>
                </a:ext>
              </a:extLst>
            </p:cNvPr>
            <p:cNvSpPr/>
            <p:nvPr/>
          </p:nvSpPr>
          <p:spPr>
            <a:xfrm>
              <a:off x="6519550" y="3417494"/>
              <a:ext cx="72691" cy="72000"/>
            </a:xfrm>
            <a:prstGeom prst="ellipse">
              <a:avLst/>
            </a:prstGeom>
            <a:solidFill>
              <a:srgbClr val="0208A7"/>
            </a:solidFill>
            <a:ln>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a:extLst>
                <a:ext uri="{FF2B5EF4-FFF2-40B4-BE49-F238E27FC236}">
                  <a16:creationId xmlns:a16="http://schemas.microsoft.com/office/drawing/2014/main" id="{C8C4EF7B-7B0B-461D-B531-6B2B5E5954E6}"/>
                </a:ext>
              </a:extLst>
            </p:cNvPr>
            <p:cNvSpPr/>
            <p:nvPr/>
          </p:nvSpPr>
          <p:spPr>
            <a:xfrm>
              <a:off x="6519550" y="3610704"/>
              <a:ext cx="72691" cy="72000"/>
            </a:xfrm>
            <a:prstGeom prst="ellipse">
              <a:avLst/>
            </a:prstGeom>
            <a:solidFill>
              <a:srgbClr val="0208A7"/>
            </a:solidFill>
            <a:ln>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a:extLst>
                <a:ext uri="{FF2B5EF4-FFF2-40B4-BE49-F238E27FC236}">
                  <a16:creationId xmlns:a16="http://schemas.microsoft.com/office/drawing/2014/main" id="{FEDC5613-DC47-4E61-9F55-768208EDC2E9}"/>
                </a:ext>
              </a:extLst>
            </p:cNvPr>
            <p:cNvSpPr/>
            <p:nvPr/>
          </p:nvSpPr>
          <p:spPr>
            <a:xfrm>
              <a:off x="6519550" y="3803914"/>
              <a:ext cx="72691" cy="72000"/>
            </a:xfrm>
            <a:prstGeom prst="ellipse">
              <a:avLst/>
            </a:prstGeom>
            <a:solidFill>
              <a:srgbClr val="0208A7"/>
            </a:solidFill>
            <a:ln>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68" name="矩形 67">
                  <a:extLst>
                    <a:ext uri="{FF2B5EF4-FFF2-40B4-BE49-F238E27FC236}">
                      <a16:creationId xmlns:a16="http://schemas.microsoft.com/office/drawing/2014/main" id="{EE62A643-F5E3-4029-A84F-F75FABF45C1D}"/>
                    </a:ext>
                  </a:extLst>
                </p:cNvPr>
                <p:cNvSpPr/>
                <p:nvPr/>
              </p:nvSpPr>
              <p:spPr>
                <a:xfrm>
                  <a:off x="4630962" y="2184923"/>
                  <a:ext cx="1210268" cy="47622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zh-CN" altLang="en-US" i="1">
                                <a:latin typeface="Cambria Math" panose="02040503050406030204" pitchFamily="18" charset="0"/>
                              </a:rPr>
                              <m:t>𝛿</m:t>
                            </m:r>
                          </m:e>
                          <m:sub>
                            <m:r>
                              <a:rPr lang="en-US" altLang="zh-CN" b="0" i="1" smtClean="0">
                                <a:latin typeface="Cambria Math" panose="02040503050406030204" pitchFamily="18" charset="0"/>
                              </a:rPr>
                              <m:t>𝑗</m:t>
                            </m:r>
                          </m:sub>
                          <m:sup>
                            <m:r>
                              <a:rPr lang="en-US" altLang="zh-CN" b="0" i="1" smtClean="0">
                                <a:latin typeface="Cambria Math" panose="02040503050406030204" pitchFamily="18" charset="0"/>
                              </a:rPr>
                              <m:t>(</m:t>
                            </m:r>
                            <m:r>
                              <a:rPr lang="en-US" altLang="zh-CN" b="0" i="1" smtClean="0">
                                <a:latin typeface="Cambria Math" panose="02040503050406030204" pitchFamily="18" charset="0"/>
                              </a:rPr>
                              <m:t>𝑙𝑎𝑦𝑒𝑟</m:t>
                            </m:r>
                            <m:r>
                              <a:rPr lang="en-US" altLang="zh-CN" b="0" i="1" smtClean="0">
                                <a:latin typeface="Cambria Math" panose="02040503050406030204" pitchFamily="18" charset="0"/>
                              </a:rPr>
                              <m:t>−1)</m:t>
                            </m:r>
                          </m:sup>
                        </m:sSubSup>
                      </m:oMath>
                    </m:oMathPara>
                  </a14:m>
                  <a:endParaRPr lang="zh-CN" altLang="en-US" dirty="0"/>
                </a:p>
              </p:txBody>
            </p:sp>
          </mc:Choice>
          <mc:Fallback xmlns="">
            <p:sp>
              <p:nvSpPr>
                <p:cNvPr id="68" name="矩形 67">
                  <a:extLst>
                    <a:ext uri="{FF2B5EF4-FFF2-40B4-BE49-F238E27FC236}">
                      <a16:creationId xmlns:a16="http://schemas.microsoft.com/office/drawing/2014/main" id="{EE62A643-F5E3-4029-A84F-F75FABF45C1D}"/>
                    </a:ext>
                  </a:extLst>
                </p:cNvPr>
                <p:cNvSpPr>
                  <a:spLocks noRot="1" noChangeAspect="1" noMove="1" noResize="1" noEditPoints="1" noAdjustHandles="1" noChangeArrowheads="1" noChangeShapeType="1" noTextEdit="1"/>
                </p:cNvSpPr>
                <p:nvPr/>
              </p:nvSpPr>
              <p:spPr>
                <a:xfrm>
                  <a:off x="4630962" y="2184923"/>
                  <a:ext cx="1210268" cy="476221"/>
                </a:xfrm>
                <a:prstGeom prst="rect">
                  <a:avLst/>
                </a:prstGeom>
                <a:blipFill>
                  <a:blip r:embed="rId7"/>
                  <a:stretch>
                    <a:fillRect b="-769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9" name="矩形 68">
                  <a:extLst>
                    <a:ext uri="{FF2B5EF4-FFF2-40B4-BE49-F238E27FC236}">
                      <a16:creationId xmlns:a16="http://schemas.microsoft.com/office/drawing/2014/main" id="{2D0A7FEF-C78B-4FC8-989A-0599F27C407E}"/>
                    </a:ext>
                  </a:extLst>
                </p:cNvPr>
                <p:cNvSpPr/>
                <p:nvPr/>
              </p:nvSpPr>
              <p:spPr>
                <a:xfrm>
                  <a:off x="6014107" y="1917232"/>
                  <a:ext cx="990656" cy="44287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zh-CN" altLang="en-US" b="0" i="1" smtClean="0">
                                <a:latin typeface="Cambria Math" panose="02040503050406030204" pitchFamily="18" charset="0"/>
                              </a:rPr>
                              <m:t>𝛿</m:t>
                            </m:r>
                          </m:e>
                          <m:sub>
                            <m:r>
                              <a:rPr lang="en-US" altLang="zh-CN" b="0" i="1" smtClean="0">
                                <a:latin typeface="Cambria Math" panose="02040503050406030204" pitchFamily="18" charset="0"/>
                              </a:rPr>
                              <m:t>𝑘</m:t>
                            </m:r>
                          </m:sub>
                          <m:sup>
                            <m:r>
                              <a:rPr lang="en-US" altLang="zh-CN" b="0" i="1" smtClean="0">
                                <a:latin typeface="Cambria Math" panose="02040503050406030204" pitchFamily="18" charset="0"/>
                              </a:rPr>
                              <m:t>(</m:t>
                            </m:r>
                            <m:r>
                              <a:rPr lang="en-US" altLang="zh-CN" b="0" i="1" smtClean="0">
                                <a:latin typeface="Cambria Math" panose="02040503050406030204" pitchFamily="18" charset="0"/>
                              </a:rPr>
                              <m:t>𝑙𝑎𝑦𝑒𝑟</m:t>
                            </m:r>
                            <m:r>
                              <a:rPr lang="en-US" altLang="zh-CN" b="0" i="1" smtClean="0">
                                <a:latin typeface="Cambria Math" panose="02040503050406030204" pitchFamily="18" charset="0"/>
                              </a:rPr>
                              <m:t>)</m:t>
                            </m:r>
                          </m:sup>
                        </m:sSubSup>
                      </m:oMath>
                    </m:oMathPara>
                  </a14:m>
                  <a:endParaRPr lang="zh-CN" altLang="en-US" dirty="0"/>
                </a:p>
              </p:txBody>
            </p:sp>
          </mc:Choice>
          <mc:Fallback xmlns="">
            <p:sp>
              <p:nvSpPr>
                <p:cNvPr id="69" name="矩形 68">
                  <a:extLst>
                    <a:ext uri="{FF2B5EF4-FFF2-40B4-BE49-F238E27FC236}">
                      <a16:creationId xmlns:a16="http://schemas.microsoft.com/office/drawing/2014/main" id="{2D0A7FEF-C78B-4FC8-989A-0599F27C407E}"/>
                    </a:ext>
                  </a:extLst>
                </p:cNvPr>
                <p:cNvSpPr>
                  <a:spLocks noRot="1" noChangeAspect="1" noMove="1" noResize="1" noEditPoints="1" noAdjustHandles="1" noChangeArrowheads="1" noChangeShapeType="1" noTextEdit="1"/>
                </p:cNvSpPr>
                <p:nvPr/>
              </p:nvSpPr>
              <p:spPr>
                <a:xfrm>
                  <a:off x="6014107" y="1917232"/>
                  <a:ext cx="990656" cy="442878"/>
                </a:xfrm>
                <a:prstGeom prst="rect">
                  <a:avLst/>
                </a:prstGeom>
                <a:blipFill>
                  <a:blip r:embed="rId8"/>
                  <a:stretch>
                    <a:fillRect b="-274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0" name="矩形 69">
                  <a:extLst>
                    <a:ext uri="{FF2B5EF4-FFF2-40B4-BE49-F238E27FC236}">
                      <a16:creationId xmlns:a16="http://schemas.microsoft.com/office/drawing/2014/main" id="{AEC86B7A-7F87-46E6-A21F-0C4480FB7995}"/>
                    </a:ext>
                  </a:extLst>
                </p:cNvPr>
                <p:cNvSpPr/>
                <p:nvPr/>
              </p:nvSpPr>
              <p:spPr>
                <a:xfrm>
                  <a:off x="2799406" y="2877830"/>
                  <a:ext cx="1210267" cy="44493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zh-CN" altLang="en-US" i="1">
                                <a:latin typeface="Cambria Math" panose="02040503050406030204" pitchFamily="18" charset="0"/>
                              </a:rPr>
                              <m:t>𝛿</m:t>
                            </m:r>
                          </m:e>
                          <m:sub>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m:t>
                            </m:r>
                            <m:r>
                              <a:rPr lang="en-US" altLang="zh-CN" b="0" i="1" smtClean="0">
                                <a:latin typeface="Cambria Math" panose="02040503050406030204" pitchFamily="18" charset="0"/>
                              </a:rPr>
                              <m:t>𝑙𝑎𝑦𝑒𝑟</m:t>
                            </m:r>
                            <m:r>
                              <a:rPr lang="en-US" altLang="zh-CN" b="0" i="1" smtClean="0">
                                <a:latin typeface="Cambria Math" panose="02040503050406030204" pitchFamily="18" charset="0"/>
                              </a:rPr>
                              <m:t>−2)</m:t>
                            </m:r>
                          </m:sup>
                        </m:sSubSup>
                      </m:oMath>
                    </m:oMathPara>
                  </a14:m>
                  <a:endParaRPr lang="zh-CN" altLang="en-US" dirty="0"/>
                </a:p>
              </p:txBody>
            </p:sp>
          </mc:Choice>
          <mc:Fallback xmlns="">
            <p:sp>
              <p:nvSpPr>
                <p:cNvPr id="70" name="矩形 69">
                  <a:extLst>
                    <a:ext uri="{FF2B5EF4-FFF2-40B4-BE49-F238E27FC236}">
                      <a16:creationId xmlns:a16="http://schemas.microsoft.com/office/drawing/2014/main" id="{AEC86B7A-7F87-46E6-A21F-0C4480FB7995}"/>
                    </a:ext>
                  </a:extLst>
                </p:cNvPr>
                <p:cNvSpPr>
                  <a:spLocks noRot="1" noChangeAspect="1" noMove="1" noResize="1" noEditPoints="1" noAdjustHandles="1" noChangeArrowheads="1" noChangeShapeType="1" noTextEdit="1"/>
                </p:cNvSpPr>
                <p:nvPr/>
              </p:nvSpPr>
              <p:spPr>
                <a:xfrm>
                  <a:off x="2799406" y="2877830"/>
                  <a:ext cx="1210267" cy="444930"/>
                </a:xfrm>
                <a:prstGeom prst="rect">
                  <a:avLst/>
                </a:prstGeom>
                <a:blipFill>
                  <a:blip r:embed="rId9"/>
                  <a:stretch>
                    <a:fillRect b="-411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1" name="矩形 70">
                  <a:extLst>
                    <a:ext uri="{FF2B5EF4-FFF2-40B4-BE49-F238E27FC236}">
                      <a16:creationId xmlns:a16="http://schemas.microsoft.com/office/drawing/2014/main" id="{8617B2C4-1E53-4F86-83F7-21B4594AFE22}"/>
                    </a:ext>
                  </a:extLst>
                </p:cNvPr>
                <p:cNvSpPr/>
                <p:nvPr/>
              </p:nvSpPr>
              <p:spPr>
                <a:xfrm>
                  <a:off x="3877256" y="3058641"/>
                  <a:ext cx="1259191" cy="47622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i="1">
                                <a:latin typeface="Cambria Math" panose="02040503050406030204" pitchFamily="18" charset="0"/>
                              </a:rPr>
                              <m:t>𝑤</m:t>
                            </m:r>
                          </m:e>
                          <m:sub>
                            <m:r>
                              <a:rPr lang="en-US" altLang="zh-CN" b="0" i="1" smtClean="0">
                                <a:latin typeface="Cambria Math" panose="02040503050406030204" pitchFamily="18" charset="0"/>
                              </a:rPr>
                              <m:t>𝑗𝑖</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𝑙𝑎𝑦𝑒𝑟</m:t>
                                </m:r>
                                <m:r>
                                  <a:rPr lang="en-US" altLang="zh-CN" i="1">
                                    <a:latin typeface="Cambria Math" panose="02040503050406030204" pitchFamily="18" charset="0"/>
                                  </a:rPr>
                                  <m:t>−1</m:t>
                                </m:r>
                              </m:e>
                            </m:d>
                          </m:sup>
                        </m:sSubSup>
                      </m:oMath>
                    </m:oMathPara>
                  </a14:m>
                  <a:endParaRPr lang="zh-CN" altLang="en-US" dirty="0"/>
                </a:p>
              </p:txBody>
            </p:sp>
          </mc:Choice>
          <mc:Fallback xmlns="">
            <p:sp>
              <p:nvSpPr>
                <p:cNvPr id="71" name="矩形 70">
                  <a:extLst>
                    <a:ext uri="{FF2B5EF4-FFF2-40B4-BE49-F238E27FC236}">
                      <a16:creationId xmlns:a16="http://schemas.microsoft.com/office/drawing/2014/main" id="{8617B2C4-1E53-4F86-83F7-21B4594AFE22}"/>
                    </a:ext>
                  </a:extLst>
                </p:cNvPr>
                <p:cNvSpPr>
                  <a:spLocks noRot="1" noChangeAspect="1" noMove="1" noResize="1" noEditPoints="1" noAdjustHandles="1" noChangeArrowheads="1" noChangeShapeType="1" noTextEdit="1"/>
                </p:cNvSpPr>
                <p:nvPr/>
              </p:nvSpPr>
              <p:spPr>
                <a:xfrm>
                  <a:off x="3877256" y="3058641"/>
                  <a:ext cx="1259191" cy="476221"/>
                </a:xfrm>
                <a:prstGeom prst="rect">
                  <a:avLst/>
                </a:prstGeom>
                <a:blipFill>
                  <a:blip r:embed="rId10"/>
                  <a:stretch>
                    <a:fillRect b="-512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2" name="矩形 71">
                  <a:extLst>
                    <a:ext uri="{FF2B5EF4-FFF2-40B4-BE49-F238E27FC236}">
                      <a16:creationId xmlns:a16="http://schemas.microsoft.com/office/drawing/2014/main" id="{2AE49572-D380-4FD0-B2E4-A523F7CF32E1}"/>
                    </a:ext>
                  </a:extLst>
                </p:cNvPr>
                <p:cNvSpPr/>
                <p:nvPr/>
              </p:nvSpPr>
              <p:spPr>
                <a:xfrm>
                  <a:off x="5516610" y="2744025"/>
                  <a:ext cx="1039579" cy="47622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i="1">
                                <a:latin typeface="Cambria Math" panose="02040503050406030204" pitchFamily="18" charset="0"/>
                              </a:rPr>
                              <m:t>𝑤</m:t>
                            </m:r>
                          </m:e>
                          <m:sub>
                            <m:r>
                              <a:rPr lang="en-US" altLang="zh-CN" b="0" i="1" smtClean="0">
                                <a:latin typeface="Cambria Math" panose="02040503050406030204" pitchFamily="18" charset="0"/>
                              </a:rPr>
                              <m:t>𝑘𝑗</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𝑙𝑎𝑦𝑒𝑟</m:t>
                                </m:r>
                              </m:e>
                            </m:d>
                          </m:sup>
                        </m:sSubSup>
                      </m:oMath>
                    </m:oMathPara>
                  </a14:m>
                  <a:endParaRPr lang="zh-CN" altLang="en-US" dirty="0"/>
                </a:p>
              </p:txBody>
            </p:sp>
          </mc:Choice>
          <mc:Fallback xmlns="">
            <p:sp>
              <p:nvSpPr>
                <p:cNvPr id="72" name="矩形 71">
                  <a:extLst>
                    <a:ext uri="{FF2B5EF4-FFF2-40B4-BE49-F238E27FC236}">
                      <a16:creationId xmlns:a16="http://schemas.microsoft.com/office/drawing/2014/main" id="{2AE49572-D380-4FD0-B2E4-A523F7CF32E1}"/>
                    </a:ext>
                  </a:extLst>
                </p:cNvPr>
                <p:cNvSpPr>
                  <a:spLocks noRot="1" noChangeAspect="1" noMove="1" noResize="1" noEditPoints="1" noAdjustHandles="1" noChangeArrowheads="1" noChangeShapeType="1" noTextEdit="1"/>
                </p:cNvSpPr>
                <p:nvPr/>
              </p:nvSpPr>
              <p:spPr>
                <a:xfrm>
                  <a:off x="5516610" y="2744025"/>
                  <a:ext cx="1039579" cy="476221"/>
                </a:xfrm>
                <a:prstGeom prst="rect">
                  <a:avLst/>
                </a:prstGeom>
                <a:blipFill>
                  <a:blip r:embed="rId11"/>
                  <a:stretch>
                    <a:fillRect b="-5128"/>
                  </a:stretch>
                </a:blipFill>
              </p:spPr>
              <p:txBody>
                <a:bodyPr/>
                <a:lstStyle/>
                <a:p>
                  <a:r>
                    <a:rPr lang="zh-CN" altLang="en-US">
                      <a:noFill/>
                    </a:rPr>
                    <a:t> </a:t>
                  </a:r>
                </a:p>
              </p:txBody>
            </p:sp>
          </mc:Fallback>
        </mc:AlternateContent>
      </p:grpSp>
      <p:sp>
        <p:nvSpPr>
          <p:cNvPr id="73" name="矩形 72">
            <a:extLst>
              <a:ext uri="{FF2B5EF4-FFF2-40B4-BE49-F238E27FC236}">
                <a16:creationId xmlns:a16="http://schemas.microsoft.com/office/drawing/2014/main" id="{B5E3A31D-92E9-40B0-BBBE-84F9202497C5}"/>
              </a:ext>
            </a:extLst>
          </p:cNvPr>
          <p:cNvSpPr/>
          <p:nvPr/>
        </p:nvSpPr>
        <p:spPr>
          <a:xfrm>
            <a:off x="7980107" y="1006649"/>
            <a:ext cx="1746028" cy="369332"/>
          </a:xfrm>
          <a:prstGeom prst="rect">
            <a:avLst/>
          </a:prstGeom>
        </p:spPr>
        <p:txBody>
          <a:bodyPr wrap="square">
            <a:spAutoFit/>
          </a:bodyPr>
          <a:lstStyle/>
          <a:p>
            <a:pPr algn="ctr"/>
            <a:r>
              <a:rPr lang="zh-CN" altLang="en-US" dirty="0">
                <a:latin typeface="Monaco" panose="020B0509030404040204" pitchFamily="49" charset="0"/>
                <a:ea typeface="思源黑体 CN Bold" panose="020B0800000000000000" pitchFamily="34" charset="-122"/>
              </a:rPr>
              <a:t>误差后向传播</a:t>
            </a:r>
            <a:endParaRPr lang="zh-CN" altLang="en-US" dirty="0"/>
          </a:p>
        </p:txBody>
      </p:sp>
      <p:sp>
        <p:nvSpPr>
          <p:cNvPr id="74" name="矩形 73">
            <a:extLst>
              <a:ext uri="{FF2B5EF4-FFF2-40B4-BE49-F238E27FC236}">
                <a16:creationId xmlns:a16="http://schemas.microsoft.com/office/drawing/2014/main" id="{4CA39383-3543-4582-996E-6183F652A0F2}"/>
              </a:ext>
            </a:extLst>
          </p:cNvPr>
          <p:cNvSpPr/>
          <p:nvPr/>
        </p:nvSpPr>
        <p:spPr>
          <a:xfrm>
            <a:off x="8233053" y="1290448"/>
            <a:ext cx="1287532" cy="369332"/>
          </a:xfrm>
          <a:prstGeom prst="rect">
            <a:avLst/>
          </a:prstGeom>
        </p:spPr>
        <p:txBody>
          <a:bodyPr wrap="none">
            <a:spAutoFit/>
          </a:bodyPr>
          <a:lstStyle/>
          <a:p>
            <a:r>
              <a:rPr lang="en-US" altLang="zh-CN" dirty="0">
                <a:latin typeface="Monaco" panose="020B0509030404040204" pitchFamily="49" charset="0"/>
                <a:ea typeface="思源黑体 CN Bold" panose="020B0800000000000000" pitchFamily="34" charset="-122"/>
              </a:rPr>
              <a:t>Backward</a:t>
            </a:r>
            <a:endParaRPr lang="zh-CN" altLang="en-US" dirty="0"/>
          </a:p>
        </p:txBody>
      </p:sp>
      <p:sp>
        <p:nvSpPr>
          <p:cNvPr id="75" name="矩形 74">
            <a:extLst>
              <a:ext uri="{FF2B5EF4-FFF2-40B4-BE49-F238E27FC236}">
                <a16:creationId xmlns:a16="http://schemas.microsoft.com/office/drawing/2014/main" id="{BCE831FF-7E6D-41B0-9888-B121BA4BC103}"/>
              </a:ext>
            </a:extLst>
          </p:cNvPr>
          <p:cNvSpPr/>
          <p:nvPr/>
        </p:nvSpPr>
        <p:spPr>
          <a:xfrm>
            <a:off x="3125875" y="1305881"/>
            <a:ext cx="1149674" cy="369332"/>
          </a:xfrm>
          <a:prstGeom prst="rect">
            <a:avLst/>
          </a:prstGeom>
        </p:spPr>
        <p:txBody>
          <a:bodyPr wrap="none">
            <a:spAutoFit/>
          </a:bodyPr>
          <a:lstStyle/>
          <a:p>
            <a:r>
              <a:rPr lang="en-US" altLang="zh-CN" dirty="0">
                <a:latin typeface="Monaco" panose="020B0509030404040204" pitchFamily="49" charset="0"/>
                <a:ea typeface="思源黑体 CN Bold" panose="020B0800000000000000" pitchFamily="34" charset="-122"/>
              </a:rPr>
              <a:t>Forward</a:t>
            </a:r>
            <a:endParaRPr lang="zh-CN" altLang="en-US" dirty="0"/>
          </a:p>
        </p:txBody>
      </p:sp>
      <p:sp>
        <p:nvSpPr>
          <p:cNvPr id="76" name="矩形 75">
            <a:extLst>
              <a:ext uri="{FF2B5EF4-FFF2-40B4-BE49-F238E27FC236}">
                <a16:creationId xmlns:a16="http://schemas.microsoft.com/office/drawing/2014/main" id="{6FC2C528-3478-4E23-9DB8-ECEDCFD98B38}"/>
              </a:ext>
            </a:extLst>
          </p:cNvPr>
          <p:cNvSpPr/>
          <p:nvPr/>
        </p:nvSpPr>
        <p:spPr>
          <a:xfrm>
            <a:off x="2873304" y="1022144"/>
            <a:ext cx="1746028" cy="369332"/>
          </a:xfrm>
          <a:prstGeom prst="rect">
            <a:avLst/>
          </a:prstGeom>
        </p:spPr>
        <p:txBody>
          <a:bodyPr wrap="square">
            <a:spAutoFit/>
          </a:bodyPr>
          <a:lstStyle/>
          <a:p>
            <a:pPr algn="ctr"/>
            <a:r>
              <a:rPr lang="zh-CN" altLang="en-US" dirty="0">
                <a:latin typeface="Monaco" panose="020B0509030404040204" pitchFamily="49" charset="0"/>
                <a:ea typeface="思源黑体 CN Bold" panose="020B0800000000000000" pitchFamily="34" charset="-122"/>
              </a:rPr>
              <a:t>数据前向计算</a:t>
            </a:r>
            <a:endParaRPr lang="zh-CN" altLang="en-US" dirty="0"/>
          </a:p>
        </p:txBody>
      </p:sp>
    </p:spTree>
    <p:extLst>
      <p:ext uri="{BB962C8B-B14F-4D97-AF65-F5344CB8AC3E}">
        <p14:creationId xmlns:p14="http://schemas.microsoft.com/office/powerpoint/2010/main" val="33189982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4" name="组合 63">
            <a:extLst>
              <a:ext uri="{FF2B5EF4-FFF2-40B4-BE49-F238E27FC236}">
                <a16:creationId xmlns:a16="http://schemas.microsoft.com/office/drawing/2014/main" id="{CAF81FF1-7892-4BFE-8047-8BA4DA5995A2}"/>
              </a:ext>
            </a:extLst>
          </p:cNvPr>
          <p:cNvGrpSpPr/>
          <p:nvPr/>
        </p:nvGrpSpPr>
        <p:grpSpPr>
          <a:xfrm>
            <a:off x="447546" y="1202704"/>
            <a:ext cx="4624331" cy="2887656"/>
            <a:chOff x="1531941" y="1832691"/>
            <a:chExt cx="4624331" cy="2887656"/>
          </a:xfrm>
        </p:grpSpPr>
        <p:sp>
          <p:nvSpPr>
            <p:cNvPr id="65" name="椭圆 64">
              <a:extLst>
                <a:ext uri="{FF2B5EF4-FFF2-40B4-BE49-F238E27FC236}">
                  <a16:creationId xmlns:a16="http://schemas.microsoft.com/office/drawing/2014/main" id="{D977C039-9E79-4BFE-A355-B5FB9760AC9F}"/>
                </a:ext>
              </a:extLst>
            </p:cNvPr>
            <p:cNvSpPr/>
            <p:nvPr/>
          </p:nvSpPr>
          <p:spPr>
            <a:xfrm>
              <a:off x="2632588" y="2911721"/>
              <a:ext cx="288000" cy="288000"/>
            </a:xfrm>
            <a:prstGeom prst="ellipse">
              <a:avLst/>
            </a:prstGeom>
            <a:noFill/>
            <a:ln w="57150">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a:extLst>
                <a:ext uri="{FF2B5EF4-FFF2-40B4-BE49-F238E27FC236}">
                  <a16:creationId xmlns:a16="http://schemas.microsoft.com/office/drawing/2014/main" id="{E0293A7B-3396-4017-A0AD-07A33346F41C}"/>
                </a:ext>
              </a:extLst>
            </p:cNvPr>
            <p:cNvSpPr/>
            <p:nvPr/>
          </p:nvSpPr>
          <p:spPr>
            <a:xfrm>
              <a:off x="2632588" y="3789510"/>
              <a:ext cx="288000" cy="288000"/>
            </a:xfrm>
            <a:prstGeom prst="ellipse">
              <a:avLst/>
            </a:prstGeom>
            <a:noFill/>
            <a:ln w="57150">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a:extLst>
                <a:ext uri="{FF2B5EF4-FFF2-40B4-BE49-F238E27FC236}">
                  <a16:creationId xmlns:a16="http://schemas.microsoft.com/office/drawing/2014/main" id="{6F880E64-196F-463B-9DAD-597E469128EE}"/>
                </a:ext>
              </a:extLst>
            </p:cNvPr>
            <p:cNvSpPr/>
            <p:nvPr/>
          </p:nvSpPr>
          <p:spPr>
            <a:xfrm>
              <a:off x="2740243" y="3293168"/>
              <a:ext cx="72691" cy="72000"/>
            </a:xfrm>
            <a:prstGeom prst="ellipse">
              <a:avLst/>
            </a:prstGeom>
            <a:solidFill>
              <a:srgbClr val="0208A7"/>
            </a:solidFill>
            <a:ln>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椭圆 67">
              <a:extLst>
                <a:ext uri="{FF2B5EF4-FFF2-40B4-BE49-F238E27FC236}">
                  <a16:creationId xmlns:a16="http://schemas.microsoft.com/office/drawing/2014/main" id="{907065CC-4651-480D-827C-7DE0F355F426}"/>
                </a:ext>
              </a:extLst>
            </p:cNvPr>
            <p:cNvSpPr/>
            <p:nvPr/>
          </p:nvSpPr>
          <p:spPr>
            <a:xfrm>
              <a:off x="2740243" y="3458615"/>
              <a:ext cx="72691" cy="72000"/>
            </a:xfrm>
            <a:prstGeom prst="ellipse">
              <a:avLst/>
            </a:prstGeom>
            <a:solidFill>
              <a:srgbClr val="0208A7"/>
            </a:solidFill>
            <a:ln>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椭圆 68">
              <a:extLst>
                <a:ext uri="{FF2B5EF4-FFF2-40B4-BE49-F238E27FC236}">
                  <a16:creationId xmlns:a16="http://schemas.microsoft.com/office/drawing/2014/main" id="{EA841762-1A41-4DB9-A0CD-AB7EFDDEE871}"/>
                </a:ext>
              </a:extLst>
            </p:cNvPr>
            <p:cNvSpPr/>
            <p:nvPr/>
          </p:nvSpPr>
          <p:spPr>
            <a:xfrm>
              <a:off x="2740243" y="3624062"/>
              <a:ext cx="72691" cy="72000"/>
            </a:xfrm>
            <a:prstGeom prst="ellipse">
              <a:avLst/>
            </a:prstGeom>
            <a:solidFill>
              <a:srgbClr val="0208A7"/>
            </a:solidFill>
            <a:ln>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0" name="直接连接符 69">
              <a:extLst>
                <a:ext uri="{FF2B5EF4-FFF2-40B4-BE49-F238E27FC236}">
                  <a16:creationId xmlns:a16="http://schemas.microsoft.com/office/drawing/2014/main" id="{4DAC302D-A221-48C2-9AD1-34C368482E75}"/>
                </a:ext>
              </a:extLst>
            </p:cNvPr>
            <p:cNvCxnSpPr>
              <a:cxnSpLocks/>
              <a:stCxn id="65" idx="6"/>
              <a:endCxn id="77" idx="2"/>
            </p:cNvCxnSpPr>
            <p:nvPr/>
          </p:nvCxnSpPr>
          <p:spPr>
            <a:xfrm flipV="1">
              <a:off x="2920588" y="2477062"/>
              <a:ext cx="984155" cy="578659"/>
            </a:xfrm>
            <a:prstGeom prst="line">
              <a:avLst/>
            </a:prstGeom>
            <a:ln w="28575">
              <a:solidFill>
                <a:srgbClr val="0202B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1C85AE81-D9AD-4372-A697-858F8ED568D9}"/>
                </a:ext>
              </a:extLst>
            </p:cNvPr>
            <p:cNvCxnSpPr>
              <a:cxnSpLocks/>
              <a:stCxn id="66" idx="7"/>
              <a:endCxn id="77" idx="3"/>
            </p:cNvCxnSpPr>
            <p:nvPr/>
          </p:nvCxnSpPr>
          <p:spPr>
            <a:xfrm flipV="1">
              <a:off x="2878411" y="2578885"/>
              <a:ext cx="1068509" cy="1252802"/>
            </a:xfrm>
            <a:prstGeom prst="line">
              <a:avLst/>
            </a:prstGeom>
            <a:ln w="28575">
              <a:solidFill>
                <a:srgbClr val="0202B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2" name="矩形 71">
                  <a:extLst>
                    <a:ext uri="{FF2B5EF4-FFF2-40B4-BE49-F238E27FC236}">
                      <a16:creationId xmlns:a16="http://schemas.microsoft.com/office/drawing/2014/main" id="{904C3908-908E-4E12-843E-C15BE6643557}"/>
                    </a:ext>
                  </a:extLst>
                </p:cNvPr>
                <p:cNvSpPr/>
                <p:nvPr/>
              </p:nvSpPr>
              <p:spPr>
                <a:xfrm>
                  <a:off x="3428023" y="3324281"/>
                  <a:ext cx="1259191" cy="47622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i="1">
                                <a:latin typeface="Cambria Math" panose="02040503050406030204" pitchFamily="18" charset="0"/>
                              </a:rPr>
                              <m:t>𝑤</m:t>
                            </m:r>
                          </m:e>
                          <m:sub>
                            <m:r>
                              <a:rPr lang="en-US" altLang="zh-CN" b="0" i="1" smtClean="0">
                                <a:latin typeface="Cambria Math" panose="02040503050406030204" pitchFamily="18" charset="0"/>
                              </a:rPr>
                              <m:t>𝑗𝑖</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𝑙𝑎𝑦𝑒𝑟</m:t>
                                </m:r>
                                <m:r>
                                  <a:rPr lang="en-US" altLang="zh-CN" i="1">
                                    <a:latin typeface="Cambria Math" panose="02040503050406030204" pitchFamily="18" charset="0"/>
                                  </a:rPr>
                                  <m:t>−1</m:t>
                                </m:r>
                              </m:e>
                            </m:d>
                          </m:sup>
                        </m:sSubSup>
                      </m:oMath>
                    </m:oMathPara>
                  </a14:m>
                  <a:endParaRPr lang="zh-CN" altLang="en-US" dirty="0"/>
                </a:p>
              </p:txBody>
            </p:sp>
          </mc:Choice>
          <mc:Fallback xmlns="">
            <p:sp>
              <p:nvSpPr>
                <p:cNvPr id="72" name="矩形 71">
                  <a:extLst>
                    <a:ext uri="{FF2B5EF4-FFF2-40B4-BE49-F238E27FC236}">
                      <a16:creationId xmlns:a16="http://schemas.microsoft.com/office/drawing/2014/main" id="{904C3908-908E-4E12-843E-C15BE6643557}"/>
                    </a:ext>
                  </a:extLst>
                </p:cNvPr>
                <p:cNvSpPr>
                  <a:spLocks noRot="1" noChangeAspect="1" noMove="1" noResize="1" noEditPoints="1" noAdjustHandles="1" noChangeArrowheads="1" noChangeShapeType="1" noTextEdit="1"/>
                </p:cNvSpPr>
                <p:nvPr/>
              </p:nvSpPr>
              <p:spPr>
                <a:xfrm>
                  <a:off x="3428023" y="3324281"/>
                  <a:ext cx="1259191" cy="476221"/>
                </a:xfrm>
                <a:prstGeom prst="rect">
                  <a:avLst/>
                </a:prstGeom>
                <a:blipFill>
                  <a:blip r:embed="rId2"/>
                  <a:stretch>
                    <a:fillRect b="-512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3" name="矩形 72">
                  <a:extLst>
                    <a:ext uri="{FF2B5EF4-FFF2-40B4-BE49-F238E27FC236}">
                      <a16:creationId xmlns:a16="http://schemas.microsoft.com/office/drawing/2014/main" id="{AEDE9830-D942-4C82-AA77-E1E3A93ADC89}"/>
                    </a:ext>
                  </a:extLst>
                </p:cNvPr>
                <p:cNvSpPr/>
                <p:nvPr/>
              </p:nvSpPr>
              <p:spPr>
                <a:xfrm>
                  <a:off x="4347041" y="2524295"/>
                  <a:ext cx="1039579" cy="47622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i="1">
                                <a:latin typeface="Cambria Math" panose="02040503050406030204" pitchFamily="18" charset="0"/>
                              </a:rPr>
                              <m:t>𝑤</m:t>
                            </m:r>
                          </m:e>
                          <m:sub>
                            <m:r>
                              <a:rPr lang="en-US" altLang="zh-CN" b="0" i="1" smtClean="0">
                                <a:latin typeface="Cambria Math" panose="02040503050406030204" pitchFamily="18" charset="0"/>
                              </a:rPr>
                              <m:t>𝑘𝑗</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𝑙𝑎𝑦𝑒𝑟</m:t>
                                </m:r>
                              </m:e>
                            </m:d>
                          </m:sup>
                        </m:sSubSup>
                      </m:oMath>
                    </m:oMathPara>
                  </a14:m>
                  <a:endParaRPr lang="zh-CN" altLang="en-US" dirty="0"/>
                </a:p>
              </p:txBody>
            </p:sp>
          </mc:Choice>
          <mc:Fallback xmlns="">
            <p:sp>
              <p:nvSpPr>
                <p:cNvPr id="73" name="矩形 72">
                  <a:extLst>
                    <a:ext uri="{FF2B5EF4-FFF2-40B4-BE49-F238E27FC236}">
                      <a16:creationId xmlns:a16="http://schemas.microsoft.com/office/drawing/2014/main" id="{AEDE9830-D942-4C82-AA77-E1E3A93ADC89}"/>
                    </a:ext>
                  </a:extLst>
                </p:cNvPr>
                <p:cNvSpPr>
                  <a:spLocks noRot="1" noChangeAspect="1" noMove="1" noResize="1" noEditPoints="1" noAdjustHandles="1" noChangeArrowheads="1" noChangeShapeType="1" noTextEdit="1"/>
                </p:cNvSpPr>
                <p:nvPr/>
              </p:nvSpPr>
              <p:spPr>
                <a:xfrm>
                  <a:off x="4347041" y="2524295"/>
                  <a:ext cx="1039579" cy="476221"/>
                </a:xfrm>
                <a:prstGeom prst="rect">
                  <a:avLst/>
                </a:prstGeom>
                <a:blipFill>
                  <a:blip r:embed="rId3"/>
                  <a:stretch>
                    <a:fillRect b="-5128"/>
                  </a:stretch>
                </a:blipFill>
              </p:spPr>
              <p:txBody>
                <a:bodyPr/>
                <a:lstStyle/>
                <a:p>
                  <a:r>
                    <a:rPr lang="zh-CN" altLang="en-US">
                      <a:noFill/>
                    </a:rPr>
                    <a:t> </a:t>
                  </a:r>
                </a:p>
              </p:txBody>
            </p:sp>
          </mc:Fallback>
        </mc:AlternateContent>
        <p:sp>
          <p:nvSpPr>
            <p:cNvPr id="74" name="椭圆 73">
              <a:extLst>
                <a:ext uri="{FF2B5EF4-FFF2-40B4-BE49-F238E27FC236}">
                  <a16:creationId xmlns:a16="http://schemas.microsoft.com/office/drawing/2014/main" id="{B4763468-A292-4A67-A26B-569373F48E18}"/>
                </a:ext>
              </a:extLst>
            </p:cNvPr>
            <p:cNvSpPr/>
            <p:nvPr/>
          </p:nvSpPr>
          <p:spPr>
            <a:xfrm>
              <a:off x="2635069" y="4432347"/>
              <a:ext cx="288000" cy="288000"/>
            </a:xfrm>
            <a:prstGeom prst="ellipse">
              <a:avLst/>
            </a:prstGeom>
            <a:solidFill>
              <a:srgbClr val="0208A7"/>
            </a:solidFill>
            <a:ln w="57150">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5" name="直接连接符 74">
              <a:extLst>
                <a:ext uri="{FF2B5EF4-FFF2-40B4-BE49-F238E27FC236}">
                  <a16:creationId xmlns:a16="http://schemas.microsoft.com/office/drawing/2014/main" id="{3AE48EE9-8C5B-4F68-8DA8-CB68B986A039}"/>
                </a:ext>
              </a:extLst>
            </p:cNvPr>
            <p:cNvCxnSpPr>
              <a:cxnSpLocks/>
              <a:stCxn id="74" idx="7"/>
              <a:endCxn id="77" idx="4"/>
            </p:cNvCxnSpPr>
            <p:nvPr/>
          </p:nvCxnSpPr>
          <p:spPr>
            <a:xfrm flipV="1">
              <a:off x="2880892" y="2621062"/>
              <a:ext cx="1167851" cy="1853462"/>
            </a:xfrm>
            <a:prstGeom prst="line">
              <a:avLst/>
            </a:prstGeom>
            <a:ln w="28575">
              <a:solidFill>
                <a:srgbClr val="0202B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6" name="矩形 75">
                  <a:extLst>
                    <a:ext uri="{FF2B5EF4-FFF2-40B4-BE49-F238E27FC236}">
                      <a16:creationId xmlns:a16="http://schemas.microsoft.com/office/drawing/2014/main" id="{2BB72AD1-C301-4A38-A723-87980B0CFA02}"/>
                    </a:ext>
                  </a:extLst>
                </p:cNvPr>
                <p:cNvSpPr/>
                <p:nvPr/>
              </p:nvSpPr>
              <p:spPr>
                <a:xfrm>
                  <a:off x="3476946" y="1965193"/>
                  <a:ext cx="1210268" cy="47622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𝑗</m:t>
                            </m:r>
                          </m:sub>
                          <m:sup>
                            <m:r>
                              <a:rPr lang="en-US" altLang="zh-CN" b="0" i="1" smtClean="0">
                                <a:latin typeface="Cambria Math" panose="02040503050406030204" pitchFamily="18" charset="0"/>
                              </a:rPr>
                              <m:t>(</m:t>
                            </m:r>
                            <m:r>
                              <a:rPr lang="en-US" altLang="zh-CN" b="0" i="1" smtClean="0">
                                <a:latin typeface="Cambria Math" panose="02040503050406030204" pitchFamily="18" charset="0"/>
                              </a:rPr>
                              <m:t>𝑙𝑎𝑦𝑒𝑟</m:t>
                            </m:r>
                            <m:r>
                              <a:rPr lang="en-US" altLang="zh-CN" b="0" i="1" smtClean="0">
                                <a:latin typeface="Cambria Math" panose="02040503050406030204" pitchFamily="18" charset="0"/>
                              </a:rPr>
                              <m:t>−1)</m:t>
                            </m:r>
                          </m:sup>
                        </m:sSubSup>
                      </m:oMath>
                    </m:oMathPara>
                  </a14:m>
                  <a:endParaRPr lang="zh-CN" altLang="en-US" dirty="0"/>
                </a:p>
              </p:txBody>
            </p:sp>
          </mc:Choice>
          <mc:Fallback xmlns="">
            <p:sp>
              <p:nvSpPr>
                <p:cNvPr id="76" name="矩形 75">
                  <a:extLst>
                    <a:ext uri="{FF2B5EF4-FFF2-40B4-BE49-F238E27FC236}">
                      <a16:creationId xmlns:a16="http://schemas.microsoft.com/office/drawing/2014/main" id="{2BB72AD1-C301-4A38-A723-87980B0CFA02}"/>
                    </a:ext>
                  </a:extLst>
                </p:cNvPr>
                <p:cNvSpPr>
                  <a:spLocks noRot="1" noChangeAspect="1" noMove="1" noResize="1" noEditPoints="1" noAdjustHandles="1" noChangeArrowheads="1" noChangeShapeType="1" noTextEdit="1"/>
                </p:cNvSpPr>
                <p:nvPr/>
              </p:nvSpPr>
              <p:spPr>
                <a:xfrm>
                  <a:off x="3476946" y="1965193"/>
                  <a:ext cx="1210268" cy="476221"/>
                </a:xfrm>
                <a:prstGeom prst="rect">
                  <a:avLst/>
                </a:prstGeom>
                <a:blipFill>
                  <a:blip r:embed="rId4"/>
                  <a:stretch>
                    <a:fillRect b="-6410"/>
                  </a:stretch>
                </a:blipFill>
              </p:spPr>
              <p:txBody>
                <a:bodyPr/>
                <a:lstStyle/>
                <a:p>
                  <a:r>
                    <a:rPr lang="zh-CN" altLang="en-US">
                      <a:noFill/>
                    </a:rPr>
                    <a:t> </a:t>
                  </a:r>
                </a:p>
              </p:txBody>
            </p:sp>
          </mc:Fallback>
        </mc:AlternateContent>
        <p:sp>
          <p:nvSpPr>
            <p:cNvPr id="77" name="椭圆 76">
              <a:extLst>
                <a:ext uri="{FF2B5EF4-FFF2-40B4-BE49-F238E27FC236}">
                  <a16:creationId xmlns:a16="http://schemas.microsoft.com/office/drawing/2014/main" id="{8348183F-21FE-4A80-A0DE-84611A87CBEC}"/>
                </a:ext>
              </a:extLst>
            </p:cNvPr>
            <p:cNvSpPr/>
            <p:nvPr/>
          </p:nvSpPr>
          <p:spPr>
            <a:xfrm>
              <a:off x="3904743" y="2333062"/>
              <a:ext cx="288000" cy="288000"/>
            </a:xfrm>
            <a:prstGeom prst="ellipse">
              <a:avLst/>
            </a:prstGeom>
            <a:noFill/>
            <a:ln w="57150">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8" name="直接连接符 77">
              <a:extLst>
                <a:ext uri="{FF2B5EF4-FFF2-40B4-BE49-F238E27FC236}">
                  <a16:creationId xmlns:a16="http://schemas.microsoft.com/office/drawing/2014/main" id="{330E03EF-8663-435F-88FF-DC4F0956187C}"/>
                </a:ext>
              </a:extLst>
            </p:cNvPr>
            <p:cNvCxnSpPr>
              <a:cxnSpLocks/>
              <a:stCxn id="77" idx="6"/>
              <a:endCxn id="79" idx="2"/>
            </p:cNvCxnSpPr>
            <p:nvPr/>
          </p:nvCxnSpPr>
          <p:spPr>
            <a:xfrm flipV="1">
              <a:off x="4192743" y="2309358"/>
              <a:ext cx="1414431" cy="167704"/>
            </a:xfrm>
            <a:prstGeom prst="line">
              <a:avLst/>
            </a:prstGeom>
            <a:ln w="28575">
              <a:solidFill>
                <a:srgbClr val="0202B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79" name="椭圆 78">
              <a:extLst>
                <a:ext uri="{FF2B5EF4-FFF2-40B4-BE49-F238E27FC236}">
                  <a16:creationId xmlns:a16="http://schemas.microsoft.com/office/drawing/2014/main" id="{25CFDDE1-154E-40F8-91EB-2116E01BE997}"/>
                </a:ext>
              </a:extLst>
            </p:cNvPr>
            <p:cNvSpPr/>
            <p:nvPr/>
          </p:nvSpPr>
          <p:spPr>
            <a:xfrm>
              <a:off x="5607174" y="2165358"/>
              <a:ext cx="288000" cy="288000"/>
            </a:xfrm>
            <a:prstGeom prst="ellipse">
              <a:avLst/>
            </a:prstGeom>
            <a:noFill/>
            <a:ln w="57150">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80" name="矩形 79">
                  <a:extLst>
                    <a:ext uri="{FF2B5EF4-FFF2-40B4-BE49-F238E27FC236}">
                      <a16:creationId xmlns:a16="http://schemas.microsoft.com/office/drawing/2014/main" id="{660AA0B2-8574-4715-A7DB-9FB145BDF23B}"/>
                    </a:ext>
                  </a:extLst>
                </p:cNvPr>
                <p:cNvSpPr/>
                <p:nvPr/>
              </p:nvSpPr>
              <p:spPr>
                <a:xfrm>
                  <a:off x="5165616" y="1832691"/>
                  <a:ext cx="990656" cy="44287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𝑘</m:t>
                            </m:r>
                          </m:sub>
                          <m:sup>
                            <m:r>
                              <a:rPr lang="en-US" altLang="zh-CN" b="0" i="1" smtClean="0">
                                <a:latin typeface="Cambria Math" panose="02040503050406030204" pitchFamily="18" charset="0"/>
                              </a:rPr>
                              <m:t>(</m:t>
                            </m:r>
                            <m:r>
                              <a:rPr lang="en-US" altLang="zh-CN" b="0" i="1" smtClean="0">
                                <a:latin typeface="Cambria Math" panose="02040503050406030204" pitchFamily="18" charset="0"/>
                              </a:rPr>
                              <m:t>𝑙𝑎𝑦𝑒𝑟</m:t>
                            </m:r>
                            <m:r>
                              <a:rPr lang="en-US" altLang="zh-CN" b="0" i="1" smtClean="0">
                                <a:latin typeface="Cambria Math" panose="02040503050406030204" pitchFamily="18" charset="0"/>
                              </a:rPr>
                              <m:t>)</m:t>
                            </m:r>
                          </m:sup>
                        </m:sSubSup>
                      </m:oMath>
                    </m:oMathPara>
                  </a14:m>
                  <a:endParaRPr lang="zh-CN" altLang="en-US" dirty="0"/>
                </a:p>
              </p:txBody>
            </p:sp>
          </mc:Choice>
          <mc:Fallback xmlns="">
            <p:sp>
              <p:nvSpPr>
                <p:cNvPr id="80" name="矩形 79">
                  <a:extLst>
                    <a:ext uri="{FF2B5EF4-FFF2-40B4-BE49-F238E27FC236}">
                      <a16:creationId xmlns:a16="http://schemas.microsoft.com/office/drawing/2014/main" id="{660AA0B2-8574-4715-A7DB-9FB145BDF23B}"/>
                    </a:ext>
                  </a:extLst>
                </p:cNvPr>
                <p:cNvSpPr>
                  <a:spLocks noRot="1" noChangeAspect="1" noMove="1" noResize="1" noEditPoints="1" noAdjustHandles="1" noChangeArrowheads="1" noChangeShapeType="1" noTextEdit="1"/>
                </p:cNvSpPr>
                <p:nvPr/>
              </p:nvSpPr>
              <p:spPr>
                <a:xfrm>
                  <a:off x="5165616" y="1832691"/>
                  <a:ext cx="990656" cy="442878"/>
                </a:xfrm>
                <a:prstGeom prst="rect">
                  <a:avLst/>
                </a:prstGeom>
                <a:blipFill>
                  <a:blip r:embed="rId5"/>
                  <a:stretch>
                    <a:fillRect b="-274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1" name="矩形 80">
                  <a:extLst>
                    <a:ext uri="{FF2B5EF4-FFF2-40B4-BE49-F238E27FC236}">
                      <a16:creationId xmlns:a16="http://schemas.microsoft.com/office/drawing/2014/main" id="{5B24A220-4FFE-421D-A818-09AABE00BF40}"/>
                    </a:ext>
                  </a:extLst>
                </p:cNvPr>
                <p:cNvSpPr/>
                <p:nvPr/>
              </p:nvSpPr>
              <p:spPr>
                <a:xfrm>
                  <a:off x="1531941" y="2991185"/>
                  <a:ext cx="1210267" cy="44493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m:t>
                            </m:r>
                            <m:r>
                              <a:rPr lang="en-US" altLang="zh-CN" b="0" i="1" smtClean="0">
                                <a:latin typeface="Cambria Math" panose="02040503050406030204" pitchFamily="18" charset="0"/>
                              </a:rPr>
                              <m:t>𝑙𝑎𝑦𝑒𝑟</m:t>
                            </m:r>
                            <m:r>
                              <a:rPr lang="en-US" altLang="zh-CN" b="0" i="1" smtClean="0">
                                <a:latin typeface="Cambria Math" panose="02040503050406030204" pitchFamily="18" charset="0"/>
                              </a:rPr>
                              <m:t>−2)</m:t>
                            </m:r>
                          </m:sup>
                        </m:sSubSup>
                      </m:oMath>
                    </m:oMathPara>
                  </a14:m>
                  <a:endParaRPr lang="zh-CN" altLang="en-US" dirty="0"/>
                </a:p>
              </p:txBody>
            </p:sp>
          </mc:Choice>
          <mc:Fallback xmlns="">
            <p:sp>
              <p:nvSpPr>
                <p:cNvPr id="81" name="矩形 80">
                  <a:extLst>
                    <a:ext uri="{FF2B5EF4-FFF2-40B4-BE49-F238E27FC236}">
                      <a16:creationId xmlns:a16="http://schemas.microsoft.com/office/drawing/2014/main" id="{5B24A220-4FFE-421D-A818-09AABE00BF40}"/>
                    </a:ext>
                  </a:extLst>
                </p:cNvPr>
                <p:cNvSpPr>
                  <a:spLocks noRot="1" noChangeAspect="1" noMove="1" noResize="1" noEditPoints="1" noAdjustHandles="1" noChangeArrowheads="1" noChangeShapeType="1" noTextEdit="1"/>
                </p:cNvSpPr>
                <p:nvPr/>
              </p:nvSpPr>
              <p:spPr>
                <a:xfrm>
                  <a:off x="1531941" y="2991185"/>
                  <a:ext cx="1210267" cy="444930"/>
                </a:xfrm>
                <a:prstGeom prst="rect">
                  <a:avLst/>
                </a:prstGeom>
                <a:blipFill>
                  <a:blip r:embed="rId6"/>
                  <a:stretch>
                    <a:fillRect b="-4110"/>
                  </a:stretch>
                </a:blipFill>
              </p:spPr>
              <p:txBody>
                <a:bodyPr/>
                <a:lstStyle/>
                <a:p>
                  <a:r>
                    <a:rPr lang="zh-CN" altLang="en-US">
                      <a:noFill/>
                    </a:rPr>
                    <a:t> </a:t>
                  </a:r>
                </a:p>
              </p:txBody>
            </p:sp>
          </mc:Fallback>
        </mc:AlternateContent>
      </p:grpSp>
      <p:grpSp>
        <p:nvGrpSpPr>
          <p:cNvPr id="107" name="组合 106">
            <a:extLst>
              <a:ext uri="{FF2B5EF4-FFF2-40B4-BE49-F238E27FC236}">
                <a16:creationId xmlns:a16="http://schemas.microsoft.com/office/drawing/2014/main" id="{94F479D7-3331-4BBD-A4AF-7EA57D447759}"/>
              </a:ext>
            </a:extLst>
          </p:cNvPr>
          <p:cNvGrpSpPr/>
          <p:nvPr/>
        </p:nvGrpSpPr>
        <p:grpSpPr>
          <a:xfrm>
            <a:off x="7677996" y="3367034"/>
            <a:ext cx="4205357" cy="2671253"/>
            <a:chOff x="2799406" y="1917232"/>
            <a:chExt cx="4205357" cy="2671253"/>
          </a:xfrm>
        </p:grpSpPr>
        <p:sp>
          <p:nvSpPr>
            <p:cNvPr id="108" name="椭圆 107">
              <a:extLst>
                <a:ext uri="{FF2B5EF4-FFF2-40B4-BE49-F238E27FC236}">
                  <a16:creationId xmlns:a16="http://schemas.microsoft.com/office/drawing/2014/main" id="{642792BD-9503-4732-82B1-0D0F192267FF}"/>
                </a:ext>
              </a:extLst>
            </p:cNvPr>
            <p:cNvSpPr/>
            <p:nvPr/>
          </p:nvSpPr>
          <p:spPr>
            <a:xfrm>
              <a:off x="3220397" y="3234925"/>
              <a:ext cx="288000" cy="288000"/>
            </a:xfrm>
            <a:prstGeom prst="ellipse">
              <a:avLst/>
            </a:prstGeom>
            <a:noFill/>
            <a:ln w="57150">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9" name="直接连接符 108">
              <a:extLst>
                <a:ext uri="{FF2B5EF4-FFF2-40B4-BE49-F238E27FC236}">
                  <a16:creationId xmlns:a16="http://schemas.microsoft.com/office/drawing/2014/main" id="{D75D0052-860A-4D61-A16B-C335E732B49D}"/>
                </a:ext>
              </a:extLst>
            </p:cNvPr>
            <p:cNvCxnSpPr>
              <a:cxnSpLocks/>
              <a:stCxn id="108" idx="6"/>
              <a:endCxn id="110" idx="2"/>
            </p:cNvCxnSpPr>
            <p:nvPr/>
          </p:nvCxnSpPr>
          <p:spPr>
            <a:xfrm flipV="1">
              <a:off x="3508397" y="2682233"/>
              <a:ext cx="1508948" cy="696692"/>
            </a:xfrm>
            <a:prstGeom prst="line">
              <a:avLst/>
            </a:prstGeom>
            <a:ln w="28575">
              <a:solidFill>
                <a:srgbClr val="0202BF"/>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110" name="椭圆 109">
              <a:extLst>
                <a:ext uri="{FF2B5EF4-FFF2-40B4-BE49-F238E27FC236}">
                  <a16:creationId xmlns:a16="http://schemas.microsoft.com/office/drawing/2014/main" id="{05441765-FB2A-463D-A08B-58EEFDB99DCD}"/>
                </a:ext>
              </a:extLst>
            </p:cNvPr>
            <p:cNvSpPr/>
            <p:nvPr/>
          </p:nvSpPr>
          <p:spPr>
            <a:xfrm>
              <a:off x="5017345" y="2538233"/>
              <a:ext cx="288000" cy="288000"/>
            </a:xfrm>
            <a:prstGeom prst="ellipse">
              <a:avLst/>
            </a:prstGeom>
            <a:noFill/>
            <a:ln w="57150">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椭圆 110">
              <a:extLst>
                <a:ext uri="{FF2B5EF4-FFF2-40B4-BE49-F238E27FC236}">
                  <a16:creationId xmlns:a16="http://schemas.microsoft.com/office/drawing/2014/main" id="{13B0FE6D-34FD-4065-806B-532A5B705163}"/>
                </a:ext>
              </a:extLst>
            </p:cNvPr>
            <p:cNvSpPr/>
            <p:nvPr/>
          </p:nvSpPr>
          <p:spPr>
            <a:xfrm>
              <a:off x="6392024" y="2367329"/>
              <a:ext cx="288000" cy="288000"/>
            </a:xfrm>
            <a:prstGeom prst="ellipse">
              <a:avLst/>
            </a:prstGeom>
            <a:noFill/>
            <a:ln w="57150">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椭圆 111">
              <a:extLst>
                <a:ext uri="{FF2B5EF4-FFF2-40B4-BE49-F238E27FC236}">
                  <a16:creationId xmlns:a16="http://schemas.microsoft.com/office/drawing/2014/main" id="{BD042463-B54E-453D-BC5E-53C62CB602BC}"/>
                </a:ext>
              </a:extLst>
            </p:cNvPr>
            <p:cNvSpPr/>
            <p:nvPr/>
          </p:nvSpPr>
          <p:spPr>
            <a:xfrm>
              <a:off x="6410155" y="3615094"/>
              <a:ext cx="288000" cy="288000"/>
            </a:xfrm>
            <a:prstGeom prst="ellipse">
              <a:avLst/>
            </a:prstGeom>
            <a:noFill/>
            <a:ln w="57150">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3" name="直接连接符 112">
              <a:extLst>
                <a:ext uri="{FF2B5EF4-FFF2-40B4-BE49-F238E27FC236}">
                  <a16:creationId xmlns:a16="http://schemas.microsoft.com/office/drawing/2014/main" id="{F9CE500F-D5DB-458D-8234-CC8F10A3CCE2}"/>
                </a:ext>
              </a:extLst>
            </p:cNvPr>
            <p:cNvCxnSpPr>
              <a:cxnSpLocks/>
              <a:stCxn id="111" idx="2"/>
              <a:endCxn id="110" idx="6"/>
            </p:cNvCxnSpPr>
            <p:nvPr/>
          </p:nvCxnSpPr>
          <p:spPr>
            <a:xfrm flipH="1">
              <a:off x="5305345" y="2511329"/>
              <a:ext cx="1086679" cy="170904"/>
            </a:xfrm>
            <a:prstGeom prst="line">
              <a:avLst/>
            </a:prstGeom>
            <a:ln w="28575">
              <a:solidFill>
                <a:srgbClr val="0202B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7E22683D-1EB6-46EC-8561-3271AC0FE7FB}"/>
                </a:ext>
              </a:extLst>
            </p:cNvPr>
            <p:cNvCxnSpPr>
              <a:cxnSpLocks/>
              <a:stCxn id="112" idx="1"/>
              <a:endCxn id="110" idx="5"/>
            </p:cNvCxnSpPr>
            <p:nvPr/>
          </p:nvCxnSpPr>
          <p:spPr>
            <a:xfrm flipH="1" flipV="1">
              <a:off x="5263168" y="2784056"/>
              <a:ext cx="1189164" cy="873215"/>
            </a:xfrm>
            <a:prstGeom prst="line">
              <a:avLst/>
            </a:prstGeom>
            <a:ln w="28575">
              <a:solidFill>
                <a:srgbClr val="0202B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15" name="直接连接符 114">
              <a:extLst>
                <a:ext uri="{FF2B5EF4-FFF2-40B4-BE49-F238E27FC236}">
                  <a16:creationId xmlns:a16="http://schemas.microsoft.com/office/drawing/2014/main" id="{CEA4440D-5060-4856-A498-296D2F60615C}"/>
                </a:ext>
              </a:extLst>
            </p:cNvPr>
            <p:cNvCxnSpPr>
              <a:cxnSpLocks/>
              <a:stCxn id="116" idx="1"/>
              <a:endCxn id="110" idx="4"/>
            </p:cNvCxnSpPr>
            <p:nvPr/>
          </p:nvCxnSpPr>
          <p:spPr>
            <a:xfrm flipH="1" flipV="1">
              <a:off x="5161345" y="2826233"/>
              <a:ext cx="1285097" cy="1516429"/>
            </a:xfrm>
            <a:prstGeom prst="line">
              <a:avLst/>
            </a:prstGeom>
            <a:ln w="28575">
              <a:solidFill>
                <a:srgbClr val="0202B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16" name="椭圆 115">
              <a:extLst>
                <a:ext uri="{FF2B5EF4-FFF2-40B4-BE49-F238E27FC236}">
                  <a16:creationId xmlns:a16="http://schemas.microsoft.com/office/drawing/2014/main" id="{A6C977A1-C021-47F3-B0B3-E1AF72FDAA35}"/>
                </a:ext>
              </a:extLst>
            </p:cNvPr>
            <p:cNvSpPr/>
            <p:nvPr/>
          </p:nvSpPr>
          <p:spPr>
            <a:xfrm>
              <a:off x="6404265" y="4300485"/>
              <a:ext cx="288000" cy="288000"/>
            </a:xfrm>
            <a:prstGeom prst="ellipse">
              <a:avLst/>
            </a:prstGeom>
            <a:solidFill>
              <a:srgbClr val="0208A7"/>
            </a:solidFill>
            <a:ln w="57150">
              <a:solidFill>
                <a:srgbClr val="0400B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椭圆 116">
              <a:extLst>
                <a:ext uri="{FF2B5EF4-FFF2-40B4-BE49-F238E27FC236}">
                  <a16:creationId xmlns:a16="http://schemas.microsoft.com/office/drawing/2014/main" id="{C2B050AB-C353-4C7C-9804-427173E45FD8}"/>
                </a:ext>
              </a:extLst>
            </p:cNvPr>
            <p:cNvSpPr/>
            <p:nvPr/>
          </p:nvSpPr>
          <p:spPr>
            <a:xfrm>
              <a:off x="6521205" y="2837864"/>
              <a:ext cx="72691" cy="72000"/>
            </a:xfrm>
            <a:prstGeom prst="ellipse">
              <a:avLst/>
            </a:prstGeom>
            <a:solidFill>
              <a:srgbClr val="0208A7"/>
            </a:solidFill>
            <a:ln>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椭圆 117">
              <a:extLst>
                <a:ext uri="{FF2B5EF4-FFF2-40B4-BE49-F238E27FC236}">
                  <a16:creationId xmlns:a16="http://schemas.microsoft.com/office/drawing/2014/main" id="{F3ABB490-246C-4CEC-B15D-6D48E7327D85}"/>
                </a:ext>
              </a:extLst>
            </p:cNvPr>
            <p:cNvSpPr/>
            <p:nvPr/>
          </p:nvSpPr>
          <p:spPr>
            <a:xfrm>
              <a:off x="6521205" y="3031074"/>
              <a:ext cx="72691" cy="72000"/>
            </a:xfrm>
            <a:prstGeom prst="ellipse">
              <a:avLst/>
            </a:prstGeom>
            <a:solidFill>
              <a:srgbClr val="0208A7"/>
            </a:solidFill>
            <a:ln>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9" name="椭圆 118">
              <a:extLst>
                <a:ext uri="{FF2B5EF4-FFF2-40B4-BE49-F238E27FC236}">
                  <a16:creationId xmlns:a16="http://schemas.microsoft.com/office/drawing/2014/main" id="{819B80C1-5E3A-4BC5-B660-4278CFB4A4EB}"/>
                </a:ext>
              </a:extLst>
            </p:cNvPr>
            <p:cNvSpPr/>
            <p:nvPr/>
          </p:nvSpPr>
          <p:spPr>
            <a:xfrm>
              <a:off x="6521205" y="3224284"/>
              <a:ext cx="72691" cy="72000"/>
            </a:xfrm>
            <a:prstGeom prst="ellipse">
              <a:avLst/>
            </a:prstGeom>
            <a:solidFill>
              <a:srgbClr val="0208A7"/>
            </a:solidFill>
            <a:ln>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a:extLst>
                <a:ext uri="{FF2B5EF4-FFF2-40B4-BE49-F238E27FC236}">
                  <a16:creationId xmlns:a16="http://schemas.microsoft.com/office/drawing/2014/main" id="{301CC045-130E-4FF8-83E8-2936B5707CAD}"/>
                </a:ext>
              </a:extLst>
            </p:cNvPr>
            <p:cNvSpPr/>
            <p:nvPr/>
          </p:nvSpPr>
          <p:spPr>
            <a:xfrm>
              <a:off x="6519550" y="3417494"/>
              <a:ext cx="72691" cy="72000"/>
            </a:xfrm>
            <a:prstGeom prst="ellipse">
              <a:avLst/>
            </a:prstGeom>
            <a:solidFill>
              <a:srgbClr val="0208A7"/>
            </a:solidFill>
            <a:ln>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23" name="矩形 122">
                  <a:extLst>
                    <a:ext uri="{FF2B5EF4-FFF2-40B4-BE49-F238E27FC236}">
                      <a16:creationId xmlns:a16="http://schemas.microsoft.com/office/drawing/2014/main" id="{93448C33-E27D-417F-9F99-3DD15B3951C0}"/>
                    </a:ext>
                  </a:extLst>
                </p:cNvPr>
                <p:cNvSpPr/>
                <p:nvPr/>
              </p:nvSpPr>
              <p:spPr>
                <a:xfrm>
                  <a:off x="4630962" y="2184923"/>
                  <a:ext cx="1210268" cy="47622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zh-CN" altLang="en-US" i="1">
                                <a:latin typeface="Cambria Math" panose="02040503050406030204" pitchFamily="18" charset="0"/>
                              </a:rPr>
                              <m:t>𝛿</m:t>
                            </m:r>
                          </m:e>
                          <m:sub>
                            <m:r>
                              <a:rPr lang="en-US" altLang="zh-CN" b="0" i="1" smtClean="0">
                                <a:latin typeface="Cambria Math" panose="02040503050406030204" pitchFamily="18" charset="0"/>
                              </a:rPr>
                              <m:t>𝑗</m:t>
                            </m:r>
                          </m:sub>
                          <m:sup>
                            <m:r>
                              <a:rPr lang="en-US" altLang="zh-CN" b="0" i="1" smtClean="0">
                                <a:latin typeface="Cambria Math" panose="02040503050406030204" pitchFamily="18" charset="0"/>
                              </a:rPr>
                              <m:t>(</m:t>
                            </m:r>
                            <m:r>
                              <a:rPr lang="en-US" altLang="zh-CN" b="0" i="1" smtClean="0">
                                <a:latin typeface="Cambria Math" panose="02040503050406030204" pitchFamily="18" charset="0"/>
                              </a:rPr>
                              <m:t>𝑙𝑎𝑦𝑒𝑟</m:t>
                            </m:r>
                            <m:r>
                              <a:rPr lang="en-US" altLang="zh-CN" b="0" i="1" smtClean="0">
                                <a:latin typeface="Cambria Math" panose="02040503050406030204" pitchFamily="18" charset="0"/>
                              </a:rPr>
                              <m:t>−1)</m:t>
                            </m:r>
                          </m:sup>
                        </m:sSubSup>
                      </m:oMath>
                    </m:oMathPara>
                  </a14:m>
                  <a:endParaRPr lang="zh-CN" altLang="en-US" dirty="0"/>
                </a:p>
              </p:txBody>
            </p:sp>
          </mc:Choice>
          <mc:Fallback xmlns="">
            <p:sp>
              <p:nvSpPr>
                <p:cNvPr id="123" name="矩形 122">
                  <a:extLst>
                    <a:ext uri="{FF2B5EF4-FFF2-40B4-BE49-F238E27FC236}">
                      <a16:creationId xmlns:a16="http://schemas.microsoft.com/office/drawing/2014/main" id="{93448C33-E27D-417F-9F99-3DD15B3951C0}"/>
                    </a:ext>
                  </a:extLst>
                </p:cNvPr>
                <p:cNvSpPr>
                  <a:spLocks noRot="1" noChangeAspect="1" noMove="1" noResize="1" noEditPoints="1" noAdjustHandles="1" noChangeArrowheads="1" noChangeShapeType="1" noTextEdit="1"/>
                </p:cNvSpPr>
                <p:nvPr/>
              </p:nvSpPr>
              <p:spPr>
                <a:xfrm>
                  <a:off x="4630962" y="2184923"/>
                  <a:ext cx="1210268" cy="476221"/>
                </a:xfrm>
                <a:prstGeom prst="rect">
                  <a:avLst/>
                </a:prstGeom>
                <a:blipFill>
                  <a:blip r:embed="rId7"/>
                  <a:stretch>
                    <a:fillRect b="-769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4" name="矩形 123">
                  <a:extLst>
                    <a:ext uri="{FF2B5EF4-FFF2-40B4-BE49-F238E27FC236}">
                      <a16:creationId xmlns:a16="http://schemas.microsoft.com/office/drawing/2014/main" id="{A193A2F1-EEB7-44C8-A133-74823E6E1657}"/>
                    </a:ext>
                  </a:extLst>
                </p:cNvPr>
                <p:cNvSpPr/>
                <p:nvPr/>
              </p:nvSpPr>
              <p:spPr>
                <a:xfrm>
                  <a:off x="6014107" y="1917232"/>
                  <a:ext cx="990656" cy="44287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zh-CN" altLang="en-US" b="0" i="1" smtClean="0">
                                <a:latin typeface="Cambria Math" panose="02040503050406030204" pitchFamily="18" charset="0"/>
                              </a:rPr>
                              <m:t>𝛿</m:t>
                            </m:r>
                          </m:e>
                          <m:sub>
                            <m:r>
                              <a:rPr lang="en-US" altLang="zh-CN" b="0" i="1" smtClean="0">
                                <a:latin typeface="Cambria Math" panose="02040503050406030204" pitchFamily="18" charset="0"/>
                              </a:rPr>
                              <m:t>𝑘</m:t>
                            </m:r>
                          </m:sub>
                          <m:sup>
                            <m:r>
                              <a:rPr lang="en-US" altLang="zh-CN" b="0" i="1" smtClean="0">
                                <a:latin typeface="Cambria Math" panose="02040503050406030204" pitchFamily="18" charset="0"/>
                              </a:rPr>
                              <m:t>(</m:t>
                            </m:r>
                            <m:r>
                              <a:rPr lang="en-US" altLang="zh-CN" b="0" i="1" smtClean="0">
                                <a:latin typeface="Cambria Math" panose="02040503050406030204" pitchFamily="18" charset="0"/>
                              </a:rPr>
                              <m:t>𝑙𝑎𝑦𝑒𝑟</m:t>
                            </m:r>
                            <m:r>
                              <a:rPr lang="en-US" altLang="zh-CN" b="0" i="1" smtClean="0">
                                <a:latin typeface="Cambria Math" panose="02040503050406030204" pitchFamily="18" charset="0"/>
                              </a:rPr>
                              <m:t>)</m:t>
                            </m:r>
                          </m:sup>
                        </m:sSubSup>
                      </m:oMath>
                    </m:oMathPara>
                  </a14:m>
                  <a:endParaRPr lang="zh-CN" altLang="en-US" dirty="0"/>
                </a:p>
              </p:txBody>
            </p:sp>
          </mc:Choice>
          <mc:Fallback xmlns="">
            <p:sp>
              <p:nvSpPr>
                <p:cNvPr id="124" name="矩形 123">
                  <a:extLst>
                    <a:ext uri="{FF2B5EF4-FFF2-40B4-BE49-F238E27FC236}">
                      <a16:creationId xmlns:a16="http://schemas.microsoft.com/office/drawing/2014/main" id="{A193A2F1-EEB7-44C8-A133-74823E6E1657}"/>
                    </a:ext>
                  </a:extLst>
                </p:cNvPr>
                <p:cNvSpPr>
                  <a:spLocks noRot="1" noChangeAspect="1" noMove="1" noResize="1" noEditPoints="1" noAdjustHandles="1" noChangeArrowheads="1" noChangeShapeType="1" noTextEdit="1"/>
                </p:cNvSpPr>
                <p:nvPr/>
              </p:nvSpPr>
              <p:spPr>
                <a:xfrm>
                  <a:off x="6014107" y="1917232"/>
                  <a:ext cx="990656" cy="442878"/>
                </a:xfrm>
                <a:prstGeom prst="rect">
                  <a:avLst/>
                </a:prstGeom>
                <a:blipFill>
                  <a:blip r:embed="rId8"/>
                  <a:stretch>
                    <a:fillRect b="-274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5" name="矩形 124">
                  <a:extLst>
                    <a:ext uri="{FF2B5EF4-FFF2-40B4-BE49-F238E27FC236}">
                      <a16:creationId xmlns:a16="http://schemas.microsoft.com/office/drawing/2014/main" id="{C9726F60-B989-4D17-B92B-16AAD8C4CB3A}"/>
                    </a:ext>
                  </a:extLst>
                </p:cNvPr>
                <p:cNvSpPr/>
                <p:nvPr/>
              </p:nvSpPr>
              <p:spPr>
                <a:xfrm>
                  <a:off x="2799406" y="2877830"/>
                  <a:ext cx="1210267" cy="44493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zh-CN" altLang="en-US" i="1">
                                <a:latin typeface="Cambria Math" panose="02040503050406030204" pitchFamily="18" charset="0"/>
                              </a:rPr>
                              <m:t>𝛿</m:t>
                            </m:r>
                          </m:e>
                          <m:sub>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m:t>
                            </m:r>
                            <m:r>
                              <a:rPr lang="en-US" altLang="zh-CN" b="0" i="1" smtClean="0">
                                <a:latin typeface="Cambria Math" panose="02040503050406030204" pitchFamily="18" charset="0"/>
                              </a:rPr>
                              <m:t>𝑙𝑎𝑦𝑒𝑟</m:t>
                            </m:r>
                            <m:r>
                              <a:rPr lang="en-US" altLang="zh-CN" b="0" i="1" smtClean="0">
                                <a:latin typeface="Cambria Math" panose="02040503050406030204" pitchFamily="18" charset="0"/>
                              </a:rPr>
                              <m:t>−2)</m:t>
                            </m:r>
                          </m:sup>
                        </m:sSubSup>
                      </m:oMath>
                    </m:oMathPara>
                  </a14:m>
                  <a:endParaRPr lang="zh-CN" altLang="en-US" dirty="0"/>
                </a:p>
              </p:txBody>
            </p:sp>
          </mc:Choice>
          <mc:Fallback xmlns="">
            <p:sp>
              <p:nvSpPr>
                <p:cNvPr id="125" name="矩形 124">
                  <a:extLst>
                    <a:ext uri="{FF2B5EF4-FFF2-40B4-BE49-F238E27FC236}">
                      <a16:creationId xmlns:a16="http://schemas.microsoft.com/office/drawing/2014/main" id="{C9726F60-B989-4D17-B92B-16AAD8C4CB3A}"/>
                    </a:ext>
                  </a:extLst>
                </p:cNvPr>
                <p:cNvSpPr>
                  <a:spLocks noRot="1" noChangeAspect="1" noMove="1" noResize="1" noEditPoints="1" noAdjustHandles="1" noChangeArrowheads="1" noChangeShapeType="1" noTextEdit="1"/>
                </p:cNvSpPr>
                <p:nvPr/>
              </p:nvSpPr>
              <p:spPr>
                <a:xfrm>
                  <a:off x="2799406" y="2877830"/>
                  <a:ext cx="1210267" cy="444930"/>
                </a:xfrm>
                <a:prstGeom prst="rect">
                  <a:avLst/>
                </a:prstGeom>
                <a:blipFill>
                  <a:blip r:embed="rId9"/>
                  <a:stretch>
                    <a:fillRect b="-411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6" name="矩形 125">
                  <a:extLst>
                    <a:ext uri="{FF2B5EF4-FFF2-40B4-BE49-F238E27FC236}">
                      <a16:creationId xmlns:a16="http://schemas.microsoft.com/office/drawing/2014/main" id="{BC3EE43F-98DF-4A4E-BF14-40AE35DB15A1}"/>
                    </a:ext>
                  </a:extLst>
                </p:cNvPr>
                <p:cNvSpPr/>
                <p:nvPr/>
              </p:nvSpPr>
              <p:spPr>
                <a:xfrm>
                  <a:off x="3877256" y="3058641"/>
                  <a:ext cx="1259191" cy="47622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i="1">
                                <a:latin typeface="Cambria Math" panose="02040503050406030204" pitchFamily="18" charset="0"/>
                              </a:rPr>
                              <m:t>𝑤</m:t>
                            </m:r>
                          </m:e>
                          <m:sub>
                            <m:r>
                              <a:rPr lang="en-US" altLang="zh-CN" b="0" i="1" smtClean="0">
                                <a:latin typeface="Cambria Math" panose="02040503050406030204" pitchFamily="18" charset="0"/>
                              </a:rPr>
                              <m:t>𝑗𝑖</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𝑙𝑎𝑦𝑒𝑟</m:t>
                                </m:r>
                                <m:r>
                                  <a:rPr lang="en-US" altLang="zh-CN" i="1">
                                    <a:latin typeface="Cambria Math" panose="02040503050406030204" pitchFamily="18" charset="0"/>
                                  </a:rPr>
                                  <m:t>−1</m:t>
                                </m:r>
                              </m:e>
                            </m:d>
                          </m:sup>
                        </m:sSubSup>
                      </m:oMath>
                    </m:oMathPara>
                  </a14:m>
                  <a:endParaRPr lang="zh-CN" altLang="en-US" dirty="0"/>
                </a:p>
              </p:txBody>
            </p:sp>
          </mc:Choice>
          <mc:Fallback xmlns="">
            <p:sp>
              <p:nvSpPr>
                <p:cNvPr id="126" name="矩形 125">
                  <a:extLst>
                    <a:ext uri="{FF2B5EF4-FFF2-40B4-BE49-F238E27FC236}">
                      <a16:creationId xmlns:a16="http://schemas.microsoft.com/office/drawing/2014/main" id="{BC3EE43F-98DF-4A4E-BF14-40AE35DB15A1}"/>
                    </a:ext>
                  </a:extLst>
                </p:cNvPr>
                <p:cNvSpPr>
                  <a:spLocks noRot="1" noChangeAspect="1" noMove="1" noResize="1" noEditPoints="1" noAdjustHandles="1" noChangeArrowheads="1" noChangeShapeType="1" noTextEdit="1"/>
                </p:cNvSpPr>
                <p:nvPr/>
              </p:nvSpPr>
              <p:spPr>
                <a:xfrm>
                  <a:off x="3877256" y="3058641"/>
                  <a:ext cx="1259191" cy="476221"/>
                </a:xfrm>
                <a:prstGeom prst="rect">
                  <a:avLst/>
                </a:prstGeom>
                <a:blipFill>
                  <a:blip r:embed="rId10"/>
                  <a:stretch>
                    <a:fillRect b="-512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7" name="矩形 126">
                  <a:extLst>
                    <a:ext uri="{FF2B5EF4-FFF2-40B4-BE49-F238E27FC236}">
                      <a16:creationId xmlns:a16="http://schemas.microsoft.com/office/drawing/2014/main" id="{5B1FCB88-EFD8-4893-A60E-2F999B01BFB5}"/>
                    </a:ext>
                  </a:extLst>
                </p:cNvPr>
                <p:cNvSpPr/>
                <p:nvPr/>
              </p:nvSpPr>
              <p:spPr>
                <a:xfrm>
                  <a:off x="5516316" y="2682233"/>
                  <a:ext cx="1039579" cy="47622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i="1">
                                <a:latin typeface="Cambria Math" panose="02040503050406030204" pitchFamily="18" charset="0"/>
                              </a:rPr>
                              <m:t>𝑤</m:t>
                            </m:r>
                          </m:e>
                          <m:sub>
                            <m:r>
                              <a:rPr lang="en-US" altLang="zh-CN" b="0" i="1" smtClean="0">
                                <a:latin typeface="Cambria Math" panose="02040503050406030204" pitchFamily="18" charset="0"/>
                              </a:rPr>
                              <m:t>𝑘𝑗</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𝑙𝑎𝑦𝑒𝑟</m:t>
                                </m:r>
                              </m:e>
                            </m:d>
                          </m:sup>
                        </m:sSubSup>
                      </m:oMath>
                    </m:oMathPara>
                  </a14:m>
                  <a:endParaRPr lang="zh-CN" altLang="en-US" dirty="0"/>
                </a:p>
              </p:txBody>
            </p:sp>
          </mc:Choice>
          <mc:Fallback xmlns="">
            <p:sp>
              <p:nvSpPr>
                <p:cNvPr id="127" name="矩形 126">
                  <a:extLst>
                    <a:ext uri="{FF2B5EF4-FFF2-40B4-BE49-F238E27FC236}">
                      <a16:creationId xmlns:a16="http://schemas.microsoft.com/office/drawing/2014/main" id="{5B1FCB88-EFD8-4893-A60E-2F999B01BFB5}"/>
                    </a:ext>
                  </a:extLst>
                </p:cNvPr>
                <p:cNvSpPr>
                  <a:spLocks noRot="1" noChangeAspect="1" noMove="1" noResize="1" noEditPoints="1" noAdjustHandles="1" noChangeArrowheads="1" noChangeShapeType="1" noTextEdit="1"/>
                </p:cNvSpPr>
                <p:nvPr/>
              </p:nvSpPr>
              <p:spPr>
                <a:xfrm>
                  <a:off x="5516316" y="2682233"/>
                  <a:ext cx="1039579" cy="476221"/>
                </a:xfrm>
                <a:prstGeom prst="rect">
                  <a:avLst/>
                </a:prstGeom>
                <a:blipFill>
                  <a:blip r:embed="rId11"/>
                  <a:stretch>
                    <a:fillRect b="-5128"/>
                  </a:stretch>
                </a:blipFill>
              </p:spPr>
              <p:txBody>
                <a:bodyPr/>
                <a:lstStyle/>
                <a:p>
                  <a:r>
                    <a:rPr lang="zh-CN" altLang="en-US">
                      <a:noFill/>
                    </a:rPr>
                    <a:t> </a:t>
                  </a:r>
                </a:p>
              </p:txBody>
            </p:sp>
          </mc:Fallback>
        </mc:AlternateContent>
      </p:grpSp>
      <p:grpSp>
        <p:nvGrpSpPr>
          <p:cNvPr id="6" name="组合 5">
            <a:extLst>
              <a:ext uri="{FF2B5EF4-FFF2-40B4-BE49-F238E27FC236}">
                <a16:creationId xmlns:a16="http://schemas.microsoft.com/office/drawing/2014/main" id="{076F695B-5283-4B61-87ED-4EF9B2BBE89C}"/>
              </a:ext>
            </a:extLst>
          </p:cNvPr>
          <p:cNvGrpSpPr/>
          <p:nvPr/>
        </p:nvGrpSpPr>
        <p:grpSpPr>
          <a:xfrm>
            <a:off x="3402363" y="1023849"/>
            <a:ext cx="5302571" cy="4271347"/>
            <a:chOff x="2421775" y="1725807"/>
            <a:chExt cx="5302571" cy="4271347"/>
          </a:xfrm>
        </p:grpSpPr>
        <p:cxnSp>
          <p:nvCxnSpPr>
            <p:cNvPr id="15" name="直接箭头连接符 14">
              <a:extLst>
                <a:ext uri="{FF2B5EF4-FFF2-40B4-BE49-F238E27FC236}">
                  <a16:creationId xmlns:a16="http://schemas.microsoft.com/office/drawing/2014/main" id="{EE14EC43-1262-4712-AF18-41CA25520A2A}"/>
                </a:ext>
              </a:extLst>
            </p:cNvPr>
            <p:cNvCxnSpPr>
              <a:cxnSpLocks/>
              <a:stCxn id="8" idx="0"/>
              <a:endCxn id="9" idx="2"/>
            </p:cNvCxnSpPr>
            <p:nvPr/>
          </p:nvCxnSpPr>
          <p:spPr>
            <a:xfrm flipV="1">
              <a:off x="4164624" y="4488151"/>
              <a:ext cx="0" cy="246639"/>
            </a:xfrm>
            <a:prstGeom prst="straightConnector1">
              <a:avLst/>
            </a:prstGeom>
            <a:ln w="28575">
              <a:headEnd type="none" w="med" len="med"/>
              <a:tailEnd type="triangle" w="lg" len="lg"/>
            </a:ln>
          </p:spPr>
          <p:style>
            <a:lnRef idx="3">
              <a:schemeClr val="accent1"/>
            </a:lnRef>
            <a:fillRef idx="0">
              <a:schemeClr val="accent1"/>
            </a:fillRef>
            <a:effectRef idx="2">
              <a:schemeClr val="accent1"/>
            </a:effectRef>
            <a:fontRef idx="minor">
              <a:schemeClr val="tx1"/>
            </a:fontRef>
          </p:style>
        </p:cxnSp>
        <p:sp>
          <p:nvSpPr>
            <p:cNvPr id="4" name="矩形: 圆角 3">
              <a:extLst>
                <a:ext uri="{FF2B5EF4-FFF2-40B4-BE49-F238E27FC236}">
                  <a16:creationId xmlns:a16="http://schemas.microsoft.com/office/drawing/2014/main" id="{59D93927-EF23-4F5A-8A88-2F0F11890971}"/>
                </a:ext>
              </a:extLst>
            </p:cNvPr>
            <p:cNvSpPr/>
            <p:nvPr/>
          </p:nvSpPr>
          <p:spPr>
            <a:xfrm>
              <a:off x="2421775" y="3798781"/>
              <a:ext cx="720000" cy="684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latin typeface="Monaco" panose="020B0509030404040204" pitchFamily="49" charset="0"/>
                </a:rPr>
                <a:t>x</a:t>
              </a:r>
              <a:endParaRPr lang="zh-CN" altLang="en-US" b="1" dirty="0">
                <a:latin typeface="Monaco" panose="020B0509030404040204" pitchFamily="49" charset="0"/>
              </a:endParaRPr>
            </a:p>
          </p:txBody>
        </p:sp>
        <p:sp>
          <p:nvSpPr>
            <p:cNvPr id="7" name="矩形: 圆角 6">
              <a:extLst>
                <a:ext uri="{FF2B5EF4-FFF2-40B4-BE49-F238E27FC236}">
                  <a16:creationId xmlns:a16="http://schemas.microsoft.com/office/drawing/2014/main" id="{DEC6DAD1-4DCB-402B-8BA5-31BE3BC8CFF0}"/>
                </a:ext>
              </a:extLst>
            </p:cNvPr>
            <p:cNvSpPr/>
            <p:nvPr/>
          </p:nvSpPr>
          <p:spPr>
            <a:xfrm>
              <a:off x="5546859" y="1725807"/>
              <a:ext cx="720000" cy="684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latin typeface="Monaco" panose="020B0509030404040204" pitchFamily="49" charset="0"/>
                </a:rPr>
                <a:t>t</a:t>
              </a:r>
              <a:endParaRPr lang="zh-CN" altLang="en-US" b="1" dirty="0">
                <a:latin typeface="Monaco" panose="020B0509030404040204" pitchFamily="49" charset="0"/>
              </a:endParaRPr>
            </a:p>
          </p:txBody>
        </p:sp>
        <p:sp>
          <p:nvSpPr>
            <p:cNvPr id="8" name="矩形: 圆角 7">
              <a:extLst>
                <a:ext uri="{FF2B5EF4-FFF2-40B4-BE49-F238E27FC236}">
                  <a16:creationId xmlns:a16="http://schemas.microsoft.com/office/drawing/2014/main" id="{B1CF77FA-F03B-4062-AFFD-BE2EFB36B016}"/>
                </a:ext>
              </a:extLst>
            </p:cNvPr>
            <p:cNvSpPr/>
            <p:nvPr/>
          </p:nvSpPr>
          <p:spPr>
            <a:xfrm>
              <a:off x="3474992" y="4734790"/>
              <a:ext cx="1379263" cy="69473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latin typeface="Monaco" panose="020B0509030404040204" pitchFamily="49" charset="0"/>
                </a:rPr>
                <a:t>w</a:t>
              </a:r>
              <a:endParaRPr lang="zh-CN" altLang="en-US" b="1" dirty="0">
                <a:latin typeface="Monaco" panose="020B0509030404040204" pitchFamily="49" charset="0"/>
              </a:endParaRPr>
            </a:p>
          </p:txBody>
        </p:sp>
        <p:sp>
          <p:nvSpPr>
            <p:cNvPr id="9" name="矩形 8">
              <a:extLst>
                <a:ext uri="{FF2B5EF4-FFF2-40B4-BE49-F238E27FC236}">
                  <a16:creationId xmlns:a16="http://schemas.microsoft.com/office/drawing/2014/main" id="{7F804795-1225-4F5F-952C-9E463236EAAE}"/>
                </a:ext>
              </a:extLst>
            </p:cNvPr>
            <p:cNvSpPr/>
            <p:nvPr/>
          </p:nvSpPr>
          <p:spPr>
            <a:xfrm>
              <a:off x="3474992" y="3793412"/>
              <a:ext cx="1379263" cy="6947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Monaco" panose="020B0509030404040204" pitchFamily="49" charset="0"/>
                </a:rPr>
                <a:t>Forward</a:t>
              </a:r>
              <a:endParaRPr lang="zh-CN" altLang="en-US" dirty="0">
                <a:latin typeface="Monaco" panose="020B0509030404040204" pitchFamily="49" charset="0"/>
              </a:endParaRPr>
            </a:p>
          </p:txBody>
        </p:sp>
        <p:sp>
          <p:nvSpPr>
            <p:cNvPr id="10" name="矩形: 圆角 9">
              <a:extLst>
                <a:ext uri="{FF2B5EF4-FFF2-40B4-BE49-F238E27FC236}">
                  <a16:creationId xmlns:a16="http://schemas.microsoft.com/office/drawing/2014/main" id="{D9BE1ECB-2033-4371-9496-C3D2BE3AE3B7}"/>
                </a:ext>
              </a:extLst>
            </p:cNvPr>
            <p:cNvSpPr/>
            <p:nvPr/>
          </p:nvSpPr>
          <p:spPr>
            <a:xfrm>
              <a:off x="5546859" y="3798781"/>
              <a:ext cx="720000" cy="684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latin typeface="Monaco" panose="020B0509030404040204" pitchFamily="49" charset="0"/>
                </a:rPr>
                <a:t>y</a:t>
              </a:r>
              <a:endParaRPr lang="zh-CN" altLang="en-US" b="1" dirty="0">
                <a:latin typeface="Monaco" panose="020B0509030404040204" pitchFamily="49" charset="0"/>
              </a:endParaRPr>
            </a:p>
          </p:txBody>
        </p:sp>
        <p:sp>
          <p:nvSpPr>
            <p:cNvPr id="11" name="矩形: 圆角 10">
              <a:extLst>
                <a:ext uri="{FF2B5EF4-FFF2-40B4-BE49-F238E27FC236}">
                  <a16:creationId xmlns:a16="http://schemas.microsoft.com/office/drawing/2014/main" id="{1EA91D1F-7FB2-4A93-B816-A807DE63B055}"/>
                </a:ext>
              </a:extLst>
            </p:cNvPr>
            <p:cNvSpPr/>
            <p:nvPr/>
          </p:nvSpPr>
          <p:spPr>
            <a:xfrm>
              <a:off x="6788346" y="3798781"/>
              <a:ext cx="936000" cy="684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Monaco" panose="020B0509030404040204" pitchFamily="49" charset="0"/>
                </a:rPr>
                <a:t>Error</a:t>
              </a:r>
              <a:endParaRPr lang="zh-CN" altLang="en-US" dirty="0">
                <a:latin typeface="Monaco" panose="020B0509030404040204" pitchFamily="49" charset="0"/>
              </a:endParaRPr>
            </a:p>
          </p:txBody>
        </p:sp>
        <p:sp>
          <p:nvSpPr>
            <p:cNvPr id="12" name="矩形 11">
              <a:extLst>
                <a:ext uri="{FF2B5EF4-FFF2-40B4-BE49-F238E27FC236}">
                  <a16:creationId xmlns:a16="http://schemas.microsoft.com/office/drawing/2014/main" id="{30707217-9BA5-4C96-AC3B-AC48261A2CB2}"/>
                </a:ext>
              </a:extLst>
            </p:cNvPr>
            <p:cNvSpPr/>
            <p:nvPr/>
          </p:nvSpPr>
          <p:spPr>
            <a:xfrm>
              <a:off x="5122835" y="4734790"/>
              <a:ext cx="1379263" cy="6947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Monaco" panose="020B0509030404040204" pitchFamily="49" charset="0"/>
                </a:rPr>
                <a:t>Backward</a:t>
              </a:r>
            </a:p>
          </p:txBody>
        </p:sp>
        <p:cxnSp>
          <p:nvCxnSpPr>
            <p:cNvPr id="14" name="直接箭头连接符 13">
              <a:extLst>
                <a:ext uri="{FF2B5EF4-FFF2-40B4-BE49-F238E27FC236}">
                  <a16:creationId xmlns:a16="http://schemas.microsoft.com/office/drawing/2014/main" id="{30AB8BE4-01EE-4B48-9DFC-F12370A12519}"/>
                </a:ext>
              </a:extLst>
            </p:cNvPr>
            <p:cNvCxnSpPr>
              <a:cxnSpLocks/>
              <a:stCxn id="4" idx="3"/>
              <a:endCxn id="9" idx="1"/>
            </p:cNvCxnSpPr>
            <p:nvPr/>
          </p:nvCxnSpPr>
          <p:spPr>
            <a:xfrm>
              <a:off x="3141775" y="4140781"/>
              <a:ext cx="333217" cy="1"/>
            </a:xfrm>
            <a:prstGeom prst="straightConnector1">
              <a:avLst/>
            </a:prstGeom>
            <a:ln w="28575">
              <a:headEnd type="none" w="med" len="med"/>
              <a:tailEnd type="triangle" w="lg" len="lg"/>
            </a:ln>
          </p:spPr>
          <p:style>
            <a:lnRef idx="3">
              <a:schemeClr val="accent1"/>
            </a:lnRef>
            <a:fillRef idx="0">
              <a:schemeClr val="accent1"/>
            </a:fillRef>
            <a:effectRef idx="2">
              <a:schemeClr val="accent1"/>
            </a:effectRef>
            <a:fontRef idx="minor">
              <a:schemeClr val="tx1"/>
            </a:fontRef>
          </p:style>
        </p:cxnSp>
        <p:cxnSp>
          <p:nvCxnSpPr>
            <p:cNvPr id="18" name="直接箭头连接符 17">
              <a:extLst>
                <a:ext uri="{FF2B5EF4-FFF2-40B4-BE49-F238E27FC236}">
                  <a16:creationId xmlns:a16="http://schemas.microsoft.com/office/drawing/2014/main" id="{BC1FD6E0-D545-49B5-BF27-54CE575AD33B}"/>
                </a:ext>
              </a:extLst>
            </p:cNvPr>
            <p:cNvCxnSpPr>
              <a:cxnSpLocks/>
              <a:stCxn id="9" idx="3"/>
              <a:endCxn id="10" idx="1"/>
            </p:cNvCxnSpPr>
            <p:nvPr/>
          </p:nvCxnSpPr>
          <p:spPr>
            <a:xfrm flipV="1">
              <a:off x="4854255" y="4140781"/>
              <a:ext cx="692604" cy="1"/>
            </a:xfrm>
            <a:prstGeom prst="straightConnector1">
              <a:avLst/>
            </a:prstGeom>
            <a:ln w="28575">
              <a:headEnd type="none" w="med" len="med"/>
              <a:tailEnd type="triangle" w="lg" len="lg"/>
            </a:ln>
          </p:spPr>
          <p:style>
            <a:lnRef idx="3">
              <a:schemeClr val="accent1"/>
            </a:lnRef>
            <a:fillRef idx="0">
              <a:schemeClr val="accent1"/>
            </a:fillRef>
            <a:effectRef idx="2">
              <a:schemeClr val="accent1"/>
            </a:effectRef>
            <a:fontRef idx="minor">
              <a:schemeClr val="tx1"/>
            </a:fontRef>
          </p:style>
        </p:cxnSp>
        <p:sp>
          <p:nvSpPr>
            <p:cNvPr id="23" name="椭圆 22">
              <a:extLst>
                <a:ext uri="{FF2B5EF4-FFF2-40B4-BE49-F238E27FC236}">
                  <a16:creationId xmlns:a16="http://schemas.microsoft.com/office/drawing/2014/main" id="{AE112881-9B8F-442C-AFF9-E0F29D662CE3}"/>
                </a:ext>
              </a:extLst>
            </p:cNvPr>
            <p:cNvSpPr/>
            <p:nvPr/>
          </p:nvSpPr>
          <p:spPr>
            <a:xfrm>
              <a:off x="5564859" y="2751807"/>
              <a:ext cx="684000" cy="684000"/>
            </a:xfrm>
            <a:prstGeom prst="ellipse">
              <a:avLst/>
            </a:prstGeom>
            <a:ln w="28575"/>
          </p:spPr>
          <p:style>
            <a:lnRef idx="2">
              <a:schemeClr val="accent5"/>
            </a:lnRef>
            <a:fillRef idx="1">
              <a:schemeClr val="lt1"/>
            </a:fillRef>
            <a:effectRef idx="0">
              <a:schemeClr val="accent5"/>
            </a:effectRef>
            <a:fontRef idx="minor">
              <a:schemeClr val="dk1"/>
            </a:fontRef>
          </p:style>
          <p:txBody>
            <a:bodyPr rtlCol="0" anchor="ctr" anchorCtr="0"/>
            <a:lstStyle/>
            <a:p>
              <a:pPr algn="ctr"/>
              <a:r>
                <a:rPr lang="en-US" altLang="zh-CN" sz="4800" dirty="0">
                  <a:latin typeface="Monaco" panose="020B0509030404040204" pitchFamily="49" charset="0"/>
                </a:rPr>
                <a:t>-</a:t>
              </a:r>
            </a:p>
          </p:txBody>
        </p:sp>
        <p:cxnSp>
          <p:nvCxnSpPr>
            <p:cNvPr id="25" name="直接箭头连接符 24">
              <a:extLst>
                <a:ext uri="{FF2B5EF4-FFF2-40B4-BE49-F238E27FC236}">
                  <a16:creationId xmlns:a16="http://schemas.microsoft.com/office/drawing/2014/main" id="{727078E7-4B38-4D7E-BB45-8FE7E0AEF7D3}"/>
                </a:ext>
              </a:extLst>
            </p:cNvPr>
            <p:cNvCxnSpPr>
              <a:cxnSpLocks/>
              <a:stCxn id="7" idx="2"/>
              <a:endCxn id="23" idx="0"/>
            </p:cNvCxnSpPr>
            <p:nvPr/>
          </p:nvCxnSpPr>
          <p:spPr>
            <a:xfrm>
              <a:off x="5906859" y="2409807"/>
              <a:ext cx="0" cy="342000"/>
            </a:xfrm>
            <a:prstGeom prst="straightConnector1">
              <a:avLst/>
            </a:prstGeom>
            <a:ln w="28575">
              <a:headEnd type="none" w="med" len="med"/>
              <a:tailEnd type="triangle" w="lg" len="lg"/>
            </a:ln>
          </p:spPr>
          <p:style>
            <a:lnRef idx="3">
              <a:schemeClr val="accent1"/>
            </a:lnRef>
            <a:fillRef idx="0">
              <a:schemeClr val="accent1"/>
            </a:fillRef>
            <a:effectRef idx="2">
              <a:schemeClr val="accent1"/>
            </a:effectRef>
            <a:fontRef idx="minor">
              <a:schemeClr val="tx1"/>
            </a:fontRef>
          </p:style>
        </p:cxnSp>
        <p:cxnSp>
          <p:nvCxnSpPr>
            <p:cNvPr id="30" name="直接箭头连接符 29">
              <a:extLst>
                <a:ext uri="{FF2B5EF4-FFF2-40B4-BE49-F238E27FC236}">
                  <a16:creationId xmlns:a16="http://schemas.microsoft.com/office/drawing/2014/main" id="{C95360F7-EF57-4164-AF60-7CF3080944C8}"/>
                </a:ext>
              </a:extLst>
            </p:cNvPr>
            <p:cNvCxnSpPr>
              <a:cxnSpLocks/>
              <a:stCxn id="10" idx="0"/>
              <a:endCxn id="23" idx="4"/>
            </p:cNvCxnSpPr>
            <p:nvPr/>
          </p:nvCxnSpPr>
          <p:spPr>
            <a:xfrm flipV="1">
              <a:off x="5906859" y="3435807"/>
              <a:ext cx="0" cy="362974"/>
            </a:xfrm>
            <a:prstGeom prst="straightConnector1">
              <a:avLst/>
            </a:prstGeom>
            <a:ln w="28575">
              <a:headEnd type="none" w="med" len="med"/>
              <a:tailEnd type="triangle" w="lg" len="lg"/>
            </a:ln>
          </p:spPr>
          <p:style>
            <a:lnRef idx="3">
              <a:schemeClr val="accent1"/>
            </a:lnRef>
            <a:fillRef idx="0">
              <a:schemeClr val="accent1"/>
            </a:fillRef>
            <a:effectRef idx="2">
              <a:schemeClr val="accent1"/>
            </a:effectRef>
            <a:fontRef idx="minor">
              <a:schemeClr val="tx1"/>
            </a:fontRef>
          </p:style>
        </p:cxnSp>
        <p:cxnSp>
          <p:nvCxnSpPr>
            <p:cNvPr id="41" name="连接符: 曲线 40">
              <a:extLst>
                <a:ext uri="{FF2B5EF4-FFF2-40B4-BE49-F238E27FC236}">
                  <a16:creationId xmlns:a16="http://schemas.microsoft.com/office/drawing/2014/main" id="{4DF2DC80-C4B8-4C3E-930B-06B3005F9CD5}"/>
                </a:ext>
              </a:extLst>
            </p:cNvPr>
            <p:cNvCxnSpPr>
              <a:cxnSpLocks/>
              <a:stCxn id="12" idx="2"/>
              <a:endCxn id="8" idx="2"/>
            </p:cNvCxnSpPr>
            <p:nvPr/>
          </p:nvCxnSpPr>
          <p:spPr>
            <a:xfrm rot="5400000">
              <a:off x="4988546" y="4605608"/>
              <a:ext cx="12700" cy="1647843"/>
            </a:xfrm>
            <a:prstGeom prst="curvedConnector3">
              <a:avLst>
                <a:gd name="adj1" fmla="val 1800000"/>
              </a:avLst>
            </a:prstGeom>
            <a:ln w="28575">
              <a:headEnd type="none" w="med" len="med"/>
              <a:tailEnd type="triangle" w="lg" len="lg"/>
            </a:ln>
          </p:spPr>
          <p:style>
            <a:lnRef idx="3">
              <a:schemeClr val="accent1"/>
            </a:lnRef>
            <a:fillRef idx="0">
              <a:schemeClr val="accent1"/>
            </a:fillRef>
            <a:effectRef idx="2">
              <a:schemeClr val="accent1"/>
            </a:effectRef>
            <a:fontRef idx="minor">
              <a:schemeClr val="tx1"/>
            </a:fontRef>
          </p:style>
        </p:cxnSp>
        <p:cxnSp>
          <p:nvCxnSpPr>
            <p:cNvPr id="44" name="连接符: 曲线 43">
              <a:extLst>
                <a:ext uri="{FF2B5EF4-FFF2-40B4-BE49-F238E27FC236}">
                  <a16:creationId xmlns:a16="http://schemas.microsoft.com/office/drawing/2014/main" id="{858DA398-27B1-4264-8199-5117F3E14CDE}"/>
                </a:ext>
              </a:extLst>
            </p:cNvPr>
            <p:cNvCxnSpPr>
              <a:cxnSpLocks/>
              <a:stCxn id="11" idx="2"/>
              <a:endCxn id="12" idx="3"/>
            </p:cNvCxnSpPr>
            <p:nvPr/>
          </p:nvCxnSpPr>
          <p:spPr>
            <a:xfrm rot="5400000">
              <a:off x="6579533" y="4405346"/>
              <a:ext cx="599379" cy="754248"/>
            </a:xfrm>
            <a:prstGeom prst="curvedConnector2">
              <a:avLst/>
            </a:prstGeom>
            <a:ln w="28575">
              <a:headEnd type="none" w="med" len="med"/>
              <a:tailEnd type="triangle" w="lg" len="lg"/>
            </a:ln>
          </p:spPr>
          <p:style>
            <a:lnRef idx="3">
              <a:schemeClr val="accent1"/>
            </a:lnRef>
            <a:fillRef idx="0">
              <a:schemeClr val="accent1"/>
            </a:fillRef>
            <a:effectRef idx="2">
              <a:schemeClr val="accent1"/>
            </a:effectRef>
            <a:fontRef idx="minor">
              <a:schemeClr val="tx1"/>
            </a:fontRef>
          </p:style>
        </p:cxnSp>
        <p:cxnSp>
          <p:nvCxnSpPr>
            <p:cNvPr id="47" name="连接符: 曲线 46">
              <a:extLst>
                <a:ext uri="{FF2B5EF4-FFF2-40B4-BE49-F238E27FC236}">
                  <a16:creationId xmlns:a16="http://schemas.microsoft.com/office/drawing/2014/main" id="{F8E31819-7A67-4551-8886-4F9493214DAD}"/>
                </a:ext>
              </a:extLst>
            </p:cNvPr>
            <p:cNvCxnSpPr>
              <a:cxnSpLocks/>
              <a:stCxn id="23" idx="6"/>
              <a:endCxn id="11" idx="0"/>
            </p:cNvCxnSpPr>
            <p:nvPr/>
          </p:nvCxnSpPr>
          <p:spPr>
            <a:xfrm>
              <a:off x="6248859" y="3093807"/>
              <a:ext cx="1007487" cy="704974"/>
            </a:xfrm>
            <a:prstGeom prst="curvedConnector2">
              <a:avLst/>
            </a:prstGeom>
            <a:ln w="28575">
              <a:headEnd type="none" w="med" len="med"/>
              <a:tailEnd type="triangle" w="lg" len="lg"/>
            </a:ln>
          </p:spPr>
          <p:style>
            <a:lnRef idx="3">
              <a:schemeClr val="accent1"/>
            </a:lnRef>
            <a:fillRef idx="0">
              <a:schemeClr val="accent1"/>
            </a:fillRef>
            <a:effectRef idx="2">
              <a:schemeClr val="accent1"/>
            </a:effectRef>
            <a:fontRef idx="minor">
              <a:schemeClr val="tx1"/>
            </a:fontRef>
          </p:style>
        </p:cxnSp>
        <p:sp>
          <p:nvSpPr>
            <p:cNvPr id="128" name="矩形 127">
              <a:extLst>
                <a:ext uri="{FF2B5EF4-FFF2-40B4-BE49-F238E27FC236}">
                  <a16:creationId xmlns:a16="http://schemas.microsoft.com/office/drawing/2014/main" id="{887A2258-3822-485C-985E-6820BE720115}"/>
                </a:ext>
              </a:extLst>
            </p:cNvPr>
            <p:cNvSpPr/>
            <p:nvPr/>
          </p:nvSpPr>
          <p:spPr>
            <a:xfrm>
              <a:off x="4780825" y="5627822"/>
              <a:ext cx="646331" cy="369332"/>
            </a:xfrm>
            <a:prstGeom prst="rect">
              <a:avLst/>
            </a:prstGeom>
          </p:spPr>
          <p:txBody>
            <a:bodyPr wrap="none">
              <a:spAutoFit/>
            </a:bodyPr>
            <a:lstStyle/>
            <a:p>
              <a:pPr algn="ctr"/>
              <a:r>
                <a:rPr lang="zh-CN" altLang="en-US" dirty="0">
                  <a:latin typeface="Monaco" panose="020B0509030404040204" pitchFamily="49" charset="0"/>
                  <a:ea typeface="思源黑体 CN Bold" panose="020B0800000000000000" pitchFamily="34" charset="-122"/>
                </a:rPr>
                <a:t>更新</a:t>
              </a:r>
              <a:endParaRPr lang="zh-CN" altLang="en-US" dirty="0"/>
            </a:p>
          </p:txBody>
        </p:sp>
        <p:sp>
          <p:nvSpPr>
            <p:cNvPr id="129" name="矩形 128">
              <a:extLst>
                <a:ext uri="{FF2B5EF4-FFF2-40B4-BE49-F238E27FC236}">
                  <a16:creationId xmlns:a16="http://schemas.microsoft.com/office/drawing/2014/main" id="{15B23C7B-AB50-4C4A-9DB5-FC80B54BE3F6}"/>
                </a:ext>
              </a:extLst>
            </p:cNvPr>
            <p:cNvSpPr/>
            <p:nvPr/>
          </p:nvSpPr>
          <p:spPr>
            <a:xfrm>
              <a:off x="4866743" y="3761034"/>
              <a:ext cx="646332" cy="369332"/>
            </a:xfrm>
            <a:prstGeom prst="rect">
              <a:avLst/>
            </a:prstGeom>
          </p:spPr>
          <p:txBody>
            <a:bodyPr wrap="none">
              <a:spAutoFit/>
            </a:bodyPr>
            <a:lstStyle/>
            <a:p>
              <a:pPr algn="ctr"/>
              <a:r>
                <a:rPr lang="zh-CN" altLang="en-US" dirty="0">
                  <a:latin typeface="Monaco" panose="020B0509030404040204" pitchFamily="49" charset="0"/>
                  <a:ea typeface="思源黑体 CN Bold" panose="020B0800000000000000" pitchFamily="34" charset="-122"/>
                </a:rPr>
                <a:t>预测</a:t>
              </a:r>
              <a:endParaRPr lang="zh-CN" altLang="en-US" dirty="0"/>
            </a:p>
          </p:txBody>
        </p:sp>
        <p:sp>
          <p:nvSpPr>
            <p:cNvPr id="130" name="矩形 129">
              <a:extLst>
                <a:ext uri="{FF2B5EF4-FFF2-40B4-BE49-F238E27FC236}">
                  <a16:creationId xmlns:a16="http://schemas.microsoft.com/office/drawing/2014/main" id="{76987716-353E-4B83-A46E-FE1F191CDDF4}"/>
                </a:ext>
              </a:extLst>
            </p:cNvPr>
            <p:cNvSpPr/>
            <p:nvPr/>
          </p:nvSpPr>
          <p:spPr>
            <a:xfrm>
              <a:off x="6743416" y="2801317"/>
              <a:ext cx="646331" cy="369332"/>
            </a:xfrm>
            <a:prstGeom prst="rect">
              <a:avLst/>
            </a:prstGeom>
          </p:spPr>
          <p:txBody>
            <a:bodyPr wrap="none">
              <a:spAutoFit/>
            </a:bodyPr>
            <a:lstStyle/>
            <a:p>
              <a:pPr algn="ctr"/>
              <a:r>
                <a:rPr lang="zh-CN" altLang="en-US" dirty="0">
                  <a:latin typeface="Monaco" panose="020B0509030404040204" pitchFamily="49" charset="0"/>
                  <a:ea typeface="思源黑体 CN Bold" panose="020B0800000000000000" pitchFamily="34" charset="-122"/>
                </a:rPr>
                <a:t>对比</a:t>
              </a:r>
              <a:endParaRPr lang="zh-CN" altLang="en-US" dirty="0"/>
            </a:p>
          </p:txBody>
        </p:sp>
      </p:grpSp>
      <p:sp>
        <p:nvSpPr>
          <p:cNvPr id="60" name="标题 1">
            <a:extLst>
              <a:ext uri="{FF2B5EF4-FFF2-40B4-BE49-F238E27FC236}">
                <a16:creationId xmlns:a16="http://schemas.microsoft.com/office/drawing/2014/main" id="{05D49D0B-AA16-4041-96D2-FCE76540C926}"/>
              </a:ext>
            </a:extLst>
          </p:cNvPr>
          <p:cNvSpPr txBox="1">
            <a:spLocks/>
          </p:cNvSpPr>
          <p:nvPr/>
        </p:nvSpPr>
        <p:spPr>
          <a:xfrm>
            <a:off x="386661" y="163499"/>
            <a:ext cx="6907638" cy="56258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600">
                <a:latin typeface="思源黑体 CN Bold" panose="020B0800000000000000" pitchFamily="34" charset="-122"/>
                <a:ea typeface="思源黑体 CN Bold" panose="020B0800000000000000" pitchFamily="34" charset="-122"/>
              </a:rPr>
              <a:t>4 </a:t>
            </a:r>
            <a:r>
              <a:rPr lang="zh-CN" altLang="en-US" sz="3600">
                <a:latin typeface="思源黑体 CN Bold" panose="020B0800000000000000" pitchFamily="34" charset="-122"/>
                <a:ea typeface="思源黑体 CN Bold" panose="020B0800000000000000" pitchFamily="34" charset="-122"/>
              </a:rPr>
              <a:t>误差后向传播：流程图</a:t>
            </a:r>
            <a:endParaRPr lang="zh-CN" altLang="en-US" sz="3600" dirty="0"/>
          </a:p>
        </p:txBody>
      </p:sp>
      <p:sp>
        <p:nvSpPr>
          <p:cNvPr id="61" name="矩形 60">
            <a:extLst>
              <a:ext uri="{FF2B5EF4-FFF2-40B4-BE49-F238E27FC236}">
                <a16:creationId xmlns:a16="http://schemas.microsoft.com/office/drawing/2014/main" id="{337F890D-0AC6-4A89-830A-76BE8994A358}"/>
              </a:ext>
            </a:extLst>
          </p:cNvPr>
          <p:cNvSpPr/>
          <p:nvPr/>
        </p:nvSpPr>
        <p:spPr>
          <a:xfrm>
            <a:off x="2696091" y="5503510"/>
            <a:ext cx="7487844" cy="720000"/>
          </a:xfrm>
          <a:prstGeom prst="rect">
            <a:avLst/>
          </a:prstGeom>
        </p:spPr>
        <p:txBody>
          <a:bodyPr wrap="square" anchor="ctr" anchorCtr="0">
            <a:noAutofit/>
          </a:bodyPr>
          <a:lstStyle/>
          <a:p>
            <a:pPr algn="ctr"/>
            <a:r>
              <a:rPr lang="zh-CN" altLang="en-US" dirty="0">
                <a:latin typeface="Monaco" panose="020B0509030404040204" pitchFamily="49" charset="0"/>
                <a:ea typeface="思源黑体 CN Bold" panose="020B0800000000000000" pitchFamily="34" charset="-122"/>
              </a:rPr>
              <a:t>前向</a:t>
            </a:r>
            <a:r>
              <a:rPr lang="en-US" altLang="zh-CN" dirty="0">
                <a:latin typeface="Monaco" panose="020B0509030404040204" pitchFamily="49" charset="0"/>
                <a:ea typeface="思源黑体 CN Bold" panose="020B0800000000000000" pitchFamily="34" charset="-122"/>
              </a:rPr>
              <a:t>-&gt;</a:t>
            </a:r>
            <a:r>
              <a:rPr lang="zh-CN" altLang="en-US" dirty="0">
                <a:latin typeface="Monaco" panose="020B0509030404040204" pitchFamily="49" charset="0"/>
                <a:ea typeface="思源黑体 CN Bold" panose="020B0800000000000000" pitchFamily="34" charset="-122"/>
              </a:rPr>
              <a:t>后向</a:t>
            </a:r>
            <a:r>
              <a:rPr lang="en-US" altLang="zh-CN" dirty="0">
                <a:latin typeface="Monaco" panose="020B0509030404040204" pitchFamily="49" charset="0"/>
                <a:ea typeface="思源黑体 CN Bold" panose="020B0800000000000000" pitchFamily="34" charset="-122"/>
              </a:rPr>
              <a:t>-&gt;</a:t>
            </a:r>
            <a:r>
              <a:rPr lang="zh-CN" altLang="en-US" dirty="0">
                <a:latin typeface="Monaco" panose="020B0509030404040204" pitchFamily="49" charset="0"/>
                <a:ea typeface="思源黑体 CN Bold" panose="020B0800000000000000" pitchFamily="34" charset="-122"/>
              </a:rPr>
              <a:t>前向</a:t>
            </a:r>
            <a:r>
              <a:rPr lang="en-US" altLang="zh-CN" dirty="0">
                <a:latin typeface="Monaco" panose="020B0509030404040204" pitchFamily="49" charset="0"/>
                <a:ea typeface="思源黑体 CN Bold" panose="020B0800000000000000" pitchFamily="34" charset="-122"/>
              </a:rPr>
              <a:t>-&gt;</a:t>
            </a:r>
            <a:r>
              <a:rPr lang="zh-CN" altLang="en-US" dirty="0">
                <a:latin typeface="Monaco" panose="020B0509030404040204" pitchFamily="49" charset="0"/>
                <a:ea typeface="思源黑体 CN Bold" panose="020B0800000000000000" pitchFamily="34" charset="-122"/>
              </a:rPr>
              <a:t>后向</a:t>
            </a:r>
            <a:r>
              <a:rPr lang="en-US" altLang="zh-CN" dirty="0">
                <a:latin typeface="Monaco" panose="020B0509030404040204" pitchFamily="49" charset="0"/>
                <a:ea typeface="思源黑体 CN Bold" panose="020B0800000000000000" pitchFamily="34" charset="-122"/>
              </a:rPr>
              <a:t>-&gt;……-&gt;</a:t>
            </a:r>
            <a:r>
              <a:rPr lang="zh-CN" altLang="en-US" dirty="0">
                <a:latin typeface="Monaco" panose="020B0509030404040204" pitchFamily="49" charset="0"/>
                <a:ea typeface="思源黑体 CN Bold" panose="020B0800000000000000" pitchFamily="34" charset="-122"/>
              </a:rPr>
              <a:t>迭代进行，更新网络，完成训练。</a:t>
            </a:r>
            <a:endParaRPr lang="zh-CN" altLang="en-US" dirty="0"/>
          </a:p>
        </p:txBody>
      </p:sp>
    </p:spTree>
    <p:extLst>
      <p:ext uri="{BB962C8B-B14F-4D97-AF65-F5344CB8AC3E}">
        <p14:creationId xmlns:p14="http://schemas.microsoft.com/office/powerpoint/2010/main" val="35684514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E3A148-EFA3-401D-A7A8-A797B8652AFC}"/>
              </a:ext>
            </a:extLst>
          </p:cNvPr>
          <p:cNvSpPr>
            <a:spLocks noGrp="1"/>
          </p:cNvSpPr>
          <p:nvPr>
            <p:ph type="title" idx="4294967295"/>
          </p:nvPr>
        </p:nvSpPr>
        <p:spPr>
          <a:xfrm>
            <a:off x="397111" y="174149"/>
            <a:ext cx="7743629" cy="529894"/>
          </a:xfrm>
        </p:spPr>
        <p:txBody>
          <a:bodyPr>
            <a:noAutofit/>
          </a:bodyPr>
          <a:lstStyle/>
          <a:p>
            <a:r>
              <a:rPr lang="en-US" altLang="zh-CN" sz="3600" dirty="0">
                <a:latin typeface="思源黑体 CN Bold" panose="020B0800000000000000" pitchFamily="34" charset="-122"/>
                <a:ea typeface="思源黑体 CN Bold" panose="020B0800000000000000" pitchFamily="34" charset="-122"/>
              </a:rPr>
              <a:t>4 </a:t>
            </a:r>
            <a:r>
              <a:rPr lang="zh-CN" altLang="en-US" sz="3600" dirty="0">
                <a:latin typeface="思源黑体 CN Bold" panose="020B0800000000000000" pitchFamily="34" charset="-122"/>
                <a:ea typeface="思源黑体 CN Bold" panose="020B0800000000000000" pitchFamily="34" charset="-122"/>
              </a:rPr>
              <a:t>误差后向传播：</a:t>
            </a:r>
            <a:r>
              <a:rPr lang="zh-CN" altLang="en-US" sz="2800" dirty="0">
                <a:latin typeface="思源黑体 CN Bold" panose="020B0800000000000000" pitchFamily="34" charset="-122"/>
                <a:ea typeface="思源黑体 CN Bold" panose="020B0800000000000000" pitchFamily="34" charset="-122"/>
              </a:rPr>
              <a:t>数据前向计算矩阵形式</a:t>
            </a:r>
            <a:endParaRPr lang="zh-CN" altLang="en-US" sz="3600" dirty="0"/>
          </a:p>
        </p:txBody>
      </p:sp>
      <p:sp>
        <p:nvSpPr>
          <p:cNvPr id="3" name="内容占位符 2">
            <a:extLst>
              <a:ext uri="{FF2B5EF4-FFF2-40B4-BE49-F238E27FC236}">
                <a16:creationId xmlns:a16="http://schemas.microsoft.com/office/drawing/2014/main" id="{6A4149F5-D6BF-46AD-9E5A-1D24D5136263}"/>
              </a:ext>
            </a:extLst>
          </p:cNvPr>
          <p:cNvSpPr>
            <a:spLocks noGrp="1"/>
          </p:cNvSpPr>
          <p:nvPr>
            <p:ph idx="4294967295"/>
          </p:nvPr>
        </p:nvSpPr>
        <p:spPr>
          <a:xfrm>
            <a:off x="880188" y="1541349"/>
            <a:ext cx="10515600" cy="432913"/>
          </a:xfrm>
        </p:spPr>
        <p:txBody>
          <a:bodyPr>
            <a:normAutofit/>
          </a:bodyPr>
          <a:lstStyle/>
          <a:p>
            <a:r>
              <a:rPr lang="zh-CN" altLang="en-US" sz="1800" dirty="0">
                <a:latin typeface="思源黑体 CN Bold" panose="020B0800000000000000" pitchFamily="34" charset="-122"/>
                <a:ea typeface="思源黑体 CN Bold" panose="020B0800000000000000" pitchFamily="34" charset="-122"/>
              </a:rPr>
              <a:t>在实际计算中，矩阵形式可以更好的进行加速实现</a:t>
            </a:r>
            <a:endParaRPr lang="en-US" altLang="zh-CN" sz="1800" dirty="0">
              <a:latin typeface="思源黑体 CN Bold" panose="020B0800000000000000" pitchFamily="34" charset="-122"/>
              <a:ea typeface="思源黑体 CN Bold" panose="020B0800000000000000" pitchFamily="34" charset="-122"/>
            </a:endParaRPr>
          </a:p>
        </p:txBody>
      </p:sp>
      <p:grpSp>
        <p:nvGrpSpPr>
          <p:cNvPr id="31" name="组合 30">
            <a:extLst>
              <a:ext uri="{FF2B5EF4-FFF2-40B4-BE49-F238E27FC236}">
                <a16:creationId xmlns:a16="http://schemas.microsoft.com/office/drawing/2014/main" id="{404F884E-6F74-4687-BC9E-2A51A77095FF}"/>
              </a:ext>
            </a:extLst>
          </p:cNvPr>
          <p:cNvGrpSpPr/>
          <p:nvPr/>
        </p:nvGrpSpPr>
        <p:grpSpPr>
          <a:xfrm>
            <a:off x="1081065" y="1982893"/>
            <a:ext cx="6337235" cy="1677678"/>
            <a:chOff x="838200" y="3316377"/>
            <a:chExt cx="6337235" cy="1677678"/>
          </a:xfrm>
        </p:grpSpPr>
        <mc:AlternateContent xmlns:mc="http://schemas.openxmlformats.org/markup-compatibility/2006" xmlns:a14="http://schemas.microsoft.com/office/drawing/2010/main">
          <mc:Choice Requires="a14">
            <p:sp>
              <p:nvSpPr>
                <p:cNvPr id="21" name="矩形 20">
                  <a:extLst>
                    <a:ext uri="{FF2B5EF4-FFF2-40B4-BE49-F238E27FC236}">
                      <a16:creationId xmlns:a16="http://schemas.microsoft.com/office/drawing/2014/main" id="{7AC1B3FF-1B65-448E-8CEB-0B606A43D313}"/>
                    </a:ext>
                  </a:extLst>
                </p:cNvPr>
                <p:cNvSpPr/>
                <p:nvPr/>
              </p:nvSpPr>
              <p:spPr>
                <a:xfrm>
                  <a:off x="5388279" y="4092398"/>
                  <a:ext cx="1787156" cy="90165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𝑖</m:t>
                            </m:r>
                          </m:sub>
                        </m:sSub>
                        <m:r>
                          <a:rPr lang="en-US" altLang="zh-CN" i="1">
                            <a:latin typeface="Cambria Math" panose="02040503050406030204" pitchFamily="18" charset="0"/>
                          </a:rPr>
                          <m:t>=</m:t>
                        </m:r>
                        <m:nary>
                          <m:naryPr>
                            <m:chr m:val="∑"/>
                            <m:ctrlPr>
                              <a:rPr lang="en-US" altLang="zh-CN" i="1">
                                <a:latin typeface="Cambria Math" panose="02040503050406030204" pitchFamily="18" charset="0"/>
                              </a:rPr>
                            </m:ctrlPr>
                          </m:naryPr>
                          <m:sub>
                            <m:r>
                              <a:rPr lang="en-US" altLang="zh-CN" i="1">
                                <a:latin typeface="Cambria Math" panose="02040503050406030204" pitchFamily="18" charset="0"/>
                              </a:rPr>
                              <m:t>𝑝</m:t>
                            </m:r>
                            <m:r>
                              <a:rPr lang="en-US" altLang="zh-CN" i="1">
                                <a:latin typeface="Cambria Math" panose="02040503050406030204" pitchFamily="18" charset="0"/>
                              </a:rPr>
                              <m:t>=1</m:t>
                            </m:r>
                          </m:sub>
                          <m:sup>
                            <m:r>
                              <a:rPr lang="en-US" altLang="zh-CN" i="1">
                                <a:latin typeface="Cambria Math" panose="02040503050406030204" pitchFamily="18" charset="0"/>
                              </a:rPr>
                              <m:t>𝑃</m:t>
                            </m:r>
                          </m:sup>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i="1">
                                    <a:latin typeface="Cambria Math" panose="02040503050406030204" pitchFamily="18" charset="0"/>
                                  </a:rPr>
                                  <m:t>𝑖𝑝</m:t>
                                </m:r>
                              </m:sub>
                              <m:sup>
                                <m:d>
                                  <m:dPr>
                                    <m:ctrlPr>
                                      <a:rPr lang="en-US" altLang="zh-CN" b="1" i="1">
                                        <a:latin typeface="Cambria Math" panose="02040503050406030204" pitchFamily="18" charset="0"/>
                                      </a:rPr>
                                    </m:ctrlPr>
                                  </m:dPr>
                                  <m:e>
                                    <m:r>
                                      <a:rPr lang="en-US" altLang="zh-CN" b="0" i="1" smtClean="0">
                                        <a:latin typeface="Cambria Math" panose="02040503050406030204" pitchFamily="18" charset="0"/>
                                      </a:rPr>
                                      <m:t>0</m:t>
                                    </m:r>
                                  </m:e>
                                </m:d>
                              </m:sup>
                            </m:sSubSup>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𝑝</m:t>
                                </m:r>
                              </m:sub>
                            </m:sSub>
                          </m:e>
                        </m:nary>
                      </m:oMath>
                    </m:oMathPara>
                  </a14:m>
                  <a:endParaRPr lang="zh-CN" altLang="en-US" dirty="0"/>
                </a:p>
              </p:txBody>
            </p:sp>
          </mc:Choice>
          <mc:Fallback xmlns="">
            <p:sp>
              <p:nvSpPr>
                <p:cNvPr id="21" name="矩形 20">
                  <a:extLst>
                    <a:ext uri="{FF2B5EF4-FFF2-40B4-BE49-F238E27FC236}">
                      <a16:creationId xmlns:a16="http://schemas.microsoft.com/office/drawing/2014/main" id="{7AC1B3FF-1B65-448E-8CEB-0B606A43D313}"/>
                    </a:ext>
                  </a:extLst>
                </p:cNvPr>
                <p:cNvSpPr>
                  <a:spLocks noRot="1" noChangeAspect="1" noMove="1" noResize="1" noEditPoints="1" noAdjustHandles="1" noChangeArrowheads="1" noChangeShapeType="1" noTextEdit="1"/>
                </p:cNvSpPr>
                <p:nvPr/>
              </p:nvSpPr>
              <p:spPr>
                <a:xfrm>
                  <a:off x="5388279" y="4092398"/>
                  <a:ext cx="1787156" cy="901657"/>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矩形 21">
                  <a:extLst>
                    <a:ext uri="{FF2B5EF4-FFF2-40B4-BE49-F238E27FC236}">
                      <a16:creationId xmlns:a16="http://schemas.microsoft.com/office/drawing/2014/main" id="{6250BF8F-3AB7-456C-8C41-351BB5C39A1C}"/>
                    </a:ext>
                  </a:extLst>
                </p:cNvPr>
                <p:cNvSpPr/>
                <p:nvPr/>
              </p:nvSpPr>
              <p:spPr>
                <a:xfrm>
                  <a:off x="838200" y="3316377"/>
                  <a:ext cx="212686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i="1">
                                <a:latin typeface="Cambria Math" panose="02040503050406030204" pitchFamily="18" charset="0"/>
                              </a:rPr>
                              <m:t>𝑘</m:t>
                            </m:r>
                          </m:sub>
                        </m:sSub>
                        <m:r>
                          <a:rPr lang="en-US" altLang="zh-CN" i="1">
                            <a:latin typeface="Cambria Math" panose="02040503050406030204" pitchFamily="18" charset="0"/>
                          </a:rPr>
                          <m:t>=</m:t>
                        </m:r>
                        <m:r>
                          <a:rPr lang="en-US" altLang="zh-CN" i="1">
                            <a:latin typeface="Cambria Math" panose="02040503050406030204" pitchFamily="18" charset="0"/>
                          </a:rPr>
                          <m:t>𝑠𝑜𝑓𝑡𝑚𝑎𝑥</m:t>
                        </m:r>
                        <m:d>
                          <m:dPr>
                            <m:ctrlPr>
                              <a:rPr lang="en-US" altLang="zh-CN" i="1">
                                <a:latin typeface="Cambria Math" panose="02040503050406030204" pitchFamily="18" charset="0"/>
                              </a:rPr>
                            </m:ctrlPr>
                          </m:dPr>
                          <m:e>
                            <m:sSub>
                              <m:sSubPr>
                                <m:ctrlPr>
                                  <a:rPr lang="en-US" altLang="zh-CN" b="1"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𝑘</m:t>
                                </m:r>
                              </m:sub>
                            </m:sSub>
                          </m:e>
                        </m:d>
                      </m:oMath>
                    </m:oMathPara>
                  </a14:m>
                  <a:endParaRPr lang="zh-CN" altLang="en-US" dirty="0"/>
                </a:p>
              </p:txBody>
            </p:sp>
          </mc:Choice>
          <mc:Fallback xmlns="">
            <p:sp>
              <p:nvSpPr>
                <p:cNvPr id="22" name="矩形 21">
                  <a:extLst>
                    <a:ext uri="{FF2B5EF4-FFF2-40B4-BE49-F238E27FC236}">
                      <a16:creationId xmlns:a16="http://schemas.microsoft.com/office/drawing/2014/main" id="{6250BF8F-3AB7-456C-8C41-351BB5C39A1C}"/>
                    </a:ext>
                  </a:extLst>
                </p:cNvPr>
                <p:cNvSpPr>
                  <a:spLocks noRot="1" noChangeAspect="1" noMove="1" noResize="1" noEditPoints="1" noAdjustHandles="1" noChangeArrowheads="1" noChangeShapeType="1" noTextEdit="1"/>
                </p:cNvSpPr>
                <p:nvPr/>
              </p:nvSpPr>
              <p:spPr>
                <a:xfrm>
                  <a:off x="838200" y="3316377"/>
                  <a:ext cx="2126864" cy="369332"/>
                </a:xfrm>
                <a:prstGeom prst="rect">
                  <a:avLst/>
                </a:prstGeom>
                <a:blipFill>
                  <a:blip r:embed="rId3"/>
                  <a:stretch>
                    <a:fillRect b="-131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矩形 22">
                  <a:extLst>
                    <a:ext uri="{FF2B5EF4-FFF2-40B4-BE49-F238E27FC236}">
                      <a16:creationId xmlns:a16="http://schemas.microsoft.com/office/drawing/2014/main" id="{45E8A32E-99A7-4981-B776-6FB689FAA0E6}"/>
                    </a:ext>
                  </a:extLst>
                </p:cNvPr>
                <p:cNvSpPr/>
                <p:nvPr/>
              </p:nvSpPr>
              <p:spPr>
                <a:xfrm>
                  <a:off x="2351035" y="3398003"/>
                  <a:ext cx="2110706" cy="90255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𝑘</m:t>
                            </m:r>
                          </m:sub>
                        </m:sSub>
                        <m:r>
                          <a:rPr lang="en-US" altLang="zh-CN" i="1">
                            <a:latin typeface="Cambria Math" panose="02040503050406030204" pitchFamily="18" charset="0"/>
                          </a:rPr>
                          <m:t>=</m:t>
                        </m:r>
                        <m:nary>
                          <m:naryPr>
                            <m:chr m:val="∑"/>
                            <m:ctrlPr>
                              <a:rPr lang="en-US" altLang="zh-CN" i="1">
                                <a:latin typeface="Cambria Math" panose="02040503050406030204" pitchFamily="18" charset="0"/>
                              </a:rPr>
                            </m:ctrlPr>
                          </m:naryPr>
                          <m:sub>
                            <m:r>
                              <a:rPr lang="en-US" altLang="zh-CN" b="0" i="1" smtClean="0">
                                <a:latin typeface="Cambria Math" panose="02040503050406030204" pitchFamily="18" charset="0"/>
                              </a:rPr>
                              <m:t>𝑗</m:t>
                            </m:r>
                            <m:r>
                              <a:rPr lang="en-US" altLang="zh-CN" i="1">
                                <a:latin typeface="Cambria Math" panose="02040503050406030204" pitchFamily="18" charset="0"/>
                              </a:rPr>
                              <m:t>=1</m:t>
                            </m:r>
                          </m:sub>
                          <m:sup>
                            <m:r>
                              <a:rPr lang="en-US" altLang="zh-CN" b="0" i="1" smtClean="0">
                                <a:latin typeface="Cambria Math" panose="02040503050406030204" pitchFamily="18" charset="0"/>
                              </a:rPr>
                              <m:t>𝑀</m:t>
                            </m:r>
                          </m:sup>
                          <m:e>
                            <m:sSubSup>
                              <m:sSubSupPr>
                                <m:ctrlPr>
                                  <a:rPr lang="en-US" altLang="zh-CN" i="1" smtClean="0">
                                    <a:latin typeface="Cambria Math" panose="02040503050406030204" pitchFamily="18" charset="0"/>
                                  </a:rPr>
                                </m:ctrlPr>
                              </m:sSubSupPr>
                              <m:e>
                                <m:r>
                                  <a:rPr lang="en-US" altLang="zh-CN" i="1">
                                    <a:latin typeface="Cambria Math" panose="02040503050406030204" pitchFamily="18" charset="0"/>
                                  </a:rPr>
                                  <m:t>𝑤</m:t>
                                </m:r>
                              </m:e>
                              <m:sub>
                                <m:r>
                                  <a:rPr lang="en-US" altLang="zh-CN" b="0" i="1" smtClean="0">
                                    <a:latin typeface="Cambria Math" panose="02040503050406030204" pitchFamily="18" charset="0"/>
                                  </a:rPr>
                                  <m:t>𝑘𝑗</m:t>
                                </m:r>
                              </m:sub>
                              <m:sup>
                                <m:d>
                                  <m:dPr>
                                    <m:ctrlPr>
                                      <a:rPr lang="en-US" altLang="zh-CN" b="1" i="1">
                                        <a:latin typeface="Cambria Math" panose="02040503050406030204" pitchFamily="18" charset="0"/>
                                      </a:rPr>
                                    </m:ctrlPr>
                                  </m:dPr>
                                  <m:e>
                                    <m:r>
                                      <a:rPr lang="en-US" altLang="zh-CN" b="0" i="1" smtClean="0">
                                        <a:latin typeface="Cambria Math" panose="02040503050406030204" pitchFamily="18" charset="0"/>
                                      </a:rPr>
                                      <m:t>2</m:t>
                                    </m:r>
                                  </m:e>
                                </m:d>
                              </m:sup>
                            </m:sSubSup>
                            <m:r>
                              <a:rPr lang="en-US" altLang="zh-CN" b="0" i="1" smtClean="0">
                                <a:latin typeface="Cambria Math" panose="02040503050406030204" pitchFamily="18" charset="0"/>
                              </a:rPr>
                              <m:t>h</m:t>
                            </m:r>
                            <m:d>
                              <m:dPr>
                                <m:ctrlPr>
                                  <a:rPr lang="en-US" altLang="zh-CN" b="0" i="1" smtClean="0">
                                    <a:latin typeface="Cambria Math" panose="02040503050406030204" pitchFamily="18" charset="0"/>
                                  </a:rPr>
                                </m:ctrlPr>
                              </m:dPr>
                              <m:e>
                                <m:sSub>
                                  <m:sSubPr>
                                    <m:ctrlPr>
                                      <a:rPr lang="en-US" altLang="zh-CN" b="1" i="1">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𝑗</m:t>
                                    </m:r>
                                  </m:sub>
                                </m:sSub>
                              </m:e>
                            </m:d>
                          </m:e>
                        </m:nary>
                      </m:oMath>
                    </m:oMathPara>
                  </a14:m>
                  <a:endParaRPr lang="zh-CN" altLang="en-US" dirty="0"/>
                </a:p>
              </p:txBody>
            </p:sp>
          </mc:Choice>
          <mc:Fallback xmlns="">
            <p:sp>
              <p:nvSpPr>
                <p:cNvPr id="23" name="矩形 22">
                  <a:extLst>
                    <a:ext uri="{FF2B5EF4-FFF2-40B4-BE49-F238E27FC236}">
                      <a16:creationId xmlns:a16="http://schemas.microsoft.com/office/drawing/2014/main" id="{45E8A32E-99A7-4981-B776-6FB689FAA0E6}"/>
                    </a:ext>
                  </a:extLst>
                </p:cNvPr>
                <p:cNvSpPr>
                  <a:spLocks noRot="1" noChangeAspect="1" noMove="1" noResize="1" noEditPoints="1" noAdjustHandles="1" noChangeArrowheads="1" noChangeShapeType="1" noTextEdit="1"/>
                </p:cNvSpPr>
                <p:nvPr/>
              </p:nvSpPr>
              <p:spPr>
                <a:xfrm>
                  <a:off x="2351035" y="3398003"/>
                  <a:ext cx="2110706" cy="902555"/>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矩形 23">
                  <a:extLst>
                    <a:ext uri="{FF2B5EF4-FFF2-40B4-BE49-F238E27FC236}">
                      <a16:creationId xmlns:a16="http://schemas.microsoft.com/office/drawing/2014/main" id="{408755DC-3883-4F23-BDAE-281EF1CCF5CB}"/>
                    </a:ext>
                  </a:extLst>
                </p:cNvPr>
                <p:cNvSpPr/>
                <p:nvPr/>
              </p:nvSpPr>
              <p:spPr>
                <a:xfrm>
                  <a:off x="3881095" y="3756405"/>
                  <a:ext cx="2099293" cy="87126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solidFill>
                                  <a:srgbClr val="FF0000"/>
                                </a:solidFill>
                                <a:latin typeface="Cambria Math" panose="02040503050406030204" pitchFamily="18" charset="0"/>
                              </a:rPr>
                            </m:ctrlPr>
                          </m:sSubPr>
                          <m:e>
                            <m:r>
                              <a:rPr lang="en-US" altLang="zh-CN" i="1">
                                <a:solidFill>
                                  <a:srgbClr val="FF0000"/>
                                </a:solidFill>
                                <a:latin typeface="Cambria Math" panose="02040503050406030204" pitchFamily="18" charset="0"/>
                              </a:rPr>
                              <m:t>𝑎</m:t>
                            </m:r>
                          </m:e>
                          <m:sub>
                            <m:r>
                              <a:rPr lang="en-US" altLang="zh-CN" b="0" i="1" smtClean="0">
                                <a:solidFill>
                                  <a:srgbClr val="FF0000"/>
                                </a:solidFill>
                                <a:latin typeface="Cambria Math" panose="02040503050406030204" pitchFamily="18" charset="0"/>
                              </a:rPr>
                              <m:t>𝑗</m:t>
                            </m:r>
                          </m:sub>
                        </m:sSub>
                        <m:r>
                          <a:rPr lang="en-US" altLang="zh-CN" i="1">
                            <a:solidFill>
                              <a:srgbClr val="FF0000"/>
                            </a:solidFill>
                            <a:latin typeface="Cambria Math" panose="02040503050406030204" pitchFamily="18" charset="0"/>
                          </a:rPr>
                          <m:t>=</m:t>
                        </m:r>
                        <m:nary>
                          <m:naryPr>
                            <m:chr m:val="∑"/>
                            <m:ctrlPr>
                              <a:rPr lang="en-US" altLang="zh-CN" i="1">
                                <a:solidFill>
                                  <a:srgbClr val="FF0000"/>
                                </a:solidFill>
                                <a:latin typeface="Cambria Math" panose="02040503050406030204" pitchFamily="18" charset="0"/>
                              </a:rPr>
                            </m:ctrlPr>
                          </m:naryPr>
                          <m:sub>
                            <m:r>
                              <a:rPr lang="en-US" altLang="zh-CN" i="1">
                                <a:solidFill>
                                  <a:srgbClr val="FF0000"/>
                                </a:solidFill>
                                <a:latin typeface="Cambria Math" panose="02040503050406030204" pitchFamily="18" charset="0"/>
                              </a:rPr>
                              <m:t>𝑖</m:t>
                            </m:r>
                            <m:r>
                              <a:rPr lang="en-US" altLang="zh-CN" i="1">
                                <a:solidFill>
                                  <a:srgbClr val="FF0000"/>
                                </a:solidFill>
                                <a:latin typeface="Cambria Math" panose="02040503050406030204" pitchFamily="18" charset="0"/>
                              </a:rPr>
                              <m:t>=1</m:t>
                            </m:r>
                          </m:sub>
                          <m:sup>
                            <m:r>
                              <a:rPr lang="en-US" altLang="zh-CN" i="1">
                                <a:solidFill>
                                  <a:srgbClr val="FF0000"/>
                                </a:solidFill>
                                <a:latin typeface="Cambria Math" panose="02040503050406030204" pitchFamily="18" charset="0"/>
                              </a:rPr>
                              <m:t>𝐷</m:t>
                            </m:r>
                          </m:sup>
                          <m:e>
                            <m:sSubSup>
                              <m:sSubSupPr>
                                <m:ctrlPr>
                                  <a:rPr lang="en-US" altLang="zh-CN" i="1">
                                    <a:solidFill>
                                      <a:srgbClr val="FF0000"/>
                                    </a:solidFill>
                                    <a:latin typeface="Cambria Math" panose="02040503050406030204" pitchFamily="18" charset="0"/>
                                  </a:rPr>
                                </m:ctrlPr>
                              </m:sSubSupPr>
                              <m:e>
                                <m:r>
                                  <a:rPr lang="en-US" altLang="zh-CN" i="1">
                                    <a:solidFill>
                                      <a:srgbClr val="FF0000"/>
                                    </a:solidFill>
                                    <a:latin typeface="Cambria Math" panose="02040503050406030204" pitchFamily="18" charset="0"/>
                                  </a:rPr>
                                  <m:t>𝑤</m:t>
                                </m:r>
                              </m:e>
                              <m:sub>
                                <m:r>
                                  <a:rPr lang="en-US" altLang="zh-CN" i="1">
                                    <a:solidFill>
                                      <a:srgbClr val="FF0000"/>
                                    </a:solidFill>
                                    <a:latin typeface="Cambria Math" panose="02040503050406030204" pitchFamily="18" charset="0"/>
                                  </a:rPr>
                                  <m:t>𝑗𝑖</m:t>
                                </m:r>
                              </m:sub>
                              <m:sup>
                                <m:d>
                                  <m:dPr>
                                    <m:ctrlPr>
                                      <a:rPr lang="en-US" altLang="zh-CN" b="1" i="1">
                                        <a:solidFill>
                                          <a:srgbClr val="FF0000"/>
                                        </a:solidFill>
                                        <a:latin typeface="Cambria Math" panose="02040503050406030204" pitchFamily="18" charset="0"/>
                                      </a:rPr>
                                    </m:ctrlPr>
                                  </m:dPr>
                                  <m:e>
                                    <m:r>
                                      <a:rPr lang="en-US" altLang="zh-CN" i="1">
                                        <a:solidFill>
                                          <a:srgbClr val="FF0000"/>
                                        </a:solidFill>
                                        <a:latin typeface="Cambria Math" panose="02040503050406030204" pitchFamily="18" charset="0"/>
                                      </a:rPr>
                                      <m:t>1</m:t>
                                    </m:r>
                                  </m:e>
                                </m:d>
                              </m:sup>
                            </m:sSubSup>
                            <m:r>
                              <a:rPr lang="en-US" altLang="zh-CN" i="1">
                                <a:solidFill>
                                  <a:srgbClr val="FF0000"/>
                                </a:solidFill>
                                <a:latin typeface="Cambria Math" panose="02040503050406030204" pitchFamily="18" charset="0"/>
                              </a:rPr>
                              <m:t>h</m:t>
                            </m:r>
                            <m:d>
                              <m:dPr>
                                <m:ctrlPr>
                                  <a:rPr lang="en-US" altLang="zh-CN" b="1" i="1">
                                    <a:solidFill>
                                      <a:srgbClr val="FF0000"/>
                                    </a:solidFill>
                                    <a:latin typeface="Cambria Math" panose="02040503050406030204" pitchFamily="18" charset="0"/>
                                  </a:rPr>
                                </m:ctrlPr>
                              </m:dPr>
                              <m:e>
                                <m:sSub>
                                  <m:sSubPr>
                                    <m:ctrlPr>
                                      <a:rPr lang="en-US" altLang="zh-CN" b="1" i="1">
                                        <a:solidFill>
                                          <a:srgbClr val="FF0000"/>
                                        </a:solidFill>
                                        <a:latin typeface="Cambria Math" panose="02040503050406030204" pitchFamily="18" charset="0"/>
                                      </a:rPr>
                                    </m:ctrlPr>
                                  </m:sSubPr>
                                  <m:e>
                                    <m:r>
                                      <a:rPr lang="en-US" altLang="zh-CN" i="1">
                                        <a:solidFill>
                                          <a:srgbClr val="FF0000"/>
                                        </a:solidFill>
                                        <a:latin typeface="Cambria Math" panose="02040503050406030204" pitchFamily="18" charset="0"/>
                                      </a:rPr>
                                      <m:t>𝑎</m:t>
                                    </m:r>
                                  </m:e>
                                  <m:sub>
                                    <m:r>
                                      <a:rPr lang="en-US" altLang="zh-CN" b="0" i="1" smtClean="0">
                                        <a:solidFill>
                                          <a:srgbClr val="FF0000"/>
                                        </a:solidFill>
                                        <a:latin typeface="Cambria Math" panose="02040503050406030204" pitchFamily="18" charset="0"/>
                                      </a:rPr>
                                      <m:t>𝑖</m:t>
                                    </m:r>
                                  </m:sub>
                                </m:sSub>
                              </m:e>
                            </m:d>
                          </m:e>
                        </m:nary>
                      </m:oMath>
                    </m:oMathPara>
                  </a14:m>
                  <a:endParaRPr lang="zh-CN" altLang="en-US" dirty="0"/>
                </a:p>
              </p:txBody>
            </p:sp>
          </mc:Choice>
          <mc:Fallback xmlns="">
            <p:sp>
              <p:nvSpPr>
                <p:cNvPr id="24" name="矩形 23">
                  <a:extLst>
                    <a:ext uri="{FF2B5EF4-FFF2-40B4-BE49-F238E27FC236}">
                      <a16:creationId xmlns:a16="http://schemas.microsoft.com/office/drawing/2014/main" id="{408755DC-3883-4F23-BDAE-281EF1CCF5CB}"/>
                    </a:ext>
                  </a:extLst>
                </p:cNvPr>
                <p:cNvSpPr>
                  <a:spLocks noRot="1" noChangeAspect="1" noMove="1" noResize="1" noEditPoints="1" noAdjustHandles="1" noChangeArrowheads="1" noChangeShapeType="1" noTextEdit="1"/>
                </p:cNvSpPr>
                <p:nvPr/>
              </p:nvSpPr>
              <p:spPr>
                <a:xfrm>
                  <a:off x="3881095" y="3756405"/>
                  <a:ext cx="2099293" cy="871264"/>
                </a:xfrm>
                <a:prstGeom prst="rect">
                  <a:avLst/>
                </a:prstGeom>
                <a:blipFill>
                  <a:blip r:embed="rId5"/>
                  <a:stretch>
                    <a:fillRect/>
                  </a:stretch>
                </a:blipFill>
              </p:spPr>
              <p:txBody>
                <a:bodyPr/>
                <a:lstStyle/>
                <a:p>
                  <a:r>
                    <a:rPr lang="zh-CN" altLang="en-US">
                      <a:noFill/>
                    </a:rPr>
                    <a:t> </a:t>
                  </a:r>
                </a:p>
              </p:txBody>
            </p:sp>
          </mc:Fallback>
        </mc:AlternateContent>
        <p:sp>
          <p:nvSpPr>
            <p:cNvPr id="25" name="矩形 24">
              <a:extLst>
                <a:ext uri="{FF2B5EF4-FFF2-40B4-BE49-F238E27FC236}">
                  <a16:creationId xmlns:a16="http://schemas.microsoft.com/office/drawing/2014/main" id="{DCAF0D3E-371F-4D29-A94B-86B6DD12A73B}"/>
                </a:ext>
              </a:extLst>
            </p:cNvPr>
            <p:cNvSpPr/>
            <p:nvPr/>
          </p:nvSpPr>
          <p:spPr>
            <a:xfrm>
              <a:off x="2485843" y="3357244"/>
              <a:ext cx="252000" cy="666917"/>
            </a:xfrm>
            <a:prstGeom prst="rect">
              <a:avLst/>
            </a:prstGeom>
            <a:ln w="12700">
              <a:solidFill>
                <a:srgbClr val="0070C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6" name="矩形 25">
              <a:extLst>
                <a:ext uri="{FF2B5EF4-FFF2-40B4-BE49-F238E27FC236}">
                  <a16:creationId xmlns:a16="http://schemas.microsoft.com/office/drawing/2014/main" id="{779F0C00-1500-499A-9837-59DDB00B1274}"/>
                </a:ext>
              </a:extLst>
            </p:cNvPr>
            <p:cNvSpPr/>
            <p:nvPr/>
          </p:nvSpPr>
          <p:spPr>
            <a:xfrm>
              <a:off x="4008351" y="3710554"/>
              <a:ext cx="252000" cy="666917"/>
            </a:xfrm>
            <a:prstGeom prst="rect">
              <a:avLst/>
            </a:prstGeom>
            <a:ln w="12700">
              <a:solidFill>
                <a:srgbClr val="0070C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7" name="矩形 26">
              <a:extLst>
                <a:ext uri="{FF2B5EF4-FFF2-40B4-BE49-F238E27FC236}">
                  <a16:creationId xmlns:a16="http://schemas.microsoft.com/office/drawing/2014/main" id="{1C764326-D19F-41EF-85BB-DFC2317524A9}"/>
                </a:ext>
              </a:extLst>
            </p:cNvPr>
            <p:cNvSpPr/>
            <p:nvPr/>
          </p:nvSpPr>
          <p:spPr>
            <a:xfrm>
              <a:off x="5509158" y="4054442"/>
              <a:ext cx="252000" cy="666917"/>
            </a:xfrm>
            <a:prstGeom prst="rect">
              <a:avLst/>
            </a:prstGeom>
            <a:ln w="12700">
              <a:solidFill>
                <a:srgbClr val="0070C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28" name="矩形 27">
                <a:extLst>
                  <a:ext uri="{FF2B5EF4-FFF2-40B4-BE49-F238E27FC236}">
                    <a16:creationId xmlns:a16="http://schemas.microsoft.com/office/drawing/2014/main" id="{5A712445-73D9-447E-9CB8-4CF8D9B9E4B3}"/>
                  </a:ext>
                </a:extLst>
              </p:cNvPr>
              <p:cNvSpPr/>
              <p:nvPr/>
            </p:nvSpPr>
            <p:spPr>
              <a:xfrm>
                <a:off x="157084" y="2627466"/>
                <a:ext cx="1653658" cy="1438279"/>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CN" b="1" i="1" smtClean="0">
                              <a:latin typeface="Cambria Math" panose="02040503050406030204" pitchFamily="18" charset="0"/>
                            </a:rPr>
                          </m:ctrlPr>
                        </m:sSupPr>
                        <m:e>
                          <m:r>
                            <a:rPr lang="en-US" altLang="zh-CN" b="1" i="0" smtClean="0">
                              <a:latin typeface="Cambria Math" panose="02040503050406030204" pitchFamily="18" charset="0"/>
                            </a:rPr>
                            <m:t>𝐚</m:t>
                          </m:r>
                        </m:e>
                        <m:sup>
                          <m:d>
                            <m:dPr>
                              <m:ctrlPr>
                                <a:rPr lang="en-US" altLang="zh-CN" i="1">
                                  <a:latin typeface="Cambria Math" panose="02040503050406030204" pitchFamily="18" charset="0"/>
                                </a:rPr>
                              </m:ctrlPr>
                            </m:dPr>
                            <m:e>
                              <m:r>
                                <a:rPr lang="en-US" altLang="zh-CN" b="0" i="1" smtClean="0">
                                  <a:latin typeface="Cambria Math" panose="02040503050406030204" pitchFamily="18" charset="0"/>
                                </a:rPr>
                                <m:t>2</m:t>
                              </m:r>
                            </m:e>
                          </m:d>
                        </m:sup>
                      </m:sSup>
                      <m:r>
                        <a:rPr lang="en-US" altLang="zh-CN" b="1" i="0" smtClean="0">
                          <a:latin typeface="Cambria Math" panose="02040503050406030204" pitchFamily="18" charset="0"/>
                        </a:rPr>
                        <m:t>=</m:t>
                      </m:r>
                      <m:d>
                        <m:dPr>
                          <m:ctrlPr>
                            <a:rPr lang="en-US" altLang="zh-CN" b="1" i="1" smtClean="0">
                              <a:latin typeface="Cambria Math" panose="02040503050406030204" pitchFamily="18" charset="0"/>
                            </a:rPr>
                          </m:ctrlPr>
                        </m:dPr>
                        <m:e>
                          <m:eqArr>
                            <m:eqArrPr>
                              <m:ctrlPr>
                                <a:rPr lang="en-US" altLang="zh-CN" i="1">
                                  <a:latin typeface="Cambria Math" panose="02040503050406030204" pitchFamily="18" charset="0"/>
                                </a:rPr>
                              </m:ctrlPr>
                            </m:eqArrPr>
                            <m:e>
                              <m:sSubSup>
                                <m:sSubSupPr>
                                  <m:ctrlPr>
                                    <a:rPr lang="en-US" altLang="zh-CN" i="1">
                                      <a:latin typeface="Cambria Math" panose="02040503050406030204" pitchFamily="18" charset="0"/>
                                    </a:rPr>
                                  </m:ctrlPr>
                                </m:sSubSupPr>
                                <m:e>
                                  <m:r>
                                    <a:rPr lang="en-US" altLang="zh-CN" b="0" i="1" smtClean="0">
                                      <a:latin typeface="Cambria Math" panose="02040503050406030204" pitchFamily="18" charset="0"/>
                                    </a:rPr>
                                    <m:t>𝑎</m:t>
                                  </m:r>
                                </m:e>
                                <m:sub>
                                  <m:r>
                                    <a:rPr lang="en-US" altLang="zh-CN" i="1">
                                      <a:latin typeface="Cambria Math" panose="02040503050406030204" pitchFamily="18" charset="0"/>
                                    </a:rPr>
                                    <m:t>1</m:t>
                                  </m:r>
                                </m:sub>
                                <m:sup>
                                  <m:d>
                                    <m:dPr>
                                      <m:ctrlPr>
                                        <a:rPr lang="en-US" altLang="zh-CN" i="1">
                                          <a:latin typeface="Cambria Math" panose="02040503050406030204" pitchFamily="18" charset="0"/>
                                        </a:rPr>
                                      </m:ctrlPr>
                                    </m:dPr>
                                    <m:e>
                                      <m:r>
                                        <a:rPr lang="en-US" altLang="zh-CN" b="0" i="1" smtClean="0">
                                          <a:latin typeface="Cambria Math" panose="02040503050406030204" pitchFamily="18" charset="0"/>
                                        </a:rPr>
                                        <m:t>2</m:t>
                                      </m:r>
                                    </m:e>
                                  </m:d>
                                </m:sup>
                              </m:sSubSup>
                            </m:e>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𝑎</m:t>
                                  </m:r>
                                </m:e>
                                <m:sub>
                                  <m:r>
                                    <a:rPr lang="en-US" altLang="zh-CN" b="0" i="1" smtClean="0">
                                      <a:latin typeface="Cambria Math" panose="02040503050406030204" pitchFamily="18" charset="0"/>
                                    </a:rPr>
                                    <m:t>2</m:t>
                                  </m:r>
                                </m:sub>
                                <m:sup>
                                  <m:d>
                                    <m:dPr>
                                      <m:ctrlPr>
                                        <a:rPr lang="en-US" altLang="zh-CN" i="1">
                                          <a:latin typeface="Cambria Math" panose="02040503050406030204" pitchFamily="18" charset="0"/>
                                        </a:rPr>
                                      </m:ctrlPr>
                                    </m:dPr>
                                    <m:e>
                                      <m:r>
                                        <a:rPr lang="en-US" altLang="zh-CN" i="1">
                                          <a:latin typeface="Cambria Math" panose="02040503050406030204" pitchFamily="18" charset="0"/>
                                        </a:rPr>
                                        <m:t>2</m:t>
                                      </m:r>
                                    </m:e>
                                  </m:d>
                                </m:sup>
                              </m:sSubSup>
                            </m:e>
                            <m:e>
                              <m:r>
                                <a:rPr lang="en-US" altLang="zh-CN" i="1" smtClean="0">
                                  <a:latin typeface="Cambria Math" panose="02040503050406030204" pitchFamily="18" charset="0"/>
                                </a:rPr>
                                <m:t>⋮</m:t>
                              </m:r>
                            </m:e>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𝑎</m:t>
                                  </m:r>
                                </m:e>
                                <m:sub>
                                  <m:r>
                                    <a:rPr lang="en-US" altLang="zh-CN" b="0" i="1" smtClean="0">
                                      <a:latin typeface="Cambria Math" panose="02040503050406030204" pitchFamily="18" charset="0"/>
                                    </a:rPr>
                                    <m:t>𝐾</m:t>
                                  </m:r>
                                </m:sub>
                                <m:sup>
                                  <m:d>
                                    <m:dPr>
                                      <m:ctrlPr>
                                        <a:rPr lang="en-US" altLang="zh-CN" i="1">
                                          <a:latin typeface="Cambria Math" panose="02040503050406030204" pitchFamily="18" charset="0"/>
                                        </a:rPr>
                                      </m:ctrlPr>
                                    </m:dPr>
                                    <m:e>
                                      <m:r>
                                        <a:rPr lang="en-US" altLang="zh-CN" i="1">
                                          <a:latin typeface="Cambria Math" panose="02040503050406030204" pitchFamily="18" charset="0"/>
                                        </a:rPr>
                                        <m:t>2</m:t>
                                      </m:r>
                                    </m:e>
                                  </m:d>
                                </m:sup>
                              </m:sSubSup>
                            </m:e>
                          </m:eqArr>
                        </m:e>
                      </m:d>
                    </m:oMath>
                  </m:oMathPara>
                </a14:m>
                <a:endParaRPr lang="zh-CN" altLang="en-US" dirty="0"/>
              </a:p>
            </p:txBody>
          </p:sp>
        </mc:Choice>
        <mc:Fallback xmlns="">
          <p:sp>
            <p:nvSpPr>
              <p:cNvPr id="28" name="矩形 27">
                <a:extLst>
                  <a:ext uri="{FF2B5EF4-FFF2-40B4-BE49-F238E27FC236}">
                    <a16:creationId xmlns:a16="http://schemas.microsoft.com/office/drawing/2014/main" id="{5A712445-73D9-447E-9CB8-4CF8D9B9E4B3}"/>
                  </a:ext>
                </a:extLst>
              </p:cNvPr>
              <p:cNvSpPr>
                <a:spLocks noRot="1" noChangeAspect="1" noMove="1" noResize="1" noEditPoints="1" noAdjustHandles="1" noChangeArrowheads="1" noChangeShapeType="1" noTextEdit="1"/>
              </p:cNvSpPr>
              <p:nvPr/>
            </p:nvSpPr>
            <p:spPr>
              <a:xfrm>
                <a:off x="157084" y="2627466"/>
                <a:ext cx="1653658" cy="1438279"/>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矩形 29">
                <a:extLst>
                  <a:ext uri="{FF2B5EF4-FFF2-40B4-BE49-F238E27FC236}">
                    <a16:creationId xmlns:a16="http://schemas.microsoft.com/office/drawing/2014/main" id="{46D8D909-34B8-4429-9156-2753DC14465C}"/>
                  </a:ext>
                </a:extLst>
              </p:cNvPr>
              <p:cNvSpPr/>
              <p:nvPr/>
            </p:nvSpPr>
            <p:spPr>
              <a:xfrm>
                <a:off x="61775" y="4065745"/>
                <a:ext cx="1785297" cy="143564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b="1" i="1" smtClean="0">
                              <a:latin typeface="Cambria Math" panose="02040503050406030204" pitchFamily="18" charset="0"/>
                            </a:rPr>
                          </m:ctrlPr>
                        </m:sSubSupPr>
                        <m:e>
                          <m:r>
                            <a:rPr lang="en-US" altLang="zh-CN" b="1">
                              <a:latin typeface="Cambria Math" panose="02040503050406030204" pitchFamily="18" charset="0"/>
                            </a:rPr>
                            <m:t>𝐰</m:t>
                          </m:r>
                        </m:e>
                        <m:sub>
                          <m:r>
                            <a:rPr lang="en-US" altLang="zh-CN" b="0" i="1" smtClean="0">
                              <a:latin typeface="Cambria Math" panose="02040503050406030204" pitchFamily="18" charset="0"/>
                            </a:rPr>
                            <m:t>𝑘𝑗</m:t>
                          </m:r>
                        </m:sub>
                        <m:sup>
                          <m:d>
                            <m:dPr>
                              <m:ctrlPr>
                                <a:rPr lang="en-US" altLang="zh-CN" b="1" i="1" smtClean="0">
                                  <a:latin typeface="Cambria Math" panose="02040503050406030204" pitchFamily="18" charset="0"/>
                                </a:rPr>
                              </m:ctrlPr>
                            </m:dPr>
                            <m:e>
                              <m:r>
                                <a:rPr lang="en-US" altLang="zh-CN" b="0" i="1">
                                  <a:latin typeface="Cambria Math" panose="02040503050406030204" pitchFamily="18" charset="0"/>
                                </a:rPr>
                                <m:t>2</m:t>
                              </m:r>
                            </m:e>
                          </m:d>
                        </m:sup>
                      </m:sSubSup>
                      <m:r>
                        <a:rPr lang="en-US" altLang="zh-CN" b="1" i="0" smtClean="0">
                          <a:latin typeface="Cambria Math" panose="02040503050406030204" pitchFamily="18" charset="0"/>
                        </a:rPr>
                        <m:t>=</m:t>
                      </m:r>
                      <m:d>
                        <m:dPr>
                          <m:ctrlPr>
                            <a:rPr lang="en-US" altLang="zh-CN" b="1" i="1" smtClean="0">
                              <a:latin typeface="Cambria Math" panose="02040503050406030204" pitchFamily="18" charset="0"/>
                            </a:rPr>
                          </m:ctrlPr>
                        </m:dPr>
                        <m:e>
                          <m:eqArr>
                            <m:eqArrPr>
                              <m:ctrlPr>
                                <a:rPr lang="en-US" altLang="zh-CN" i="1">
                                  <a:latin typeface="Cambria Math" panose="02040503050406030204" pitchFamily="18" charset="0"/>
                                </a:rPr>
                              </m:ctrlPr>
                            </m:eqArrPr>
                            <m:e>
                              <m:sSubSup>
                                <m:sSubSupPr>
                                  <m:ctrlPr>
                                    <a:rPr lang="en-US" altLang="zh-CN" b="1" i="1">
                                      <a:latin typeface="Cambria Math" panose="02040503050406030204" pitchFamily="18" charset="0"/>
                                    </a:rPr>
                                  </m:ctrlPr>
                                </m:sSubSupPr>
                                <m:e>
                                  <m:r>
                                    <a:rPr lang="en-US" altLang="zh-CN" b="0" i="1">
                                      <a:latin typeface="Cambria Math" panose="02040503050406030204" pitchFamily="18" charset="0"/>
                                    </a:rPr>
                                    <m:t>𝑤</m:t>
                                  </m:r>
                                </m:e>
                                <m:sub>
                                  <m:r>
                                    <a:rPr lang="en-US" altLang="zh-CN" i="1">
                                      <a:latin typeface="Cambria Math" panose="02040503050406030204" pitchFamily="18" charset="0"/>
                                    </a:rPr>
                                    <m:t>𝑘</m:t>
                                  </m:r>
                                  <m:r>
                                    <a:rPr lang="en-US" altLang="zh-CN" b="0" i="1" smtClean="0">
                                      <a:latin typeface="Cambria Math" panose="02040503050406030204" pitchFamily="18" charset="0"/>
                                    </a:rPr>
                                    <m:t>1</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e>
                            <m:e>
                              <m:sSubSup>
                                <m:sSubSupPr>
                                  <m:ctrlPr>
                                    <a:rPr lang="en-US" altLang="zh-CN" b="1" i="1">
                                      <a:latin typeface="Cambria Math" panose="02040503050406030204" pitchFamily="18" charset="0"/>
                                    </a:rPr>
                                  </m:ctrlPr>
                                </m:sSubSupPr>
                                <m:e>
                                  <m:r>
                                    <a:rPr lang="en-US" altLang="zh-CN" b="0" i="1">
                                      <a:latin typeface="Cambria Math" panose="02040503050406030204" pitchFamily="18" charset="0"/>
                                    </a:rPr>
                                    <m:t>𝑤</m:t>
                                  </m:r>
                                </m:e>
                                <m:sub>
                                  <m:r>
                                    <a:rPr lang="en-US" altLang="zh-CN" i="1">
                                      <a:latin typeface="Cambria Math" panose="02040503050406030204" pitchFamily="18" charset="0"/>
                                    </a:rPr>
                                    <m:t>𝑘</m:t>
                                  </m:r>
                                  <m:r>
                                    <a:rPr lang="en-US" altLang="zh-CN" b="0" i="1" smtClean="0">
                                      <a:latin typeface="Cambria Math" panose="02040503050406030204" pitchFamily="18" charset="0"/>
                                    </a:rPr>
                                    <m:t>2</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e>
                            <m:e>
                              <m:r>
                                <a:rPr lang="en-US" altLang="zh-CN" i="1" smtClean="0">
                                  <a:latin typeface="Cambria Math" panose="02040503050406030204" pitchFamily="18" charset="0"/>
                                </a:rPr>
                                <m:t>⋮</m:t>
                              </m:r>
                            </m:e>
                            <m:e>
                              <m:sSubSup>
                                <m:sSubSupPr>
                                  <m:ctrlPr>
                                    <a:rPr lang="en-US" altLang="zh-CN" b="1" i="1">
                                      <a:latin typeface="Cambria Math" panose="02040503050406030204" pitchFamily="18" charset="0"/>
                                    </a:rPr>
                                  </m:ctrlPr>
                                </m:sSubSupPr>
                                <m:e>
                                  <m:r>
                                    <a:rPr lang="en-US" altLang="zh-CN" b="0" i="1">
                                      <a:latin typeface="Cambria Math" panose="02040503050406030204" pitchFamily="18" charset="0"/>
                                    </a:rPr>
                                    <m:t>𝑤</m:t>
                                  </m:r>
                                </m:e>
                                <m:sub>
                                  <m:r>
                                    <a:rPr lang="en-US" altLang="zh-CN" i="1">
                                      <a:latin typeface="Cambria Math" panose="02040503050406030204" pitchFamily="18" charset="0"/>
                                    </a:rPr>
                                    <m:t>𝑘</m:t>
                                  </m:r>
                                  <m:r>
                                    <a:rPr lang="en-US" altLang="zh-CN" b="0" i="1" smtClean="0">
                                      <a:latin typeface="Cambria Math" panose="02040503050406030204" pitchFamily="18" charset="0"/>
                                    </a:rPr>
                                    <m:t>𝑀</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e>
                          </m:eqArr>
                        </m:e>
                      </m:d>
                    </m:oMath>
                  </m:oMathPara>
                </a14:m>
                <a:endParaRPr lang="zh-CN" altLang="en-US" dirty="0"/>
              </a:p>
            </p:txBody>
          </p:sp>
        </mc:Choice>
        <mc:Fallback xmlns="">
          <p:sp>
            <p:nvSpPr>
              <p:cNvPr id="30" name="矩形 29">
                <a:extLst>
                  <a:ext uri="{FF2B5EF4-FFF2-40B4-BE49-F238E27FC236}">
                    <a16:creationId xmlns:a16="http://schemas.microsoft.com/office/drawing/2014/main" id="{46D8D909-34B8-4429-9156-2753DC14465C}"/>
                  </a:ext>
                </a:extLst>
              </p:cNvPr>
              <p:cNvSpPr>
                <a:spLocks noRot="1" noChangeAspect="1" noMove="1" noResize="1" noEditPoints="1" noAdjustHandles="1" noChangeArrowheads="1" noChangeShapeType="1" noTextEdit="1"/>
              </p:cNvSpPr>
              <p:nvPr/>
            </p:nvSpPr>
            <p:spPr>
              <a:xfrm>
                <a:off x="61775" y="4065745"/>
                <a:ext cx="1785297" cy="1435649"/>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矩形 31">
                <a:extLst>
                  <a:ext uri="{FF2B5EF4-FFF2-40B4-BE49-F238E27FC236}">
                    <a16:creationId xmlns:a16="http://schemas.microsoft.com/office/drawing/2014/main" id="{F225EC0D-B3A1-4193-9429-ADE37BE2C445}"/>
                  </a:ext>
                </a:extLst>
              </p:cNvPr>
              <p:cNvSpPr/>
              <p:nvPr/>
            </p:nvSpPr>
            <p:spPr>
              <a:xfrm>
                <a:off x="1873136" y="3771997"/>
                <a:ext cx="1941493" cy="170014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b="1" i="1" smtClean="0">
                              <a:latin typeface="Cambria Math" panose="02040503050406030204" pitchFamily="18" charset="0"/>
                            </a:rPr>
                          </m:ctrlPr>
                        </m:sSubSupPr>
                        <m:e>
                          <m:r>
                            <a:rPr lang="en-US" altLang="zh-CN" b="1" i="0" smtClean="0">
                              <a:latin typeface="Cambria Math" panose="02040503050406030204" pitchFamily="18" charset="0"/>
                            </a:rPr>
                            <m:t>𝐖</m:t>
                          </m:r>
                        </m:e>
                        <m:sub>
                          <m:r>
                            <a:rPr lang="en-US" altLang="zh-CN" i="1">
                              <a:latin typeface="Cambria Math" panose="02040503050406030204" pitchFamily="18" charset="0"/>
                            </a:rPr>
                            <m:t>𝑘𝑗</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r>
                        <a:rPr lang="en-US" altLang="zh-CN" b="1" i="0" smtClean="0">
                          <a:latin typeface="Cambria Math" panose="02040503050406030204" pitchFamily="18" charset="0"/>
                        </a:rPr>
                        <m:t>=</m:t>
                      </m:r>
                      <m:d>
                        <m:dPr>
                          <m:ctrlPr>
                            <a:rPr lang="en-US" altLang="zh-CN" b="1" i="1" smtClean="0">
                              <a:latin typeface="Cambria Math" panose="02040503050406030204" pitchFamily="18" charset="0"/>
                            </a:rPr>
                          </m:ctrlPr>
                        </m:dPr>
                        <m:e>
                          <m:eqArr>
                            <m:eqArrPr>
                              <m:ctrlPr>
                                <a:rPr lang="en-US" altLang="zh-CN" i="1">
                                  <a:latin typeface="Cambria Math" panose="02040503050406030204" pitchFamily="18" charset="0"/>
                                </a:rPr>
                              </m:ctrlPr>
                            </m:eqArrPr>
                            <m:e>
                              <m:sSup>
                                <m:sSupPr>
                                  <m:ctrlPr>
                                    <a:rPr lang="en-US" altLang="zh-CN" i="1" smtClean="0">
                                      <a:latin typeface="Cambria Math" panose="02040503050406030204" pitchFamily="18" charset="0"/>
                                    </a:rPr>
                                  </m:ctrlPr>
                                </m:sSupPr>
                                <m:e>
                                  <m:sSubSup>
                                    <m:sSubSupPr>
                                      <m:ctrlPr>
                                        <a:rPr lang="en-US" altLang="zh-CN" b="1" i="1">
                                          <a:latin typeface="Cambria Math" panose="02040503050406030204" pitchFamily="18" charset="0"/>
                                        </a:rPr>
                                      </m:ctrlPr>
                                    </m:sSubSupPr>
                                    <m:e>
                                      <m:r>
                                        <a:rPr lang="en-US" altLang="zh-CN" b="1">
                                          <a:latin typeface="Cambria Math" panose="02040503050406030204" pitchFamily="18" charset="0"/>
                                        </a:rPr>
                                        <m:t>𝐰</m:t>
                                      </m:r>
                                    </m:e>
                                    <m:sub>
                                      <m:r>
                                        <a:rPr lang="en-US" altLang="zh-CN" b="0" i="1" smtClean="0">
                                          <a:latin typeface="Cambria Math" panose="02040503050406030204" pitchFamily="18" charset="0"/>
                                        </a:rPr>
                                        <m:t>1</m:t>
                                      </m:r>
                                      <m:r>
                                        <a:rPr lang="en-US" altLang="zh-CN" b="0" i="1" smtClean="0">
                                          <a:latin typeface="Cambria Math" panose="02040503050406030204" pitchFamily="18" charset="0"/>
                                        </a:rPr>
                                        <m:t>𝑗</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e>
                                <m:sup>
                                  <m:r>
                                    <a:rPr lang="en-US" altLang="zh-CN" b="0" i="1" smtClean="0">
                                      <a:latin typeface="Cambria Math" panose="02040503050406030204" pitchFamily="18" charset="0"/>
                                    </a:rPr>
                                    <m:t>𝑇</m:t>
                                  </m:r>
                                </m:sup>
                              </m:sSup>
                            </m:e>
                            <m:e>
                              <m:sSup>
                                <m:sSupPr>
                                  <m:ctrlPr>
                                    <a:rPr lang="en-US" altLang="zh-CN" i="1">
                                      <a:latin typeface="Cambria Math" panose="02040503050406030204" pitchFamily="18" charset="0"/>
                                    </a:rPr>
                                  </m:ctrlPr>
                                </m:sSupPr>
                                <m:e>
                                  <m:sSubSup>
                                    <m:sSubSupPr>
                                      <m:ctrlPr>
                                        <a:rPr lang="en-US" altLang="zh-CN" b="1" i="1">
                                          <a:latin typeface="Cambria Math" panose="02040503050406030204" pitchFamily="18" charset="0"/>
                                        </a:rPr>
                                      </m:ctrlPr>
                                    </m:sSubSupPr>
                                    <m:e>
                                      <m:r>
                                        <a:rPr lang="en-US" altLang="zh-CN" b="1">
                                          <a:latin typeface="Cambria Math" panose="02040503050406030204" pitchFamily="18" charset="0"/>
                                        </a:rPr>
                                        <m:t>𝐰</m:t>
                                      </m:r>
                                    </m:e>
                                    <m:sub>
                                      <m:r>
                                        <a:rPr lang="en-US" altLang="zh-CN" b="0" i="1" smtClean="0">
                                          <a:latin typeface="Cambria Math" panose="02040503050406030204" pitchFamily="18" charset="0"/>
                                        </a:rPr>
                                        <m:t>2</m:t>
                                      </m:r>
                                      <m:r>
                                        <a:rPr lang="en-US" altLang="zh-CN" b="0" i="1" smtClean="0">
                                          <a:latin typeface="Cambria Math" panose="02040503050406030204" pitchFamily="18" charset="0"/>
                                        </a:rPr>
                                        <m:t>𝑗</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e>
                                <m:sup>
                                  <m:r>
                                    <a:rPr lang="en-US" altLang="zh-CN" i="1">
                                      <a:latin typeface="Cambria Math" panose="02040503050406030204" pitchFamily="18" charset="0"/>
                                    </a:rPr>
                                    <m:t>𝑇</m:t>
                                  </m:r>
                                </m:sup>
                              </m:sSup>
                            </m:e>
                            <m:e>
                              <m:r>
                                <a:rPr lang="en-US" altLang="zh-CN" i="1" smtClean="0">
                                  <a:latin typeface="Cambria Math" panose="02040503050406030204" pitchFamily="18" charset="0"/>
                                </a:rPr>
                                <m:t>⋮</m:t>
                              </m:r>
                            </m:e>
                            <m:e>
                              <m:sSup>
                                <m:sSupPr>
                                  <m:ctrlPr>
                                    <a:rPr lang="en-US" altLang="zh-CN" i="1">
                                      <a:latin typeface="Cambria Math" panose="02040503050406030204" pitchFamily="18" charset="0"/>
                                    </a:rPr>
                                  </m:ctrlPr>
                                </m:sSupPr>
                                <m:e>
                                  <m:sSubSup>
                                    <m:sSubSupPr>
                                      <m:ctrlPr>
                                        <a:rPr lang="en-US" altLang="zh-CN" b="1" i="1">
                                          <a:latin typeface="Cambria Math" panose="02040503050406030204" pitchFamily="18" charset="0"/>
                                        </a:rPr>
                                      </m:ctrlPr>
                                    </m:sSubSupPr>
                                    <m:e>
                                      <m:r>
                                        <a:rPr lang="en-US" altLang="zh-CN" b="1">
                                          <a:latin typeface="Cambria Math" panose="02040503050406030204" pitchFamily="18" charset="0"/>
                                        </a:rPr>
                                        <m:t>𝐰</m:t>
                                      </m:r>
                                    </m:e>
                                    <m:sub>
                                      <m:r>
                                        <a:rPr lang="en-US" altLang="zh-CN" b="0" i="1" smtClean="0">
                                          <a:latin typeface="Cambria Math" panose="02040503050406030204" pitchFamily="18" charset="0"/>
                                        </a:rPr>
                                        <m:t>𝐾𝑗</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e>
                                <m:sup>
                                  <m:r>
                                    <a:rPr lang="en-US" altLang="zh-CN" i="1">
                                      <a:latin typeface="Cambria Math" panose="02040503050406030204" pitchFamily="18" charset="0"/>
                                    </a:rPr>
                                    <m:t>𝑇</m:t>
                                  </m:r>
                                </m:sup>
                              </m:sSup>
                            </m:e>
                          </m:eqArr>
                        </m:e>
                      </m:d>
                    </m:oMath>
                  </m:oMathPara>
                </a14:m>
                <a:endParaRPr lang="zh-CN" altLang="en-US" dirty="0"/>
              </a:p>
            </p:txBody>
          </p:sp>
        </mc:Choice>
        <mc:Fallback xmlns="">
          <p:sp>
            <p:nvSpPr>
              <p:cNvPr id="32" name="矩形 31">
                <a:extLst>
                  <a:ext uri="{FF2B5EF4-FFF2-40B4-BE49-F238E27FC236}">
                    <a16:creationId xmlns:a16="http://schemas.microsoft.com/office/drawing/2014/main" id="{F225EC0D-B3A1-4193-9429-ADE37BE2C445}"/>
                  </a:ext>
                </a:extLst>
              </p:cNvPr>
              <p:cNvSpPr>
                <a:spLocks noRot="1" noChangeAspect="1" noMove="1" noResize="1" noEditPoints="1" noAdjustHandles="1" noChangeArrowheads="1" noChangeShapeType="1" noTextEdit="1"/>
              </p:cNvSpPr>
              <p:nvPr/>
            </p:nvSpPr>
            <p:spPr>
              <a:xfrm>
                <a:off x="1873136" y="3771997"/>
                <a:ext cx="1941493" cy="1700145"/>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矩形 32">
                <a:extLst>
                  <a:ext uri="{FF2B5EF4-FFF2-40B4-BE49-F238E27FC236}">
                    <a16:creationId xmlns:a16="http://schemas.microsoft.com/office/drawing/2014/main" id="{0CFABA22-3C1F-4298-A05F-175F9B346379}"/>
                  </a:ext>
                </a:extLst>
              </p:cNvPr>
              <p:cNvSpPr/>
              <p:nvPr/>
            </p:nvSpPr>
            <p:spPr>
              <a:xfrm>
                <a:off x="4123960" y="3753075"/>
                <a:ext cx="3146823" cy="163820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CN" b="1" i="1" smtClean="0">
                              <a:latin typeface="Cambria Math" panose="02040503050406030204" pitchFamily="18" charset="0"/>
                            </a:rPr>
                          </m:ctrlPr>
                        </m:sSupPr>
                        <m:e>
                          <m:r>
                            <a:rPr lang="en-US" altLang="zh-CN" b="1">
                              <a:latin typeface="Cambria Math" panose="02040503050406030204" pitchFamily="18" charset="0"/>
                            </a:rPr>
                            <m:t>𝐳</m:t>
                          </m:r>
                        </m:e>
                        <m:sup>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1</m:t>
                              </m:r>
                            </m:e>
                          </m:d>
                        </m:sup>
                      </m:sSup>
                      <m:r>
                        <a:rPr lang="en-US" altLang="zh-CN" b="1" i="0" smtClean="0">
                          <a:latin typeface="Cambria Math" panose="02040503050406030204" pitchFamily="18" charset="0"/>
                        </a:rPr>
                        <m:t>=</m:t>
                      </m:r>
                      <m:d>
                        <m:dPr>
                          <m:ctrlPr>
                            <a:rPr lang="en-US" altLang="zh-CN" b="1" i="1" smtClean="0">
                              <a:latin typeface="Cambria Math" panose="02040503050406030204" pitchFamily="18" charset="0"/>
                            </a:rPr>
                          </m:ctrlPr>
                        </m:dPr>
                        <m:e>
                          <m:eqArr>
                            <m:eqArrPr>
                              <m:ctrlPr>
                                <a:rPr lang="en-US" altLang="zh-CN" i="1">
                                  <a:latin typeface="Cambria Math" panose="02040503050406030204" pitchFamily="18" charset="0"/>
                                </a:rPr>
                              </m:ctrlPr>
                            </m:eqArrPr>
                            <m:e>
                              <m:sSubSup>
                                <m:sSubSupPr>
                                  <m:ctrlPr>
                                    <a:rPr lang="en-US" altLang="zh-CN" i="1" smtClean="0">
                                      <a:latin typeface="Cambria Math" panose="02040503050406030204" pitchFamily="18" charset="0"/>
                                    </a:rPr>
                                  </m:ctrlPr>
                                </m:sSubSupPr>
                                <m:e>
                                  <m:r>
                                    <a:rPr lang="en-US" altLang="zh-CN" i="1">
                                      <a:latin typeface="Cambria Math" panose="02040503050406030204" pitchFamily="18" charset="0"/>
                                    </a:rPr>
                                    <m:t>𝑧</m:t>
                                  </m:r>
                                </m:e>
                                <m:sub>
                                  <m:r>
                                    <a:rPr lang="en-US" altLang="zh-CN" b="0" i="1" smtClean="0">
                                      <a:latin typeface="Cambria Math" panose="02040503050406030204" pitchFamily="18" charset="0"/>
                                    </a:rPr>
                                    <m:t>1</m:t>
                                  </m:r>
                                </m:sub>
                                <m:sup>
                                  <m:d>
                                    <m:dPr>
                                      <m:ctrlPr>
                                        <a:rPr lang="en-US" altLang="zh-CN" i="1">
                                          <a:latin typeface="Cambria Math" panose="02040503050406030204" pitchFamily="18" charset="0"/>
                                        </a:rPr>
                                      </m:ctrlPr>
                                    </m:dPr>
                                    <m:e>
                                      <m:r>
                                        <a:rPr lang="en-US" altLang="zh-CN" i="1">
                                          <a:latin typeface="Cambria Math" panose="02040503050406030204" pitchFamily="18" charset="0"/>
                                        </a:rPr>
                                        <m:t>1</m:t>
                                      </m:r>
                                    </m:e>
                                  </m:d>
                                </m:sup>
                              </m:sSubSup>
                            </m:e>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𝑧</m:t>
                                  </m:r>
                                </m:e>
                                <m:sub>
                                  <m:r>
                                    <a:rPr lang="en-US" altLang="zh-CN" b="0" i="1" smtClean="0">
                                      <a:latin typeface="Cambria Math" panose="02040503050406030204" pitchFamily="18" charset="0"/>
                                    </a:rPr>
                                    <m:t>2</m:t>
                                  </m:r>
                                </m:sub>
                                <m:sup>
                                  <m:d>
                                    <m:dPr>
                                      <m:ctrlPr>
                                        <a:rPr lang="en-US" altLang="zh-CN" i="1">
                                          <a:latin typeface="Cambria Math" panose="02040503050406030204" pitchFamily="18" charset="0"/>
                                        </a:rPr>
                                      </m:ctrlPr>
                                    </m:dPr>
                                    <m:e>
                                      <m:r>
                                        <a:rPr lang="en-US" altLang="zh-CN" i="1">
                                          <a:latin typeface="Cambria Math" panose="02040503050406030204" pitchFamily="18" charset="0"/>
                                        </a:rPr>
                                        <m:t>1</m:t>
                                      </m:r>
                                    </m:e>
                                  </m:d>
                                </m:sup>
                              </m:sSubSup>
                            </m:e>
                            <m:e>
                              <m:r>
                                <a:rPr lang="en-US" altLang="zh-CN" i="1" smtClean="0">
                                  <a:latin typeface="Cambria Math" panose="02040503050406030204" pitchFamily="18" charset="0"/>
                                </a:rPr>
                                <m:t>⋮</m:t>
                              </m:r>
                            </m:e>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𝑧</m:t>
                                  </m:r>
                                </m:e>
                                <m:sub>
                                  <m:r>
                                    <a:rPr lang="en-US" altLang="zh-CN" b="0" i="1" smtClean="0">
                                      <a:latin typeface="Cambria Math" panose="02040503050406030204" pitchFamily="18" charset="0"/>
                                    </a:rPr>
                                    <m:t>𝑀</m:t>
                                  </m:r>
                                </m:sub>
                                <m:sup>
                                  <m:d>
                                    <m:dPr>
                                      <m:ctrlPr>
                                        <a:rPr lang="en-US" altLang="zh-CN" i="1">
                                          <a:latin typeface="Cambria Math" panose="02040503050406030204" pitchFamily="18" charset="0"/>
                                        </a:rPr>
                                      </m:ctrlPr>
                                    </m:dPr>
                                    <m:e>
                                      <m:r>
                                        <a:rPr lang="en-US" altLang="zh-CN" i="1">
                                          <a:latin typeface="Cambria Math" panose="02040503050406030204" pitchFamily="18" charset="0"/>
                                        </a:rPr>
                                        <m:t>1</m:t>
                                      </m:r>
                                    </m:e>
                                  </m:d>
                                </m:sup>
                              </m:sSubSup>
                            </m:e>
                          </m:eqArr>
                        </m:e>
                      </m:d>
                      <m:r>
                        <a:rPr lang="en-US" altLang="zh-CN" b="1" i="1">
                          <a:latin typeface="Cambria Math" panose="02040503050406030204" pitchFamily="18" charset="0"/>
                        </a:rPr>
                        <m:t>=</m:t>
                      </m:r>
                      <m:d>
                        <m:dPr>
                          <m:ctrlPr>
                            <a:rPr lang="en-US" altLang="zh-CN" b="1"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i="1">
                                  <a:latin typeface="Cambria Math" panose="02040503050406030204" pitchFamily="18" charset="0"/>
                                </a:rPr>
                                <m:t>h</m:t>
                              </m:r>
                              <m:d>
                                <m:dPr>
                                  <m:ctrlPr>
                                    <a:rPr lang="en-US" altLang="zh-CN" i="1" smtClean="0">
                                      <a:latin typeface="Cambria Math" panose="02040503050406030204" pitchFamily="18" charset="0"/>
                                    </a:rPr>
                                  </m:ctrlPr>
                                </m:dPr>
                                <m:e>
                                  <m:sSubSup>
                                    <m:sSubSupPr>
                                      <m:ctrlPr>
                                        <a:rPr lang="en-US" altLang="zh-CN" i="1">
                                          <a:latin typeface="Cambria Math" panose="02040503050406030204" pitchFamily="18" charset="0"/>
                                        </a:rPr>
                                      </m:ctrlPr>
                                    </m:sSubSupPr>
                                    <m:e>
                                      <m:r>
                                        <a:rPr lang="en-US" altLang="zh-CN" b="0" i="1" smtClean="0">
                                          <a:latin typeface="Cambria Math" panose="02040503050406030204" pitchFamily="18" charset="0"/>
                                        </a:rPr>
                                        <m:t>𝑎</m:t>
                                      </m:r>
                                    </m:e>
                                    <m:sub>
                                      <m:r>
                                        <a:rPr lang="en-US" altLang="zh-CN" i="1">
                                          <a:latin typeface="Cambria Math" panose="02040503050406030204" pitchFamily="18" charset="0"/>
                                        </a:rPr>
                                        <m:t>1</m:t>
                                      </m:r>
                                    </m:sub>
                                    <m:sup>
                                      <m:d>
                                        <m:dPr>
                                          <m:ctrlPr>
                                            <a:rPr lang="en-US" altLang="zh-CN" i="1">
                                              <a:latin typeface="Cambria Math" panose="02040503050406030204" pitchFamily="18" charset="0"/>
                                            </a:rPr>
                                          </m:ctrlPr>
                                        </m:dPr>
                                        <m:e>
                                          <m:r>
                                            <a:rPr lang="en-US" altLang="zh-CN" i="1">
                                              <a:latin typeface="Cambria Math" panose="02040503050406030204" pitchFamily="18" charset="0"/>
                                            </a:rPr>
                                            <m:t>1</m:t>
                                          </m:r>
                                        </m:e>
                                      </m:d>
                                    </m:sup>
                                  </m:sSubSup>
                                </m:e>
                              </m:d>
                            </m:e>
                            <m:e>
                              <m:r>
                                <a:rPr lang="en-US" altLang="zh-CN" i="1">
                                  <a:latin typeface="Cambria Math" panose="02040503050406030204" pitchFamily="18" charset="0"/>
                                </a:rPr>
                                <m:t>h</m:t>
                              </m:r>
                              <m:d>
                                <m:dPr>
                                  <m:ctrlPr>
                                    <a:rPr lang="en-US" altLang="zh-CN" i="1">
                                      <a:latin typeface="Cambria Math" panose="02040503050406030204" pitchFamily="18" charset="0"/>
                                    </a:rPr>
                                  </m:ctrlPr>
                                </m:dPr>
                                <m:e>
                                  <m:sSubSup>
                                    <m:sSubSupPr>
                                      <m:ctrlPr>
                                        <a:rPr lang="en-US" altLang="zh-CN" i="1">
                                          <a:latin typeface="Cambria Math" panose="02040503050406030204" pitchFamily="18" charset="0"/>
                                        </a:rPr>
                                      </m:ctrlPr>
                                    </m:sSubSup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2</m:t>
                                      </m:r>
                                    </m:sub>
                                    <m:sup>
                                      <m:d>
                                        <m:dPr>
                                          <m:ctrlPr>
                                            <a:rPr lang="en-US" altLang="zh-CN" i="1">
                                              <a:latin typeface="Cambria Math" panose="02040503050406030204" pitchFamily="18" charset="0"/>
                                            </a:rPr>
                                          </m:ctrlPr>
                                        </m:dPr>
                                        <m:e>
                                          <m:r>
                                            <a:rPr lang="en-US" altLang="zh-CN" i="1">
                                              <a:latin typeface="Cambria Math" panose="02040503050406030204" pitchFamily="18" charset="0"/>
                                            </a:rPr>
                                            <m:t>1</m:t>
                                          </m:r>
                                        </m:e>
                                      </m:d>
                                    </m:sup>
                                  </m:sSubSup>
                                </m:e>
                              </m:d>
                            </m:e>
                            <m:e>
                              <m:r>
                                <a:rPr lang="en-US" altLang="zh-CN" i="1">
                                  <a:latin typeface="Cambria Math" panose="02040503050406030204" pitchFamily="18" charset="0"/>
                                </a:rPr>
                                <m:t>⋮</m:t>
                              </m:r>
                            </m:e>
                            <m:e>
                              <m:r>
                                <a:rPr lang="en-US" altLang="zh-CN" i="1">
                                  <a:latin typeface="Cambria Math" panose="02040503050406030204" pitchFamily="18" charset="0"/>
                                </a:rPr>
                                <m:t>h</m:t>
                              </m:r>
                              <m:d>
                                <m:dPr>
                                  <m:ctrlPr>
                                    <a:rPr lang="en-US" altLang="zh-CN" i="1">
                                      <a:latin typeface="Cambria Math" panose="02040503050406030204" pitchFamily="18" charset="0"/>
                                    </a:rPr>
                                  </m:ctrlPr>
                                </m:dPr>
                                <m:e>
                                  <m:sSubSup>
                                    <m:sSubSupPr>
                                      <m:ctrlPr>
                                        <a:rPr lang="en-US" altLang="zh-CN" i="1">
                                          <a:latin typeface="Cambria Math" panose="02040503050406030204" pitchFamily="18" charset="0"/>
                                        </a:rPr>
                                      </m:ctrlPr>
                                    </m:sSubSup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𝑀</m:t>
                                      </m:r>
                                    </m:sub>
                                    <m:sup>
                                      <m:d>
                                        <m:dPr>
                                          <m:ctrlPr>
                                            <a:rPr lang="en-US" altLang="zh-CN" i="1">
                                              <a:latin typeface="Cambria Math" panose="02040503050406030204" pitchFamily="18" charset="0"/>
                                            </a:rPr>
                                          </m:ctrlPr>
                                        </m:dPr>
                                        <m:e>
                                          <m:r>
                                            <a:rPr lang="en-US" altLang="zh-CN" i="1">
                                              <a:latin typeface="Cambria Math" panose="02040503050406030204" pitchFamily="18" charset="0"/>
                                            </a:rPr>
                                            <m:t>1</m:t>
                                          </m:r>
                                        </m:e>
                                      </m:d>
                                    </m:sup>
                                  </m:sSubSup>
                                </m:e>
                              </m:d>
                            </m:e>
                          </m:eqArr>
                        </m:e>
                      </m:d>
                    </m:oMath>
                  </m:oMathPara>
                </a14:m>
                <a:endParaRPr lang="zh-CN" altLang="en-US" dirty="0"/>
              </a:p>
            </p:txBody>
          </p:sp>
        </mc:Choice>
        <mc:Fallback xmlns="">
          <p:sp>
            <p:nvSpPr>
              <p:cNvPr id="33" name="矩形 32">
                <a:extLst>
                  <a:ext uri="{FF2B5EF4-FFF2-40B4-BE49-F238E27FC236}">
                    <a16:creationId xmlns:a16="http://schemas.microsoft.com/office/drawing/2014/main" id="{0CFABA22-3C1F-4298-A05F-175F9B346379}"/>
                  </a:ext>
                </a:extLst>
              </p:cNvPr>
              <p:cNvSpPr>
                <a:spLocks noRot="1" noChangeAspect="1" noMove="1" noResize="1" noEditPoints="1" noAdjustHandles="1" noChangeArrowheads="1" noChangeShapeType="1" noTextEdit="1"/>
              </p:cNvSpPr>
              <p:nvPr/>
            </p:nvSpPr>
            <p:spPr>
              <a:xfrm>
                <a:off x="4123960" y="3753075"/>
                <a:ext cx="3146823" cy="1638205"/>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矩形 34">
                <a:extLst>
                  <a:ext uri="{FF2B5EF4-FFF2-40B4-BE49-F238E27FC236}">
                    <a16:creationId xmlns:a16="http://schemas.microsoft.com/office/drawing/2014/main" id="{5FA11CC0-7E22-4E9F-8529-6E3C0459A107}"/>
                  </a:ext>
                </a:extLst>
              </p:cNvPr>
              <p:cNvSpPr/>
              <p:nvPr/>
            </p:nvSpPr>
            <p:spPr>
              <a:xfrm>
                <a:off x="3978781" y="5850170"/>
                <a:ext cx="1773242" cy="472694"/>
              </a:xfrm>
              <a:prstGeom prst="rect">
                <a:avLst/>
              </a:prstGeom>
              <a:ln>
                <a:solidFill>
                  <a:srgbClr val="FF0000"/>
                </a:solidFill>
              </a:ln>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CN" b="1" i="1">
                              <a:latin typeface="Cambria Math" panose="02040503050406030204" pitchFamily="18" charset="0"/>
                            </a:rPr>
                          </m:ctrlPr>
                        </m:sSupPr>
                        <m:e>
                          <m:r>
                            <a:rPr lang="en-US" altLang="zh-CN" b="1">
                              <a:latin typeface="Cambria Math" panose="02040503050406030204" pitchFamily="18" charset="0"/>
                            </a:rPr>
                            <m:t>𝐚</m:t>
                          </m:r>
                        </m:e>
                        <m:sup>
                          <m:d>
                            <m:dPr>
                              <m:ctrlPr>
                                <a:rPr lang="en-US" altLang="zh-CN" i="1">
                                  <a:latin typeface="Cambria Math" panose="02040503050406030204" pitchFamily="18" charset="0"/>
                                </a:rPr>
                              </m:ctrlPr>
                            </m:dPr>
                            <m:e>
                              <m:r>
                                <a:rPr lang="en-US" altLang="zh-CN" i="1">
                                  <a:latin typeface="Cambria Math" panose="02040503050406030204" pitchFamily="18" charset="0"/>
                                </a:rPr>
                                <m:t>2</m:t>
                              </m:r>
                            </m:e>
                          </m:d>
                        </m:sup>
                      </m:sSup>
                      <m:r>
                        <a:rPr lang="en-US" altLang="zh-CN" b="1" i="0" smtClean="0">
                          <a:latin typeface="Cambria Math" panose="02040503050406030204" pitchFamily="18" charset="0"/>
                        </a:rPr>
                        <m:t>=</m:t>
                      </m:r>
                      <m:sSubSup>
                        <m:sSubSupPr>
                          <m:ctrlPr>
                            <a:rPr lang="en-US" altLang="zh-CN" b="1" i="1">
                              <a:latin typeface="Cambria Math" panose="02040503050406030204" pitchFamily="18" charset="0"/>
                            </a:rPr>
                          </m:ctrlPr>
                        </m:sSubSupPr>
                        <m:e>
                          <m:r>
                            <a:rPr lang="en-US" altLang="zh-CN" b="1">
                              <a:latin typeface="Cambria Math" panose="02040503050406030204" pitchFamily="18" charset="0"/>
                            </a:rPr>
                            <m:t>𝐖</m:t>
                          </m:r>
                        </m:e>
                        <m:sub>
                          <m:r>
                            <a:rPr lang="en-US" altLang="zh-CN" i="1">
                              <a:latin typeface="Cambria Math" panose="02040503050406030204" pitchFamily="18" charset="0"/>
                            </a:rPr>
                            <m:t>𝑘𝑗</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sSup>
                        <m:sSupPr>
                          <m:ctrlPr>
                            <a:rPr lang="en-US" altLang="zh-CN" b="1" i="1">
                              <a:latin typeface="Cambria Math" panose="02040503050406030204" pitchFamily="18" charset="0"/>
                            </a:rPr>
                          </m:ctrlPr>
                        </m:sSupPr>
                        <m:e>
                          <m:r>
                            <a:rPr lang="en-US" altLang="zh-CN" b="1">
                              <a:latin typeface="Cambria Math" panose="02040503050406030204" pitchFamily="18" charset="0"/>
                            </a:rPr>
                            <m:t>𝐳</m:t>
                          </m:r>
                        </m:e>
                        <m:sup>
                          <m:d>
                            <m:dPr>
                              <m:ctrlPr>
                                <a:rPr lang="en-US" altLang="zh-CN" i="1">
                                  <a:latin typeface="Cambria Math" panose="02040503050406030204" pitchFamily="18" charset="0"/>
                                </a:rPr>
                              </m:ctrlPr>
                            </m:dPr>
                            <m:e>
                              <m:r>
                                <a:rPr lang="en-US" altLang="zh-CN" i="1">
                                  <a:latin typeface="Cambria Math" panose="02040503050406030204" pitchFamily="18" charset="0"/>
                                </a:rPr>
                                <m:t>1</m:t>
                              </m:r>
                            </m:e>
                          </m:d>
                        </m:sup>
                      </m:sSup>
                    </m:oMath>
                  </m:oMathPara>
                </a14:m>
                <a:endParaRPr lang="zh-CN" altLang="en-US" dirty="0"/>
              </a:p>
            </p:txBody>
          </p:sp>
        </mc:Choice>
        <mc:Fallback xmlns="">
          <p:sp>
            <p:nvSpPr>
              <p:cNvPr id="35" name="矩形 34">
                <a:extLst>
                  <a:ext uri="{FF2B5EF4-FFF2-40B4-BE49-F238E27FC236}">
                    <a16:creationId xmlns:a16="http://schemas.microsoft.com/office/drawing/2014/main" id="{5FA11CC0-7E22-4E9F-8529-6E3C0459A107}"/>
                  </a:ext>
                </a:extLst>
              </p:cNvPr>
              <p:cNvSpPr>
                <a:spLocks noRot="1" noChangeAspect="1" noMove="1" noResize="1" noEditPoints="1" noAdjustHandles="1" noChangeArrowheads="1" noChangeShapeType="1" noTextEdit="1"/>
              </p:cNvSpPr>
              <p:nvPr/>
            </p:nvSpPr>
            <p:spPr>
              <a:xfrm>
                <a:off x="3978781" y="5850170"/>
                <a:ext cx="1773242" cy="472694"/>
              </a:xfrm>
              <a:prstGeom prst="rect">
                <a:avLst/>
              </a:prstGeom>
              <a:blipFill>
                <a:blip r:embed="rId10"/>
                <a:stretch>
                  <a:fillRect b="-5063"/>
                </a:stretch>
              </a:blipFill>
              <a:ln>
                <a:solidFill>
                  <a:srgbClr val="FF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矩形 39">
                <a:extLst>
                  <a:ext uri="{FF2B5EF4-FFF2-40B4-BE49-F238E27FC236}">
                    <a16:creationId xmlns:a16="http://schemas.microsoft.com/office/drawing/2014/main" id="{74985C27-6330-4271-A463-426F7D7692E0}"/>
                  </a:ext>
                </a:extLst>
              </p:cNvPr>
              <p:cNvSpPr/>
              <p:nvPr/>
            </p:nvSpPr>
            <p:spPr>
              <a:xfrm>
                <a:off x="775789" y="5426221"/>
                <a:ext cx="84593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𝑀</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rPr>
                        <m:t>1</m:t>
                      </m:r>
                    </m:oMath>
                  </m:oMathPara>
                </a14:m>
                <a:endParaRPr lang="zh-CN" altLang="en-US" dirty="0"/>
              </a:p>
            </p:txBody>
          </p:sp>
        </mc:Choice>
        <mc:Fallback xmlns="">
          <p:sp>
            <p:nvSpPr>
              <p:cNvPr id="40" name="矩形 39">
                <a:extLst>
                  <a:ext uri="{FF2B5EF4-FFF2-40B4-BE49-F238E27FC236}">
                    <a16:creationId xmlns:a16="http://schemas.microsoft.com/office/drawing/2014/main" id="{74985C27-6330-4271-A463-426F7D7692E0}"/>
                  </a:ext>
                </a:extLst>
              </p:cNvPr>
              <p:cNvSpPr>
                <a:spLocks noRot="1" noChangeAspect="1" noMove="1" noResize="1" noEditPoints="1" noAdjustHandles="1" noChangeArrowheads="1" noChangeShapeType="1" noTextEdit="1"/>
              </p:cNvSpPr>
              <p:nvPr/>
            </p:nvSpPr>
            <p:spPr>
              <a:xfrm>
                <a:off x="775789" y="5426221"/>
                <a:ext cx="845937" cy="369332"/>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矩形 40">
                <a:extLst>
                  <a:ext uri="{FF2B5EF4-FFF2-40B4-BE49-F238E27FC236}">
                    <a16:creationId xmlns:a16="http://schemas.microsoft.com/office/drawing/2014/main" id="{4BC0256F-05B3-413A-AF7F-361ABE357023}"/>
                  </a:ext>
                </a:extLst>
              </p:cNvPr>
              <p:cNvSpPr/>
              <p:nvPr/>
            </p:nvSpPr>
            <p:spPr>
              <a:xfrm>
                <a:off x="2762608" y="5353548"/>
                <a:ext cx="88658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𝐾</m:t>
                      </m:r>
                      <m:r>
                        <a:rPr lang="en-US" altLang="zh-CN" b="0" i="1" smtClean="0">
                          <a:latin typeface="Cambria Math" panose="02040503050406030204" pitchFamily="18" charset="0"/>
                          <a:ea typeface="Cambria Math" panose="02040503050406030204" pitchFamily="18" charset="0"/>
                        </a:rPr>
                        <m:t>×</m:t>
                      </m:r>
                      <m:r>
                        <a:rPr lang="en-US" altLang="zh-CN" i="1">
                          <a:latin typeface="Cambria Math" panose="02040503050406030204" pitchFamily="18" charset="0"/>
                        </a:rPr>
                        <m:t>𝑀</m:t>
                      </m:r>
                    </m:oMath>
                  </m:oMathPara>
                </a14:m>
                <a:endParaRPr lang="zh-CN" altLang="en-US" dirty="0"/>
              </a:p>
            </p:txBody>
          </p:sp>
        </mc:Choice>
        <mc:Fallback xmlns="">
          <p:sp>
            <p:nvSpPr>
              <p:cNvPr id="41" name="矩形 40">
                <a:extLst>
                  <a:ext uri="{FF2B5EF4-FFF2-40B4-BE49-F238E27FC236}">
                    <a16:creationId xmlns:a16="http://schemas.microsoft.com/office/drawing/2014/main" id="{4BC0256F-05B3-413A-AF7F-361ABE357023}"/>
                  </a:ext>
                </a:extLst>
              </p:cNvPr>
              <p:cNvSpPr>
                <a:spLocks noRot="1" noChangeAspect="1" noMove="1" noResize="1" noEditPoints="1" noAdjustHandles="1" noChangeArrowheads="1" noChangeShapeType="1" noTextEdit="1"/>
              </p:cNvSpPr>
              <p:nvPr/>
            </p:nvSpPr>
            <p:spPr>
              <a:xfrm>
                <a:off x="2762608" y="5353548"/>
                <a:ext cx="886589" cy="369332"/>
              </a:xfrm>
              <a:prstGeom prst="rect">
                <a:avLst/>
              </a:prstGeom>
              <a:blipFill>
                <a:blip r:embed="rId12"/>
                <a:stretch>
                  <a:fillRect/>
                </a:stretch>
              </a:blipFill>
            </p:spPr>
            <p:txBody>
              <a:bodyPr/>
              <a:lstStyle/>
              <a:p>
                <a:r>
                  <a:rPr lang="zh-CN" altLang="en-US">
                    <a:noFill/>
                  </a:rPr>
                  <a:t> </a:t>
                </a:r>
              </a:p>
            </p:txBody>
          </p:sp>
        </mc:Fallback>
      </mc:AlternateContent>
      <p:grpSp>
        <p:nvGrpSpPr>
          <p:cNvPr id="42" name="组合 41">
            <a:extLst>
              <a:ext uri="{FF2B5EF4-FFF2-40B4-BE49-F238E27FC236}">
                <a16:creationId xmlns:a16="http://schemas.microsoft.com/office/drawing/2014/main" id="{699C0B50-3345-4727-BF9F-341AA1AB27D8}"/>
              </a:ext>
            </a:extLst>
          </p:cNvPr>
          <p:cNvGrpSpPr/>
          <p:nvPr/>
        </p:nvGrpSpPr>
        <p:grpSpPr>
          <a:xfrm>
            <a:off x="6932438" y="1277130"/>
            <a:ext cx="4624331" cy="2887656"/>
            <a:chOff x="1531941" y="1832691"/>
            <a:chExt cx="4624331" cy="2887656"/>
          </a:xfrm>
        </p:grpSpPr>
        <p:sp>
          <p:nvSpPr>
            <p:cNvPr id="43" name="椭圆 42">
              <a:extLst>
                <a:ext uri="{FF2B5EF4-FFF2-40B4-BE49-F238E27FC236}">
                  <a16:creationId xmlns:a16="http://schemas.microsoft.com/office/drawing/2014/main" id="{A8938399-ED97-4EFF-A648-0213095C0640}"/>
                </a:ext>
              </a:extLst>
            </p:cNvPr>
            <p:cNvSpPr/>
            <p:nvPr/>
          </p:nvSpPr>
          <p:spPr>
            <a:xfrm>
              <a:off x="2632588" y="2911721"/>
              <a:ext cx="288000" cy="288000"/>
            </a:xfrm>
            <a:prstGeom prst="ellipse">
              <a:avLst/>
            </a:prstGeom>
            <a:noFill/>
            <a:ln w="57150">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a:extLst>
                <a:ext uri="{FF2B5EF4-FFF2-40B4-BE49-F238E27FC236}">
                  <a16:creationId xmlns:a16="http://schemas.microsoft.com/office/drawing/2014/main" id="{DD20B0A4-D335-4D0E-AF2A-CBA62F7A3074}"/>
                </a:ext>
              </a:extLst>
            </p:cNvPr>
            <p:cNvSpPr/>
            <p:nvPr/>
          </p:nvSpPr>
          <p:spPr>
            <a:xfrm>
              <a:off x="2632588" y="3789510"/>
              <a:ext cx="288000" cy="288000"/>
            </a:xfrm>
            <a:prstGeom prst="ellipse">
              <a:avLst/>
            </a:prstGeom>
            <a:noFill/>
            <a:ln w="57150">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a:extLst>
                <a:ext uri="{FF2B5EF4-FFF2-40B4-BE49-F238E27FC236}">
                  <a16:creationId xmlns:a16="http://schemas.microsoft.com/office/drawing/2014/main" id="{82C52BE6-CA89-42A7-A2B0-2E458E7CFB04}"/>
                </a:ext>
              </a:extLst>
            </p:cNvPr>
            <p:cNvSpPr/>
            <p:nvPr/>
          </p:nvSpPr>
          <p:spPr>
            <a:xfrm>
              <a:off x="2740243" y="3293168"/>
              <a:ext cx="72691" cy="72000"/>
            </a:xfrm>
            <a:prstGeom prst="ellipse">
              <a:avLst/>
            </a:prstGeom>
            <a:solidFill>
              <a:srgbClr val="0208A7"/>
            </a:solidFill>
            <a:ln>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a:extLst>
                <a:ext uri="{FF2B5EF4-FFF2-40B4-BE49-F238E27FC236}">
                  <a16:creationId xmlns:a16="http://schemas.microsoft.com/office/drawing/2014/main" id="{73BD14A8-190C-4895-8A4E-E842C3339C55}"/>
                </a:ext>
              </a:extLst>
            </p:cNvPr>
            <p:cNvSpPr/>
            <p:nvPr/>
          </p:nvSpPr>
          <p:spPr>
            <a:xfrm>
              <a:off x="2740243" y="3458615"/>
              <a:ext cx="72691" cy="72000"/>
            </a:xfrm>
            <a:prstGeom prst="ellipse">
              <a:avLst/>
            </a:prstGeom>
            <a:solidFill>
              <a:srgbClr val="0208A7"/>
            </a:solidFill>
            <a:ln>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a:extLst>
                <a:ext uri="{FF2B5EF4-FFF2-40B4-BE49-F238E27FC236}">
                  <a16:creationId xmlns:a16="http://schemas.microsoft.com/office/drawing/2014/main" id="{6CC7115B-A043-47F8-A194-70C4CABAB1A2}"/>
                </a:ext>
              </a:extLst>
            </p:cNvPr>
            <p:cNvSpPr/>
            <p:nvPr/>
          </p:nvSpPr>
          <p:spPr>
            <a:xfrm>
              <a:off x="2740243" y="3624062"/>
              <a:ext cx="72691" cy="72000"/>
            </a:xfrm>
            <a:prstGeom prst="ellipse">
              <a:avLst/>
            </a:prstGeom>
            <a:solidFill>
              <a:srgbClr val="0208A7"/>
            </a:solidFill>
            <a:ln>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8" name="直接连接符 47">
              <a:extLst>
                <a:ext uri="{FF2B5EF4-FFF2-40B4-BE49-F238E27FC236}">
                  <a16:creationId xmlns:a16="http://schemas.microsoft.com/office/drawing/2014/main" id="{5A9F571F-890D-47D2-95F3-BFFCCF485764}"/>
                </a:ext>
              </a:extLst>
            </p:cNvPr>
            <p:cNvCxnSpPr>
              <a:cxnSpLocks/>
              <a:stCxn id="43" idx="6"/>
              <a:endCxn id="55" idx="2"/>
            </p:cNvCxnSpPr>
            <p:nvPr/>
          </p:nvCxnSpPr>
          <p:spPr>
            <a:xfrm flipV="1">
              <a:off x="2920588" y="2477062"/>
              <a:ext cx="984155" cy="578659"/>
            </a:xfrm>
            <a:prstGeom prst="line">
              <a:avLst/>
            </a:prstGeom>
            <a:ln w="28575">
              <a:solidFill>
                <a:srgbClr val="0202B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DD7081AA-1043-41A3-A5AF-892EA2CD80EB}"/>
                </a:ext>
              </a:extLst>
            </p:cNvPr>
            <p:cNvCxnSpPr>
              <a:cxnSpLocks/>
              <a:stCxn id="44" idx="7"/>
              <a:endCxn id="55" idx="3"/>
            </p:cNvCxnSpPr>
            <p:nvPr/>
          </p:nvCxnSpPr>
          <p:spPr>
            <a:xfrm flipV="1">
              <a:off x="2878411" y="2578885"/>
              <a:ext cx="1068509" cy="1252802"/>
            </a:xfrm>
            <a:prstGeom prst="line">
              <a:avLst/>
            </a:prstGeom>
            <a:ln w="28575">
              <a:solidFill>
                <a:srgbClr val="0202B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矩形 49">
                  <a:extLst>
                    <a:ext uri="{FF2B5EF4-FFF2-40B4-BE49-F238E27FC236}">
                      <a16:creationId xmlns:a16="http://schemas.microsoft.com/office/drawing/2014/main" id="{ED586592-0558-42D8-BBCB-9B85F81D02BA}"/>
                    </a:ext>
                  </a:extLst>
                </p:cNvPr>
                <p:cNvSpPr/>
                <p:nvPr/>
              </p:nvSpPr>
              <p:spPr>
                <a:xfrm>
                  <a:off x="3428023" y="3324281"/>
                  <a:ext cx="1259191" cy="47622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i="1">
                                <a:latin typeface="Cambria Math" panose="02040503050406030204" pitchFamily="18" charset="0"/>
                              </a:rPr>
                              <m:t>𝑤</m:t>
                            </m:r>
                          </m:e>
                          <m:sub>
                            <m:r>
                              <a:rPr lang="en-US" altLang="zh-CN" b="0" i="1" smtClean="0">
                                <a:latin typeface="Cambria Math" panose="02040503050406030204" pitchFamily="18" charset="0"/>
                              </a:rPr>
                              <m:t>𝑗𝑖</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𝑙𝑎𝑦𝑒𝑟</m:t>
                                </m:r>
                                <m:r>
                                  <a:rPr lang="en-US" altLang="zh-CN" i="1">
                                    <a:latin typeface="Cambria Math" panose="02040503050406030204" pitchFamily="18" charset="0"/>
                                  </a:rPr>
                                  <m:t>−1</m:t>
                                </m:r>
                              </m:e>
                            </m:d>
                          </m:sup>
                        </m:sSubSup>
                      </m:oMath>
                    </m:oMathPara>
                  </a14:m>
                  <a:endParaRPr lang="zh-CN" altLang="en-US" dirty="0"/>
                </a:p>
              </p:txBody>
            </p:sp>
          </mc:Choice>
          <mc:Fallback xmlns="">
            <p:sp>
              <p:nvSpPr>
                <p:cNvPr id="50" name="矩形 49">
                  <a:extLst>
                    <a:ext uri="{FF2B5EF4-FFF2-40B4-BE49-F238E27FC236}">
                      <a16:creationId xmlns:a16="http://schemas.microsoft.com/office/drawing/2014/main" id="{ED586592-0558-42D8-BBCB-9B85F81D02BA}"/>
                    </a:ext>
                  </a:extLst>
                </p:cNvPr>
                <p:cNvSpPr>
                  <a:spLocks noRot="1" noChangeAspect="1" noMove="1" noResize="1" noEditPoints="1" noAdjustHandles="1" noChangeArrowheads="1" noChangeShapeType="1" noTextEdit="1"/>
                </p:cNvSpPr>
                <p:nvPr/>
              </p:nvSpPr>
              <p:spPr>
                <a:xfrm>
                  <a:off x="3428023" y="3324281"/>
                  <a:ext cx="1259191" cy="476221"/>
                </a:xfrm>
                <a:prstGeom prst="rect">
                  <a:avLst/>
                </a:prstGeom>
                <a:blipFill>
                  <a:blip r:embed="rId13"/>
                  <a:stretch>
                    <a:fillRect b="-641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矩形 50">
                  <a:extLst>
                    <a:ext uri="{FF2B5EF4-FFF2-40B4-BE49-F238E27FC236}">
                      <a16:creationId xmlns:a16="http://schemas.microsoft.com/office/drawing/2014/main" id="{B6EDB43A-BBDE-42F1-A210-023EBEE81680}"/>
                    </a:ext>
                  </a:extLst>
                </p:cNvPr>
                <p:cNvSpPr/>
                <p:nvPr/>
              </p:nvSpPr>
              <p:spPr>
                <a:xfrm>
                  <a:off x="4347041" y="2524295"/>
                  <a:ext cx="1039579" cy="47622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i="1">
                                <a:latin typeface="Cambria Math" panose="02040503050406030204" pitchFamily="18" charset="0"/>
                              </a:rPr>
                              <m:t>𝑤</m:t>
                            </m:r>
                          </m:e>
                          <m:sub>
                            <m:r>
                              <a:rPr lang="en-US" altLang="zh-CN" b="0" i="1" smtClean="0">
                                <a:latin typeface="Cambria Math" panose="02040503050406030204" pitchFamily="18" charset="0"/>
                              </a:rPr>
                              <m:t>𝑘𝑗</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𝑙𝑎𝑦𝑒𝑟</m:t>
                                </m:r>
                              </m:e>
                            </m:d>
                          </m:sup>
                        </m:sSubSup>
                      </m:oMath>
                    </m:oMathPara>
                  </a14:m>
                  <a:endParaRPr lang="zh-CN" altLang="en-US" dirty="0"/>
                </a:p>
              </p:txBody>
            </p:sp>
          </mc:Choice>
          <mc:Fallback xmlns="">
            <p:sp>
              <p:nvSpPr>
                <p:cNvPr id="51" name="矩形 50">
                  <a:extLst>
                    <a:ext uri="{FF2B5EF4-FFF2-40B4-BE49-F238E27FC236}">
                      <a16:creationId xmlns:a16="http://schemas.microsoft.com/office/drawing/2014/main" id="{B6EDB43A-BBDE-42F1-A210-023EBEE81680}"/>
                    </a:ext>
                  </a:extLst>
                </p:cNvPr>
                <p:cNvSpPr>
                  <a:spLocks noRot="1" noChangeAspect="1" noMove="1" noResize="1" noEditPoints="1" noAdjustHandles="1" noChangeArrowheads="1" noChangeShapeType="1" noTextEdit="1"/>
                </p:cNvSpPr>
                <p:nvPr/>
              </p:nvSpPr>
              <p:spPr>
                <a:xfrm>
                  <a:off x="4347041" y="2524295"/>
                  <a:ext cx="1039579" cy="476221"/>
                </a:xfrm>
                <a:prstGeom prst="rect">
                  <a:avLst/>
                </a:prstGeom>
                <a:blipFill>
                  <a:blip r:embed="rId14"/>
                  <a:stretch>
                    <a:fillRect b="-5128"/>
                  </a:stretch>
                </a:blipFill>
              </p:spPr>
              <p:txBody>
                <a:bodyPr/>
                <a:lstStyle/>
                <a:p>
                  <a:r>
                    <a:rPr lang="zh-CN" altLang="en-US">
                      <a:noFill/>
                    </a:rPr>
                    <a:t> </a:t>
                  </a:r>
                </a:p>
              </p:txBody>
            </p:sp>
          </mc:Fallback>
        </mc:AlternateContent>
        <p:sp>
          <p:nvSpPr>
            <p:cNvPr id="52" name="椭圆 51">
              <a:extLst>
                <a:ext uri="{FF2B5EF4-FFF2-40B4-BE49-F238E27FC236}">
                  <a16:creationId xmlns:a16="http://schemas.microsoft.com/office/drawing/2014/main" id="{A4B21E2C-571D-454E-83CE-798AC25EABFF}"/>
                </a:ext>
              </a:extLst>
            </p:cNvPr>
            <p:cNvSpPr/>
            <p:nvPr/>
          </p:nvSpPr>
          <p:spPr>
            <a:xfrm>
              <a:off x="2635069" y="4432347"/>
              <a:ext cx="288000" cy="288000"/>
            </a:xfrm>
            <a:prstGeom prst="ellipse">
              <a:avLst/>
            </a:prstGeom>
            <a:solidFill>
              <a:srgbClr val="0208A7"/>
            </a:solidFill>
            <a:ln w="57150">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3" name="直接连接符 52">
              <a:extLst>
                <a:ext uri="{FF2B5EF4-FFF2-40B4-BE49-F238E27FC236}">
                  <a16:creationId xmlns:a16="http://schemas.microsoft.com/office/drawing/2014/main" id="{83D661F4-4AA7-44C5-B709-5F3575B3520F}"/>
                </a:ext>
              </a:extLst>
            </p:cNvPr>
            <p:cNvCxnSpPr>
              <a:cxnSpLocks/>
              <a:stCxn id="52" idx="7"/>
              <a:endCxn id="55" idx="4"/>
            </p:cNvCxnSpPr>
            <p:nvPr/>
          </p:nvCxnSpPr>
          <p:spPr>
            <a:xfrm flipV="1">
              <a:off x="2880892" y="2621062"/>
              <a:ext cx="1167851" cy="1853462"/>
            </a:xfrm>
            <a:prstGeom prst="line">
              <a:avLst/>
            </a:prstGeom>
            <a:ln w="28575">
              <a:solidFill>
                <a:srgbClr val="0202B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4" name="矩形 53">
                  <a:extLst>
                    <a:ext uri="{FF2B5EF4-FFF2-40B4-BE49-F238E27FC236}">
                      <a16:creationId xmlns:a16="http://schemas.microsoft.com/office/drawing/2014/main" id="{97A35658-7B1D-47CB-B429-63B0C9835E77}"/>
                    </a:ext>
                  </a:extLst>
                </p:cNvPr>
                <p:cNvSpPr/>
                <p:nvPr/>
              </p:nvSpPr>
              <p:spPr>
                <a:xfrm>
                  <a:off x="3476946" y="1965193"/>
                  <a:ext cx="1210268" cy="47622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𝑗</m:t>
                            </m:r>
                          </m:sub>
                          <m:sup>
                            <m:r>
                              <a:rPr lang="en-US" altLang="zh-CN" b="0" i="1" smtClean="0">
                                <a:latin typeface="Cambria Math" panose="02040503050406030204" pitchFamily="18" charset="0"/>
                              </a:rPr>
                              <m:t>(</m:t>
                            </m:r>
                            <m:r>
                              <a:rPr lang="en-US" altLang="zh-CN" b="0" i="1" smtClean="0">
                                <a:latin typeface="Cambria Math" panose="02040503050406030204" pitchFamily="18" charset="0"/>
                              </a:rPr>
                              <m:t>𝑙𝑎𝑦𝑒𝑟</m:t>
                            </m:r>
                            <m:r>
                              <a:rPr lang="en-US" altLang="zh-CN" b="0" i="1" smtClean="0">
                                <a:latin typeface="Cambria Math" panose="02040503050406030204" pitchFamily="18" charset="0"/>
                              </a:rPr>
                              <m:t>−1)</m:t>
                            </m:r>
                          </m:sup>
                        </m:sSubSup>
                      </m:oMath>
                    </m:oMathPara>
                  </a14:m>
                  <a:endParaRPr lang="zh-CN" altLang="en-US" dirty="0"/>
                </a:p>
              </p:txBody>
            </p:sp>
          </mc:Choice>
          <mc:Fallback xmlns="">
            <p:sp>
              <p:nvSpPr>
                <p:cNvPr id="54" name="矩形 53">
                  <a:extLst>
                    <a:ext uri="{FF2B5EF4-FFF2-40B4-BE49-F238E27FC236}">
                      <a16:creationId xmlns:a16="http://schemas.microsoft.com/office/drawing/2014/main" id="{97A35658-7B1D-47CB-B429-63B0C9835E77}"/>
                    </a:ext>
                  </a:extLst>
                </p:cNvPr>
                <p:cNvSpPr>
                  <a:spLocks noRot="1" noChangeAspect="1" noMove="1" noResize="1" noEditPoints="1" noAdjustHandles="1" noChangeArrowheads="1" noChangeShapeType="1" noTextEdit="1"/>
                </p:cNvSpPr>
                <p:nvPr/>
              </p:nvSpPr>
              <p:spPr>
                <a:xfrm>
                  <a:off x="3476946" y="1965193"/>
                  <a:ext cx="1210268" cy="476221"/>
                </a:xfrm>
                <a:prstGeom prst="rect">
                  <a:avLst/>
                </a:prstGeom>
                <a:blipFill>
                  <a:blip r:embed="rId15"/>
                  <a:stretch>
                    <a:fillRect b="-7692"/>
                  </a:stretch>
                </a:blipFill>
              </p:spPr>
              <p:txBody>
                <a:bodyPr/>
                <a:lstStyle/>
                <a:p>
                  <a:r>
                    <a:rPr lang="zh-CN" altLang="en-US">
                      <a:noFill/>
                    </a:rPr>
                    <a:t> </a:t>
                  </a:r>
                </a:p>
              </p:txBody>
            </p:sp>
          </mc:Fallback>
        </mc:AlternateContent>
        <p:sp>
          <p:nvSpPr>
            <p:cNvPr id="55" name="椭圆 54">
              <a:extLst>
                <a:ext uri="{FF2B5EF4-FFF2-40B4-BE49-F238E27FC236}">
                  <a16:creationId xmlns:a16="http://schemas.microsoft.com/office/drawing/2014/main" id="{1B7A88CE-B2E4-48F1-A74E-F7EBABDCD337}"/>
                </a:ext>
              </a:extLst>
            </p:cNvPr>
            <p:cNvSpPr/>
            <p:nvPr/>
          </p:nvSpPr>
          <p:spPr>
            <a:xfrm>
              <a:off x="3904743" y="2333062"/>
              <a:ext cx="288000" cy="288000"/>
            </a:xfrm>
            <a:prstGeom prst="ellipse">
              <a:avLst/>
            </a:prstGeom>
            <a:noFill/>
            <a:ln w="57150">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a:extLst>
                <a:ext uri="{FF2B5EF4-FFF2-40B4-BE49-F238E27FC236}">
                  <a16:creationId xmlns:a16="http://schemas.microsoft.com/office/drawing/2014/main" id="{6B8CDE0D-A55F-4B73-8508-0A5612E7B7AE}"/>
                </a:ext>
              </a:extLst>
            </p:cNvPr>
            <p:cNvCxnSpPr>
              <a:cxnSpLocks/>
              <a:stCxn id="55" idx="6"/>
              <a:endCxn id="57" idx="2"/>
            </p:cNvCxnSpPr>
            <p:nvPr/>
          </p:nvCxnSpPr>
          <p:spPr>
            <a:xfrm flipV="1">
              <a:off x="4192743" y="2309358"/>
              <a:ext cx="1414431" cy="167704"/>
            </a:xfrm>
            <a:prstGeom prst="line">
              <a:avLst/>
            </a:prstGeom>
            <a:ln w="28575">
              <a:solidFill>
                <a:srgbClr val="0202B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57" name="椭圆 56">
              <a:extLst>
                <a:ext uri="{FF2B5EF4-FFF2-40B4-BE49-F238E27FC236}">
                  <a16:creationId xmlns:a16="http://schemas.microsoft.com/office/drawing/2014/main" id="{14EEA671-2191-4B24-B26D-D65B49659705}"/>
                </a:ext>
              </a:extLst>
            </p:cNvPr>
            <p:cNvSpPr/>
            <p:nvPr/>
          </p:nvSpPr>
          <p:spPr>
            <a:xfrm>
              <a:off x="5607174" y="2165358"/>
              <a:ext cx="288000" cy="288000"/>
            </a:xfrm>
            <a:prstGeom prst="ellipse">
              <a:avLst/>
            </a:prstGeom>
            <a:noFill/>
            <a:ln w="57150">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58" name="矩形 57">
                  <a:extLst>
                    <a:ext uri="{FF2B5EF4-FFF2-40B4-BE49-F238E27FC236}">
                      <a16:creationId xmlns:a16="http://schemas.microsoft.com/office/drawing/2014/main" id="{1372F468-E811-48FA-88AF-4EF1B2849A78}"/>
                    </a:ext>
                  </a:extLst>
                </p:cNvPr>
                <p:cNvSpPr/>
                <p:nvPr/>
              </p:nvSpPr>
              <p:spPr>
                <a:xfrm>
                  <a:off x="5165616" y="1832691"/>
                  <a:ext cx="990656" cy="44287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𝑘</m:t>
                            </m:r>
                          </m:sub>
                          <m:sup>
                            <m:r>
                              <a:rPr lang="en-US" altLang="zh-CN" b="0" i="1" smtClean="0">
                                <a:latin typeface="Cambria Math" panose="02040503050406030204" pitchFamily="18" charset="0"/>
                              </a:rPr>
                              <m:t>(</m:t>
                            </m:r>
                            <m:r>
                              <a:rPr lang="en-US" altLang="zh-CN" b="0" i="1" smtClean="0">
                                <a:latin typeface="Cambria Math" panose="02040503050406030204" pitchFamily="18" charset="0"/>
                              </a:rPr>
                              <m:t>𝑙𝑎𝑦𝑒𝑟</m:t>
                            </m:r>
                            <m:r>
                              <a:rPr lang="en-US" altLang="zh-CN" b="0" i="1" smtClean="0">
                                <a:latin typeface="Cambria Math" panose="02040503050406030204" pitchFamily="18" charset="0"/>
                              </a:rPr>
                              <m:t>)</m:t>
                            </m:r>
                          </m:sup>
                        </m:sSubSup>
                      </m:oMath>
                    </m:oMathPara>
                  </a14:m>
                  <a:endParaRPr lang="zh-CN" altLang="en-US" dirty="0"/>
                </a:p>
              </p:txBody>
            </p:sp>
          </mc:Choice>
          <mc:Fallback xmlns="">
            <p:sp>
              <p:nvSpPr>
                <p:cNvPr id="58" name="矩形 57">
                  <a:extLst>
                    <a:ext uri="{FF2B5EF4-FFF2-40B4-BE49-F238E27FC236}">
                      <a16:creationId xmlns:a16="http://schemas.microsoft.com/office/drawing/2014/main" id="{1372F468-E811-48FA-88AF-4EF1B2849A78}"/>
                    </a:ext>
                  </a:extLst>
                </p:cNvPr>
                <p:cNvSpPr>
                  <a:spLocks noRot="1" noChangeAspect="1" noMove="1" noResize="1" noEditPoints="1" noAdjustHandles="1" noChangeArrowheads="1" noChangeShapeType="1" noTextEdit="1"/>
                </p:cNvSpPr>
                <p:nvPr/>
              </p:nvSpPr>
              <p:spPr>
                <a:xfrm>
                  <a:off x="5165616" y="1832691"/>
                  <a:ext cx="990656" cy="442878"/>
                </a:xfrm>
                <a:prstGeom prst="rect">
                  <a:avLst/>
                </a:prstGeom>
                <a:blipFill>
                  <a:blip r:embed="rId16"/>
                  <a:stretch>
                    <a:fillRect b="-27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9" name="矩形 58">
                  <a:extLst>
                    <a:ext uri="{FF2B5EF4-FFF2-40B4-BE49-F238E27FC236}">
                      <a16:creationId xmlns:a16="http://schemas.microsoft.com/office/drawing/2014/main" id="{71306A38-8267-43F9-8278-693B2EDBFB52}"/>
                    </a:ext>
                  </a:extLst>
                </p:cNvPr>
                <p:cNvSpPr/>
                <p:nvPr/>
              </p:nvSpPr>
              <p:spPr>
                <a:xfrm>
                  <a:off x="1531941" y="2991185"/>
                  <a:ext cx="1210267" cy="44493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m:t>
                            </m:r>
                            <m:r>
                              <a:rPr lang="en-US" altLang="zh-CN" b="0" i="1" smtClean="0">
                                <a:latin typeface="Cambria Math" panose="02040503050406030204" pitchFamily="18" charset="0"/>
                              </a:rPr>
                              <m:t>𝑙𝑎𝑦𝑒𝑟</m:t>
                            </m:r>
                            <m:r>
                              <a:rPr lang="en-US" altLang="zh-CN" b="0" i="1" smtClean="0">
                                <a:latin typeface="Cambria Math" panose="02040503050406030204" pitchFamily="18" charset="0"/>
                              </a:rPr>
                              <m:t>−2)</m:t>
                            </m:r>
                          </m:sup>
                        </m:sSubSup>
                      </m:oMath>
                    </m:oMathPara>
                  </a14:m>
                  <a:endParaRPr lang="zh-CN" altLang="en-US" dirty="0"/>
                </a:p>
              </p:txBody>
            </p:sp>
          </mc:Choice>
          <mc:Fallback xmlns="">
            <p:sp>
              <p:nvSpPr>
                <p:cNvPr id="59" name="矩形 58">
                  <a:extLst>
                    <a:ext uri="{FF2B5EF4-FFF2-40B4-BE49-F238E27FC236}">
                      <a16:creationId xmlns:a16="http://schemas.microsoft.com/office/drawing/2014/main" id="{71306A38-8267-43F9-8278-693B2EDBFB52}"/>
                    </a:ext>
                  </a:extLst>
                </p:cNvPr>
                <p:cNvSpPr>
                  <a:spLocks noRot="1" noChangeAspect="1" noMove="1" noResize="1" noEditPoints="1" noAdjustHandles="1" noChangeArrowheads="1" noChangeShapeType="1" noTextEdit="1"/>
                </p:cNvSpPr>
                <p:nvPr/>
              </p:nvSpPr>
              <p:spPr>
                <a:xfrm>
                  <a:off x="1531941" y="2991185"/>
                  <a:ext cx="1210267" cy="444930"/>
                </a:xfrm>
                <a:prstGeom prst="rect">
                  <a:avLst/>
                </a:prstGeom>
                <a:blipFill>
                  <a:blip r:embed="rId17"/>
                  <a:stretch>
                    <a:fillRect b="-4110"/>
                  </a:stretch>
                </a:blipFill>
              </p:spPr>
              <p:txBody>
                <a:bodyPr/>
                <a:lstStyle/>
                <a:p>
                  <a:r>
                    <a:rPr lang="zh-CN" altLang="en-US">
                      <a:noFill/>
                    </a:rPr>
                    <a:t> </a:t>
                  </a:r>
                </a:p>
              </p:txBody>
            </p:sp>
          </mc:Fallback>
        </mc:AlternateContent>
      </p:grpSp>
      <p:grpSp>
        <p:nvGrpSpPr>
          <p:cNvPr id="71" name="组合 70">
            <a:extLst>
              <a:ext uri="{FF2B5EF4-FFF2-40B4-BE49-F238E27FC236}">
                <a16:creationId xmlns:a16="http://schemas.microsoft.com/office/drawing/2014/main" id="{D1D4D054-460B-4E09-AFAE-DA93ED2468A4}"/>
              </a:ext>
            </a:extLst>
          </p:cNvPr>
          <p:cNvGrpSpPr/>
          <p:nvPr/>
        </p:nvGrpSpPr>
        <p:grpSpPr>
          <a:xfrm>
            <a:off x="8673599" y="3525882"/>
            <a:ext cx="3290529" cy="2703034"/>
            <a:chOff x="8673599" y="3525882"/>
            <a:chExt cx="3290529" cy="2703034"/>
          </a:xfrm>
        </p:grpSpPr>
        <p:grpSp>
          <p:nvGrpSpPr>
            <p:cNvPr id="61" name="组合 60">
              <a:extLst>
                <a:ext uri="{FF2B5EF4-FFF2-40B4-BE49-F238E27FC236}">
                  <a16:creationId xmlns:a16="http://schemas.microsoft.com/office/drawing/2014/main" id="{DE9B7AAE-20A8-4D3A-9DEB-E7335CDFBFC7}"/>
                </a:ext>
              </a:extLst>
            </p:cNvPr>
            <p:cNvGrpSpPr/>
            <p:nvPr/>
          </p:nvGrpSpPr>
          <p:grpSpPr>
            <a:xfrm>
              <a:off x="8673599" y="3525882"/>
              <a:ext cx="3290529" cy="2703034"/>
              <a:chOff x="7729576" y="2757867"/>
              <a:chExt cx="4337982" cy="3563473"/>
            </a:xfrm>
          </p:grpSpPr>
          <p:grpSp>
            <p:nvGrpSpPr>
              <p:cNvPr id="65" name="组合 64">
                <a:extLst>
                  <a:ext uri="{FF2B5EF4-FFF2-40B4-BE49-F238E27FC236}">
                    <a16:creationId xmlns:a16="http://schemas.microsoft.com/office/drawing/2014/main" id="{2FD9F12E-6B0F-4C80-AA94-3FB1A92264CA}"/>
                  </a:ext>
                </a:extLst>
              </p:cNvPr>
              <p:cNvGrpSpPr>
                <a:grpSpLocks noChangeAspect="1"/>
              </p:cNvGrpSpPr>
              <p:nvPr/>
            </p:nvGrpSpPr>
            <p:grpSpPr>
              <a:xfrm>
                <a:off x="7729576" y="2757867"/>
                <a:ext cx="4337982" cy="3563473"/>
                <a:chOff x="6453873" y="1782638"/>
                <a:chExt cx="5315095" cy="4351337"/>
              </a:xfrm>
            </p:grpSpPr>
            <p:pic>
              <p:nvPicPr>
                <p:cNvPr id="68" name="图片 67">
                  <a:extLst>
                    <a:ext uri="{FF2B5EF4-FFF2-40B4-BE49-F238E27FC236}">
                      <a16:creationId xmlns:a16="http://schemas.microsoft.com/office/drawing/2014/main" id="{3C034693-E51E-4B5E-BE95-C9520872F4F2}"/>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6453873" y="1782638"/>
                  <a:ext cx="5315095" cy="4351337"/>
                </a:xfrm>
                <a:prstGeom prst="rect">
                  <a:avLst/>
                </a:prstGeom>
              </p:spPr>
            </p:pic>
            <mc:AlternateContent xmlns:mc="http://schemas.openxmlformats.org/markup-compatibility/2006" xmlns:a14="http://schemas.microsoft.com/office/drawing/2010/main">
              <mc:Choice Requires="a14">
                <p:sp>
                  <p:nvSpPr>
                    <p:cNvPr id="69" name="矩形 68">
                      <a:extLst>
                        <a:ext uri="{FF2B5EF4-FFF2-40B4-BE49-F238E27FC236}">
                          <a16:creationId xmlns:a16="http://schemas.microsoft.com/office/drawing/2014/main" id="{60AC55D9-4898-42DF-884A-1A53BAD4A3FA}"/>
                        </a:ext>
                      </a:extLst>
                    </p:cNvPr>
                    <p:cNvSpPr/>
                    <p:nvPr/>
                  </p:nvSpPr>
                  <p:spPr>
                    <a:xfrm>
                      <a:off x="9274638" y="3141169"/>
                      <a:ext cx="605869" cy="391646"/>
                    </a:xfrm>
                    <a:prstGeom prst="rect">
                      <a:avLst/>
                    </a:prstGeom>
                  </p:spPr>
                  <p:txBody>
                    <a:bodyPr wrap="none">
                      <a:no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𝑘𝑗</m:t>
                                </m:r>
                              </m:sub>
                            </m:sSub>
                          </m:oMath>
                        </m:oMathPara>
                      </a14:m>
                      <a:endParaRPr lang="zh-CN" altLang="en-US" dirty="0"/>
                    </a:p>
                  </p:txBody>
                </p:sp>
              </mc:Choice>
              <mc:Fallback xmlns="">
                <p:sp>
                  <p:nvSpPr>
                    <p:cNvPr id="69" name="矩形 68">
                      <a:extLst>
                        <a:ext uri="{FF2B5EF4-FFF2-40B4-BE49-F238E27FC236}">
                          <a16:creationId xmlns:a16="http://schemas.microsoft.com/office/drawing/2014/main" id="{60AC55D9-4898-42DF-884A-1A53BAD4A3FA}"/>
                        </a:ext>
                      </a:extLst>
                    </p:cNvPr>
                    <p:cNvSpPr>
                      <a:spLocks noRot="1" noChangeAspect="1" noMove="1" noResize="1" noEditPoints="1" noAdjustHandles="1" noChangeArrowheads="1" noChangeShapeType="1" noTextEdit="1"/>
                    </p:cNvSpPr>
                    <p:nvPr/>
                  </p:nvSpPr>
                  <p:spPr>
                    <a:xfrm>
                      <a:off x="9274638" y="3141169"/>
                      <a:ext cx="605869" cy="391646"/>
                    </a:xfrm>
                    <a:prstGeom prst="rect">
                      <a:avLst/>
                    </a:prstGeom>
                    <a:blipFill>
                      <a:blip r:embed="rId19"/>
                      <a:stretch>
                        <a:fillRect r="-37097" b="-7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0" name="矩形 69">
                      <a:extLst>
                        <a:ext uri="{FF2B5EF4-FFF2-40B4-BE49-F238E27FC236}">
                          <a16:creationId xmlns:a16="http://schemas.microsoft.com/office/drawing/2014/main" id="{7CB9F199-B438-40BF-83CF-995306BCBD95}"/>
                        </a:ext>
                      </a:extLst>
                    </p:cNvPr>
                    <p:cNvSpPr/>
                    <p:nvPr/>
                  </p:nvSpPr>
                  <p:spPr>
                    <a:xfrm>
                      <a:off x="7797187" y="3001947"/>
                      <a:ext cx="542071" cy="391646"/>
                    </a:xfrm>
                    <a:prstGeom prst="rect">
                      <a:avLst/>
                    </a:prstGeom>
                  </p:spPr>
                  <p:txBody>
                    <a:bodyPr wrap="none">
                      <a:no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𝑗𝑖</m:t>
                                </m:r>
                              </m:sub>
                            </m:sSub>
                          </m:oMath>
                        </m:oMathPara>
                      </a14:m>
                      <a:endParaRPr lang="zh-CN" altLang="en-US" dirty="0"/>
                    </a:p>
                  </p:txBody>
                </p:sp>
              </mc:Choice>
              <mc:Fallback xmlns="">
                <p:sp>
                  <p:nvSpPr>
                    <p:cNvPr id="70" name="矩形 69">
                      <a:extLst>
                        <a:ext uri="{FF2B5EF4-FFF2-40B4-BE49-F238E27FC236}">
                          <a16:creationId xmlns:a16="http://schemas.microsoft.com/office/drawing/2014/main" id="{7CB9F199-B438-40BF-83CF-995306BCBD95}"/>
                        </a:ext>
                      </a:extLst>
                    </p:cNvPr>
                    <p:cNvSpPr>
                      <a:spLocks noRot="1" noChangeAspect="1" noMove="1" noResize="1" noEditPoints="1" noAdjustHandles="1" noChangeArrowheads="1" noChangeShapeType="1" noTextEdit="1"/>
                    </p:cNvSpPr>
                    <p:nvPr/>
                  </p:nvSpPr>
                  <p:spPr>
                    <a:xfrm>
                      <a:off x="7797187" y="3001947"/>
                      <a:ext cx="542071" cy="391646"/>
                    </a:xfrm>
                    <a:prstGeom prst="rect">
                      <a:avLst/>
                    </a:prstGeom>
                    <a:blipFill>
                      <a:blip r:embed="rId20"/>
                      <a:stretch>
                        <a:fillRect r="-34545" b="-72500"/>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66" name="矩形 65">
                    <a:extLst>
                      <a:ext uri="{FF2B5EF4-FFF2-40B4-BE49-F238E27FC236}">
                        <a16:creationId xmlns:a16="http://schemas.microsoft.com/office/drawing/2014/main" id="{BB710E12-5F7A-40B8-B9E1-F55B32F6E767}"/>
                      </a:ext>
                    </a:extLst>
                  </p:cNvPr>
                  <p:cNvSpPr/>
                  <p:nvPr/>
                </p:nvSpPr>
                <p:spPr>
                  <a:xfrm>
                    <a:off x="9151116" y="3268119"/>
                    <a:ext cx="448777" cy="391646"/>
                  </a:xfrm>
                  <a:prstGeom prst="rect">
                    <a:avLst/>
                  </a:prstGeom>
                </p:spPr>
                <p:txBody>
                  <a:bodyPr wrap="none">
                    <a:no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𝑗</m:t>
                              </m:r>
                            </m:sub>
                          </m:sSub>
                        </m:oMath>
                      </m:oMathPara>
                    </a14:m>
                    <a:endParaRPr lang="zh-CN" altLang="en-US" dirty="0"/>
                  </a:p>
                </p:txBody>
              </p:sp>
            </mc:Choice>
            <mc:Fallback xmlns="">
              <p:sp>
                <p:nvSpPr>
                  <p:cNvPr id="66" name="矩形 65">
                    <a:extLst>
                      <a:ext uri="{FF2B5EF4-FFF2-40B4-BE49-F238E27FC236}">
                        <a16:creationId xmlns:a16="http://schemas.microsoft.com/office/drawing/2014/main" id="{BB710E12-5F7A-40B8-B9E1-F55B32F6E767}"/>
                      </a:ext>
                    </a:extLst>
                  </p:cNvPr>
                  <p:cNvSpPr>
                    <a:spLocks noRot="1" noChangeAspect="1" noMove="1" noResize="1" noEditPoints="1" noAdjustHandles="1" noChangeArrowheads="1" noChangeShapeType="1" noTextEdit="1"/>
                  </p:cNvSpPr>
                  <p:nvPr/>
                </p:nvSpPr>
                <p:spPr>
                  <a:xfrm>
                    <a:off x="9151116" y="3268119"/>
                    <a:ext cx="448777" cy="391646"/>
                  </a:xfrm>
                  <a:prstGeom prst="rect">
                    <a:avLst/>
                  </a:prstGeom>
                  <a:blipFill>
                    <a:blip r:embed="rId21"/>
                    <a:stretch>
                      <a:fillRect r="-5357" b="-4081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7" name="矩形 66">
                    <a:extLst>
                      <a:ext uri="{FF2B5EF4-FFF2-40B4-BE49-F238E27FC236}">
                        <a16:creationId xmlns:a16="http://schemas.microsoft.com/office/drawing/2014/main" id="{3916294A-EF19-4FA6-A412-8A9C46F326F5}"/>
                      </a:ext>
                    </a:extLst>
                  </p:cNvPr>
                  <p:cNvSpPr/>
                  <p:nvPr/>
                </p:nvSpPr>
                <p:spPr>
                  <a:xfrm>
                    <a:off x="10636640" y="4413365"/>
                    <a:ext cx="492507" cy="369332"/>
                  </a:xfrm>
                  <a:prstGeom prst="rect">
                    <a:avLst/>
                  </a:prstGeom>
                </p:spPr>
                <p:txBody>
                  <a:bodyPr wrap="none">
                    <a:no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𝑘</m:t>
                              </m:r>
                            </m:sub>
                          </m:sSub>
                        </m:oMath>
                      </m:oMathPara>
                    </a14:m>
                    <a:endParaRPr lang="zh-CN" altLang="en-US" dirty="0"/>
                  </a:p>
                </p:txBody>
              </p:sp>
            </mc:Choice>
            <mc:Fallback xmlns="">
              <p:sp>
                <p:nvSpPr>
                  <p:cNvPr id="67" name="矩形 66">
                    <a:extLst>
                      <a:ext uri="{FF2B5EF4-FFF2-40B4-BE49-F238E27FC236}">
                        <a16:creationId xmlns:a16="http://schemas.microsoft.com/office/drawing/2014/main" id="{3916294A-EF19-4FA6-A412-8A9C46F326F5}"/>
                      </a:ext>
                    </a:extLst>
                  </p:cNvPr>
                  <p:cNvSpPr>
                    <a:spLocks noRot="1" noChangeAspect="1" noMove="1" noResize="1" noEditPoints="1" noAdjustHandles="1" noChangeArrowheads="1" noChangeShapeType="1" noTextEdit="1"/>
                  </p:cNvSpPr>
                  <p:nvPr/>
                </p:nvSpPr>
                <p:spPr>
                  <a:xfrm>
                    <a:off x="10636640" y="4413365"/>
                    <a:ext cx="492507" cy="369332"/>
                  </a:xfrm>
                  <a:prstGeom prst="rect">
                    <a:avLst/>
                  </a:prstGeom>
                  <a:blipFill>
                    <a:blip r:embed="rId22"/>
                    <a:stretch>
                      <a:fillRect r="-3279" b="-32609"/>
                    </a:stretch>
                  </a:blipFill>
                </p:spPr>
                <p:txBody>
                  <a:bodyPr/>
                  <a:lstStyle/>
                  <a:p>
                    <a:r>
                      <a:rPr lang="zh-CN" altLang="en-US">
                        <a:noFill/>
                      </a:rPr>
                      <a:t> </a:t>
                    </a:r>
                  </a:p>
                </p:txBody>
              </p:sp>
            </mc:Fallback>
          </mc:AlternateContent>
        </p:grpSp>
        <p:sp>
          <p:nvSpPr>
            <p:cNvPr id="63" name="矩形: 圆角 62">
              <a:extLst>
                <a:ext uri="{FF2B5EF4-FFF2-40B4-BE49-F238E27FC236}">
                  <a16:creationId xmlns:a16="http://schemas.microsoft.com/office/drawing/2014/main" id="{2E83A3DF-7B90-4131-95F8-E345BFA12FB5}"/>
                </a:ext>
              </a:extLst>
            </p:cNvPr>
            <p:cNvSpPr/>
            <p:nvPr/>
          </p:nvSpPr>
          <p:spPr>
            <a:xfrm rot="1326150">
              <a:off x="10358628" y="4188603"/>
              <a:ext cx="928452" cy="54615"/>
            </a:xfrm>
            <a:prstGeom prst="roundRect">
              <a:avLst/>
            </a:prstGeom>
            <a:noFill/>
            <a:ln>
              <a:solidFill>
                <a:srgbClr val="00B050"/>
              </a:solidFill>
            </a:ln>
            <a:effectLst>
              <a:glow rad="635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64" name="矩形: 圆角 63">
              <a:extLst>
                <a:ext uri="{FF2B5EF4-FFF2-40B4-BE49-F238E27FC236}">
                  <a16:creationId xmlns:a16="http://schemas.microsoft.com/office/drawing/2014/main" id="{760DD25C-D25C-42B0-ACCF-4A8AB1DD5D13}"/>
                </a:ext>
              </a:extLst>
            </p:cNvPr>
            <p:cNvSpPr/>
            <p:nvPr/>
          </p:nvSpPr>
          <p:spPr>
            <a:xfrm rot="18939340">
              <a:off x="10194131" y="4899211"/>
              <a:ext cx="1256141" cy="54615"/>
            </a:xfrm>
            <a:prstGeom prst="roundRect">
              <a:avLst/>
            </a:prstGeom>
            <a:noFill/>
            <a:ln>
              <a:solidFill>
                <a:srgbClr val="00B050"/>
              </a:solidFill>
            </a:ln>
            <a:effectLst>
              <a:glow rad="635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grpSp>
      <p:sp>
        <p:nvSpPr>
          <p:cNvPr id="72" name="矩形 71">
            <a:extLst>
              <a:ext uri="{FF2B5EF4-FFF2-40B4-BE49-F238E27FC236}">
                <a16:creationId xmlns:a16="http://schemas.microsoft.com/office/drawing/2014/main" id="{BE178D4D-C251-404C-AF54-C7EF1287D542}"/>
              </a:ext>
            </a:extLst>
          </p:cNvPr>
          <p:cNvSpPr/>
          <p:nvPr/>
        </p:nvSpPr>
        <p:spPr>
          <a:xfrm>
            <a:off x="9416439" y="878292"/>
            <a:ext cx="1149674" cy="369332"/>
          </a:xfrm>
          <a:prstGeom prst="rect">
            <a:avLst/>
          </a:prstGeom>
        </p:spPr>
        <p:txBody>
          <a:bodyPr wrap="none">
            <a:spAutoFit/>
          </a:bodyPr>
          <a:lstStyle/>
          <a:p>
            <a:r>
              <a:rPr lang="en-US" altLang="zh-CN" dirty="0">
                <a:latin typeface="Monaco" panose="020B0509030404040204" pitchFamily="49" charset="0"/>
                <a:ea typeface="思源黑体 CN Bold" panose="020B0800000000000000" pitchFamily="34" charset="-122"/>
              </a:rPr>
              <a:t>Forward</a:t>
            </a:r>
            <a:endParaRPr lang="zh-CN" altLang="en-US" dirty="0"/>
          </a:p>
        </p:txBody>
      </p:sp>
    </p:spTree>
    <p:extLst>
      <p:ext uri="{BB962C8B-B14F-4D97-AF65-F5344CB8AC3E}">
        <p14:creationId xmlns:p14="http://schemas.microsoft.com/office/powerpoint/2010/main" val="29879616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5" name="组合 74">
            <a:extLst>
              <a:ext uri="{FF2B5EF4-FFF2-40B4-BE49-F238E27FC236}">
                <a16:creationId xmlns:a16="http://schemas.microsoft.com/office/drawing/2014/main" id="{D8A9AF99-1D87-4CBF-A601-A93DAA7FC756}"/>
              </a:ext>
            </a:extLst>
          </p:cNvPr>
          <p:cNvGrpSpPr>
            <a:grpSpLocks noChangeAspect="1"/>
          </p:cNvGrpSpPr>
          <p:nvPr/>
        </p:nvGrpSpPr>
        <p:grpSpPr>
          <a:xfrm>
            <a:off x="6635826" y="2020715"/>
            <a:ext cx="3290529" cy="2703034"/>
            <a:chOff x="7729576" y="2757867"/>
            <a:chExt cx="4337982" cy="3563473"/>
          </a:xfrm>
        </p:grpSpPr>
        <p:grpSp>
          <p:nvGrpSpPr>
            <p:cNvPr id="76" name="组合 75">
              <a:extLst>
                <a:ext uri="{FF2B5EF4-FFF2-40B4-BE49-F238E27FC236}">
                  <a16:creationId xmlns:a16="http://schemas.microsoft.com/office/drawing/2014/main" id="{EFDCFB73-59F9-452D-A3FF-A326C72305A6}"/>
                </a:ext>
              </a:extLst>
            </p:cNvPr>
            <p:cNvGrpSpPr/>
            <p:nvPr/>
          </p:nvGrpSpPr>
          <p:grpSpPr>
            <a:xfrm>
              <a:off x="7729576" y="2757867"/>
              <a:ext cx="4337982" cy="3563473"/>
              <a:chOff x="7729576" y="2757867"/>
              <a:chExt cx="4337982" cy="3563473"/>
            </a:xfrm>
          </p:grpSpPr>
          <p:grpSp>
            <p:nvGrpSpPr>
              <p:cNvPr id="80" name="组合 79">
                <a:extLst>
                  <a:ext uri="{FF2B5EF4-FFF2-40B4-BE49-F238E27FC236}">
                    <a16:creationId xmlns:a16="http://schemas.microsoft.com/office/drawing/2014/main" id="{551ADED5-4239-460C-9966-7B7208EF1CC9}"/>
                  </a:ext>
                </a:extLst>
              </p:cNvPr>
              <p:cNvGrpSpPr>
                <a:grpSpLocks noChangeAspect="1"/>
              </p:cNvGrpSpPr>
              <p:nvPr/>
            </p:nvGrpSpPr>
            <p:grpSpPr>
              <a:xfrm>
                <a:off x="7729576" y="2757867"/>
                <a:ext cx="4337982" cy="3563473"/>
                <a:chOff x="6453873" y="1782638"/>
                <a:chExt cx="5315095" cy="4351337"/>
              </a:xfrm>
            </p:grpSpPr>
            <p:pic>
              <p:nvPicPr>
                <p:cNvPr id="83" name="图片 82">
                  <a:extLst>
                    <a:ext uri="{FF2B5EF4-FFF2-40B4-BE49-F238E27FC236}">
                      <a16:creationId xmlns:a16="http://schemas.microsoft.com/office/drawing/2014/main" id="{4D8AF9F9-D9E7-459B-A088-206E575C96D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53873" y="1782638"/>
                  <a:ext cx="5315095" cy="4351337"/>
                </a:xfrm>
                <a:prstGeom prst="rect">
                  <a:avLst/>
                </a:prstGeom>
              </p:spPr>
            </p:pic>
            <mc:AlternateContent xmlns:mc="http://schemas.openxmlformats.org/markup-compatibility/2006" xmlns:a14="http://schemas.microsoft.com/office/drawing/2010/main">
              <mc:Choice Requires="a14">
                <p:sp>
                  <p:nvSpPr>
                    <p:cNvPr id="84" name="矩形 83">
                      <a:extLst>
                        <a:ext uri="{FF2B5EF4-FFF2-40B4-BE49-F238E27FC236}">
                          <a16:creationId xmlns:a16="http://schemas.microsoft.com/office/drawing/2014/main" id="{F7C41F9A-D614-4B6B-94AE-858ED1C82301}"/>
                        </a:ext>
                      </a:extLst>
                    </p:cNvPr>
                    <p:cNvSpPr/>
                    <p:nvPr/>
                  </p:nvSpPr>
                  <p:spPr>
                    <a:xfrm>
                      <a:off x="9274638" y="3141169"/>
                      <a:ext cx="605869" cy="391646"/>
                    </a:xfrm>
                    <a:prstGeom prst="rect">
                      <a:avLst/>
                    </a:prstGeom>
                  </p:spPr>
                  <p:txBody>
                    <a:bodyPr wrap="none">
                      <a:no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𝑘𝑗</m:t>
                                </m:r>
                              </m:sub>
                            </m:sSub>
                          </m:oMath>
                        </m:oMathPara>
                      </a14:m>
                      <a:endParaRPr lang="zh-CN" altLang="en-US" dirty="0"/>
                    </a:p>
                  </p:txBody>
                </p:sp>
              </mc:Choice>
              <mc:Fallback xmlns="">
                <p:sp>
                  <p:nvSpPr>
                    <p:cNvPr id="84" name="矩形 83">
                      <a:extLst>
                        <a:ext uri="{FF2B5EF4-FFF2-40B4-BE49-F238E27FC236}">
                          <a16:creationId xmlns:a16="http://schemas.microsoft.com/office/drawing/2014/main" id="{F7C41F9A-D614-4B6B-94AE-858ED1C82301}"/>
                        </a:ext>
                      </a:extLst>
                    </p:cNvPr>
                    <p:cNvSpPr>
                      <a:spLocks noRot="1" noChangeAspect="1" noMove="1" noResize="1" noEditPoints="1" noAdjustHandles="1" noChangeArrowheads="1" noChangeShapeType="1" noTextEdit="1"/>
                    </p:cNvSpPr>
                    <p:nvPr/>
                  </p:nvSpPr>
                  <p:spPr>
                    <a:xfrm>
                      <a:off x="9274638" y="3141169"/>
                      <a:ext cx="605869" cy="391646"/>
                    </a:xfrm>
                    <a:prstGeom prst="rect">
                      <a:avLst/>
                    </a:prstGeom>
                    <a:blipFill>
                      <a:blip r:embed="rId3"/>
                      <a:stretch>
                        <a:fillRect r="-37097" b="-7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5" name="矩形 84">
                      <a:extLst>
                        <a:ext uri="{FF2B5EF4-FFF2-40B4-BE49-F238E27FC236}">
                          <a16:creationId xmlns:a16="http://schemas.microsoft.com/office/drawing/2014/main" id="{A7200B89-AF42-4D73-940D-B969375BCF99}"/>
                        </a:ext>
                      </a:extLst>
                    </p:cNvPr>
                    <p:cNvSpPr/>
                    <p:nvPr/>
                  </p:nvSpPr>
                  <p:spPr>
                    <a:xfrm>
                      <a:off x="7797187" y="3001947"/>
                      <a:ext cx="542071" cy="391646"/>
                    </a:xfrm>
                    <a:prstGeom prst="rect">
                      <a:avLst/>
                    </a:prstGeom>
                  </p:spPr>
                  <p:txBody>
                    <a:bodyPr wrap="none">
                      <a:no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𝑗𝑖</m:t>
                                </m:r>
                              </m:sub>
                            </m:sSub>
                          </m:oMath>
                        </m:oMathPara>
                      </a14:m>
                      <a:endParaRPr lang="zh-CN" altLang="en-US" dirty="0"/>
                    </a:p>
                  </p:txBody>
                </p:sp>
              </mc:Choice>
              <mc:Fallback xmlns="">
                <p:sp>
                  <p:nvSpPr>
                    <p:cNvPr id="85" name="矩形 84">
                      <a:extLst>
                        <a:ext uri="{FF2B5EF4-FFF2-40B4-BE49-F238E27FC236}">
                          <a16:creationId xmlns:a16="http://schemas.microsoft.com/office/drawing/2014/main" id="{A7200B89-AF42-4D73-940D-B969375BCF99}"/>
                        </a:ext>
                      </a:extLst>
                    </p:cNvPr>
                    <p:cNvSpPr>
                      <a:spLocks noRot="1" noChangeAspect="1" noMove="1" noResize="1" noEditPoints="1" noAdjustHandles="1" noChangeArrowheads="1" noChangeShapeType="1" noTextEdit="1"/>
                    </p:cNvSpPr>
                    <p:nvPr/>
                  </p:nvSpPr>
                  <p:spPr>
                    <a:xfrm>
                      <a:off x="7797187" y="3001947"/>
                      <a:ext cx="542071" cy="391646"/>
                    </a:xfrm>
                    <a:prstGeom prst="rect">
                      <a:avLst/>
                    </a:prstGeom>
                    <a:blipFill>
                      <a:blip r:embed="rId4"/>
                      <a:stretch>
                        <a:fillRect r="-34545" b="-72500"/>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81" name="矩形 80">
                    <a:extLst>
                      <a:ext uri="{FF2B5EF4-FFF2-40B4-BE49-F238E27FC236}">
                        <a16:creationId xmlns:a16="http://schemas.microsoft.com/office/drawing/2014/main" id="{4FF681CC-B6CF-4BB3-9C3C-AAC74A7A17F9}"/>
                      </a:ext>
                    </a:extLst>
                  </p:cNvPr>
                  <p:cNvSpPr/>
                  <p:nvPr/>
                </p:nvSpPr>
                <p:spPr>
                  <a:xfrm>
                    <a:off x="9151116" y="3268119"/>
                    <a:ext cx="448777" cy="391646"/>
                  </a:xfrm>
                  <a:prstGeom prst="rect">
                    <a:avLst/>
                  </a:prstGeom>
                </p:spPr>
                <p:txBody>
                  <a:bodyPr wrap="none">
                    <a:no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𝑗</m:t>
                              </m:r>
                            </m:sub>
                          </m:sSub>
                        </m:oMath>
                      </m:oMathPara>
                    </a14:m>
                    <a:endParaRPr lang="zh-CN" altLang="en-US" dirty="0"/>
                  </a:p>
                </p:txBody>
              </p:sp>
            </mc:Choice>
            <mc:Fallback xmlns="">
              <p:sp>
                <p:nvSpPr>
                  <p:cNvPr id="81" name="矩形 80">
                    <a:extLst>
                      <a:ext uri="{FF2B5EF4-FFF2-40B4-BE49-F238E27FC236}">
                        <a16:creationId xmlns:a16="http://schemas.microsoft.com/office/drawing/2014/main" id="{4FF681CC-B6CF-4BB3-9C3C-AAC74A7A17F9}"/>
                      </a:ext>
                    </a:extLst>
                  </p:cNvPr>
                  <p:cNvSpPr>
                    <a:spLocks noRot="1" noChangeAspect="1" noMove="1" noResize="1" noEditPoints="1" noAdjustHandles="1" noChangeArrowheads="1" noChangeShapeType="1" noTextEdit="1"/>
                  </p:cNvSpPr>
                  <p:nvPr/>
                </p:nvSpPr>
                <p:spPr>
                  <a:xfrm>
                    <a:off x="9151116" y="3268119"/>
                    <a:ext cx="448777" cy="391646"/>
                  </a:xfrm>
                  <a:prstGeom prst="rect">
                    <a:avLst/>
                  </a:prstGeom>
                  <a:blipFill>
                    <a:blip r:embed="rId5"/>
                    <a:stretch>
                      <a:fillRect r="-5357" b="-4081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2" name="矩形 81">
                    <a:extLst>
                      <a:ext uri="{FF2B5EF4-FFF2-40B4-BE49-F238E27FC236}">
                        <a16:creationId xmlns:a16="http://schemas.microsoft.com/office/drawing/2014/main" id="{8162F312-12EF-4004-9262-E43B57CDE725}"/>
                      </a:ext>
                    </a:extLst>
                  </p:cNvPr>
                  <p:cNvSpPr/>
                  <p:nvPr/>
                </p:nvSpPr>
                <p:spPr>
                  <a:xfrm>
                    <a:off x="10636640" y="4413365"/>
                    <a:ext cx="492507" cy="369332"/>
                  </a:xfrm>
                  <a:prstGeom prst="rect">
                    <a:avLst/>
                  </a:prstGeom>
                </p:spPr>
                <p:txBody>
                  <a:bodyPr wrap="none">
                    <a:no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𝑘</m:t>
                              </m:r>
                            </m:sub>
                          </m:sSub>
                        </m:oMath>
                      </m:oMathPara>
                    </a14:m>
                    <a:endParaRPr lang="zh-CN" altLang="en-US" dirty="0"/>
                  </a:p>
                </p:txBody>
              </p:sp>
            </mc:Choice>
            <mc:Fallback xmlns="">
              <p:sp>
                <p:nvSpPr>
                  <p:cNvPr id="82" name="矩形 81">
                    <a:extLst>
                      <a:ext uri="{FF2B5EF4-FFF2-40B4-BE49-F238E27FC236}">
                        <a16:creationId xmlns:a16="http://schemas.microsoft.com/office/drawing/2014/main" id="{8162F312-12EF-4004-9262-E43B57CDE725}"/>
                      </a:ext>
                    </a:extLst>
                  </p:cNvPr>
                  <p:cNvSpPr>
                    <a:spLocks noRot="1" noChangeAspect="1" noMove="1" noResize="1" noEditPoints="1" noAdjustHandles="1" noChangeArrowheads="1" noChangeShapeType="1" noTextEdit="1"/>
                  </p:cNvSpPr>
                  <p:nvPr/>
                </p:nvSpPr>
                <p:spPr>
                  <a:xfrm>
                    <a:off x="10636640" y="4413365"/>
                    <a:ext cx="492507" cy="369332"/>
                  </a:xfrm>
                  <a:prstGeom prst="rect">
                    <a:avLst/>
                  </a:prstGeom>
                  <a:blipFill>
                    <a:blip r:embed="rId6"/>
                    <a:stretch>
                      <a:fillRect r="-1613" b="-32609"/>
                    </a:stretch>
                  </a:blipFill>
                </p:spPr>
                <p:txBody>
                  <a:bodyPr/>
                  <a:lstStyle/>
                  <a:p>
                    <a:r>
                      <a:rPr lang="zh-CN" altLang="en-US">
                        <a:noFill/>
                      </a:rPr>
                      <a:t> </a:t>
                    </a:r>
                  </a:p>
                </p:txBody>
              </p:sp>
            </mc:Fallback>
          </mc:AlternateContent>
        </p:grpSp>
        <p:sp>
          <p:nvSpPr>
            <p:cNvPr id="77" name="矩形: 圆角 76">
              <a:extLst>
                <a:ext uri="{FF2B5EF4-FFF2-40B4-BE49-F238E27FC236}">
                  <a16:creationId xmlns:a16="http://schemas.microsoft.com/office/drawing/2014/main" id="{662FC737-C8D7-4E53-93D4-816E3C5F49F9}"/>
                </a:ext>
              </a:extLst>
            </p:cNvPr>
            <p:cNvSpPr/>
            <p:nvPr/>
          </p:nvSpPr>
          <p:spPr>
            <a:xfrm rot="18580401">
              <a:off x="8255140" y="4179798"/>
              <a:ext cx="1800000" cy="72000"/>
            </a:xfrm>
            <a:prstGeom prst="roundRect">
              <a:avLst/>
            </a:prstGeom>
            <a:noFill/>
            <a:ln>
              <a:solidFill>
                <a:srgbClr val="FF0000"/>
              </a:solidFill>
            </a:ln>
            <a:effectLst>
              <a:glow rad="635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78" name="矩形: 圆角 77">
              <a:extLst>
                <a:ext uri="{FF2B5EF4-FFF2-40B4-BE49-F238E27FC236}">
                  <a16:creationId xmlns:a16="http://schemas.microsoft.com/office/drawing/2014/main" id="{043CE17E-F4E1-4C5B-87C6-C58C1AD349CB}"/>
                </a:ext>
              </a:extLst>
            </p:cNvPr>
            <p:cNvSpPr/>
            <p:nvPr/>
          </p:nvSpPr>
          <p:spPr>
            <a:xfrm rot="1326150">
              <a:off x="9950990" y="3631548"/>
              <a:ext cx="1224000" cy="72000"/>
            </a:xfrm>
            <a:prstGeom prst="roundRect">
              <a:avLst/>
            </a:prstGeom>
            <a:noFill/>
            <a:ln>
              <a:solidFill>
                <a:srgbClr val="00B050"/>
              </a:solidFill>
            </a:ln>
            <a:effectLst>
              <a:glow rad="635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79" name="矩形: 圆角 78">
              <a:extLst>
                <a:ext uri="{FF2B5EF4-FFF2-40B4-BE49-F238E27FC236}">
                  <a16:creationId xmlns:a16="http://schemas.microsoft.com/office/drawing/2014/main" id="{5C073A9F-B4E2-4B7C-A3FF-B4E6269B3C5A}"/>
                </a:ext>
              </a:extLst>
            </p:cNvPr>
            <p:cNvSpPr/>
            <p:nvPr/>
          </p:nvSpPr>
          <p:spPr>
            <a:xfrm rot="2715744">
              <a:off x="9707193" y="4036334"/>
              <a:ext cx="1656000" cy="72000"/>
            </a:xfrm>
            <a:prstGeom prst="roundRect">
              <a:avLst/>
            </a:prstGeom>
            <a:noFill/>
            <a:ln>
              <a:solidFill>
                <a:srgbClr val="00B050"/>
              </a:solidFill>
            </a:ln>
            <a:effectLst>
              <a:glow rad="635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gr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E4AE4EE9-103F-47F1-A483-CB86CDD282A7}"/>
                  </a:ext>
                </a:extLst>
              </p:cNvPr>
              <p:cNvSpPr/>
              <p:nvPr/>
            </p:nvSpPr>
            <p:spPr>
              <a:xfrm>
                <a:off x="6031043" y="1187035"/>
                <a:ext cx="4886722" cy="87120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zh-CN" altLang="en-US" i="1">
                              <a:latin typeface="Cambria Math" panose="02040503050406030204" pitchFamily="18" charset="0"/>
                            </a:rPr>
                            <m:t>𝛿</m:t>
                          </m:r>
                        </m:e>
                        <m:sub>
                          <m:r>
                            <a:rPr lang="en-US" altLang="zh-CN" i="1">
                              <a:latin typeface="Cambria Math" panose="02040503050406030204" pitchFamily="18" charset="0"/>
                            </a:rPr>
                            <m:t>𝑗</m:t>
                          </m:r>
                        </m:sub>
                        <m:sup>
                          <m:r>
                            <a:rPr lang="en-US" altLang="zh-CN" i="1">
                              <a:latin typeface="Cambria Math" panose="02040503050406030204" pitchFamily="18" charset="0"/>
                            </a:rPr>
                            <m:t>(</m:t>
                          </m:r>
                          <m:r>
                            <a:rPr lang="en-US" altLang="zh-CN" i="1">
                              <a:latin typeface="Cambria Math" panose="02040503050406030204" pitchFamily="18" charset="0"/>
                            </a:rPr>
                            <m:t>𝑙𝑎𝑦𝑒𝑟</m:t>
                          </m:r>
                          <m:r>
                            <a:rPr lang="en-US" altLang="zh-CN" i="1">
                              <a:latin typeface="Cambria Math" panose="02040503050406030204" pitchFamily="18" charset="0"/>
                            </a:rPr>
                            <m:t>−1)</m:t>
                          </m:r>
                        </m:sup>
                      </m:sSubSup>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h</m:t>
                          </m:r>
                        </m:e>
                        <m:sup>
                          <m:r>
                            <a:rPr lang="en-US" altLang="zh-CN" i="1">
                              <a:latin typeface="Cambria Math" panose="02040503050406030204" pitchFamily="18" charset="0"/>
                            </a:rPr>
                            <m:t>′</m:t>
                          </m:r>
                        </m:sup>
                      </m:sSup>
                      <m:d>
                        <m:dPr>
                          <m:ctrlPr>
                            <a:rPr lang="en-US" altLang="zh-CN" b="1" i="1">
                              <a:latin typeface="Cambria Math" panose="02040503050406030204" pitchFamily="18" charset="0"/>
                            </a:rPr>
                          </m:ctrlPr>
                        </m:dPr>
                        <m:e>
                          <m:sSubSup>
                            <m:sSubSupPr>
                              <m:ctrlPr>
                                <a:rPr lang="en-US" altLang="zh-CN" i="1">
                                  <a:latin typeface="Cambria Math" panose="02040503050406030204" pitchFamily="18" charset="0"/>
                                </a:rPr>
                              </m:ctrlPr>
                            </m:sSubSupPr>
                            <m:e>
                              <m:r>
                                <a:rPr lang="en-US" altLang="zh-CN" b="0" i="1" smtClean="0">
                                  <a:latin typeface="Cambria Math" panose="02040503050406030204" pitchFamily="18" charset="0"/>
                                </a:rPr>
                                <m:t>𝑎</m:t>
                              </m:r>
                            </m:e>
                            <m:sub>
                              <m:r>
                                <a:rPr lang="en-US" altLang="zh-CN" i="1">
                                  <a:latin typeface="Cambria Math" panose="02040503050406030204" pitchFamily="18" charset="0"/>
                                </a:rPr>
                                <m:t>𝑗</m:t>
                              </m:r>
                            </m:sub>
                            <m:sup>
                              <m:r>
                                <a:rPr lang="en-US" altLang="zh-CN" i="1">
                                  <a:latin typeface="Cambria Math" panose="02040503050406030204" pitchFamily="18" charset="0"/>
                                </a:rPr>
                                <m:t>(</m:t>
                              </m:r>
                              <m:r>
                                <a:rPr lang="en-US" altLang="zh-CN" i="1">
                                  <a:latin typeface="Cambria Math" panose="02040503050406030204" pitchFamily="18" charset="0"/>
                                </a:rPr>
                                <m:t>𝑙𝑎𝑦𝑒𝑟</m:t>
                              </m:r>
                              <m:r>
                                <a:rPr lang="en-US" altLang="zh-CN" i="1">
                                  <a:latin typeface="Cambria Math" panose="02040503050406030204" pitchFamily="18" charset="0"/>
                                </a:rPr>
                                <m:t>−1)</m:t>
                              </m:r>
                            </m:sup>
                          </m:sSubSup>
                        </m:e>
                      </m:d>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𝑘</m:t>
                          </m:r>
                          <m:r>
                            <a:rPr lang="en-US" altLang="zh-CN" i="1">
                              <a:latin typeface="Cambria Math" panose="02040503050406030204" pitchFamily="18" charset="0"/>
                            </a:rPr>
                            <m:t>=1</m:t>
                          </m:r>
                        </m:sub>
                        <m:sup>
                          <m:r>
                            <a:rPr lang="en-US" altLang="zh-CN" i="1">
                              <a:latin typeface="Cambria Math" panose="02040503050406030204" pitchFamily="18" charset="0"/>
                            </a:rPr>
                            <m:t>𝐾</m:t>
                          </m:r>
                        </m:sup>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i="1">
                                  <a:latin typeface="Cambria Math" panose="02040503050406030204" pitchFamily="18" charset="0"/>
                                </a:rPr>
                                <m:t>𝑘𝑗</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𝑙𝑎𝑦𝑒𝑟</m:t>
                                  </m:r>
                                </m:e>
                              </m:d>
                            </m:sup>
                          </m:sSubSup>
                          <m:sSubSup>
                            <m:sSubSupPr>
                              <m:ctrlPr>
                                <a:rPr lang="en-US" altLang="zh-CN" i="1">
                                  <a:latin typeface="Cambria Math" panose="02040503050406030204" pitchFamily="18" charset="0"/>
                                </a:rPr>
                              </m:ctrlPr>
                            </m:sSubSupPr>
                            <m:e>
                              <m:r>
                                <a:rPr lang="zh-CN" altLang="en-US" i="1">
                                  <a:latin typeface="Cambria Math" panose="02040503050406030204" pitchFamily="18" charset="0"/>
                                </a:rPr>
                                <m:t>𝛿</m:t>
                              </m:r>
                            </m:e>
                            <m:sub>
                              <m:r>
                                <a:rPr lang="en-US" altLang="zh-CN" b="0" i="1" smtClean="0">
                                  <a:latin typeface="Cambria Math" panose="02040503050406030204" pitchFamily="18" charset="0"/>
                                </a:rPr>
                                <m:t>𝑘</m:t>
                              </m:r>
                            </m:sub>
                            <m:sup>
                              <m:r>
                                <a:rPr lang="en-US" altLang="zh-CN" i="1">
                                  <a:latin typeface="Cambria Math" panose="02040503050406030204" pitchFamily="18" charset="0"/>
                                </a:rPr>
                                <m:t>(</m:t>
                              </m:r>
                              <m:r>
                                <a:rPr lang="en-US" altLang="zh-CN" i="1">
                                  <a:latin typeface="Cambria Math" panose="02040503050406030204" pitchFamily="18" charset="0"/>
                                </a:rPr>
                                <m:t>𝑙𝑎𝑦𝑒𝑟</m:t>
                              </m:r>
                              <m:r>
                                <a:rPr lang="en-US" altLang="zh-CN" i="1">
                                  <a:latin typeface="Cambria Math" panose="02040503050406030204" pitchFamily="18" charset="0"/>
                                </a:rPr>
                                <m:t>)</m:t>
                              </m:r>
                            </m:sup>
                          </m:sSubSup>
                        </m:e>
                      </m:nary>
                    </m:oMath>
                  </m:oMathPara>
                </a14:m>
                <a:endParaRPr lang="zh-CN" altLang="en-US" dirty="0"/>
              </a:p>
            </p:txBody>
          </p:sp>
        </mc:Choice>
        <mc:Fallback xmlns="">
          <p:sp>
            <p:nvSpPr>
              <p:cNvPr id="5" name="矩形 4">
                <a:extLst>
                  <a:ext uri="{FF2B5EF4-FFF2-40B4-BE49-F238E27FC236}">
                    <a16:creationId xmlns:a16="http://schemas.microsoft.com/office/drawing/2014/main" id="{E4AE4EE9-103F-47F1-A483-CB86CDD282A7}"/>
                  </a:ext>
                </a:extLst>
              </p:cNvPr>
              <p:cNvSpPr>
                <a:spLocks noRot="1" noChangeAspect="1" noMove="1" noResize="1" noEditPoints="1" noAdjustHandles="1" noChangeArrowheads="1" noChangeShapeType="1" noTextEdit="1"/>
              </p:cNvSpPr>
              <p:nvPr/>
            </p:nvSpPr>
            <p:spPr>
              <a:xfrm>
                <a:off x="6031043" y="1187035"/>
                <a:ext cx="4886722" cy="871201"/>
              </a:xfrm>
              <a:prstGeom prst="rect">
                <a:avLst/>
              </a:prstGeom>
              <a:blipFill>
                <a:blip r:embed="rId7"/>
                <a:stretch>
                  <a:fillRect/>
                </a:stretch>
              </a:blipFill>
            </p:spPr>
            <p:txBody>
              <a:bodyPr/>
              <a:lstStyle/>
              <a:p>
                <a:r>
                  <a:rPr lang="zh-CN" altLang="en-US">
                    <a:noFill/>
                  </a:rPr>
                  <a:t> </a:t>
                </a:r>
              </a:p>
            </p:txBody>
          </p:sp>
        </mc:Fallback>
      </mc:AlternateContent>
      <p:sp>
        <p:nvSpPr>
          <p:cNvPr id="13" name="矩形 12">
            <a:extLst>
              <a:ext uri="{FF2B5EF4-FFF2-40B4-BE49-F238E27FC236}">
                <a16:creationId xmlns:a16="http://schemas.microsoft.com/office/drawing/2014/main" id="{15EF61D5-7D56-4AC7-B68C-BD8D13D0EE3A}"/>
              </a:ext>
            </a:extLst>
          </p:cNvPr>
          <p:cNvSpPr/>
          <p:nvPr/>
        </p:nvSpPr>
        <p:spPr>
          <a:xfrm>
            <a:off x="9574555" y="893568"/>
            <a:ext cx="1287532" cy="369332"/>
          </a:xfrm>
          <a:prstGeom prst="rect">
            <a:avLst/>
          </a:prstGeom>
        </p:spPr>
        <p:txBody>
          <a:bodyPr wrap="none">
            <a:spAutoFit/>
          </a:bodyPr>
          <a:lstStyle/>
          <a:p>
            <a:r>
              <a:rPr lang="en-US" altLang="zh-CN" dirty="0">
                <a:latin typeface="Monaco" panose="020B0509030404040204" pitchFamily="49" charset="0"/>
                <a:ea typeface="思源黑体 CN Bold" panose="020B0800000000000000" pitchFamily="34" charset="-122"/>
              </a:rPr>
              <a:t>Backward</a:t>
            </a:r>
            <a:endParaRPr lang="zh-CN" altLang="en-US" dirty="0"/>
          </a:p>
        </p:txBody>
      </p:sp>
      <mc:AlternateContent xmlns:mc="http://schemas.openxmlformats.org/markup-compatibility/2006" xmlns:a14="http://schemas.microsoft.com/office/drawing/2010/main">
        <mc:Choice Requires="a14">
          <p:sp>
            <p:nvSpPr>
              <p:cNvPr id="28" name="矩形 27">
                <a:extLst>
                  <a:ext uri="{FF2B5EF4-FFF2-40B4-BE49-F238E27FC236}">
                    <a16:creationId xmlns:a16="http://schemas.microsoft.com/office/drawing/2014/main" id="{5A712445-73D9-447E-9CB8-4CF8D9B9E4B3}"/>
                  </a:ext>
                </a:extLst>
              </p:cNvPr>
              <p:cNvSpPr/>
              <p:nvPr/>
            </p:nvSpPr>
            <p:spPr>
              <a:xfrm>
                <a:off x="181454" y="1716753"/>
                <a:ext cx="2832570" cy="2405467"/>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CN" b="1" i="1" smtClean="0">
                              <a:latin typeface="Cambria Math" panose="02040503050406030204" pitchFamily="18" charset="0"/>
                            </a:rPr>
                          </m:ctrlPr>
                        </m:sSupPr>
                        <m:e>
                          <m:r>
                            <a:rPr lang="zh-CN" altLang="en-US" b="1" i="0">
                              <a:latin typeface="Cambria Math" panose="02040503050406030204" pitchFamily="18" charset="0"/>
                            </a:rPr>
                            <m:t>𝛅</m:t>
                          </m:r>
                        </m:e>
                        <m:sup>
                          <m:d>
                            <m:dPr>
                              <m:ctrlPr>
                                <a:rPr lang="en-US" altLang="zh-CN" i="1">
                                  <a:latin typeface="Cambria Math" panose="02040503050406030204" pitchFamily="18" charset="0"/>
                                </a:rPr>
                              </m:ctrlPr>
                            </m:dPr>
                            <m:e>
                              <m:r>
                                <a:rPr lang="en-US" altLang="zh-CN" b="0" i="1" smtClean="0">
                                  <a:latin typeface="Cambria Math" panose="02040503050406030204" pitchFamily="18" charset="0"/>
                                </a:rPr>
                                <m:t>1</m:t>
                              </m:r>
                            </m:e>
                          </m:d>
                        </m:sup>
                      </m:sSup>
                      <m:r>
                        <a:rPr lang="en-US" altLang="zh-CN" i="1">
                          <a:latin typeface="Cambria Math" panose="02040503050406030204" pitchFamily="18" charset="0"/>
                        </a:rPr>
                        <m:t>=</m:t>
                      </m:r>
                      <m:d>
                        <m:dPr>
                          <m:ctrlPr>
                            <a:rPr lang="en-US" altLang="zh-CN" b="1" i="1">
                              <a:latin typeface="Cambria Math" panose="02040503050406030204" pitchFamily="18" charset="0"/>
                            </a:rPr>
                          </m:ctrlPr>
                        </m:dPr>
                        <m:e>
                          <m:eqArr>
                            <m:eqArrPr>
                              <m:ctrlPr>
                                <a:rPr lang="en-US" altLang="zh-CN" i="1">
                                  <a:latin typeface="Cambria Math" panose="02040503050406030204" pitchFamily="18" charset="0"/>
                                </a:rPr>
                              </m:ctrlPr>
                            </m:eqArrPr>
                            <m:e>
                              <m:f>
                                <m:fPr>
                                  <m:ctrlPr>
                                    <a:rPr lang="en-US" altLang="zh-CN" i="1">
                                      <a:latin typeface="Cambria Math" panose="02040503050406030204" pitchFamily="18" charset="0"/>
                                    </a:rPr>
                                  </m:ctrlPr>
                                </m:fPr>
                                <m:num>
                                  <m:r>
                                    <a:rPr lang="en-US" altLang="zh-CN" i="1">
                                      <a:latin typeface="Cambria Math" panose="02040503050406030204" pitchFamily="18" charset="0"/>
                                    </a:rPr>
                                    <m:t>𝜕</m:t>
                                  </m:r>
                                  <m:r>
                                    <a:rPr lang="en-US" altLang="zh-CN" i="1">
                                      <a:latin typeface="Cambria Math" panose="02040503050406030204" pitchFamily="18" charset="0"/>
                                    </a:rPr>
                                    <m:t>𝐿</m:t>
                                  </m:r>
                                </m:num>
                                <m:den>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𝑎</m:t>
                                      </m:r>
                                    </m:e>
                                    <m:sub>
                                      <m:r>
                                        <a:rPr lang="en-US" altLang="zh-CN" b="0" i="1" smtClean="0">
                                          <a:latin typeface="Cambria Math" panose="02040503050406030204" pitchFamily="18" charset="0"/>
                                        </a:rPr>
                                        <m:t>1</m:t>
                                      </m:r>
                                    </m:sub>
                                    <m:sup>
                                      <m:d>
                                        <m:dPr>
                                          <m:ctrlPr>
                                            <a:rPr lang="en-US" altLang="zh-CN" i="1">
                                              <a:latin typeface="Cambria Math" panose="02040503050406030204" pitchFamily="18" charset="0"/>
                                            </a:rPr>
                                          </m:ctrlPr>
                                        </m:dPr>
                                        <m:e>
                                          <m:r>
                                            <a:rPr lang="en-US" altLang="zh-CN" i="1">
                                              <a:latin typeface="Cambria Math" panose="02040503050406030204" pitchFamily="18" charset="0"/>
                                            </a:rPr>
                                            <m:t>1</m:t>
                                          </m:r>
                                        </m:e>
                                      </m:d>
                                    </m:sup>
                                  </m:sSubSup>
                                </m:den>
                              </m:f>
                            </m:e>
                            <m:e>
                              <m:f>
                                <m:fPr>
                                  <m:ctrlPr>
                                    <a:rPr lang="en-US" altLang="zh-CN" i="1">
                                      <a:latin typeface="Cambria Math" panose="02040503050406030204" pitchFamily="18" charset="0"/>
                                    </a:rPr>
                                  </m:ctrlPr>
                                </m:fPr>
                                <m:num>
                                  <m:r>
                                    <a:rPr lang="en-US" altLang="zh-CN" i="1">
                                      <a:latin typeface="Cambria Math" panose="02040503050406030204" pitchFamily="18" charset="0"/>
                                    </a:rPr>
                                    <m:t>𝜕</m:t>
                                  </m:r>
                                  <m:r>
                                    <a:rPr lang="en-US" altLang="zh-CN" i="1">
                                      <a:latin typeface="Cambria Math" panose="02040503050406030204" pitchFamily="18" charset="0"/>
                                    </a:rPr>
                                    <m:t>𝐿</m:t>
                                  </m:r>
                                </m:num>
                                <m:den>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𝑎</m:t>
                                      </m:r>
                                    </m:e>
                                    <m:sub>
                                      <m:r>
                                        <a:rPr lang="en-US" altLang="zh-CN" b="0" i="1" smtClean="0">
                                          <a:latin typeface="Cambria Math" panose="02040503050406030204" pitchFamily="18" charset="0"/>
                                        </a:rPr>
                                        <m:t>2</m:t>
                                      </m:r>
                                    </m:sub>
                                    <m:sup>
                                      <m:d>
                                        <m:dPr>
                                          <m:ctrlPr>
                                            <a:rPr lang="en-US" altLang="zh-CN" i="1">
                                              <a:latin typeface="Cambria Math" panose="02040503050406030204" pitchFamily="18" charset="0"/>
                                            </a:rPr>
                                          </m:ctrlPr>
                                        </m:dPr>
                                        <m:e>
                                          <m:r>
                                            <a:rPr lang="en-US" altLang="zh-CN" i="1">
                                              <a:latin typeface="Cambria Math" panose="02040503050406030204" pitchFamily="18" charset="0"/>
                                            </a:rPr>
                                            <m:t>1</m:t>
                                          </m:r>
                                        </m:e>
                                      </m:d>
                                    </m:sup>
                                  </m:sSubSup>
                                </m:den>
                              </m:f>
                            </m:e>
                            <m:e>
                              <m:r>
                                <a:rPr lang="en-US" altLang="zh-CN" i="1">
                                  <a:latin typeface="Cambria Math" panose="02040503050406030204" pitchFamily="18" charset="0"/>
                                </a:rPr>
                                <m:t>⋮</m:t>
                              </m:r>
                            </m:e>
                            <m:e>
                              <m:f>
                                <m:fPr>
                                  <m:ctrlPr>
                                    <a:rPr lang="en-US" altLang="zh-CN" i="1">
                                      <a:latin typeface="Cambria Math" panose="02040503050406030204" pitchFamily="18" charset="0"/>
                                    </a:rPr>
                                  </m:ctrlPr>
                                </m:fPr>
                                <m:num>
                                  <m:r>
                                    <a:rPr lang="en-US" altLang="zh-CN" i="1">
                                      <a:latin typeface="Cambria Math" panose="02040503050406030204" pitchFamily="18" charset="0"/>
                                    </a:rPr>
                                    <m:t>𝜕</m:t>
                                  </m:r>
                                  <m:r>
                                    <a:rPr lang="en-US" altLang="zh-CN" i="1">
                                      <a:latin typeface="Cambria Math" panose="02040503050406030204" pitchFamily="18" charset="0"/>
                                    </a:rPr>
                                    <m:t>𝐿</m:t>
                                  </m:r>
                                </m:num>
                                <m:den>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𝑎</m:t>
                                      </m:r>
                                    </m:e>
                                    <m:sub>
                                      <m:r>
                                        <a:rPr lang="en-US" altLang="zh-CN" b="0" i="1" smtClean="0">
                                          <a:latin typeface="Cambria Math" panose="02040503050406030204" pitchFamily="18" charset="0"/>
                                        </a:rPr>
                                        <m:t>𝑀</m:t>
                                      </m:r>
                                    </m:sub>
                                    <m:sup>
                                      <m:d>
                                        <m:dPr>
                                          <m:ctrlPr>
                                            <a:rPr lang="en-US" altLang="zh-CN" i="1">
                                              <a:latin typeface="Cambria Math" panose="02040503050406030204" pitchFamily="18" charset="0"/>
                                            </a:rPr>
                                          </m:ctrlPr>
                                        </m:dPr>
                                        <m:e>
                                          <m:r>
                                            <a:rPr lang="en-US" altLang="zh-CN" i="1">
                                              <a:latin typeface="Cambria Math" panose="02040503050406030204" pitchFamily="18" charset="0"/>
                                            </a:rPr>
                                            <m:t>1</m:t>
                                          </m:r>
                                        </m:e>
                                      </m:d>
                                    </m:sup>
                                  </m:sSubSup>
                                </m:den>
                              </m:f>
                            </m:e>
                          </m:eqArr>
                        </m:e>
                      </m:d>
                      <m:r>
                        <a:rPr lang="en-US" altLang="zh-CN" b="1" i="0" smtClean="0">
                          <a:latin typeface="Cambria Math" panose="02040503050406030204" pitchFamily="18" charset="0"/>
                        </a:rPr>
                        <m:t>=</m:t>
                      </m:r>
                      <m:d>
                        <m:dPr>
                          <m:ctrlPr>
                            <a:rPr lang="en-US" altLang="zh-CN" b="1" i="1" smtClean="0">
                              <a:latin typeface="Cambria Math" panose="02040503050406030204" pitchFamily="18" charset="0"/>
                            </a:rPr>
                          </m:ctrlPr>
                        </m:dPr>
                        <m:e>
                          <m:eqArr>
                            <m:eqArrPr>
                              <m:ctrlPr>
                                <a:rPr lang="en-US" altLang="zh-CN" i="1">
                                  <a:latin typeface="Cambria Math" panose="02040503050406030204" pitchFamily="18" charset="0"/>
                                </a:rPr>
                              </m:ctrlPr>
                            </m:eqArrPr>
                            <m:e>
                              <m:sSubSup>
                                <m:sSubSupPr>
                                  <m:ctrlPr>
                                    <a:rPr lang="en-US" altLang="zh-CN" i="1">
                                      <a:latin typeface="Cambria Math" panose="02040503050406030204" pitchFamily="18" charset="0"/>
                                    </a:rPr>
                                  </m:ctrlPr>
                                </m:sSubSupPr>
                                <m:e>
                                  <m:r>
                                    <a:rPr lang="zh-CN" altLang="en-US" i="1">
                                      <a:latin typeface="Cambria Math" panose="02040503050406030204" pitchFamily="18" charset="0"/>
                                    </a:rPr>
                                    <m:t>𝛿</m:t>
                                  </m:r>
                                </m:e>
                                <m:sub>
                                  <m:r>
                                    <a:rPr lang="en-US" altLang="zh-CN" b="0" i="1" smtClean="0">
                                      <a:latin typeface="Cambria Math" panose="02040503050406030204" pitchFamily="18" charset="0"/>
                                    </a:rPr>
                                    <m:t>1</m:t>
                                  </m:r>
                                </m:sub>
                                <m:sup>
                                  <m:r>
                                    <a:rPr lang="en-US" altLang="zh-CN" i="1">
                                      <a:latin typeface="Cambria Math" panose="02040503050406030204" pitchFamily="18" charset="0"/>
                                    </a:rPr>
                                    <m:t>(1)</m:t>
                                  </m:r>
                                </m:sup>
                              </m:sSubSup>
                            </m:e>
                            <m:e>
                              <m:sSubSup>
                                <m:sSubSupPr>
                                  <m:ctrlPr>
                                    <a:rPr lang="en-US" altLang="zh-CN" i="1">
                                      <a:latin typeface="Cambria Math" panose="02040503050406030204" pitchFamily="18" charset="0"/>
                                    </a:rPr>
                                  </m:ctrlPr>
                                </m:sSubSupPr>
                                <m:e>
                                  <m:r>
                                    <a:rPr lang="zh-CN" altLang="en-US" i="1">
                                      <a:latin typeface="Cambria Math" panose="02040503050406030204" pitchFamily="18" charset="0"/>
                                    </a:rPr>
                                    <m:t>𝛿</m:t>
                                  </m:r>
                                </m:e>
                                <m:sub>
                                  <m:r>
                                    <a:rPr lang="en-US" altLang="zh-CN" b="0" i="1" smtClean="0">
                                      <a:latin typeface="Cambria Math" panose="02040503050406030204" pitchFamily="18" charset="0"/>
                                    </a:rPr>
                                    <m:t>2</m:t>
                                  </m:r>
                                </m:sub>
                                <m:sup>
                                  <m:r>
                                    <a:rPr lang="en-US" altLang="zh-CN" i="1">
                                      <a:latin typeface="Cambria Math" panose="02040503050406030204" pitchFamily="18" charset="0"/>
                                    </a:rPr>
                                    <m:t>(</m:t>
                                  </m:r>
                                  <m:r>
                                    <a:rPr lang="en-US" altLang="zh-CN" b="0" i="1" smtClean="0">
                                      <a:latin typeface="Cambria Math" panose="02040503050406030204" pitchFamily="18" charset="0"/>
                                    </a:rPr>
                                    <m:t>1</m:t>
                                  </m:r>
                                  <m:r>
                                    <a:rPr lang="en-US" altLang="zh-CN" i="1">
                                      <a:latin typeface="Cambria Math" panose="02040503050406030204" pitchFamily="18" charset="0"/>
                                    </a:rPr>
                                    <m:t>)</m:t>
                                  </m:r>
                                </m:sup>
                              </m:sSubSup>
                            </m:e>
                            <m:e>
                              <m:r>
                                <a:rPr lang="en-US" altLang="zh-CN" i="1" smtClean="0">
                                  <a:latin typeface="Cambria Math" panose="02040503050406030204" pitchFamily="18" charset="0"/>
                                </a:rPr>
                                <m:t>⋮</m:t>
                              </m:r>
                            </m:e>
                            <m:e>
                              <m:sSubSup>
                                <m:sSubSupPr>
                                  <m:ctrlPr>
                                    <a:rPr lang="en-US" altLang="zh-CN" i="1">
                                      <a:latin typeface="Cambria Math" panose="02040503050406030204" pitchFamily="18" charset="0"/>
                                    </a:rPr>
                                  </m:ctrlPr>
                                </m:sSubSupPr>
                                <m:e>
                                  <m:r>
                                    <a:rPr lang="zh-CN" altLang="en-US" i="1">
                                      <a:latin typeface="Cambria Math" panose="02040503050406030204" pitchFamily="18" charset="0"/>
                                    </a:rPr>
                                    <m:t>𝛿</m:t>
                                  </m:r>
                                </m:e>
                                <m:sub>
                                  <m:r>
                                    <a:rPr lang="en-US" altLang="zh-CN" b="0" i="1" smtClean="0">
                                      <a:latin typeface="Cambria Math" panose="02040503050406030204" pitchFamily="18" charset="0"/>
                                    </a:rPr>
                                    <m:t>𝑀</m:t>
                                  </m:r>
                                </m:sub>
                                <m:sup>
                                  <m:r>
                                    <a:rPr lang="en-US" altLang="zh-CN" i="1">
                                      <a:latin typeface="Cambria Math" panose="02040503050406030204" pitchFamily="18" charset="0"/>
                                    </a:rPr>
                                    <m:t>(</m:t>
                                  </m:r>
                                  <m:r>
                                    <a:rPr lang="en-US" altLang="zh-CN" b="0" i="1" smtClean="0">
                                      <a:latin typeface="Cambria Math" panose="02040503050406030204" pitchFamily="18" charset="0"/>
                                    </a:rPr>
                                    <m:t>1</m:t>
                                  </m:r>
                                  <m:r>
                                    <a:rPr lang="en-US" altLang="zh-CN" i="1">
                                      <a:latin typeface="Cambria Math" panose="02040503050406030204" pitchFamily="18" charset="0"/>
                                    </a:rPr>
                                    <m:t>)</m:t>
                                  </m:r>
                                </m:sup>
                              </m:sSubSup>
                            </m:e>
                          </m:eqArr>
                        </m:e>
                      </m:d>
                    </m:oMath>
                  </m:oMathPara>
                </a14:m>
                <a:endParaRPr lang="zh-CN" altLang="en-US" dirty="0"/>
              </a:p>
            </p:txBody>
          </p:sp>
        </mc:Choice>
        <mc:Fallback xmlns="">
          <p:sp>
            <p:nvSpPr>
              <p:cNvPr id="28" name="矩形 27">
                <a:extLst>
                  <a:ext uri="{FF2B5EF4-FFF2-40B4-BE49-F238E27FC236}">
                    <a16:creationId xmlns:a16="http://schemas.microsoft.com/office/drawing/2014/main" id="{5A712445-73D9-447E-9CB8-4CF8D9B9E4B3}"/>
                  </a:ext>
                </a:extLst>
              </p:cNvPr>
              <p:cNvSpPr>
                <a:spLocks noRot="1" noChangeAspect="1" noMove="1" noResize="1" noEditPoints="1" noAdjustHandles="1" noChangeArrowheads="1" noChangeShapeType="1" noTextEdit="1"/>
              </p:cNvSpPr>
              <p:nvPr/>
            </p:nvSpPr>
            <p:spPr>
              <a:xfrm>
                <a:off x="181454" y="1716753"/>
                <a:ext cx="2832570" cy="2405467"/>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矩形 29">
                <a:extLst>
                  <a:ext uri="{FF2B5EF4-FFF2-40B4-BE49-F238E27FC236}">
                    <a16:creationId xmlns:a16="http://schemas.microsoft.com/office/drawing/2014/main" id="{46D8D909-34B8-4429-9156-2753DC14465C}"/>
                  </a:ext>
                </a:extLst>
              </p:cNvPr>
              <p:cNvSpPr/>
              <p:nvPr/>
            </p:nvSpPr>
            <p:spPr>
              <a:xfrm>
                <a:off x="61775" y="4065745"/>
                <a:ext cx="1773178" cy="15356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b="1" i="1" smtClean="0">
                              <a:latin typeface="Cambria Math" panose="02040503050406030204" pitchFamily="18" charset="0"/>
                            </a:rPr>
                          </m:ctrlPr>
                        </m:sSubSupPr>
                        <m:e>
                          <m:r>
                            <a:rPr lang="en-US" altLang="zh-CN" b="1">
                              <a:latin typeface="Cambria Math" panose="02040503050406030204" pitchFamily="18" charset="0"/>
                            </a:rPr>
                            <m:t>𝐰</m:t>
                          </m:r>
                        </m:e>
                        <m:sub>
                          <m:r>
                            <a:rPr lang="en-US" altLang="zh-CN" b="0" i="1" smtClean="0">
                              <a:latin typeface="Cambria Math" panose="02040503050406030204" pitchFamily="18" charset="0"/>
                            </a:rPr>
                            <m:t>𝑗𝑘</m:t>
                          </m:r>
                        </m:sub>
                        <m:sup>
                          <m:d>
                            <m:dPr>
                              <m:ctrlPr>
                                <a:rPr lang="en-US" altLang="zh-CN" b="1" i="1" smtClean="0">
                                  <a:latin typeface="Cambria Math" panose="02040503050406030204" pitchFamily="18" charset="0"/>
                                </a:rPr>
                              </m:ctrlPr>
                            </m:dPr>
                            <m:e>
                              <m:r>
                                <a:rPr lang="en-US" altLang="zh-CN" b="0" i="1">
                                  <a:latin typeface="Cambria Math" panose="02040503050406030204" pitchFamily="18" charset="0"/>
                                </a:rPr>
                                <m:t>2</m:t>
                              </m:r>
                            </m:e>
                          </m:d>
                        </m:sup>
                      </m:sSubSup>
                      <m:r>
                        <a:rPr lang="en-US" altLang="zh-CN" b="1" i="0" smtClean="0">
                          <a:latin typeface="Cambria Math" panose="02040503050406030204" pitchFamily="18" charset="0"/>
                        </a:rPr>
                        <m:t>=</m:t>
                      </m:r>
                      <m:d>
                        <m:dPr>
                          <m:ctrlPr>
                            <a:rPr lang="en-US" altLang="zh-CN" b="1" i="1" smtClean="0">
                              <a:latin typeface="Cambria Math" panose="02040503050406030204" pitchFamily="18" charset="0"/>
                            </a:rPr>
                          </m:ctrlPr>
                        </m:dPr>
                        <m:e>
                          <m:eqArr>
                            <m:eqArrPr>
                              <m:ctrlPr>
                                <a:rPr lang="en-US" altLang="zh-CN" i="1">
                                  <a:latin typeface="Cambria Math" panose="02040503050406030204" pitchFamily="18" charset="0"/>
                                </a:rPr>
                              </m:ctrlPr>
                            </m:eqArrPr>
                            <m:e>
                              <m:sSubSup>
                                <m:sSubSupPr>
                                  <m:ctrlPr>
                                    <a:rPr lang="en-US" altLang="zh-CN" b="1" i="1">
                                      <a:latin typeface="Cambria Math" panose="02040503050406030204" pitchFamily="18" charset="0"/>
                                    </a:rPr>
                                  </m:ctrlPr>
                                </m:sSubSupPr>
                                <m:e>
                                  <m:r>
                                    <a:rPr lang="en-US" altLang="zh-CN" b="0" i="1">
                                      <a:latin typeface="Cambria Math" panose="02040503050406030204" pitchFamily="18" charset="0"/>
                                    </a:rPr>
                                    <m:t>𝑤</m:t>
                                  </m:r>
                                </m:e>
                                <m:sub>
                                  <m:r>
                                    <a:rPr lang="en-US" altLang="zh-CN" b="0" i="1" smtClean="0">
                                      <a:latin typeface="Cambria Math" panose="02040503050406030204" pitchFamily="18" charset="0"/>
                                    </a:rPr>
                                    <m:t>𝑗</m:t>
                                  </m:r>
                                  <m:r>
                                    <a:rPr lang="en-US" altLang="zh-CN" b="0" i="1" smtClean="0">
                                      <a:latin typeface="Cambria Math" panose="02040503050406030204" pitchFamily="18" charset="0"/>
                                    </a:rPr>
                                    <m:t>1</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e>
                            <m:e>
                              <m:sSubSup>
                                <m:sSubSupPr>
                                  <m:ctrlPr>
                                    <a:rPr lang="en-US" altLang="zh-CN" b="1" i="1" smtClean="0">
                                      <a:latin typeface="Cambria Math" panose="02040503050406030204" pitchFamily="18" charset="0"/>
                                    </a:rPr>
                                  </m:ctrlPr>
                                </m:sSubSupPr>
                                <m:e>
                                  <m:r>
                                    <a:rPr lang="en-US" altLang="zh-CN" b="0" i="1">
                                      <a:latin typeface="Cambria Math" panose="02040503050406030204" pitchFamily="18" charset="0"/>
                                    </a:rPr>
                                    <m:t>𝑤</m:t>
                                  </m:r>
                                </m:e>
                                <m:sub>
                                  <m:r>
                                    <a:rPr lang="en-US" altLang="zh-CN" b="0" i="1" smtClean="0">
                                      <a:latin typeface="Cambria Math" panose="02040503050406030204" pitchFamily="18" charset="0"/>
                                    </a:rPr>
                                    <m:t>𝑗</m:t>
                                  </m:r>
                                  <m:r>
                                    <a:rPr lang="en-US" altLang="zh-CN" b="0" i="1" smtClean="0">
                                      <a:latin typeface="Cambria Math" panose="02040503050406030204" pitchFamily="18" charset="0"/>
                                    </a:rPr>
                                    <m:t>2</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e>
                            <m:e>
                              <m:r>
                                <a:rPr lang="en-US" altLang="zh-CN" i="1" smtClean="0">
                                  <a:latin typeface="Cambria Math" panose="02040503050406030204" pitchFamily="18" charset="0"/>
                                </a:rPr>
                                <m:t>⋮</m:t>
                              </m:r>
                            </m:e>
                            <m:e>
                              <m:sSubSup>
                                <m:sSubSupPr>
                                  <m:ctrlPr>
                                    <a:rPr lang="en-US" altLang="zh-CN" b="1" i="1">
                                      <a:latin typeface="Cambria Math" panose="02040503050406030204" pitchFamily="18" charset="0"/>
                                    </a:rPr>
                                  </m:ctrlPr>
                                </m:sSubSupPr>
                                <m:e>
                                  <m:r>
                                    <a:rPr lang="en-US" altLang="zh-CN" b="0" i="1">
                                      <a:latin typeface="Cambria Math" panose="02040503050406030204" pitchFamily="18" charset="0"/>
                                    </a:rPr>
                                    <m:t>𝑤</m:t>
                                  </m:r>
                                </m:e>
                                <m:sub>
                                  <m:r>
                                    <a:rPr lang="en-US" altLang="zh-CN" b="0" i="1" smtClean="0">
                                      <a:latin typeface="Cambria Math" panose="02040503050406030204" pitchFamily="18" charset="0"/>
                                    </a:rPr>
                                    <m:t>𝑗𝐾</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e>
                          </m:eqArr>
                        </m:e>
                      </m:d>
                    </m:oMath>
                  </m:oMathPara>
                </a14:m>
                <a:endParaRPr lang="zh-CN" altLang="en-US" dirty="0"/>
              </a:p>
            </p:txBody>
          </p:sp>
        </mc:Choice>
        <mc:Fallback xmlns="">
          <p:sp>
            <p:nvSpPr>
              <p:cNvPr id="30" name="矩形 29">
                <a:extLst>
                  <a:ext uri="{FF2B5EF4-FFF2-40B4-BE49-F238E27FC236}">
                    <a16:creationId xmlns:a16="http://schemas.microsoft.com/office/drawing/2014/main" id="{46D8D909-34B8-4429-9156-2753DC14465C}"/>
                  </a:ext>
                </a:extLst>
              </p:cNvPr>
              <p:cNvSpPr>
                <a:spLocks noRot="1" noChangeAspect="1" noMove="1" noResize="1" noEditPoints="1" noAdjustHandles="1" noChangeArrowheads="1" noChangeShapeType="1" noTextEdit="1"/>
              </p:cNvSpPr>
              <p:nvPr/>
            </p:nvSpPr>
            <p:spPr>
              <a:xfrm>
                <a:off x="61775" y="4065745"/>
                <a:ext cx="1773178" cy="1535677"/>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矩形 31">
                <a:extLst>
                  <a:ext uri="{FF2B5EF4-FFF2-40B4-BE49-F238E27FC236}">
                    <a16:creationId xmlns:a16="http://schemas.microsoft.com/office/drawing/2014/main" id="{F225EC0D-B3A1-4193-9429-ADE37BE2C445}"/>
                  </a:ext>
                </a:extLst>
              </p:cNvPr>
              <p:cNvSpPr/>
              <p:nvPr/>
            </p:nvSpPr>
            <p:spPr>
              <a:xfrm>
                <a:off x="1770912" y="4036027"/>
                <a:ext cx="1941493" cy="162480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b="1" i="1" smtClean="0">
                              <a:latin typeface="Cambria Math" panose="02040503050406030204" pitchFamily="18" charset="0"/>
                            </a:rPr>
                          </m:ctrlPr>
                        </m:sSubSupPr>
                        <m:e>
                          <m:r>
                            <a:rPr lang="en-US" altLang="zh-CN" b="1" i="0" smtClean="0">
                              <a:latin typeface="Cambria Math" panose="02040503050406030204" pitchFamily="18" charset="0"/>
                            </a:rPr>
                            <m:t>𝐖</m:t>
                          </m:r>
                        </m:e>
                        <m:sub>
                          <m:r>
                            <a:rPr lang="en-US" altLang="zh-CN" i="1">
                              <a:latin typeface="Cambria Math" panose="02040503050406030204" pitchFamily="18" charset="0"/>
                            </a:rPr>
                            <m:t>𝑗𝑘</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r>
                        <a:rPr lang="en-US" altLang="zh-CN" b="1" i="0" smtClean="0">
                          <a:latin typeface="Cambria Math" panose="02040503050406030204" pitchFamily="18" charset="0"/>
                        </a:rPr>
                        <m:t>=</m:t>
                      </m:r>
                      <m:d>
                        <m:dPr>
                          <m:ctrlPr>
                            <a:rPr lang="en-US" altLang="zh-CN" b="1" i="1" smtClean="0">
                              <a:latin typeface="Cambria Math" panose="02040503050406030204" pitchFamily="18" charset="0"/>
                            </a:rPr>
                          </m:ctrlPr>
                        </m:dPr>
                        <m:e>
                          <m:eqArr>
                            <m:eqArrPr>
                              <m:ctrlPr>
                                <a:rPr lang="en-US" altLang="zh-CN" i="1">
                                  <a:latin typeface="Cambria Math" panose="02040503050406030204" pitchFamily="18" charset="0"/>
                                </a:rPr>
                              </m:ctrlPr>
                            </m:eqArrPr>
                            <m:e>
                              <m:sSup>
                                <m:sSupPr>
                                  <m:ctrlPr>
                                    <a:rPr lang="en-US" altLang="zh-CN" i="1" smtClean="0">
                                      <a:latin typeface="Cambria Math" panose="02040503050406030204" pitchFamily="18" charset="0"/>
                                    </a:rPr>
                                  </m:ctrlPr>
                                </m:sSupPr>
                                <m:e>
                                  <m:sSubSup>
                                    <m:sSubSupPr>
                                      <m:ctrlPr>
                                        <a:rPr lang="en-US" altLang="zh-CN" b="1" i="1">
                                          <a:latin typeface="Cambria Math" panose="02040503050406030204" pitchFamily="18" charset="0"/>
                                        </a:rPr>
                                      </m:ctrlPr>
                                    </m:sSubSupPr>
                                    <m:e>
                                      <m:r>
                                        <a:rPr lang="en-US" altLang="zh-CN" b="1">
                                          <a:latin typeface="Cambria Math" panose="02040503050406030204" pitchFamily="18" charset="0"/>
                                        </a:rPr>
                                        <m:t>𝐰</m:t>
                                      </m:r>
                                    </m:e>
                                    <m:sub>
                                      <m:r>
                                        <a:rPr lang="en-US" altLang="zh-CN" b="0" i="1" smtClean="0">
                                          <a:latin typeface="Cambria Math" panose="02040503050406030204" pitchFamily="18" charset="0"/>
                                        </a:rPr>
                                        <m:t>1</m:t>
                                      </m:r>
                                      <m:r>
                                        <a:rPr lang="en-US" altLang="zh-CN" i="1">
                                          <a:latin typeface="Cambria Math" panose="02040503050406030204" pitchFamily="18" charset="0"/>
                                        </a:rPr>
                                        <m:t>𝑘</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e>
                                <m:sup>
                                  <m:r>
                                    <a:rPr lang="en-US" altLang="zh-CN" b="0" i="1" smtClean="0">
                                      <a:latin typeface="Cambria Math" panose="02040503050406030204" pitchFamily="18" charset="0"/>
                                    </a:rPr>
                                    <m:t>𝑇</m:t>
                                  </m:r>
                                </m:sup>
                              </m:sSup>
                            </m:e>
                            <m:e>
                              <m:sSup>
                                <m:sSupPr>
                                  <m:ctrlPr>
                                    <a:rPr lang="en-US" altLang="zh-CN" i="1">
                                      <a:latin typeface="Cambria Math" panose="02040503050406030204" pitchFamily="18" charset="0"/>
                                    </a:rPr>
                                  </m:ctrlPr>
                                </m:sSupPr>
                                <m:e>
                                  <m:sSubSup>
                                    <m:sSubSupPr>
                                      <m:ctrlPr>
                                        <a:rPr lang="en-US" altLang="zh-CN" b="1" i="1">
                                          <a:latin typeface="Cambria Math" panose="02040503050406030204" pitchFamily="18" charset="0"/>
                                        </a:rPr>
                                      </m:ctrlPr>
                                    </m:sSubSupPr>
                                    <m:e>
                                      <m:r>
                                        <a:rPr lang="en-US" altLang="zh-CN" b="1">
                                          <a:latin typeface="Cambria Math" panose="02040503050406030204" pitchFamily="18" charset="0"/>
                                        </a:rPr>
                                        <m:t>𝐰</m:t>
                                      </m:r>
                                    </m:e>
                                    <m:sub>
                                      <m:r>
                                        <a:rPr lang="en-US" altLang="zh-CN" b="0" i="1" smtClean="0">
                                          <a:latin typeface="Cambria Math" panose="02040503050406030204" pitchFamily="18" charset="0"/>
                                        </a:rPr>
                                        <m:t>2</m:t>
                                      </m:r>
                                      <m:r>
                                        <a:rPr lang="en-US" altLang="zh-CN" b="0" i="1" smtClean="0">
                                          <a:latin typeface="Cambria Math" panose="02040503050406030204" pitchFamily="18" charset="0"/>
                                        </a:rPr>
                                        <m:t>𝑘</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e>
                                <m:sup>
                                  <m:r>
                                    <a:rPr lang="en-US" altLang="zh-CN" i="1">
                                      <a:latin typeface="Cambria Math" panose="02040503050406030204" pitchFamily="18" charset="0"/>
                                    </a:rPr>
                                    <m:t>𝑇</m:t>
                                  </m:r>
                                </m:sup>
                              </m:sSup>
                            </m:e>
                            <m:e>
                              <m:r>
                                <a:rPr lang="en-US" altLang="zh-CN" i="1" smtClean="0">
                                  <a:latin typeface="Cambria Math" panose="02040503050406030204" pitchFamily="18" charset="0"/>
                                </a:rPr>
                                <m:t>⋮</m:t>
                              </m:r>
                            </m:e>
                            <m:e>
                              <m:sSup>
                                <m:sSupPr>
                                  <m:ctrlPr>
                                    <a:rPr lang="en-US" altLang="zh-CN" i="1">
                                      <a:latin typeface="Cambria Math" panose="02040503050406030204" pitchFamily="18" charset="0"/>
                                    </a:rPr>
                                  </m:ctrlPr>
                                </m:sSupPr>
                                <m:e>
                                  <m:sSubSup>
                                    <m:sSubSupPr>
                                      <m:ctrlPr>
                                        <a:rPr lang="en-US" altLang="zh-CN" b="1" i="1">
                                          <a:latin typeface="Cambria Math" panose="02040503050406030204" pitchFamily="18" charset="0"/>
                                        </a:rPr>
                                      </m:ctrlPr>
                                    </m:sSubSupPr>
                                    <m:e>
                                      <m:r>
                                        <a:rPr lang="en-US" altLang="zh-CN" b="1">
                                          <a:latin typeface="Cambria Math" panose="02040503050406030204" pitchFamily="18" charset="0"/>
                                        </a:rPr>
                                        <m:t>𝐰</m:t>
                                      </m:r>
                                    </m:e>
                                    <m:sub>
                                      <m:r>
                                        <a:rPr lang="en-US" altLang="zh-CN" b="0" i="1" smtClean="0">
                                          <a:latin typeface="Cambria Math" panose="02040503050406030204" pitchFamily="18" charset="0"/>
                                        </a:rPr>
                                        <m:t>𝑀𝑘</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e>
                                <m:sup>
                                  <m:r>
                                    <a:rPr lang="en-US" altLang="zh-CN" i="1">
                                      <a:latin typeface="Cambria Math" panose="02040503050406030204" pitchFamily="18" charset="0"/>
                                    </a:rPr>
                                    <m:t>𝑇</m:t>
                                  </m:r>
                                </m:sup>
                              </m:sSup>
                            </m:e>
                          </m:eqArr>
                        </m:e>
                      </m:d>
                    </m:oMath>
                  </m:oMathPara>
                </a14:m>
                <a:endParaRPr lang="zh-CN" altLang="en-US" dirty="0"/>
              </a:p>
            </p:txBody>
          </p:sp>
        </mc:Choice>
        <mc:Fallback xmlns="">
          <p:sp>
            <p:nvSpPr>
              <p:cNvPr id="32" name="矩形 31">
                <a:extLst>
                  <a:ext uri="{FF2B5EF4-FFF2-40B4-BE49-F238E27FC236}">
                    <a16:creationId xmlns:a16="http://schemas.microsoft.com/office/drawing/2014/main" id="{F225EC0D-B3A1-4193-9429-ADE37BE2C445}"/>
                  </a:ext>
                </a:extLst>
              </p:cNvPr>
              <p:cNvSpPr>
                <a:spLocks noRot="1" noChangeAspect="1" noMove="1" noResize="1" noEditPoints="1" noAdjustHandles="1" noChangeArrowheads="1" noChangeShapeType="1" noTextEdit="1"/>
              </p:cNvSpPr>
              <p:nvPr/>
            </p:nvSpPr>
            <p:spPr>
              <a:xfrm>
                <a:off x="1770912" y="4036027"/>
                <a:ext cx="1941493" cy="1624804"/>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矩形 32">
                <a:extLst>
                  <a:ext uri="{FF2B5EF4-FFF2-40B4-BE49-F238E27FC236}">
                    <a16:creationId xmlns:a16="http://schemas.microsoft.com/office/drawing/2014/main" id="{0CFABA22-3C1F-4298-A05F-175F9B346379}"/>
                  </a:ext>
                </a:extLst>
              </p:cNvPr>
              <p:cNvSpPr/>
              <p:nvPr/>
            </p:nvSpPr>
            <p:spPr>
              <a:xfrm>
                <a:off x="3779623" y="4127193"/>
                <a:ext cx="2194447" cy="163820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CN" b="1" i="1" smtClean="0">
                              <a:latin typeface="Cambria Math" panose="02040503050406030204" pitchFamily="18" charset="0"/>
                            </a:rPr>
                          </m:ctrlPr>
                        </m:sSupPr>
                        <m:e>
                          <m:r>
                            <a:rPr lang="en-US" altLang="zh-CN" b="1" i="0" smtClean="0">
                              <a:latin typeface="Cambria Math" panose="02040503050406030204" pitchFamily="18" charset="0"/>
                            </a:rPr>
                            <m:t>𝐡</m:t>
                          </m:r>
                          <m:r>
                            <a:rPr lang="en-US" altLang="zh-CN" b="1" i="1" smtClean="0">
                              <a:latin typeface="Cambria Math" panose="02040503050406030204" pitchFamily="18" charset="0"/>
                            </a:rPr>
                            <m:t>′</m:t>
                          </m:r>
                        </m:e>
                        <m:sup>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1</m:t>
                              </m:r>
                            </m:e>
                          </m:d>
                        </m:sup>
                      </m:sSup>
                      <m:r>
                        <a:rPr lang="en-US" altLang="zh-CN" b="1" i="1">
                          <a:latin typeface="Cambria Math" panose="02040503050406030204" pitchFamily="18" charset="0"/>
                        </a:rPr>
                        <m:t>=</m:t>
                      </m:r>
                      <m:d>
                        <m:dPr>
                          <m:ctrlPr>
                            <a:rPr lang="en-US" altLang="zh-CN" b="1" i="1">
                              <a:latin typeface="Cambria Math" panose="02040503050406030204" pitchFamily="18" charset="0"/>
                            </a:rPr>
                          </m:ctrlPr>
                        </m:dPr>
                        <m:e>
                          <m:eqArr>
                            <m:eqArrPr>
                              <m:ctrlPr>
                                <a:rPr lang="en-US" altLang="zh-CN" i="1">
                                  <a:latin typeface="Cambria Math" panose="02040503050406030204" pitchFamily="18" charset="0"/>
                                </a:rPr>
                              </m:ctrlPr>
                            </m:eqArrPr>
                            <m:e>
                              <m:sSup>
                                <m:sSupPr>
                                  <m:ctrlPr>
                                    <a:rPr lang="en-US" altLang="zh-CN" i="1">
                                      <a:latin typeface="Cambria Math" panose="02040503050406030204" pitchFamily="18" charset="0"/>
                                    </a:rPr>
                                  </m:ctrlPr>
                                </m:sSupPr>
                                <m:e>
                                  <m:r>
                                    <a:rPr lang="en-US" altLang="zh-CN" i="1">
                                      <a:latin typeface="Cambria Math" panose="02040503050406030204" pitchFamily="18" charset="0"/>
                                    </a:rPr>
                                    <m:t>h</m:t>
                                  </m:r>
                                </m:e>
                                <m:sup>
                                  <m:r>
                                    <a:rPr lang="en-US" altLang="zh-CN" i="1">
                                      <a:latin typeface="Cambria Math" panose="02040503050406030204" pitchFamily="18" charset="0"/>
                                    </a:rPr>
                                    <m:t>′</m:t>
                                  </m:r>
                                </m:sup>
                              </m:sSup>
                              <m:d>
                                <m:dPr>
                                  <m:ctrlPr>
                                    <a:rPr lang="en-US" altLang="zh-CN" b="1" i="1">
                                      <a:latin typeface="Cambria Math" panose="02040503050406030204" pitchFamily="18" charset="0"/>
                                    </a:rPr>
                                  </m:ctrlPr>
                                </m:dPr>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𝑎</m:t>
                                      </m:r>
                                    </m:e>
                                    <m:sub>
                                      <m:r>
                                        <a:rPr lang="en-US" altLang="zh-CN" b="0" i="1" smtClean="0">
                                          <a:latin typeface="Cambria Math" panose="02040503050406030204" pitchFamily="18" charset="0"/>
                                        </a:rPr>
                                        <m:t>1</m:t>
                                      </m:r>
                                    </m:sub>
                                    <m:sup>
                                      <m:r>
                                        <a:rPr lang="en-US" altLang="zh-CN" i="1">
                                          <a:latin typeface="Cambria Math" panose="02040503050406030204" pitchFamily="18" charset="0"/>
                                        </a:rPr>
                                        <m:t>(</m:t>
                                      </m:r>
                                      <m:r>
                                        <a:rPr lang="en-US" altLang="zh-CN" b="0" i="1" smtClean="0">
                                          <a:latin typeface="Cambria Math" panose="02040503050406030204" pitchFamily="18" charset="0"/>
                                        </a:rPr>
                                        <m:t>1</m:t>
                                      </m:r>
                                      <m:r>
                                        <a:rPr lang="en-US" altLang="zh-CN" i="1">
                                          <a:latin typeface="Cambria Math" panose="02040503050406030204" pitchFamily="18" charset="0"/>
                                        </a:rPr>
                                        <m:t>)</m:t>
                                      </m:r>
                                    </m:sup>
                                  </m:sSubSup>
                                </m:e>
                              </m:d>
                            </m:e>
                            <m:e>
                              <m:sSup>
                                <m:sSupPr>
                                  <m:ctrlPr>
                                    <a:rPr lang="en-US" altLang="zh-CN" i="1">
                                      <a:latin typeface="Cambria Math" panose="02040503050406030204" pitchFamily="18" charset="0"/>
                                    </a:rPr>
                                  </m:ctrlPr>
                                </m:sSupPr>
                                <m:e>
                                  <m:r>
                                    <a:rPr lang="en-US" altLang="zh-CN" i="1">
                                      <a:latin typeface="Cambria Math" panose="02040503050406030204" pitchFamily="18" charset="0"/>
                                    </a:rPr>
                                    <m:t>h</m:t>
                                  </m:r>
                                </m:e>
                                <m:sup>
                                  <m:r>
                                    <a:rPr lang="en-US" altLang="zh-CN" i="1">
                                      <a:latin typeface="Cambria Math" panose="02040503050406030204" pitchFamily="18" charset="0"/>
                                    </a:rPr>
                                    <m:t>′</m:t>
                                  </m:r>
                                </m:sup>
                              </m:sSup>
                              <m:d>
                                <m:dPr>
                                  <m:ctrlPr>
                                    <a:rPr lang="en-US" altLang="zh-CN" b="1" i="1">
                                      <a:latin typeface="Cambria Math" panose="02040503050406030204" pitchFamily="18" charset="0"/>
                                    </a:rPr>
                                  </m:ctrlPr>
                                </m:dPr>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𝑎</m:t>
                                      </m:r>
                                    </m:e>
                                    <m:sub>
                                      <m:r>
                                        <a:rPr lang="en-US" altLang="zh-CN" b="0" i="1" smtClean="0">
                                          <a:latin typeface="Cambria Math" panose="02040503050406030204" pitchFamily="18" charset="0"/>
                                        </a:rPr>
                                        <m:t>2</m:t>
                                      </m:r>
                                    </m:sub>
                                    <m:sup>
                                      <m:r>
                                        <a:rPr lang="en-US" altLang="zh-CN" i="1">
                                          <a:latin typeface="Cambria Math" panose="02040503050406030204" pitchFamily="18" charset="0"/>
                                        </a:rPr>
                                        <m:t>(1)</m:t>
                                      </m:r>
                                    </m:sup>
                                  </m:sSubSup>
                                </m:e>
                              </m:d>
                            </m:e>
                            <m:e>
                              <m:r>
                                <a:rPr lang="en-US" altLang="zh-CN" i="1">
                                  <a:latin typeface="Cambria Math" panose="02040503050406030204" pitchFamily="18" charset="0"/>
                                </a:rPr>
                                <m:t>⋮</m:t>
                              </m:r>
                            </m:e>
                            <m:e>
                              <m:sSup>
                                <m:sSupPr>
                                  <m:ctrlPr>
                                    <a:rPr lang="en-US" altLang="zh-CN" i="1">
                                      <a:latin typeface="Cambria Math" panose="02040503050406030204" pitchFamily="18" charset="0"/>
                                    </a:rPr>
                                  </m:ctrlPr>
                                </m:sSupPr>
                                <m:e>
                                  <m:r>
                                    <a:rPr lang="en-US" altLang="zh-CN" i="1">
                                      <a:latin typeface="Cambria Math" panose="02040503050406030204" pitchFamily="18" charset="0"/>
                                    </a:rPr>
                                    <m:t>h</m:t>
                                  </m:r>
                                </m:e>
                                <m:sup>
                                  <m:r>
                                    <a:rPr lang="en-US" altLang="zh-CN" i="1">
                                      <a:latin typeface="Cambria Math" panose="02040503050406030204" pitchFamily="18" charset="0"/>
                                    </a:rPr>
                                    <m:t>′</m:t>
                                  </m:r>
                                </m:sup>
                              </m:sSup>
                              <m:d>
                                <m:dPr>
                                  <m:ctrlPr>
                                    <a:rPr lang="en-US" altLang="zh-CN" b="1" i="1">
                                      <a:latin typeface="Cambria Math" panose="02040503050406030204" pitchFamily="18" charset="0"/>
                                    </a:rPr>
                                  </m:ctrlPr>
                                </m:dPr>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𝑎</m:t>
                                      </m:r>
                                    </m:e>
                                    <m:sub>
                                      <m:r>
                                        <a:rPr lang="en-US" altLang="zh-CN" b="0" i="1" smtClean="0">
                                          <a:latin typeface="Cambria Math" panose="02040503050406030204" pitchFamily="18" charset="0"/>
                                        </a:rPr>
                                        <m:t>𝑀</m:t>
                                      </m:r>
                                    </m:sub>
                                    <m:sup>
                                      <m:r>
                                        <a:rPr lang="en-US" altLang="zh-CN" i="1">
                                          <a:latin typeface="Cambria Math" panose="02040503050406030204" pitchFamily="18" charset="0"/>
                                        </a:rPr>
                                        <m:t>(1)</m:t>
                                      </m:r>
                                    </m:sup>
                                  </m:sSubSup>
                                </m:e>
                              </m:d>
                            </m:e>
                          </m:eqArr>
                        </m:e>
                      </m:d>
                    </m:oMath>
                  </m:oMathPara>
                </a14:m>
                <a:endParaRPr lang="zh-CN" altLang="en-US" dirty="0"/>
              </a:p>
            </p:txBody>
          </p:sp>
        </mc:Choice>
        <mc:Fallback xmlns="">
          <p:sp>
            <p:nvSpPr>
              <p:cNvPr id="33" name="矩形 32">
                <a:extLst>
                  <a:ext uri="{FF2B5EF4-FFF2-40B4-BE49-F238E27FC236}">
                    <a16:creationId xmlns:a16="http://schemas.microsoft.com/office/drawing/2014/main" id="{0CFABA22-3C1F-4298-A05F-175F9B346379}"/>
                  </a:ext>
                </a:extLst>
              </p:cNvPr>
              <p:cNvSpPr>
                <a:spLocks noRot="1" noChangeAspect="1" noMove="1" noResize="1" noEditPoints="1" noAdjustHandles="1" noChangeArrowheads="1" noChangeShapeType="1" noTextEdit="1"/>
              </p:cNvSpPr>
              <p:nvPr/>
            </p:nvSpPr>
            <p:spPr>
              <a:xfrm>
                <a:off x="3779623" y="4127193"/>
                <a:ext cx="2194447" cy="1638205"/>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矩形 34">
                <a:extLst>
                  <a:ext uri="{FF2B5EF4-FFF2-40B4-BE49-F238E27FC236}">
                    <a16:creationId xmlns:a16="http://schemas.microsoft.com/office/drawing/2014/main" id="{5FA11CC0-7E22-4E9F-8529-6E3C0459A107}"/>
                  </a:ext>
                </a:extLst>
              </p:cNvPr>
              <p:cNvSpPr/>
              <p:nvPr/>
            </p:nvSpPr>
            <p:spPr>
              <a:xfrm>
                <a:off x="6274091" y="5771668"/>
                <a:ext cx="2616357" cy="472694"/>
              </a:xfrm>
              <a:prstGeom prst="rect">
                <a:avLst/>
              </a:prstGeom>
              <a:ln>
                <a:solidFill>
                  <a:srgbClr val="FF0000"/>
                </a:solidFill>
              </a:ln>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CN" b="1" i="1" smtClean="0">
                              <a:latin typeface="Cambria Math" panose="02040503050406030204" pitchFamily="18" charset="0"/>
                            </a:rPr>
                          </m:ctrlPr>
                        </m:sSupPr>
                        <m:e>
                          <m:r>
                            <a:rPr lang="zh-CN" altLang="en-US" b="1">
                              <a:latin typeface="Cambria Math" panose="02040503050406030204" pitchFamily="18" charset="0"/>
                            </a:rPr>
                            <m:t>𝛅</m:t>
                          </m:r>
                        </m:e>
                        <m:sup>
                          <m:d>
                            <m:dPr>
                              <m:ctrlPr>
                                <a:rPr lang="en-US" altLang="zh-CN" i="1">
                                  <a:latin typeface="Cambria Math" panose="02040503050406030204" pitchFamily="18" charset="0"/>
                                </a:rPr>
                              </m:ctrlPr>
                            </m:dPr>
                            <m:e>
                              <m:r>
                                <a:rPr lang="en-US" altLang="zh-CN" i="1">
                                  <a:latin typeface="Cambria Math" panose="02040503050406030204" pitchFamily="18" charset="0"/>
                                </a:rPr>
                                <m:t>1</m:t>
                              </m:r>
                            </m:e>
                          </m:d>
                        </m:sup>
                      </m:sSup>
                      <m:r>
                        <a:rPr lang="en-US" altLang="zh-CN" b="1" i="0" smtClean="0">
                          <a:latin typeface="Cambria Math" panose="02040503050406030204" pitchFamily="18" charset="0"/>
                        </a:rPr>
                        <m:t>=</m:t>
                      </m:r>
                      <m:d>
                        <m:dPr>
                          <m:ctrlPr>
                            <a:rPr lang="en-US" altLang="zh-CN" b="1" i="1">
                              <a:latin typeface="Cambria Math" panose="02040503050406030204" pitchFamily="18" charset="0"/>
                            </a:rPr>
                          </m:ctrlPr>
                        </m:dPr>
                        <m:e>
                          <m:sSup>
                            <m:sSupPr>
                              <m:ctrlPr>
                                <a:rPr lang="en-US" altLang="zh-CN" b="1" i="1">
                                  <a:latin typeface="Cambria Math" panose="02040503050406030204" pitchFamily="18" charset="0"/>
                                </a:rPr>
                              </m:ctrlPr>
                            </m:sSupPr>
                            <m:e>
                              <m:r>
                                <a:rPr lang="en-US" altLang="zh-CN" b="1">
                                  <a:latin typeface="Cambria Math" panose="02040503050406030204" pitchFamily="18" charset="0"/>
                                </a:rPr>
                                <m:t>𝐡</m:t>
                              </m:r>
                              <m:r>
                                <a:rPr lang="en-US" altLang="zh-CN" b="1" i="1">
                                  <a:latin typeface="Cambria Math" panose="02040503050406030204" pitchFamily="18" charset="0"/>
                                </a:rPr>
                                <m:t>′</m:t>
                              </m:r>
                            </m:e>
                            <m:sup>
                              <m:d>
                                <m:dPr>
                                  <m:ctrlPr>
                                    <a:rPr lang="en-US" altLang="zh-CN" i="1">
                                      <a:latin typeface="Cambria Math" panose="02040503050406030204" pitchFamily="18" charset="0"/>
                                    </a:rPr>
                                  </m:ctrlPr>
                                </m:dPr>
                                <m:e>
                                  <m:r>
                                    <a:rPr lang="en-US" altLang="zh-CN" i="1">
                                      <a:latin typeface="Cambria Math" panose="02040503050406030204" pitchFamily="18" charset="0"/>
                                    </a:rPr>
                                    <m:t>1</m:t>
                                  </m:r>
                                </m:e>
                              </m:d>
                            </m:sup>
                          </m:sSup>
                        </m:e>
                      </m:d>
                      <m:r>
                        <a:rPr lang="en-US" altLang="zh-CN" b="1" i="1" smtClean="0">
                          <a:latin typeface="Cambria Math" panose="02040503050406030204" pitchFamily="18" charset="0"/>
                          <a:ea typeface="Cambria Math" panose="02040503050406030204" pitchFamily="18" charset="0"/>
                        </a:rPr>
                        <m:t>∙</m:t>
                      </m:r>
                      <m:sSubSup>
                        <m:sSubSupPr>
                          <m:ctrlPr>
                            <a:rPr lang="en-US" altLang="zh-CN" b="1" i="1">
                              <a:latin typeface="Cambria Math" panose="02040503050406030204" pitchFamily="18" charset="0"/>
                            </a:rPr>
                          </m:ctrlPr>
                        </m:sSubSupPr>
                        <m:e>
                          <m:r>
                            <a:rPr lang="en-US" altLang="zh-CN" b="1">
                              <a:latin typeface="Cambria Math" panose="02040503050406030204" pitchFamily="18" charset="0"/>
                            </a:rPr>
                            <m:t>𝐖</m:t>
                          </m:r>
                        </m:e>
                        <m:sub>
                          <m:r>
                            <a:rPr lang="en-US" altLang="zh-CN" i="1">
                              <a:latin typeface="Cambria Math" panose="02040503050406030204" pitchFamily="18" charset="0"/>
                            </a:rPr>
                            <m:t>𝑗𝑘</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sSup>
                        <m:sSupPr>
                          <m:ctrlPr>
                            <a:rPr lang="en-US" altLang="zh-CN" b="1" i="1">
                              <a:latin typeface="Cambria Math" panose="02040503050406030204" pitchFamily="18" charset="0"/>
                            </a:rPr>
                          </m:ctrlPr>
                        </m:sSupPr>
                        <m:e>
                          <m:r>
                            <a:rPr lang="zh-CN" altLang="en-US" b="1">
                              <a:latin typeface="Cambria Math" panose="02040503050406030204" pitchFamily="18" charset="0"/>
                            </a:rPr>
                            <m:t>𝛅</m:t>
                          </m:r>
                        </m:e>
                        <m:sup>
                          <m:d>
                            <m:dPr>
                              <m:ctrlPr>
                                <a:rPr lang="en-US" altLang="zh-CN" i="1">
                                  <a:latin typeface="Cambria Math" panose="02040503050406030204" pitchFamily="18" charset="0"/>
                                </a:rPr>
                              </m:ctrlPr>
                            </m:dPr>
                            <m:e>
                              <m:r>
                                <a:rPr lang="en-US" altLang="zh-CN" i="1">
                                  <a:latin typeface="Cambria Math" panose="02040503050406030204" pitchFamily="18" charset="0"/>
                                </a:rPr>
                                <m:t>2</m:t>
                              </m:r>
                            </m:e>
                          </m:d>
                        </m:sup>
                      </m:sSup>
                    </m:oMath>
                  </m:oMathPara>
                </a14:m>
                <a:endParaRPr lang="zh-CN" altLang="en-US" dirty="0"/>
              </a:p>
            </p:txBody>
          </p:sp>
        </mc:Choice>
        <mc:Fallback xmlns="">
          <p:sp>
            <p:nvSpPr>
              <p:cNvPr id="35" name="矩形 34">
                <a:extLst>
                  <a:ext uri="{FF2B5EF4-FFF2-40B4-BE49-F238E27FC236}">
                    <a16:creationId xmlns:a16="http://schemas.microsoft.com/office/drawing/2014/main" id="{5FA11CC0-7E22-4E9F-8529-6E3C0459A107}"/>
                  </a:ext>
                </a:extLst>
              </p:cNvPr>
              <p:cNvSpPr>
                <a:spLocks noRot="1" noChangeAspect="1" noMove="1" noResize="1" noEditPoints="1" noAdjustHandles="1" noChangeArrowheads="1" noChangeShapeType="1" noTextEdit="1"/>
              </p:cNvSpPr>
              <p:nvPr/>
            </p:nvSpPr>
            <p:spPr>
              <a:xfrm>
                <a:off x="6274091" y="5771668"/>
                <a:ext cx="2616357" cy="472694"/>
              </a:xfrm>
              <a:prstGeom prst="rect">
                <a:avLst/>
              </a:prstGeom>
              <a:blipFill>
                <a:blip r:embed="rId12"/>
                <a:stretch>
                  <a:fillRect b="-5063"/>
                </a:stretch>
              </a:blipFill>
              <a:ln>
                <a:solidFill>
                  <a:srgbClr val="FF0000"/>
                </a:solidFill>
              </a:ln>
            </p:spPr>
            <p:txBody>
              <a:bodyPr/>
              <a:lstStyle/>
              <a:p>
                <a:r>
                  <a:rPr lang="zh-CN" altLang="en-US">
                    <a:noFill/>
                  </a:rPr>
                  <a:t> </a:t>
                </a:r>
              </a:p>
            </p:txBody>
          </p:sp>
        </mc:Fallback>
      </mc:AlternateContent>
      <p:grpSp>
        <p:nvGrpSpPr>
          <p:cNvPr id="54" name="组合 53">
            <a:extLst>
              <a:ext uri="{FF2B5EF4-FFF2-40B4-BE49-F238E27FC236}">
                <a16:creationId xmlns:a16="http://schemas.microsoft.com/office/drawing/2014/main" id="{C09A2A0E-7886-4DAB-8352-2F1E36C0CC79}"/>
              </a:ext>
            </a:extLst>
          </p:cNvPr>
          <p:cNvGrpSpPr>
            <a:grpSpLocks noChangeAspect="1"/>
          </p:cNvGrpSpPr>
          <p:nvPr/>
        </p:nvGrpSpPr>
        <p:grpSpPr>
          <a:xfrm>
            <a:off x="8370905" y="3669507"/>
            <a:ext cx="3713308" cy="2890108"/>
            <a:chOff x="2799406" y="1917232"/>
            <a:chExt cx="4205357" cy="3273075"/>
          </a:xfrm>
        </p:grpSpPr>
        <p:sp>
          <p:nvSpPr>
            <p:cNvPr id="55" name="椭圆 54">
              <a:extLst>
                <a:ext uri="{FF2B5EF4-FFF2-40B4-BE49-F238E27FC236}">
                  <a16:creationId xmlns:a16="http://schemas.microsoft.com/office/drawing/2014/main" id="{321D07B7-ED5C-43A0-A42E-F97A57C35CD1}"/>
                </a:ext>
              </a:extLst>
            </p:cNvPr>
            <p:cNvSpPr/>
            <p:nvPr/>
          </p:nvSpPr>
          <p:spPr>
            <a:xfrm>
              <a:off x="3220397" y="3234925"/>
              <a:ext cx="288000" cy="288000"/>
            </a:xfrm>
            <a:prstGeom prst="ellipse">
              <a:avLst/>
            </a:prstGeom>
            <a:noFill/>
            <a:ln w="57150">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a:extLst>
                <a:ext uri="{FF2B5EF4-FFF2-40B4-BE49-F238E27FC236}">
                  <a16:creationId xmlns:a16="http://schemas.microsoft.com/office/drawing/2014/main" id="{6E139017-590C-4BFA-B734-87F0E74712CF}"/>
                </a:ext>
              </a:extLst>
            </p:cNvPr>
            <p:cNvCxnSpPr>
              <a:cxnSpLocks/>
              <a:stCxn id="55" idx="6"/>
              <a:endCxn id="57" idx="2"/>
            </p:cNvCxnSpPr>
            <p:nvPr/>
          </p:nvCxnSpPr>
          <p:spPr>
            <a:xfrm flipV="1">
              <a:off x="3508397" y="2682233"/>
              <a:ext cx="1508948" cy="696692"/>
            </a:xfrm>
            <a:prstGeom prst="line">
              <a:avLst/>
            </a:prstGeom>
            <a:ln w="28575">
              <a:solidFill>
                <a:srgbClr val="0202BF"/>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57" name="椭圆 56">
              <a:extLst>
                <a:ext uri="{FF2B5EF4-FFF2-40B4-BE49-F238E27FC236}">
                  <a16:creationId xmlns:a16="http://schemas.microsoft.com/office/drawing/2014/main" id="{1A0C51F2-5E6C-4594-87B1-7C405C7F9863}"/>
                </a:ext>
              </a:extLst>
            </p:cNvPr>
            <p:cNvSpPr/>
            <p:nvPr/>
          </p:nvSpPr>
          <p:spPr>
            <a:xfrm>
              <a:off x="5017345" y="2538233"/>
              <a:ext cx="288000" cy="288000"/>
            </a:xfrm>
            <a:prstGeom prst="ellipse">
              <a:avLst/>
            </a:prstGeom>
            <a:noFill/>
            <a:ln w="57150">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a:extLst>
                <a:ext uri="{FF2B5EF4-FFF2-40B4-BE49-F238E27FC236}">
                  <a16:creationId xmlns:a16="http://schemas.microsoft.com/office/drawing/2014/main" id="{46272C98-EF52-484D-A6D9-035534D444CA}"/>
                </a:ext>
              </a:extLst>
            </p:cNvPr>
            <p:cNvSpPr/>
            <p:nvPr/>
          </p:nvSpPr>
          <p:spPr>
            <a:xfrm>
              <a:off x="6392024" y="2269358"/>
              <a:ext cx="288000" cy="288000"/>
            </a:xfrm>
            <a:prstGeom prst="ellipse">
              <a:avLst/>
            </a:prstGeom>
            <a:noFill/>
            <a:ln w="57150">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a:extLst>
                <a:ext uri="{FF2B5EF4-FFF2-40B4-BE49-F238E27FC236}">
                  <a16:creationId xmlns:a16="http://schemas.microsoft.com/office/drawing/2014/main" id="{515BD816-2782-4F6D-BAE5-5024D5AFFF5B}"/>
                </a:ext>
              </a:extLst>
            </p:cNvPr>
            <p:cNvSpPr/>
            <p:nvPr/>
          </p:nvSpPr>
          <p:spPr>
            <a:xfrm>
              <a:off x="6410155" y="4216916"/>
              <a:ext cx="288000" cy="288000"/>
            </a:xfrm>
            <a:prstGeom prst="ellipse">
              <a:avLst/>
            </a:prstGeom>
            <a:noFill/>
            <a:ln w="57150">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0" name="直接连接符 59">
              <a:extLst>
                <a:ext uri="{FF2B5EF4-FFF2-40B4-BE49-F238E27FC236}">
                  <a16:creationId xmlns:a16="http://schemas.microsoft.com/office/drawing/2014/main" id="{EF5FD546-E826-4186-8F22-B19E647277A8}"/>
                </a:ext>
              </a:extLst>
            </p:cNvPr>
            <p:cNvCxnSpPr>
              <a:cxnSpLocks/>
              <a:stCxn id="58" idx="2"/>
              <a:endCxn id="57" idx="6"/>
            </p:cNvCxnSpPr>
            <p:nvPr/>
          </p:nvCxnSpPr>
          <p:spPr>
            <a:xfrm flipH="1">
              <a:off x="5305345" y="2413358"/>
              <a:ext cx="1086679" cy="268875"/>
            </a:xfrm>
            <a:prstGeom prst="line">
              <a:avLst/>
            </a:prstGeom>
            <a:ln w="28575">
              <a:solidFill>
                <a:srgbClr val="0202B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8DD16A81-799F-485E-B3AA-34BC5EAF7E38}"/>
                </a:ext>
              </a:extLst>
            </p:cNvPr>
            <p:cNvCxnSpPr>
              <a:cxnSpLocks/>
              <a:stCxn id="59" idx="1"/>
              <a:endCxn id="57" idx="5"/>
            </p:cNvCxnSpPr>
            <p:nvPr/>
          </p:nvCxnSpPr>
          <p:spPr>
            <a:xfrm flipH="1" flipV="1">
              <a:off x="5263168" y="2784056"/>
              <a:ext cx="1189164" cy="1475037"/>
            </a:xfrm>
            <a:prstGeom prst="line">
              <a:avLst/>
            </a:prstGeom>
            <a:ln w="28575">
              <a:solidFill>
                <a:srgbClr val="0202B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DC3B591C-9A76-4929-B62A-D81C5183AEF3}"/>
                </a:ext>
              </a:extLst>
            </p:cNvPr>
            <p:cNvCxnSpPr>
              <a:cxnSpLocks/>
              <a:stCxn id="63" idx="1"/>
              <a:endCxn id="57" idx="4"/>
            </p:cNvCxnSpPr>
            <p:nvPr/>
          </p:nvCxnSpPr>
          <p:spPr>
            <a:xfrm flipH="1" flipV="1">
              <a:off x="5161345" y="2826233"/>
              <a:ext cx="1285097" cy="2118251"/>
            </a:xfrm>
            <a:prstGeom prst="line">
              <a:avLst/>
            </a:prstGeom>
            <a:ln w="28575">
              <a:solidFill>
                <a:srgbClr val="0202B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63" name="椭圆 62">
              <a:extLst>
                <a:ext uri="{FF2B5EF4-FFF2-40B4-BE49-F238E27FC236}">
                  <a16:creationId xmlns:a16="http://schemas.microsoft.com/office/drawing/2014/main" id="{C64AA55D-C574-4649-A052-90F681418674}"/>
                </a:ext>
              </a:extLst>
            </p:cNvPr>
            <p:cNvSpPr/>
            <p:nvPr/>
          </p:nvSpPr>
          <p:spPr>
            <a:xfrm>
              <a:off x="6404265" y="4902307"/>
              <a:ext cx="288000" cy="288000"/>
            </a:xfrm>
            <a:prstGeom prst="ellipse">
              <a:avLst/>
            </a:prstGeom>
            <a:solidFill>
              <a:srgbClr val="0208A7"/>
            </a:solidFill>
            <a:ln w="57150">
              <a:solidFill>
                <a:srgbClr val="0400B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椭圆 63">
              <a:extLst>
                <a:ext uri="{FF2B5EF4-FFF2-40B4-BE49-F238E27FC236}">
                  <a16:creationId xmlns:a16="http://schemas.microsoft.com/office/drawing/2014/main" id="{63C3D68B-D579-415C-B0C8-54633447DBDF}"/>
                </a:ext>
              </a:extLst>
            </p:cNvPr>
            <p:cNvSpPr/>
            <p:nvPr/>
          </p:nvSpPr>
          <p:spPr>
            <a:xfrm>
              <a:off x="6521205" y="2837864"/>
              <a:ext cx="72691" cy="72000"/>
            </a:xfrm>
            <a:prstGeom prst="ellipse">
              <a:avLst/>
            </a:prstGeom>
            <a:solidFill>
              <a:srgbClr val="0208A7"/>
            </a:solidFill>
            <a:ln>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椭圆 64">
              <a:extLst>
                <a:ext uri="{FF2B5EF4-FFF2-40B4-BE49-F238E27FC236}">
                  <a16:creationId xmlns:a16="http://schemas.microsoft.com/office/drawing/2014/main" id="{99CC3ABB-3D73-41AC-9F99-BAF53F1FF86E}"/>
                </a:ext>
              </a:extLst>
            </p:cNvPr>
            <p:cNvSpPr/>
            <p:nvPr/>
          </p:nvSpPr>
          <p:spPr>
            <a:xfrm>
              <a:off x="6521205" y="3031074"/>
              <a:ext cx="72691" cy="72000"/>
            </a:xfrm>
            <a:prstGeom prst="ellipse">
              <a:avLst/>
            </a:prstGeom>
            <a:solidFill>
              <a:srgbClr val="0208A7"/>
            </a:solidFill>
            <a:ln>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a:extLst>
                <a:ext uri="{FF2B5EF4-FFF2-40B4-BE49-F238E27FC236}">
                  <a16:creationId xmlns:a16="http://schemas.microsoft.com/office/drawing/2014/main" id="{2271C874-C413-48F1-84AE-EDE612A21D2D}"/>
                </a:ext>
              </a:extLst>
            </p:cNvPr>
            <p:cNvSpPr/>
            <p:nvPr/>
          </p:nvSpPr>
          <p:spPr>
            <a:xfrm>
              <a:off x="6521205" y="3224284"/>
              <a:ext cx="72691" cy="72000"/>
            </a:xfrm>
            <a:prstGeom prst="ellipse">
              <a:avLst/>
            </a:prstGeom>
            <a:solidFill>
              <a:srgbClr val="0208A7"/>
            </a:solidFill>
            <a:ln>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a:extLst>
                <a:ext uri="{FF2B5EF4-FFF2-40B4-BE49-F238E27FC236}">
                  <a16:creationId xmlns:a16="http://schemas.microsoft.com/office/drawing/2014/main" id="{D089D264-B7E8-40FE-9AB2-C43DAAA528A4}"/>
                </a:ext>
              </a:extLst>
            </p:cNvPr>
            <p:cNvSpPr/>
            <p:nvPr/>
          </p:nvSpPr>
          <p:spPr>
            <a:xfrm>
              <a:off x="6519550" y="3417494"/>
              <a:ext cx="72691" cy="72000"/>
            </a:xfrm>
            <a:prstGeom prst="ellipse">
              <a:avLst/>
            </a:prstGeom>
            <a:solidFill>
              <a:srgbClr val="0208A7"/>
            </a:solidFill>
            <a:ln>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椭圆 67">
              <a:extLst>
                <a:ext uri="{FF2B5EF4-FFF2-40B4-BE49-F238E27FC236}">
                  <a16:creationId xmlns:a16="http://schemas.microsoft.com/office/drawing/2014/main" id="{6D65694B-BFF3-4A1F-9DB5-D67AB00A3C00}"/>
                </a:ext>
              </a:extLst>
            </p:cNvPr>
            <p:cNvSpPr/>
            <p:nvPr/>
          </p:nvSpPr>
          <p:spPr>
            <a:xfrm>
              <a:off x="6519550" y="3610704"/>
              <a:ext cx="72691" cy="72000"/>
            </a:xfrm>
            <a:prstGeom prst="ellipse">
              <a:avLst/>
            </a:prstGeom>
            <a:solidFill>
              <a:srgbClr val="0208A7"/>
            </a:solidFill>
            <a:ln>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椭圆 68">
              <a:extLst>
                <a:ext uri="{FF2B5EF4-FFF2-40B4-BE49-F238E27FC236}">
                  <a16:creationId xmlns:a16="http://schemas.microsoft.com/office/drawing/2014/main" id="{C5EA4F4D-EE08-4373-B0B8-BEDB298D8695}"/>
                </a:ext>
              </a:extLst>
            </p:cNvPr>
            <p:cNvSpPr/>
            <p:nvPr/>
          </p:nvSpPr>
          <p:spPr>
            <a:xfrm>
              <a:off x="6519550" y="3803914"/>
              <a:ext cx="72691" cy="72000"/>
            </a:xfrm>
            <a:prstGeom prst="ellipse">
              <a:avLst/>
            </a:prstGeom>
            <a:solidFill>
              <a:srgbClr val="0208A7"/>
            </a:solidFill>
            <a:ln>
              <a:solidFill>
                <a:srgbClr val="020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70" name="矩形 69">
                  <a:extLst>
                    <a:ext uri="{FF2B5EF4-FFF2-40B4-BE49-F238E27FC236}">
                      <a16:creationId xmlns:a16="http://schemas.microsoft.com/office/drawing/2014/main" id="{C464BB11-B303-405D-A813-A4B8472AF205}"/>
                    </a:ext>
                  </a:extLst>
                </p:cNvPr>
                <p:cNvSpPr/>
                <p:nvPr/>
              </p:nvSpPr>
              <p:spPr>
                <a:xfrm>
                  <a:off x="4630962" y="2184923"/>
                  <a:ext cx="1210268" cy="47622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zh-CN" altLang="en-US" i="1">
                                <a:latin typeface="Cambria Math" panose="02040503050406030204" pitchFamily="18" charset="0"/>
                              </a:rPr>
                              <m:t>𝛿</m:t>
                            </m:r>
                          </m:e>
                          <m:sub>
                            <m:r>
                              <a:rPr lang="en-US" altLang="zh-CN" b="0" i="1" smtClean="0">
                                <a:latin typeface="Cambria Math" panose="02040503050406030204" pitchFamily="18" charset="0"/>
                              </a:rPr>
                              <m:t>𝑗</m:t>
                            </m:r>
                          </m:sub>
                          <m:sup>
                            <m:r>
                              <a:rPr lang="en-US" altLang="zh-CN" b="0" i="1" smtClean="0">
                                <a:latin typeface="Cambria Math" panose="02040503050406030204" pitchFamily="18" charset="0"/>
                              </a:rPr>
                              <m:t>(</m:t>
                            </m:r>
                            <m:r>
                              <a:rPr lang="en-US" altLang="zh-CN" b="0" i="1" smtClean="0">
                                <a:latin typeface="Cambria Math" panose="02040503050406030204" pitchFamily="18" charset="0"/>
                              </a:rPr>
                              <m:t>𝑙𝑎𝑦𝑒𝑟</m:t>
                            </m:r>
                            <m:r>
                              <a:rPr lang="en-US" altLang="zh-CN" b="0" i="1" smtClean="0">
                                <a:latin typeface="Cambria Math" panose="02040503050406030204" pitchFamily="18" charset="0"/>
                              </a:rPr>
                              <m:t>−1)</m:t>
                            </m:r>
                          </m:sup>
                        </m:sSubSup>
                      </m:oMath>
                    </m:oMathPara>
                  </a14:m>
                  <a:endParaRPr lang="zh-CN" altLang="en-US" dirty="0"/>
                </a:p>
              </p:txBody>
            </p:sp>
          </mc:Choice>
          <mc:Fallback xmlns="">
            <p:sp>
              <p:nvSpPr>
                <p:cNvPr id="70" name="矩形 69">
                  <a:extLst>
                    <a:ext uri="{FF2B5EF4-FFF2-40B4-BE49-F238E27FC236}">
                      <a16:creationId xmlns:a16="http://schemas.microsoft.com/office/drawing/2014/main" id="{C464BB11-B303-405D-A813-A4B8472AF205}"/>
                    </a:ext>
                  </a:extLst>
                </p:cNvPr>
                <p:cNvSpPr>
                  <a:spLocks noRot="1" noChangeAspect="1" noMove="1" noResize="1" noEditPoints="1" noAdjustHandles="1" noChangeArrowheads="1" noChangeShapeType="1" noTextEdit="1"/>
                </p:cNvSpPr>
                <p:nvPr/>
              </p:nvSpPr>
              <p:spPr>
                <a:xfrm>
                  <a:off x="4630962" y="2184923"/>
                  <a:ext cx="1210268" cy="476221"/>
                </a:xfrm>
                <a:prstGeom prst="rect">
                  <a:avLst/>
                </a:prstGeom>
                <a:blipFill>
                  <a:blip r:embed="rId13"/>
                  <a:stretch>
                    <a:fillRect r="-5114" b="-202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1" name="矩形 70">
                  <a:extLst>
                    <a:ext uri="{FF2B5EF4-FFF2-40B4-BE49-F238E27FC236}">
                      <a16:creationId xmlns:a16="http://schemas.microsoft.com/office/drawing/2014/main" id="{72A59F64-8B5E-4E1C-AD6C-543133A7957B}"/>
                    </a:ext>
                  </a:extLst>
                </p:cNvPr>
                <p:cNvSpPr/>
                <p:nvPr/>
              </p:nvSpPr>
              <p:spPr>
                <a:xfrm>
                  <a:off x="6014107" y="1917232"/>
                  <a:ext cx="990656" cy="44287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zh-CN" altLang="en-US" b="0" i="1" smtClean="0">
                                <a:latin typeface="Cambria Math" panose="02040503050406030204" pitchFamily="18" charset="0"/>
                              </a:rPr>
                              <m:t>𝛿</m:t>
                            </m:r>
                          </m:e>
                          <m:sub>
                            <m:r>
                              <a:rPr lang="en-US" altLang="zh-CN" b="0" i="1" smtClean="0">
                                <a:latin typeface="Cambria Math" panose="02040503050406030204" pitchFamily="18" charset="0"/>
                              </a:rPr>
                              <m:t>𝑘</m:t>
                            </m:r>
                          </m:sub>
                          <m:sup>
                            <m:r>
                              <a:rPr lang="en-US" altLang="zh-CN" b="0" i="1" smtClean="0">
                                <a:latin typeface="Cambria Math" panose="02040503050406030204" pitchFamily="18" charset="0"/>
                              </a:rPr>
                              <m:t>(</m:t>
                            </m:r>
                            <m:r>
                              <a:rPr lang="en-US" altLang="zh-CN" b="0" i="1" smtClean="0">
                                <a:latin typeface="Cambria Math" panose="02040503050406030204" pitchFamily="18" charset="0"/>
                              </a:rPr>
                              <m:t>𝑙𝑎𝑦𝑒𝑟</m:t>
                            </m:r>
                            <m:r>
                              <a:rPr lang="en-US" altLang="zh-CN" b="0" i="1" smtClean="0">
                                <a:latin typeface="Cambria Math" panose="02040503050406030204" pitchFamily="18" charset="0"/>
                              </a:rPr>
                              <m:t>)</m:t>
                            </m:r>
                          </m:sup>
                        </m:sSubSup>
                      </m:oMath>
                    </m:oMathPara>
                  </a14:m>
                  <a:endParaRPr lang="zh-CN" altLang="en-US" dirty="0"/>
                </a:p>
              </p:txBody>
            </p:sp>
          </mc:Choice>
          <mc:Fallback xmlns="">
            <p:sp>
              <p:nvSpPr>
                <p:cNvPr id="71" name="矩形 70">
                  <a:extLst>
                    <a:ext uri="{FF2B5EF4-FFF2-40B4-BE49-F238E27FC236}">
                      <a16:creationId xmlns:a16="http://schemas.microsoft.com/office/drawing/2014/main" id="{72A59F64-8B5E-4E1C-AD6C-543133A7957B}"/>
                    </a:ext>
                  </a:extLst>
                </p:cNvPr>
                <p:cNvSpPr>
                  <a:spLocks noRot="1" noChangeAspect="1" noMove="1" noResize="1" noEditPoints="1" noAdjustHandles="1" noChangeArrowheads="1" noChangeShapeType="1" noTextEdit="1"/>
                </p:cNvSpPr>
                <p:nvPr/>
              </p:nvSpPr>
              <p:spPr>
                <a:xfrm>
                  <a:off x="6014107" y="1917232"/>
                  <a:ext cx="990656" cy="442878"/>
                </a:xfrm>
                <a:prstGeom prst="rect">
                  <a:avLst/>
                </a:prstGeom>
                <a:blipFill>
                  <a:blip r:embed="rId14"/>
                  <a:stretch>
                    <a:fillRect r="-3497" b="-156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2" name="矩形 71">
                  <a:extLst>
                    <a:ext uri="{FF2B5EF4-FFF2-40B4-BE49-F238E27FC236}">
                      <a16:creationId xmlns:a16="http://schemas.microsoft.com/office/drawing/2014/main" id="{77C1AF8D-B491-4B4A-AAF7-C12C1199BCC4}"/>
                    </a:ext>
                  </a:extLst>
                </p:cNvPr>
                <p:cNvSpPr/>
                <p:nvPr/>
              </p:nvSpPr>
              <p:spPr>
                <a:xfrm>
                  <a:off x="2799406" y="2877830"/>
                  <a:ext cx="1210267" cy="44493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zh-CN" altLang="en-US" i="1">
                                <a:latin typeface="Cambria Math" panose="02040503050406030204" pitchFamily="18" charset="0"/>
                              </a:rPr>
                              <m:t>𝛿</m:t>
                            </m:r>
                          </m:e>
                          <m:sub>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m:t>
                            </m:r>
                            <m:r>
                              <a:rPr lang="en-US" altLang="zh-CN" b="0" i="1" smtClean="0">
                                <a:latin typeface="Cambria Math" panose="02040503050406030204" pitchFamily="18" charset="0"/>
                              </a:rPr>
                              <m:t>𝑙𝑎𝑦𝑒𝑟</m:t>
                            </m:r>
                            <m:r>
                              <a:rPr lang="en-US" altLang="zh-CN" b="0" i="1" smtClean="0">
                                <a:latin typeface="Cambria Math" panose="02040503050406030204" pitchFamily="18" charset="0"/>
                              </a:rPr>
                              <m:t>−2)</m:t>
                            </m:r>
                          </m:sup>
                        </m:sSubSup>
                      </m:oMath>
                    </m:oMathPara>
                  </a14:m>
                  <a:endParaRPr lang="zh-CN" altLang="en-US" dirty="0"/>
                </a:p>
              </p:txBody>
            </p:sp>
          </mc:Choice>
          <mc:Fallback xmlns="">
            <p:sp>
              <p:nvSpPr>
                <p:cNvPr id="72" name="矩形 71">
                  <a:extLst>
                    <a:ext uri="{FF2B5EF4-FFF2-40B4-BE49-F238E27FC236}">
                      <a16:creationId xmlns:a16="http://schemas.microsoft.com/office/drawing/2014/main" id="{77C1AF8D-B491-4B4A-AAF7-C12C1199BCC4}"/>
                    </a:ext>
                  </a:extLst>
                </p:cNvPr>
                <p:cNvSpPr>
                  <a:spLocks noRot="1" noChangeAspect="1" noMove="1" noResize="1" noEditPoints="1" noAdjustHandles="1" noChangeArrowheads="1" noChangeShapeType="1" noTextEdit="1"/>
                </p:cNvSpPr>
                <p:nvPr/>
              </p:nvSpPr>
              <p:spPr>
                <a:xfrm>
                  <a:off x="2799406" y="2877830"/>
                  <a:ext cx="1210267" cy="444930"/>
                </a:xfrm>
                <a:prstGeom prst="rect">
                  <a:avLst/>
                </a:prstGeom>
                <a:blipFill>
                  <a:blip r:embed="rId15"/>
                  <a:stretch>
                    <a:fillRect r="-5714" b="-1692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3" name="矩形 72">
                  <a:extLst>
                    <a:ext uri="{FF2B5EF4-FFF2-40B4-BE49-F238E27FC236}">
                      <a16:creationId xmlns:a16="http://schemas.microsoft.com/office/drawing/2014/main" id="{C01D8599-E216-41E7-AF15-2EB60383F271}"/>
                    </a:ext>
                  </a:extLst>
                </p:cNvPr>
                <p:cNvSpPr/>
                <p:nvPr/>
              </p:nvSpPr>
              <p:spPr>
                <a:xfrm>
                  <a:off x="3877256" y="3058641"/>
                  <a:ext cx="1259191" cy="47622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i="1">
                                <a:latin typeface="Cambria Math" panose="02040503050406030204" pitchFamily="18" charset="0"/>
                              </a:rPr>
                              <m:t>𝑤</m:t>
                            </m:r>
                          </m:e>
                          <m:sub>
                            <m:r>
                              <a:rPr lang="en-US" altLang="zh-CN" b="0" i="1" smtClean="0">
                                <a:latin typeface="Cambria Math" panose="02040503050406030204" pitchFamily="18" charset="0"/>
                              </a:rPr>
                              <m:t>𝑗𝑖</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𝑙𝑎𝑦𝑒𝑟</m:t>
                                </m:r>
                                <m:r>
                                  <a:rPr lang="en-US" altLang="zh-CN" i="1">
                                    <a:latin typeface="Cambria Math" panose="02040503050406030204" pitchFamily="18" charset="0"/>
                                  </a:rPr>
                                  <m:t>−1</m:t>
                                </m:r>
                              </m:e>
                            </m:d>
                          </m:sup>
                        </m:sSubSup>
                      </m:oMath>
                    </m:oMathPara>
                  </a14:m>
                  <a:endParaRPr lang="zh-CN" altLang="en-US" dirty="0"/>
                </a:p>
              </p:txBody>
            </p:sp>
          </mc:Choice>
          <mc:Fallback xmlns="">
            <p:sp>
              <p:nvSpPr>
                <p:cNvPr id="73" name="矩形 72">
                  <a:extLst>
                    <a:ext uri="{FF2B5EF4-FFF2-40B4-BE49-F238E27FC236}">
                      <a16:creationId xmlns:a16="http://schemas.microsoft.com/office/drawing/2014/main" id="{C01D8599-E216-41E7-AF15-2EB60383F271}"/>
                    </a:ext>
                  </a:extLst>
                </p:cNvPr>
                <p:cNvSpPr>
                  <a:spLocks noRot="1" noChangeAspect="1" noMove="1" noResize="1" noEditPoints="1" noAdjustHandles="1" noChangeArrowheads="1" noChangeShapeType="1" noTextEdit="1"/>
                </p:cNvSpPr>
                <p:nvPr/>
              </p:nvSpPr>
              <p:spPr>
                <a:xfrm>
                  <a:off x="3877256" y="3058641"/>
                  <a:ext cx="1259191" cy="476221"/>
                </a:xfrm>
                <a:prstGeom prst="rect">
                  <a:avLst/>
                </a:prstGeom>
                <a:blipFill>
                  <a:blip r:embed="rId16"/>
                  <a:stretch>
                    <a:fillRect b="-202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4" name="矩形 73">
                  <a:extLst>
                    <a:ext uri="{FF2B5EF4-FFF2-40B4-BE49-F238E27FC236}">
                      <a16:creationId xmlns:a16="http://schemas.microsoft.com/office/drawing/2014/main" id="{4CD4E4E3-C5BA-47B7-A67E-36969EFEA2BC}"/>
                    </a:ext>
                  </a:extLst>
                </p:cNvPr>
                <p:cNvSpPr/>
                <p:nvPr/>
              </p:nvSpPr>
              <p:spPr>
                <a:xfrm>
                  <a:off x="5516610" y="2744025"/>
                  <a:ext cx="1039579" cy="47622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i="1">
                                <a:latin typeface="Cambria Math" panose="02040503050406030204" pitchFamily="18" charset="0"/>
                              </a:rPr>
                              <m:t>𝑤</m:t>
                            </m:r>
                          </m:e>
                          <m:sub>
                            <m:r>
                              <a:rPr lang="en-US" altLang="zh-CN" b="0" i="1" smtClean="0">
                                <a:latin typeface="Cambria Math" panose="02040503050406030204" pitchFamily="18" charset="0"/>
                              </a:rPr>
                              <m:t>𝑘𝑗</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𝑙𝑎𝑦𝑒𝑟</m:t>
                                </m:r>
                              </m:e>
                            </m:d>
                          </m:sup>
                        </m:sSubSup>
                      </m:oMath>
                    </m:oMathPara>
                  </a14:m>
                  <a:endParaRPr lang="zh-CN" altLang="en-US" dirty="0"/>
                </a:p>
              </p:txBody>
            </p:sp>
          </mc:Choice>
          <mc:Fallback xmlns="">
            <p:sp>
              <p:nvSpPr>
                <p:cNvPr id="74" name="矩形 73">
                  <a:extLst>
                    <a:ext uri="{FF2B5EF4-FFF2-40B4-BE49-F238E27FC236}">
                      <a16:creationId xmlns:a16="http://schemas.microsoft.com/office/drawing/2014/main" id="{4CD4E4E3-C5BA-47B7-A67E-36969EFEA2BC}"/>
                    </a:ext>
                  </a:extLst>
                </p:cNvPr>
                <p:cNvSpPr>
                  <a:spLocks noRot="1" noChangeAspect="1" noMove="1" noResize="1" noEditPoints="1" noAdjustHandles="1" noChangeArrowheads="1" noChangeShapeType="1" noTextEdit="1"/>
                </p:cNvSpPr>
                <p:nvPr/>
              </p:nvSpPr>
              <p:spPr>
                <a:xfrm>
                  <a:off x="5516610" y="2744025"/>
                  <a:ext cx="1039579" cy="476221"/>
                </a:xfrm>
                <a:prstGeom prst="rect">
                  <a:avLst/>
                </a:prstGeom>
                <a:blipFill>
                  <a:blip r:embed="rId17"/>
                  <a:stretch>
                    <a:fillRect b="-18841"/>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5" name="矩形 14">
                <a:extLst>
                  <a:ext uri="{FF2B5EF4-FFF2-40B4-BE49-F238E27FC236}">
                    <a16:creationId xmlns:a16="http://schemas.microsoft.com/office/drawing/2014/main" id="{98942B13-72D7-4AFB-942E-C0DA9D163C98}"/>
                  </a:ext>
                </a:extLst>
              </p:cNvPr>
              <p:cNvSpPr/>
              <p:nvPr/>
            </p:nvSpPr>
            <p:spPr>
              <a:xfrm>
                <a:off x="2923244" y="1711243"/>
                <a:ext cx="2832570" cy="236782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CN" b="1" i="1" smtClean="0">
                              <a:latin typeface="Cambria Math" panose="02040503050406030204" pitchFamily="18" charset="0"/>
                            </a:rPr>
                          </m:ctrlPr>
                        </m:sSupPr>
                        <m:e>
                          <m:r>
                            <a:rPr lang="zh-CN" altLang="en-US" b="1">
                              <a:latin typeface="Cambria Math" panose="02040503050406030204" pitchFamily="18" charset="0"/>
                            </a:rPr>
                            <m:t>𝛅</m:t>
                          </m:r>
                        </m:e>
                        <m:sup>
                          <m:d>
                            <m:dPr>
                              <m:ctrlPr>
                                <a:rPr lang="en-US" altLang="zh-CN" i="1">
                                  <a:latin typeface="Cambria Math" panose="02040503050406030204" pitchFamily="18" charset="0"/>
                                </a:rPr>
                              </m:ctrlPr>
                            </m:dPr>
                            <m:e>
                              <m:r>
                                <a:rPr lang="en-US" altLang="zh-CN" b="0" i="1" smtClean="0">
                                  <a:latin typeface="Cambria Math" panose="02040503050406030204" pitchFamily="18" charset="0"/>
                                </a:rPr>
                                <m:t>2</m:t>
                              </m:r>
                            </m:e>
                          </m:d>
                        </m:sup>
                      </m:sSup>
                      <m:r>
                        <a:rPr lang="en-US" altLang="zh-CN" i="1">
                          <a:latin typeface="Cambria Math" panose="02040503050406030204" pitchFamily="18" charset="0"/>
                        </a:rPr>
                        <m:t>=</m:t>
                      </m:r>
                      <m:d>
                        <m:dPr>
                          <m:ctrlPr>
                            <a:rPr lang="en-US" altLang="zh-CN" b="1" i="1">
                              <a:latin typeface="Cambria Math" panose="02040503050406030204" pitchFamily="18" charset="0"/>
                            </a:rPr>
                          </m:ctrlPr>
                        </m:dPr>
                        <m:e>
                          <m:eqArr>
                            <m:eqArrPr>
                              <m:ctrlPr>
                                <a:rPr lang="en-US" altLang="zh-CN" i="1">
                                  <a:latin typeface="Cambria Math" panose="02040503050406030204" pitchFamily="18" charset="0"/>
                                </a:rPr>
                              </m:ctrlPr>
                            </m:eqArrPr>
                            <m:e>
                              <m:f>
                                <m:fPr>
                                  <m:ctrlPr>
                                    <a:rPr lang="en-US" altLang="zh-CN" i="1">
                                      <a:latin typeface="Cambria Math" panose="02040503050406030204" pitchFamily="18" charset="0"/>
                                    </a:rPr>
                                  </m:ctrlPr>
                                </m:fPr>
                                <m:num>
                                  <m:r>
                                    <a:rPr lang="en-US" altLang="zh-CN" i="1">
                                      <a:latin typeface="Cambria Math" panose="02040503050406030204" pitchFamily="18" charset="0"/>
                                    </a:rPr>
                                    <m:t>𝜕</m:t>
                                  </m:r>
                                  <m:r>
                                    <a:rPr lang="en-US" altLang="zh-CN" i="1">
                                      <a:latin typeface="Cambria Math" panose="02040503050406030204" pitchFamily="18" charset="0"/>
                                    </a:rPr>
                                    <m:t>𝐿</m:t>
                                  </m:r>
                                </m:num>
                                <m:den>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𝑎</m:t>
                                      </m:r>
                                    </m:e>
                                    <m:sub>
                                      <m:r>
                                        <a:rPr lang="en-US" altLang="zh-CN" i="1">
                                          <a:latin typeface="Cambria Math" panose="02040503050406030204" pitchFamily="18" charset="0"/>
                                        </a:rPr>
                                        <m:t>1</m:t>
                                      </m:r>
                                    </m:sub>
                                    <m:sup>
                                      <m:d>
                                        <m:dPr>
                                          <m:ctrlPr>
                                            <a:rPr lang="en-US" altLang="zh-CN" i="1">
                                              <a:latin typeface="Cambria Math" panose="02040503050406030204" pitchFamily="18" charset="0"/>
                                            </a:rPr>
                                          </m:ctrlPr>
                                        </m:dPr>
                                        <m:e>
                                          <m:r>
                                            <a:rPr lang="en-US" altLang="zh-CN" b="0" i="1" smtClean="0">
                                              <a:latin typeface="Cambria Math" panose="02040503050406030204" pitchFamily="18" charset="0"/>
                                            </a:rPr>
                                            <m:t>2</m:t>
                                          </m:r>
                                        </m:e>
                                      </m:d>
                                    </m:sup>
                                  </m:sSubSup>
                                </m:den>
                              </m:f>
                            </m:e>
                            <m:e>
                              <m:f>
                                <m:fPr>
                                  <m:ctrlPr>
                                    <a:rPr lang="en-US" altLang="zh-CN" i="1">
                                      <a:latin typeface="Cambria Math" panose="02040503050406030204" pitchFamily="18" charset="0"/>
                                    </a:rPr>
                                  </m:ctrlPr>
                                </m:fPr>
                                <m:num>
                                  <m:r>
                                    <a:rPr lang="en-US" altLang="zh-CN" i="1">
                                      <a:latin typeface="Cambria Math" panose="02040503050406030204" pitchFamily="18" charset="0"/>
                                    </a:rPr>
                                    <m:t>𝜕</m:t>
                                  </m:r>
                                  <m:r>
                                    <a:rPr lang="en-US" altLang="zh-CN" i="1">
                                      <a:latin typeface="Cambria Math" panose="02040503050406030204" pitchFamily="18" charset="0"/>
                                    </a:rPr>
                                    <m:t>𝐿</m:t>
                                  </m:r>
                                </m:num>
                                <m:den>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𝑎</m:t>
                                      </m:r>
                                    </m:e>
                                    <m:sub>
                                      <m:r>
                                        <a:rPr lang="en-US" altLang="zh-CN" i="1">
                                          <a:latin typeface="Cambria Math" panose="02040503050406030204" pitchFamily="18" charset="0"/>
                                        </a:rPr>
                                        <m:t>2</m:t>
                                      </m:r>
                                    </m:sub>
                                    <m:sup>
                                      <m:d>
                                        <m:dPr>
                                          <m:ctrlPr>
                                            <a:rPr lang="en-US" altLang="zh-CN" i="1">
                                              <a:latin typeface="Cambria Math" panose="02040503050406030204" pitchFamily="18" charset="0"/>
                                            </a:rPr>
                                          </m:ctrlPr>
                                        </m:dPr>
                                        <m:e>
                                          <m:r>
                                            <a:rPr lang="en-US" altLang="zh-CN" b="0" i="1" smtClean="0">
                                              <a:latin typeface="Cambria Math" panose="02040503050406030204" pitchFamily="18" charset="0"/>
                                            </a:rPr>
                                            <m:t>2</m:t>
                                          </m:r>
                                        </m:e>
                                      </m:d>
                                    </m:sup>
                                  </m:sSubSup>
                                </m:den>
                              </m:f>
                            </m:e>
                            <m:e>
                              <m:r>
                                <a:rPr lang="en-US" altLang="zh-CN" i="1">
                                  <a:latin typeface="Cambria Math" panose="02040503050406030204" pitchFamily="18" charset="0"/>
                                </a:rPr>
                                <m:t>⋮</m:t>
                              </m:r>
                            </m:e>
                            <m:e>
                              <m:f>
                                <m:fPr>
                                  <m:ctrlPr>
                                    <a:rPr lang="en-US" altLang="zh-CN" i="1">
                                      <a:latin typeface="Cambria Math" panose="02040503050406030204" pitchFamily="18" charset="0"/>
                                    </a:rPr>
                                  </m:ctrlPr>
                                </m:fPr>
                                <m:num>
                                  <m:r>
                                    <a:rPr lang="en-US" altLang="zh-CN" i="1">
                                      <a:latin typeface="Cambria Math" panose="02040503050406030204" pitchFamily="18" charset="0"/>
                                    </a:rPr>
                                    <m:t>𝜕</m:t>
                                  </m:r>
                                  <m:r>
                                    <a:rPr lang="en-US" altLang="zh-CN" i="1">
                                      <a:latin typeface="Cambria Math" panose="02040503050406030204" pitchFamily="18" charset="0"/>
                                    </a:rPr>
                                    <m:t>𝐿</m:t>
                                  </m:r>
                                </m:num>
                                <m:den>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𝑎</m:t>
                                      </m:r>
                                    </m:e>
                                    <m:sub>
                                      <m:r>
                                        <a:rPr lang="en-US" altLang="zh-CN" b="0" i="1" smtClean="0">
                                          <a:latin typeface="Cambria Math" panose="02040503050406030204" pitchFamily="18" charset="0"/>
                                        </a:rPr>
                                        <m:t>𝐾</m:t>
                                      </m:r>
                                    </m:sub>
                                    <m:sup>
                                      <m:d>
                                        <m:dPr>
                                          <m:ctrlPr>
                                            <a:rPr lang="en-US" altLang="zh-CN" i="1">
                                              <a:latin typeface="Cambria Math" panose="02040503050406030204" pitchFamily="18" charset="0"/>
                                            </a:rPr>
                                          </m:ctrlPr>
                                        </m:dPr>
                                        <m:e>
                                          <m:r>
                                            <a:rPr lang="en-US" altLang="zh-CN" b="0" i="1" smtClean="0">
                                              <a:latin typeface="Cambria Math" panose="02040503050406030204" pitchFamily="18" charset="0"/>
                                            </a:rPr>
                                            <m:t>2</m:t>
                                          </m:r>
                                        </m:e>
                                      </m:d>
                                    </m:sup>
                                  </m:sSubSup>
                                </m:den>
                              </m:f>
                            </m:e>
                          </m:eqArr>
                        </m:e>
                      </m:d>
                      <m:r>
                        <a:rPr lang="en-US" altLang="zh-CN" b="1">
                          <a:latin typeface="Cambria Math" panose="02040503050406030204" pitchFamily="18" charset="0"/>
                        </a:rPr>
                        <m:t>=</m:t>
                      </m:r>
                      <m:d>
                        <m:dPr>
                          <m:ctrlPr>
                            <a:rPr lang="en-US" altLang="zh-CN" b="1" i="1">
                              <a:latin typeface="Cambria Math" panose="02040503050406030204" pitchFamily="18" charset="0"/>
                            </a:rPr>
                          </m:ctrlPr>
                        </m:dPr>
                        <m:e>
                          <m:eqArr>
                            <m:eqArrPr>
                              <m:ctrlPr>
                                <a:rPr lang="en-US" altLang="zh-CN" i="1">
                                  <a:latin typeface="Cambria Math" panose="02040503050406030204" pitchFamily="18" charset="0"/>
                                </a:rPr>
                              </m:ctrlPr>
                            </m:eqArrPr>
                            <m:e>
                              <m:sSubSup>
                                <m:sSubSupPr>
                                  <m:ctrlPr>
                                    <a:rPr lang="en-US" altLang="zh-CN" i="1">
                                      <a:latin typeface="Cambria Math" panose="02040503050406030204" pitchFamily="18" charset="0"/>
                                    </a:rPr>
                                  </m:ctrlPr>
                                </m:sSubSupPr>
                                <m:e>
                                  <m:r>
                                    <a:rPr lang="zh-CN" altLang="en-US" i="1">
                                      <a:latin typeface="Cambria Math" panose="02040503050406030204" pitchFamily="18" charset="0"/>
                                    </a:rPr>
                                    <m:t>𝛿</m:t>
                                  </m:r>
                                </m:e>
                                <m:sub>
                                  <m:r>
                                    <a:rPr lang="en-US" altLang="zh-CN" i="1">
                                      <a:latin typeface="Cambria Math" panose="02040503050406030204" pitchFamily="18" charset="0"/>
                                    </a:rPr>
                                    <m:t>1</m:t>
                                  </m:r>
                                </m:sub>
                                <m:sup>
                                  <m:r>
                                    <a:rPr lang="en-US" altLang="zh-CN" i="1">
                                      <a:latin typeface="Cambria Math" panose="02040503050406030204" pitchFamily="18" charset="0"/>
                                    </a:rPr>
                                    <m:t>(</m:t>
                                  </m:r>
                                  <m:r>
                                    <a:rPr lang="en-US" altLang="zh-CN" b="0" i="1" smtClean="0">
                                      <a:latin typeface="Cambria Math" panose="02040503050406030204" pitchFamily="18" charset="0"/>
                                    </a:rPr>
                                    <m:t>2</m:t>
                                  </m:r>
                                  <m:r>
                                    <a:rPr lang="en-US" altLang="zh-CN" i="1">
                                      <a:latin typeface="Cambria Math" panose="02040503050406030204" pitchFamily="18" charset="0"/>
                                    </a:rPr>
                                    <m:t>)</m:t>
                                  </m:r>
                                </m:sup>
                              </m:sSubSup>
                            </m:e>
                            <m:e>
                              <m:sSubSup>
                                <m:sSubSupPr>
                                  <m:ctrlPr>
                                    <a:rPr lang="en-US" altLang="zh-CN" i="1">
                                      <a:latin typeface="Cambria Math" panose="02040503050406030204" pitchFamily="18" charset="0"/>
                                    </a:rPr>
                                  </m:ctrlPr>
                                </m:sSubSupPr>
                                <m:e>
                                  <m:r>
                                    <a:rPr lang="zh-CN" altLang="en-US" i="1">
                                      <a:latin typeface="Cambria Math" panose="02040503050406030204" pitchFamily="18" charset="0"/>
                                    </a:rPr>
                                    <m:t>𝛿</m:t>
                                  </m:r>
                                </m:e>
                                <m:sub>
                                  <m:r>
                                    <a:rPr lang="en-US" altLang="zh-CN" i="1">
                                      <a:latin typeface="Cambria Math" panose="02040503050406030204" pitchFamily="18" charset="0"/>
                                    </a:rPr>
                                    <m:t>2</m:t>
                                  </m:r>
                                </m:sub>
                                <m:sup>
                                  <m:r>
                                    <a:rPr lang="en-US" altLang="zh-CN" i="1">
                                      <a:latin typeface="Cambria Math" panose="02040503050406030204" pitchFamily="18" charset="0"/>
                                    </a:rPr>
                                    <m:t>(</m:t>
                                  </m:r>
                                  <m:r>
                                    <a:rPr lang="en-US" altLang="zh-CN" b="0" i="1" smtClean="0">
                                      <a:latin typeface="Cambria Math" panose="02040503050406030204" pitchFamily="18" charset="0"/>
                                    </a:rPr>
                                    <m:t>2</m:t>
                                  </m:r>
                                  <m:r>
                                    <a:rPr lang="en-US" altLang="zh-CN" i="1">
                                      <a:latin typeface="Cambria Math" panose="02040503050406030204" pitchFamily="18" charset="0"/>
                                    </a:rPr>
                                    <m:t>)</m:t>
                                  </m:r>
                                </m:sup>
                              </m:sSubSup>
                            </m:e>
                            <m:e>
                              <m:r>
                                <a:rPr lang="en-US" altLang="zh-CN" i="1">
                                  <a:latin typeface="Cambria Math" panose="02040503050406030204" pitchFamily="18" charset="0"/>
                                </a:rPr>
                                <m:t>⋮</m:t>
                              </m:r>
                            </m:e>
                            <m:e>
                              <m:sSubSup>
                                <m:sSubSupPr>
                                  <m:ctrlPr>
                                    <a:rPr lang="en-US" altLang="zh-CN" i="1">
                                      <a:latin typeface="Cambria Math" panose="02040503050406030204" pitchFamily="18" charset="0"/>
                                    </a:rPr>
                                  </m:ctrlPr>
                                </m:sSubSupPr>
                                <m:e>
                                  <m:r>
                                    <a:rPr lang="zh-CN" altLang="en-US" i="1">
                                      <a:latin typeface="Cambria Math" panose="02040503050406030204" pitchFamily="18" charset="0"/>
                                    </a:rPr>
                                    <m:t>𝛿</m:t>
                                  </m:r>
                                </m:e>
                                <m:sub>
                                  <m:r>
                                    <a:rPr lang="en-US" altLang="zh-CN" b="0" i="1" smtClean="0">
                                      <a:latin typeface="Cambria Math" panose="02040503050406030204" pitchFamily="18" charset="0"/>
                                    </a:rPr>
                                    <m:t>𝐾</m:t>
                                  </m:r>
                                </m:sub>
                                <m:sup>
                                  <m:r>
                                    <a:rPr lang="en-US" altLang="zh-CN" i="1">
                                      <a:latin typeface="Cambria Math" panose="02040503050406030204" pitchFamily="18" charset="0"/>
                                    </a:rPr>
                                    <m:t>(</m:t>
                                  </m:r>
                                  <m:r>
                                    <a:rPr lang="en-US" altLang="zh-CN" b="0" i="1" smtClean="0">
                                      <a:latin typeface="Cambria Math" panose="02040503050406030204" pitchFamily="18" charset="0"/>
                                    </a:rPr>
                                    <m:t>2</m:t>
                                  </m:r>
                                  <m:r>
                                    <a:rPr lang="en-US" altLang="zh-CN" i="1">
                                      <a:latin typeface="Cambria Math" panose="02040503050406030204" pitchFamily="18" charset="0"/>
                                    </a:rPr>
                                    <m:t>)</m:t>
                                  </m:r>
                                </m:sup>
                              </m:sSubSup>
                            </m:e>
                          </m:eqArr>
                        </m:e>
                      </m:d>
                    </m:oMath>
                  </m:oMathPara>
                </a14:m>
                <a:endParaRPr lang="zh-CN" altLang="en-US" dirty="0"/>
              </a:p>
            </p:txBody>
          </p:sp>
        </mc:Choice>
        <mc:Fallback xmlns="">
          <p:sp>
            <p:nvSpPr>
              <p:cNvPr id="15" name="矩形 14">
                <a:extLst>
                  <a:ext uri="{FF2B5EF4-FFF2-40B4-BE49-F238E27FC236}">
                    <a16:creationId xmlns:a16="http://schemas.microsoft.com/office/drawing/2014/main" id="{98942B13-72D7-4AFB-942E-C0DA9D163C98}"/>
                  </a:ext>
                </a:extLst>
              </p:cNvPr>
              <p:cNvSpPr>
                <a:spLocks noRot="1" noChangeAspect="1" noMove="1" noResize="1" noEditPoints="1" noAdjustHandles="1" noChangeArrowheads="1" noChangeShapeType="1" noTextEdit="1"/>
              </p:cNvSpPr>
              <p:nvPr/>
            </p:nvSpPr>
            <p:spPr>
              <a:xfrm>
                <a:off x="2923244" y="1711243"/>
                <a:ext cx="2832570" cy="2367828"/>
              </a:xfrm>
              <a:prstGeom prst="rect">
                <a:avLst/>
              </a:prstGeom>
              <a:blipFill>
                <a:blip r:embed="rId1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6" name="矩形 85">
                <a:extLst>
                  <a:ext uri="{FF2B5EF4-FFF2-40B4-BE49-F238E27FC236}">
                    <a16:creationId xmlns:a16="http://schemas.microsoft.com/office/drawing/2014/main" id="{7191FA31-0208-4579-A7F6-998D042D5D2E}"/>
                  </a:ext>
                </a:extLst>
              </p:cNvPr>
              <p:cNvSpPr/>
              <p:nvPr/>
            </p:nvSpPr>
            <p:spPr>
              <a:xfrm>
                <a:off x="785722" y="5543679"/>
                <a:ext cx="81201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Cambria Math" panose="02040503050406030204" pitchFamily="18" charset="0"/>
                        </a:rPr>
                        <m:t>𝐾</m:t>
                      </m:r>
                      <m:r>
                        <a:rPr lang="en-US" altLang="zh-CN" b="0" i="1" smtClean="0">
                          <a:latin typeface="Cambria Math" panose="02040503050406030204" pitchFamily="18" charset="0"/>
                          <a:ea typeface="Cambria Math" panose="02040503050406030204" pitchFamily="18" charset="0"/>
                        </a:rPr>
                        <m:t>×1</m:t>
                      </m:r>
                    </m:oMath>
                  </m:oMathPara>
                </a14:m>
                <a:endParaRPr lang="zh-CN" altLang="en-US" dirty="0"/>
              </a:p>
            </p:txBody>
          </p:sp>
        </mc:Choice>
        <mc:Fallback xmlns="">
          <p:sp>
            <p:nvSpPr>
              <p:cNvPr id="86" name="矩形 85">
                <a:extLst>
                  <a:ext uri="{FF2B5EF4-FFF2-40B4-BE49-F238E27FC236}">
                    <a16:creationId xmlns:a16="http://schemas.microsoft.com/office/drawing/2014/main" id="{7191FA31-0208-4579-A7F6-998D042D5D2E}"/>
                  </a:ext>
                </a:extLst>
              </p:cNvPr>
              <p:cNvSpPr>
                <a:spLocks noRot="1" noChangeAspect="1" noMove="1" noResize="1" noEditPoints="1" noAdjustHandles="1" noChangeArrowheads="1" noChangeShapeType="1" noTextEdit="1"/>
              </p:cNvSpPr>
              <p:nvPr/>
            </p:nvSpPr>
            <p:spPr>
              <a:xfrm>
                <a:off x="785722" y="5543679"/>
                <a:ext cx="812017" cy="369332"/>
              </a:xfrm>
              <a:prstGeom prst="rect">
                <a:avLst/>
              </a:prstGeom>
              <a:blipFill>
                <a:blip r:embed="rId1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7" name="矩形 86">
                <a:extLst>
                  <a:ext uri="{FF2B5EF4-FFF2-40B4-BE49-F238E27FC236}">
                    <a16:creationId xmlns:a16="http://schemas.microsoft.com/office/drawing/2014/main" id="{8A368E4E-B65A-4607-A97F-AA691DE79605}"/>
                  </a:ext>
                </a:extLst>
              </p:cNvPr>
              <p:cNvSpPr/>
              <p:nvPr/>
            </p:nvSpPr>
            <p:spPr>
              <a:xfrm>
                <a:off x="2664813" y="5540947"/>
                <a:ext cx="92050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𝑀</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rPr>
                        <m:t>𝐾</m:t>
                      </m:r>
                    </m:oMath>
                  </m:oMathPara>
                </a14:m>
                <a:endParaRPr lang="zh-CN" altLang="en-US" dirty="0"/>
              </a:p>
            </p:txBody>
          </p:sp>
        </mc:Choice>
        <mc:Fallback xmlns="">
          <p:sp>
            <p:nvSpPr>
              <p:cNvPr id="87" name="矩形 86">
                <a:extLst>
                  <a:ext uri="{FF2B5EF4-FFF2-40B4-BE49-F238E27FC236}">
                    <a16:creationId xmlns:a16="http://schemas.microsoft.com/office/drawing/2014/main" id="{8A368E4E-B65A-4607-A97F-AA691DE79605}"/>
                  </a:ext>
                </a:extLst>
              </p:cNvPr>
              <p:cNvSpPr>
                <a:spLocks noRot="1" noChangeAspect="1" noMove="1" noResize="1" noEditPoints="1" noAdjustHandles="1" noChangeArrowheads="1" noChangeShapeType="1" noTextEdit="1"/>
              </p:cNvSpPr>
              <p:nvPr/>
            </p:nvSpPr>
            <p:spPr>
              <a:xfrm>
                <a:off x="2664813" y="5540947"/>
                <a:ext cx="920508" cy="369332"/>
              </a:xfrm>
              <a:prstGeom prst="rect">
                <a:avLst/>
              </a:prstGeom>
              <a:blipFill>
                <a:blip r:embed="rId2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8" name="矩形 87">
                <a:extLst>
                  <a:ext uri="{FF2B5EF4-FFF2-40B4-BE49-F238E27FC236}">
                    <a16:creationId xmlns:a16="http://schemas.microsoft.com/office/drawing/2014/main" id="{A0374DF9-AFDA-4A6E-B2F6-0A1F635D64CD}"/>
                  </a:ext>
                </a:extLst>
              </p:cNvPr>
              <p:cNvSpPr/>
              <p:nvPr/>
            </p:nvSpPr>
            <p:spPr>
              <a:xfrm>
                <a:off x="6109897" y="6174737"/>
                <a:ext cx="84593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𝑀</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rPr>
                        <m:t>1</m:t>
                      </m:r>
                    </m:oMath>
                  </m:oMathPara>
                </a14:m>
                <a:endParaRPr lang="zh-CN" altLang="en-US" dirty="0"/>
              </a:p>
            </p:txBody>
          </p:sp>
        </mc:Choice>
        <mc:Fallback xmlns="">
          <p:sp>
            <p:nvSpPr>
              <p:cNvPr id="88" name="矩形 87">
                <a:extLst>
                  <a:ext uri="{FF2B5EF4-FFF2-40B4-BE49-F238E27FC236}">
                    <a16:creationId xmlns:a16="http://schemas.microsoft.com/office/drawing/2014/main" id="{A0374DF9-AFDA-4A6E-B2F6-0A1F635D64CD}"/>
                  </a:ext>
                </a:extLst>
              </p:cNvPr>
              <p:cNvSpPr>
                <a:spLocks noRot="1" noChangeAspect="1" noMove="1" noResize="1" noEditPoints="1" noAdjustHandles="1" noChangeArrowheads="1" noChangeShapeType="1" noTextEdit="1"/>
              </p:cNvSpPr>
              <p:nvPr/>
            </p:nvSpPr>
            <p:spPr>
              <a:xfrm>
                <a:off x="6109897" y="6174737"/>
                <a:ext cx="845937" cy="369332"/>
              </a:xfrm>
              <a:prstGeom prst="rect">
                <a:avLst/>
              </a:prstGeom>
              <a:blipFill>
                <a:blip r:embed="rId2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9" name="矩形 88">
                <a:extLst>
                  <a:ext uri="{FF2B5EF4-FFF2-40B4-BE49-F238E27FC236}">
                    <a16:creationId xmlns:a16="http://schemas.microsoft.com/office/drawing/2014/main" id="{43F709AF-BB81-4D73-B542-7E4459312674}"/>
                  </a:ext>
                </a:extLst>
              </p:cNvPr>
              <p:cNvSpPr/>
              <p:nvPr/>
            </p:nvSpPr>
            <p:spPr>
              <a:xfrm>
                <a:off x="8391338" y="6174737"/>
                <a:ext cx="81201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𝐾</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rPr>
                        <m:t>1</m:t>
                      </m:r>
                    </m:oMath>
                  </m:oMathPara>
                </a14:m>
                <a:endParaRPr lang="zh-CN" altLang="en-US" dirty="0"/>
              </a:p>
            </p:txBody>
          </p:sp>
        </mc:Choice>
        <mc:Fallback xmlns="">
          <p:sp>
            <p:nvSpPr>
              <p:cNvPr id="89" name="矩形 88">
                <a:extLst>
                  <a:ext uri="{FF2B5EF4-FFF2-40B4-BE49-F238E27FC236}">
                    <a16:creationId xmlns:a16="http://schemas.microsoft.com/office/drawing/2014/main" id="{43F709AF-BB81-4D73-B542-7E4459312674}"/>
                  </a:ext>
                </a:extLst>
              </p:cNvPr>
              <p:cNvSpPr>
                <a:spLocks noRot="1" noChangeAspect="1" noMove="1" noResize="1" noEditPoints="1" noAdjustHandles="1" noChangeArrowheads="1" noChangeShapeType="1" noTextEdit="1"/>
              </p:cNvSpPr>
              <p:nvPr/>
            </p:nvSpPr>
            <p:spPr>
              <a:xfrm>
                <a:off x="8391338" y="6174737"/>
                <a:ext cx="812017" cy="369332"/>
              </a:xfrm>
              <a:prstGeom prst="rect">
                <a:avLst/>
              </a:prstGeom>
              <a:blipFill>
                <a:blip r:embed="rId2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0" name="矩形 89">
                <a:extLst>
                  <a:ext uri="{FF2B5EF4-FFF2-40B4-BE49-F238E27FC236}">
                    <a16:creationId xmlns:a16="http://schemas.microsoft.com/office/drawing/2014/main" id="{E76FDE69-6F51-49B4-9392-AB2CF7AA093F}"/>
                  </a:ext>
                </a:extLst>
              </p:cNvPr>
              <p:cNvSpPr/>
              <p:nvPr/>
            </p:nvSpPr>
            <p:spPr>
              <a:xfrm>
                <a:off x="7668227" y="6174737"/>
                <a:ext cx="92050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𝑀</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rPr>
                        <m:t>𝐾</m:t>
                      </m:r>
                    </m:oMath>
                  </m:oMathPara>
                </a14:m>
                <a:endParaRPr lang="zh-CN" altLang="en-US" dirty="0"/>
              </a:p>
            </p:txBody>
          </p:sp>
        </mc:Choice>
        <mc:Fallback xmlns="">
          <p:sp>
            <p:nvSpPr>
              <p:cNvPr id="90" name="矩形 89">
                <a:extLst>
                  <a:ext uri="{FF2B5EF4-FFF2-40B4-BE49-F238E27FC236}">
                    <a16:creationId xmlns:a16="http://schemas.microsoft.com/office/drawing/2014/main" id="{E76FDE69-6F51-49B4-9392-AB2CF7AA093F}"/>
                  </a:ext>
                </a:extLst>
              </p:cNvPr>
              <p:cNvSpPr>
                <a:spLocks noRot="1" noChangeAspect="1" noMove="1" noResize="1" noEditPoints="1" noAdjustHandles="1" noChangeArrowheads="1" noChangeShapeType="1" noTextEdit="1"/>
              </p:cNvSpPr>
              <p:nvPr/>
            </p:nvSpPr>
            <p:spPr>
              <a:xfrm>
                <a:off x="7668227" y="6174737"/>
                <a:ext cx="920508" cy="369332"/>
              </a:xfrm>
              <a:prstGeom prst="rect">
                <a:avLst/>
              </a:prstGeom>
              <a:blipFill>
                <a:blip r:embed="rId2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id="{76B9C7B4-0356-41B5-AFBB-1F89E2FC1F41}"/>
                  </a:ext>
                </a:extLst>
              </p:cNvPr>
              <p:cNvSpPr/>
              <p:nvPr/>
            </p:nvSpPr>
            <p:spPr>
              <a:xfrm>
                <a:off x="4537589" y="5660831"/>
                <a:ext cx="84593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𝑀</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rPr>
                        <m:t>1</m:t>
                      </m:r>
                    </m:oMath>
                  </m:oMathPara>
                </a14:m>
                <a:endParaRPr lang="zh-CN" altLang="en-US" dirty="0"/>
              </a:p>
            </p:txBody>
          </p:sp>
        </mc:Choice>
        <mc:Fallback xmlns="">
          <p:sp>
            <p:nvSpPr>
              <p:cNvPr id="16" name="矩形 15">
                <a:extLst>
                  <a:ext uri="{FF2B5EF4-FFF2-40B4-BE49-F238E27FC236}">
                    <a16:creationId xmlns:a16="http://schemas.microsoft.com/office/drawing/2014/main" id="{76B9C7B4-0356-41B5-AFBB-1F89E2FC1F41}"/>
                  </a:ext>
                </a:extLst>
              </p:cNvPr>
              <p:cNvSpPr>
                <a:spLocks noRot="1" noChangeAspect="1" noMove="1" noResize="1" noEditPoints="1" noAdjustHandles="1" noChangeArrowheads="1" noChangeShapeType="1" noTextEdit="1"/>
              </p:cNvSpPr>
              <p:nvPr/>
            </p:nvSpPr>
            <p:spPr>
              <a:xfrm>
                <a:off x="4537589" y="5660831"/>
                <a:ext cx="845936" cy="369332"/>
              </a:xfrm>
              <a:prstGeom prst="rect">
                <a:avLst/>
              </a:prstGeom>
              <a:blipFill>
                <a:blip r:embed="rId2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a:extLst>
                  <a:ext uri="{FF2B5EF4-FFF2-40B4-BE49-F238E27FC236}">
                    <a16:creationId xmlns:a16="http://schemas.microsoft.com/office/drawing/2014/main" id="{EFF03C22-8488-4094-BE1F-805DF4544D15}"/>
                  </a:ext>
                </a:extLst>
              </p:cNvPr>
              <p:cNvSpPr/>
              <p:nvPr/>
            </p:nvSpPr>
            <p:spPr>
              <a:xfrm>
                <a:off x="7012740" y="6174737"/>
                <a:ext cx="84593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𝑀</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rPr>
                        <m:t>1</m:t>
                      </m:r>
                    </m:oMath>
                  </m:oMathPara>
                </a14:m>
                <a:endParaRPr lang="zh-CN" altLang="en-US" dirty="0"/>
              </a:p>
            </p:txBody>
          </p:sp>
        </mc:Choice>
        <mc:Fallback xmlns="">
          <p:sp>
            <p:nvSpPr>
              <p:cNvPr id="17" name="矩形 16">
                <a:extLst>
                  <a:ext uri="{FF2B5EF4-FFF2-40B4-BE49-F238E27FC236}">
                    <a16:creationId xmlns:a16="http://schemas.microsoft.com/office/drawing/2014/main" id="{EFF03C22-8488-4094-BE1F-805DF4544D15}"/>
                  </a:ext>
                </a:extLst>
              </p:cNvPr>
              <p:cNvSpPr>
                <a:spLocks noRot="1" noChangeAspect="1" noMove="1" noResize="1" noEditPoints="1" noAdjustHandles="1" noChangeArrowheads="1" noChangeShapeType="1" noTextEdit="1"/>
              </p:cNvSpPr>
              <p:nvPr/>
            </p:nvSpPr>
            <p:spPr>
              <a:xfrm>
                <a:off x="7012740" y="6174737"/>
                <a:ext cx="845936" cy="369332"/>
              </a:xfrm>
              <a:prstGeom prst="rect">
                <a:avLst/>
              </a:prstGeom>
              <a:blipFill>
                <a:blip r:embed="rId25"/>
                <a:stretch>
                  <a:fillRect/>
                </a:stretch>
              </a:blipFill>
            </p:spPr>
            <p:txBody>
              <a:bodyPr/>
              <a:lstStyle/>
              <a:p>
                <a:r>
                  <a:rPr lang="zh-CN" altLang="en-US">
                    <a:noFill/>
                  </a:rPr>
                  <a:t> </a:t>
                </a:r>
              </a:p>
            </p:txBody>
          </p:sp>
        </mc:Fallback>
      </mc:AlternateContent>
      <p:sp>
        <p:nvSpPr>
          <p:cNvPr id="50" name="直角三角形 49">
            <a:extLst>
              <a:ext uri="{FF2B5EF4-FFF2-40B4-BE49-F238E27FC236}">
                <a16:creationId xmlns:a16="http://schemas.microsoft.com/office/drawing/2014/main" id="{30631184-4149-4CF9-81EB-9A506D3733A0}"/>
              </a:ext>
            </a:extLst>
          </p:cNvPr>
          <p:cNvSpPr/>
          <p:nvPr/>
        </p:nvSpPr>
        <p:spPr>
          <a:xfrm rot="12093891">
            <a:off x="8249987" y="2749547"/>
            <a:ext cx="1057641" cy="435583"/>
          </a:xfrm>
          <a:prstGeom prst="rtTriangle">
            <a:avLst/>
          </a:prstGeom>
          <a:solidFill>
            <a:srgbClr val="BDE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标题 1">
            <a:extLst>
              <a:ext uri="{FF2B5EF4-FFF2-40B4-BE49-F238E27FC236}">
                <a16:creationId xmlns:a16="http://schemas.microsoft.com/office/drawing/2014/main" id="{2B1027FF-00DE-4E8C-BBC9-D69FD6A5DC0B}"/>
              </a:ext>
            </a:extLst>
          </p:cNvPr>
          <p:cNvSpPr txBox="1">
            <a:spLocks/>
          </p:cNvSpPr>
          <p:nvPr/>
        </p:nvSpPr>
        <p:spPr>
          <a:xfrm>
            <a:off x="397111" y="174149"/>
            <a:ext cx="7743629" cy="52989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600" dirty="0">
                <a:latin typeface="思源黑体 CN Bold" panose="020B0800000000000000" pitchFamily="34" charset="-122"/>
                <a:ea typeface="思源黑体 CN Bold" panose="020B0800000000000000" pitchFamily="34" charset="-122"/>
              </a:rPr>
              <a:t>4 </a:t>
            </a:r>
            <a:r>
              <a:rPr lang="zh-CN" altLang="en-US" sz="3600" dirty="0">
                <a:latin typeface="思源黑体 CN Bold" panose="020B0800000000000000" pitchFamily="34" charset="-122"/>
                <a:ea typeface="思源黑体 CN Bold" panose="020B0800000000000000" pitchFamily="34" charset="-122"/>
              </a:rPr>
              <a:t>误差后向传播：</a:t>
            </a:r>
            <a:r>
              <a:rPr lang="zh-CN" altLang="en-US" sz="2800" dirty="0">
                <a:latin typeface="思源黑体 CN Bold" panose="020B0800000000000000" pitchFamily="34" charset="-122"/>
                <a:ea typeface="思源黑体 CN Bold" panose="020B0800000000000000" pitchFamily="34" charset="-122"/>
              </a:rPr>
              <a:t>误差后向传播矩阵形式</a:t>
            </a:r>
            <a:endParaRPr lang="zh-CN" altLang="en-US" sz="3600" dirty="0"/>
          </a:p>
        </p:txBody>
      </p:sp>
    </p:spTree>
    <p:extLst>
      <p:ext uri="{BB962C8B-B14F-4D97-AF65-F5344CB8AC3E}">
        <p14:creationId xmlns:p14="http://schemas.microsoft.com/office/powerpoint/2010/main" val="32694476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a:extLst>
              <a:ext uri="{FF2B5EF4-FFF2-40B4-BE49-F238E27FC236}">
                <a16:creationId xmlns:a16="http://schemas.microsoft.com/office/drawing/2014/main" id="{01CC1884-D1C7-4D16-9383-709B9FB780B4}"/>
              </a:ext>
            </a:extLst>
          </p:cNvPr>
          <p:cNvGrpSpPr/>
          <p:nvPr/>
        </p:nvGrpSpPr>
        <p:grpSpPr>
          <a:xfrm>
            <a:off x="1874053" y="1401874"/>
            <a:ext cx="5722341" cy="1928727"/>
            <a:chOff x="1729494" y="3466503"/>
            <a:chExt cx="5722341" cy="1928727"/>
          </a:xfrm>
        </p:grpSpPr>
        <mc:AlternateContent xmlns:mc="http://schemas.openxmlformats.org/markup-compatibility/2006" xmlns:a14="http://schemas.microsoft.com/office/drawing/2010/main">
          <mc:Choice Requires="a14">
            <p:sp>
              <p:nvSpPr>
                <p:cNvPr id="49" name="矩形 48">
                  <a:extLst>
                    <a:ext uri="{FF2B5EF4-FFF2-40B4-BE49-F238E27FC236}">
                      <a16:creationId xmlns:a16="http://schemas.microsoft.com/office/drawing/2014/main" id="{1B04C381-2ED5-41ED-A2C7-9A0BF8380851}"/>
                    </a:ext>
                  </a:extLst>
                </p:cNvPr>
                <p:cNvSpPr/>
                <p:nvPr/>
              </p:nvSpPr>
              <p:spPr>
                <a:xfrm>
                  <a:off x="1729494" y="3614219"/>
                  <a:ext cx="1785297" cy="143564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b="1" i="1" smtClean="0">
                                <a:latin typeface="Cambria Math" panose="02040503050406030204" pitchFamily="18" charset="0"/>
                              </a:rPr>
                            </m:ctrlPr>
                          </m:sSubSupPr>
                          <m:e>
                            <m:r>
                              <a:rPr lang="en-US" altLang="zh-CN" b="1">
                                <a:latin typeface="Cambria Math" panose="02040503050406030204" pitchFamily="18" charset="0"/>
                              </a:rPr>
                              <m:t>𝐰</m:t>
                            </m:r>
                          </m:e>
                          <m:sub>
                            <m:r>
                              <a:rPr lang="en-US" altLang="zh-CN" b="0" i="1" smtClean="0">
                                <a:latin typeface="Cambria Math" panose="02040503050406030204" pitchFamily="18" charset="0"/>
                              </a:rPr>
                              <m:t>𝑘𝑗</m:t>
                            </m:r>
                          </m:sub>
                          <m:sup>
                            <m:d>
                              <m:dPr>
                                <m:ctrlPr>
                                  <a:rPr lang="en-US" altLang="zh-CN" b="1" i="1" smtClean="0">
                                    <a:latin typeface="Cambria Math" panose="02040503050406030204" pitchFamily="18" charset="0"/>
                                  </a:rPr>
                                </m:ctrlPr>
                              </m:dPr>
                              <m:e>
                                <m:r>
                                  <a:rPr lang="en-US" altLang="zh-CN" b="0" i="1">
                                    <a:latin typeface="Cambria Math" panose="02040503050406030204" pitchFamily="18" charset="0"/>
                                  </a:rPr>
                                  <m:t>2</m:t>
                                </m:r>
                              </m:e>
                            </m:d>
                          </m:sup>
                        </m:sSubSup>
                        <m:r>
                          <a:rPr lang="en-US" altLang="zh-CN" b="1" i="0" smtClean="0">
                            <a:latin typeface="Cambria Math" panose="02040503050406030204" pitchFamily="18" charset="0"/>
                          </a:rPr>
                          <m:t>=</m:t>
                        </m:r>
                        <m:d>
                          <m:dPr>
                            <m:ctrlPr>
                              <a:rPr lang="en-US" altLang="zh-CN" b="1" i="1" smtClean="0">
                                <a:latin typeface="Cambria Math" panose="02040503050406030204" pitchFamily="18" charset="0"/>
                              </a:rPr>
                            </m:ctrlPr>
                          </m:dPr>
                          <m:e>
                            <m:eqArr>
                              <m:eqArrPr>
                                <m:ctrlPr>
                                  <a:rPr lang="en-US" altLang="zh-CN" i="1">
                                    <a:latin typeface="Cambria Math" panose="02040503050406030204" pitchFamily="18" charset="0"/>
                                  </a:rPr>
                                </m:ctrlPr>
                              </m:eqArrPr>
                              <m:e>
                                <m:sSubSup>
                                  <m:sSubSupPr>
                                    <m:ctrlPr>
                                      <a:rPr lang="en-US" altLang="zh-CN" b="1" i="1">
                                        <a:latin typeface="Cambria Math" panose="02040503050406030204" pitchFamily="18" charset="0"/>
                                      </a:rPr>
                                    </m:ctrlPr>
                                  </m:sSubSupPr>
                                  <m:e>
                                    <m:r>
                                      <a:rPr lang="en-US" altLang="zh-CN" b="0" i="1">
                                        <a:latin typeface="Cambria Math" panose="02040503050406030204" pitchFamily="18" charset="0"/>
                                      </a:rPr>
                                      <m:t>𝑤</m:t>
                                    </m:r>
                                  </m:e>
                                  <m:sub>
                                    <m:r>
                                      <a:rPr lang="en-US" altLang="zh-CN" i="1">
                                        <a:latin typeface="Cambria Math" panose="02040503050406030204" pitchFamily="18" charset="0"/>
                                      </a:rPr>
                                      <m:t>𝑘</m:t>
                                    </m:r>
                                    <m:r>
                                      <a:rPr lang="en-US" altLang="zh-CN" b="0" i="1" smtClean="0">
                                        <a:latin typeface="Cambria Math" panose="02040503050406030204" pitchFamily="18" charset="0"/>
                                      </a:rPr>
                                      <m:t>1</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e>
                              <m:e>
                                <m:sSubSup>
                                  <m:sSubSupPr>
                                    <m:ctrlPr>
                                      <a:rPr lang="en-US" altLang="zh-CN" b="1" i="1">
                                        <a:latin typeface="Cambria Math" panose="02040503050406030204" pitchFamily="18" charset="0"/>
                                      </a:rPr>
                                    </m:ctrlPr>
                                  </m:sSubSupPr>
                                  <m:e>
                                    <m:r>
                                      <a:rPr lang="en-US" altLang="zh-CN" b="0" i="1">
                                        <a:latin typeface="Cambria Math" panose="02040503050406030204" pitchFamily="18" charset="0"/>
                                      </a:rPr>
                                      <m:t>𝑤</m:t>
                                    </m:r>
                                  </m:e>
                                  <m:sub>
                                    <m:r>
                                      <a:rPr lang="en-US" altLang="zh-CN" i="1">
                                        <a:latin typeface="Cambria Math" panose="02040503050406030204" pitchFamily="18" charset="0"/>
                                      </a:rPr>
                                      <m:t>𝑘</m:t>
                                    </m:r>
                                    <m:r>
                                      <a:rPr lang="en-US" altLang="zh-CN" b="0" i="1" smtClean="0">
                                        <a:latin typeface="Cambria Math" panose="02040503050406030204" pitchFamily="18" charset="0"/>
                                      </a:rPr>
                                      <m:t>2</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e>
                              <m:e>
                                <m:r>
                                  <a:rPr lang="en-US" altLang="zh-CN" i="1" smtClean="0">
                                    <a:latin typeface="Cambria Math" panose="02040503050406030204" pitchFamily="18" charset="0"/>
                                  </a:rPr>
                                  <m:t>⋮</m:t>
                                </m:r>
                              </m:e>
                              <m:e>
                                <m:sSubSup>
                                  <m:sSubSupPr>
                                    <m:ctrlPr>
                                      <a:rPr lang="en-US" altLang="zh-CN" b="1" i="1">
                                        <a:latin typeface="Cambria Math" panose="02040503050406030204" pitchFamily="18" charset="0"/>
                                      </a:rPr>
                                    </m:ctrlPr>
                                  </m:sSubSupPr>
                                  <m:e>
                                    <m:r>
                                      <a:rPr lang="en-US" altLang="zh-CN" b="0" i="1">
                                        <a:latin typeface="Cambria Math" panose="02040503050406030204" pitchFamily="18" charset="0"/>
                                      </a:rPr>
                                      <m:t>𝑤</m:t>
                                    </m:r>
                                  </m:e>
                                  <m:sub>
                                    <m:r>
                                      <a:rPr lang="en-US" altLang="zh-CN" i="1">
                                        <a:latin typeface="Cambria Math" panose="02040503050406030204" pitchFamily="18" charset="0"/>
                                      </a:rPr>
                                      <m:t>𝑘</m:t>
                                    </m:r>
                                    <m:r>
                                      <a:rPr lang="en-US" altLang="zh-CN" b="0" i="1" smtClean="0">
                                        <a:latin typeface="Cambria Math" panose="02040503050406030204" pitchFamily="18" charset="0"/>
                                      </a:rPr>
                                      <m:t>𝑀</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e>
                            </m:eqArr>
                          </m:e>
                        </m:d>
                      </m:oMath>
                    </m:oMathPara>
                  </a14:m>
                  <a:endParaRPr lang="zh-CN" altLang="en-US" dirty="0"/>
                </a:p>
              </p:txBody>
            </p:sp>
          </mc:Choice>
          <mc:Fallback xmlns="">
            <p:sp>
              <p:nvSpPr>
                <p:cNvPr id="49" name="矩形 48">
                  <a:extLst>
                    <a:ext uri="{FF2B5EF4-FFF2-40B4-BE49-F238E27FC236}">
                      <a16:creationId xmlns:a16="http://schemas.microsoft.com/office/drawing/2014/main" id="{1B04C381-2ED5-41ED-A2C7-9A0BF8380851}"/>
                    </a:ext>
                  </a:extLst>
                </p:cNvPr>
                <p:cNvSpPr>
                  <a:spLocks noRot="1" noChangeAspect="1" noMove="1" noResize="1" noEditPoints="1" noAdjustHandles="1" noChangeArrowheads="1" noChangeShapeType="1" noTextEdit="1"/>
                </p:cNvSpPr>
                <p:nvPr/>
              </p:nvSpPr>
              <p:spPr>
                <a:xfrm>
                  <a:off x="1729494" y="3614219"/>
                  <a:ext cx="1785297" cy="1435649"/>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矩形 49">
                  <a:extLst>
                    <a:ext uri="{FF2B5EF4-FFF2-40B4-BE49-F238E27FC236}">
                      <a16:creationId xmlns:a16="http://schemas.microsoft.com/office/drawing/2014/main" id="{9D3A480A-1CA0-4C04-938E-DB609C17DD4A}"/>
                    </a:ext>
                  </a:extLst>
                </p:cNvPr>
                <p:cNvSpPr/>
                <p:nvPr/>
              </p:nvSpPr>
              <p:spPr>
                <a:xfrm>
                  <a:off x="3368089" y="3466503"/>
                  <a:ext cx="4083746" cy="170014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b="1" i="1" smtClean="0">
                                <a:latin typeface="Cambria Math" panose="02040503050406030204" pitchFamily="18" charset="0"/>
                              </a:rPr>
                            </m:ctrlPr>
                          </m:sSubSupPr>
                          <m:e>
                            <m:r>
                              <a:rPr lang="en-US" altLang="zh-CN" b="1" i="0" smtClean="0">
                                <a:latin typeface="Cambria Math" panose="02040503050406030204" pitchFamily="18" charset="0"/>
                              </a:rPr>
                              <m:t>𝐖</m:t>
                            </m:r>
                          </m:e>
                          <m:sub>
                            <m:r>
                              <a:rPr lang="en-US" altLang="zh-CN" i="1">
                                <a:latin typeface="Cambria Math" panose="02040503050406030204" pitchFamily="18" charset="0"/>
                              </a:rPr>
                              <m:t>𝑘𝑗</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r>
                          <a:rPr lang="en-US" altLang="zh-CN" b="1" i="0" smtClean="0">
                            <a:latin typeface="Cambria Math" panose="02040503050406030204" pitchFamily="18" charset="0"/>
                          </a:rPr>
                          <m:t>=</m:t>
                        </m:r>
                        <m:d>
                          <m:dPr>
                            <m:ctrlPr>
                              <a:rPr lang="en-US" altLang="zh-CN" b="1" i="1" smtClean="0">
                                <a:latin typeface="Cambria Math" panose="02040503050406030204" pitchFamily="18" charset="0"/>
                              </a:rPr>
                            </m:ctrlPr>
                          </m:dPr>
                          <m:e>
                            <m:eqArr>
                              <m:eqArrPr>
                                <m:ctrlPr>
                                  <a:rPr lang="en-US" altLang="zh-CN" i="1">
                                    <a:latin typeface="Cambria Math" panose="02040503050406030204" pitchFamily="18" charset="0"/>
                                  </a:rPr>
                                </m:ctrlPr>
                              </m:eqArrPr>
                              <m:e>
                                <m:sSup>
                                  <m:sSupPr>
                                    <m:ctrlPr>
                                      <a:rPr lang="en-US" altLang="zh-CN" i="1" smtClean="0">
                                        <a:latin typeface="Cambria Math" panose="02040503050406030204" pitchFamily="18" charset="0"/>
                                      </a:rPr>
                                    </m:ctrlPr>
                                  </m:sSupPr>
                                  <m:e>
                                    <m:sSubSup>
                                      <m:sSubSupPr>
                                        <m:ctrlPr>
                                          <a:rPr lang="en-US" altLang="zh-CN" b="1" i="1">
                                            <a:latin typeface="Cambria Math" panose="02040503050406030204" pitchFamily="18" charset="0"/>
                                          </a:rPr>
                                        </m:ctrlPr>
                                      </m:sSubSupPr>
                                      <m:e>
                                        <m:r>
                                          <a:rPr lang="en-US" altLang="zh-CN" b="1">
                                            <a:latin typeface="Cambria Math" panose="02040503050406030204" pitchFamily="18" charset="0"/>
                                          </a:rPr>
                                          <m:t>𝐰</m:t>
                                        </m:r>
                                      </m:e>
                                      <m:sub>
                                        <m:r>
                                          <a:rPr lang="en-US" altLang="zh-CN" b="0" i="1" smtClean="0">
                                            <a:latin typeface="Cambria Math" panose="02040503050406030204" pitchFamily="18" charset="0"/>
                                          </a:rPr>
                                          <m:t>1</m:t>
                                        </m:r>
                                        <m:r>
                                          <a:rPr lang="en-US" altLang="zh-CN" b="0" i="1" smtClean="0">
                                            <a:latin typeface="Cambria Math" panose="02040503050406030204" pitchFamily="18" charset="0"/>
                                          </a:rPr>
                                          <m:t>𝑗</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e>
                                  <m:sup>
                                    <m:r>
                                      <a:rPr lang="en-US" altLang="zh-CN" b="0" i="1" smtClean="0">
                                        <a:latin typeface="Cambria Math" panose="02040503050406030204" pitchFamily="18" charset="0"/>
                                      </a:rPr>
                                      <m:t>𝑇</m:t>
                                    </m:r>
                                  </m:sup>
                                </m:sSup>
                              </m:e>
                              <m:e>
                                <m:sSup>
                                  <m:sSupPr>
                                    <m:ctrlPr>
                                      <a:rPr lang="en-US" altLang="zh-CN" i="1">
                                        <a:latin typeface="Cambria Math" panose="02040503050406030204" pitchFamily="18" charset="0"/>
                                      </a:rPr>
                                    </m:ctrlPr>
                                  </m:sSupPr>
                                  <m:e>
                                    <m:sSubSup>
                                      <m:sSubSupPr>
                                        <m:ctrlPr>
                                          <a:rPr lang="en-US" altLang="zh-CN" b="1" i="1">
                                            <a:latin typeface="Cambria Math" panose="02040503050406030204" pitchFamily="18" charset="0"/>
                                          </a:rPr>
                                        </m:ctrlPr>
                                      </m:sSubSupPr>
                                      <m:e>
                                        <m:r>
                                          <a:rPr lang="en-US" altLang="zh-CN" b="1">
                                            <a:latin typeface="Cambria Math" panose="02040503050406030204" pitchFamily="18" charset="0"/>
                                          </a:rPr>
                                          <m:t>𝐰</m:t>
                                        </m:r>
                                      </m:e>
                                      <m:sub>
                                        <m:r>
                                          <a:rPr lang="en-US" altLang="zh-CN" b="0" i="1" smtClean="0">
                                            <a:latin typeface="Cambria Math" panose="02040503050406030204" pitchFamily="18" charset="0"/>
                                          </a:rPr>
                                          <m:t>2</m:t>
                                        </m:r>
                                        <m:r>
                                          <a:rPr lang="en-US" altLang="zh-CN" b="0" i="1" smtClean="0">
                                            <a:latin typeface="Cambria Math" panose="02040503050406030204" pitchFamily="18" charset="0"/>
                                          </a:rPr>
                                          <m:t>𝑗</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e>
                                  <m:sup>
                                    <m:r>
                                      <a:rPr lang="en-US" altLang="zh-CN" i="1">
                                        <a:latin typeface="Cambria Math" panose="02040503050406030204" pitchFamily="18" charset="0"/>
                                      </a:rPr>
                                      <m:t>𝑇</m:t>
                                    </m:r>
                                  </m:sup>
                                </m:sSup>
                              </m:e>
                              <m:e>
                                <m:r>
                                  <a:rPr lang="en-US" altLang="zh-CN" i="1" smtClean="0">
                                    <a:latin typeface="Cambria Math" panose="02040503050406030204" pitchFamily="18" charset="0"/>
                                  </a:rPr>
                                  <m:t>⋮</m:t>
                                </m:r>
                              </m:e>
                              <m:e>
                                <m:sSup>
                                  <m:sSupPr>
                                    <m:ctrlPr>
                                      <a:rPr lang="en-US" altLang="zh-CN" i="1">
                                        <a:latin typeface="Cambria Math" panose="02040503050406030204" pitchFamily="18" charset="0"/>
                                      </a:rPr>
                                    </m:ctrlPr>
                                  </m:sSupPr>
                                  <m:e>
                                    <m:sSubSup>
                                      <m:sSubSupPr>
                                        <m:ctrlPr>
                                          <a:rPr lang="en-US" altLang="zh-CN" b="1" i="1">
                                            <a:latin typeface="Cambria Math" panose="02040503050406030204" pitchFamily="18" charset="0"/>
                                          </a:rPr>
                                        </m:ctrlPr>
                                      </m:sSubSupPr>
                                      <m:e>
                                        <m:r>
                                          <a:rPr lang="en-US" altLang="zh-CN" b="1">
                                            <a:latin typeface="Cambria Math" panose="02040503050406030204" pitchFamily="18" charset="0"/>
                                          </a:rPr>
                                          <m:t>𝐰</m:t>
                                        </m:r>
                                      </m:e>
                                      <m:sub>
                                        <m:r>
                                          <a:rPr lang="en-US" altLang="zh-CN" b="0" i="1" smtClean="0">
                                            <a:latin typeface="Cambria Math" panose="02040503050406030204" pitchFamily="18" charset="0"/>
                                          </a:rPr>
                                          <m:t>𝐾𝑗</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e>
                                  <m:sup>
                                    <m:r>
                                      <a:rPr lang="en-US" altLang="zh-CN" i="1">
                                        <a:latin typeface="Cambria Math" panose="02040503050406030204" pitchFamily="18" charset="0"/>
                                      </a:rPr>
                                      <m:t>𝑇</m:t>
                                    </m:r>
                                  </m:sup>
                                </m:sSup>
                              </m:e>
                            </m:eqArr>
                          </m:e>
                        </m:d>
                        <m:r>
                          <a:rPr lang="en-US" altLang="zh-CN" b="1" i="1">
                            <a:latin typeface="Cambria Math" panose="02040503050406030204" pitchFamily="18" charset="0"/>
                          </a:rPr>
                          <m:t>=</m:t>
                        </m:r>
                        <m:d>
                          <m:dPr>
                            <m:ctrlPr>
                              <a:rPr lang="en-US" altLang="zh-CN" b="1" i="1">
                                <a:latin typeface="Cambria Math" panose="02040503050406030204" pitchFamily="18" charset="0"/>
                              </a:rPr>
                            </m:ctrlPr>
                          </m:dPr>
                          <m:e>
                            <m:eqArr>
                              <m:eqArrPr>
                                <m:ctrlPr>
                                  <a:rPr lang="en-US" altLang="zh-CN" i="1">
                                    <a:latin typeface="Cambria Math" panose="02040503050406030204" pitchFamily="18" charset="0"/>
                                  </a:rPr>
                                </m:ctrlPr>
                              </m:eqArrPr>
                              <m:e>
                                <m:sSubSup>
                                  <m:sSubSupPr>
                                    <m:ctrlPr>
                                      <a:rPr lang="en-US" altLang="zh-CN" b="1" i="1">
                                        <a:latin typeface="Cambria Math" panose="02040503050406030204" pitchFamily="18" charset="0"/>
                                      </a:rPr>
                                    </m:ctrlPr>
                                  </m:sSubSupPr>
                                  <m:e>
                                    <m:r>
                                      <a:rPr lang="en-US" altLang="zh-CN" i="1">
                                        <a:latin typeface="Cambria Math" panose="02040503050406030204" pitchFamily="18" charset="0"/>
                                      </a:rPr>
                                      <m:t>𝑤</m:t>
                                    </m:r>
                                  </m:e>
                                  <m:sub>
                                    <m:r>
                                      <a:rPr lang="en-US" altLang="zh-CN" b="0" i="1" smtClean="0">
                                        <a:latin typeface="Cambria Math" panose="02040503050406030204" pitchFamily="18" charset="0"/>
                                      </a:rPr>
                                      <m:t>1</m:t>
                                    </m:r>
                                    <m:r>
                                      <a:rPr lang="en-US" altLang="zh-CN" i="1">
                                        <a:latin typeface="Cambria Math" panose="02040503050406030204" pitchFamily="18" charset="0"/>
                                      </a:rPr>
                                      <m:t>1</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e>
                              <m:e>
                                <m:sSubSup>
                                  <m:sSubSupPr>
                                    <m:ctrlPr>
                                      <a:rPr lang="en-US" altLang="zh-CN" b="1" i="1">
                                        <a:latin typeface="Cambria Math" panose="02040503050406030204" pitchFamily="18" charset="0"/>
                                      </a:rPr>
                                    </m:ctrlPr>
                                  </m:sSubSupPr>
                                  <m:e>
                                    <m:r>
                                      <a:rPr lang="en-US" altLang="zh-CN" i="1">
                                        <a:latin typeface="Cambria Math" panose="02040503050406030204" pitchFamily="18" charset="0"/>
                                      </a:rPr>
                                      <m:t>𝑤</m:t>
                                    </m:r>
                                  </m:e>
                                  <m:sub>
                                    <m:r>
                                      <a:rPr lang="en-US" altLang="zh-CN" b="0" i="1" smtClean="0">
                                        <a:latin typeface="Cambria Math" panose="02040503050406030204" pitchFamily="18" charset="0"/>
                                      </a:rPr>
                                      <m:t>21</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e>
                              <m:e>
                                <m:r>
                                  <a:rPr lang="en-US" altLang="zh-CN" i="1">
                                    <a:latin typeface="Cambria Math" panose="02040503050406030204" pitchFamily="18" charset="0"/>
                                  </a:rPr>
                                  <m:t>⋮</m:t>
                                </m:r>
                              </m:e>
                              <m:e>
                                <m:sSubSup>
                                  <m:sSubSupPr>
                                    <m:ctrlPr>
                                      <a:rPr lang="en-US" altLang="zh-CN" b="1" i="1">
                                        <a:latin typeface="Cambria Math" panose="02040503050406030204" pitchFamily="18" charset="0"/>
                                      </a:rPr>
                                    </m:ctrlPr>
                                  </m:sSubSupPr>
                                  <m:e>
                                    <m:r>
                                      <a:rPr lang="en-US" altLang="zh-CN" i="1">
                                        <a:latin typeface="Cambria Math" panose="02040503050406030204" pitchFamily="18" charset="0"/>
                                      </a:rPr>
                                      <m:t>𝑤</m:t>
                                    </m:r>
                                  </m:e>
                                  <m:sub>
                                    <m:r>
                                      <a:rPr lang="en-US" altLang="zh-CN" b="0" i="1" smtClean="0">
                                        <a:latin typeface="Cambria Math" panose="02040503050406030204" pitchFamily="18" charset="0"/>
                                      </a:rPr>
                                      <m:t>𝐾</m:t>
                                    </m:r>
                                    <m:r>
                                      <a:rPr lang="en-US" altLang="zh-CN" b="0" i="1" smtClean="0">
                                        <a:latin typeface="Cambria Math" panose="02040503050406030204" pitchFamily="18" charset="0"/>
                                      </a:rPr>
                                      <m:t>1</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e>
                            </m:eqArr>
                            <m:eqArr>
                              <m:eqArrPr>
                                <m:ctrlPr>
                                  <a:rPr lang="en-US" altLang="zh-CN" i="1">
                                    <a:latin typeface="Cambria Math" panose="02040503050406030204" pitchFamily="18" charset="0"/>
                                  </a:rPr>
                                </m:ctrlPr>
                              </m:eqArrPr>
                              <m:e>
                                <m:sSubSup>
                                  <m:sSubSupPr>
                                    <m:ctrlPr>
                                      <a:rPr lang="en-US" altLang="zh-CN" b="1" i="1">
                                        <a:latin typeface="Cambria Math" panose="02040503050406030204" pitchFamily="18" charset="0"/>
                                      </a:rPr>
                                    </m:ctrlPr>
                                  </m:sSubSupPr>
                                  <m:e>
                                    <m:r>
                                      <a:rPr lang="en-US" altLang="zh-CN" i="1">
                                        <a:latin typeface="Cambria Math" panose="02040503050406030204" pitchFamily="18" charset="0"/>
                                      </a:rPr>
                                      <m:t>𝑤</m:t>
                                    </m:r>
                                  </m:e>
                                  <m:sub>
                                    <m:r>
                                      <a:rPr lang="en-US" altLang="zh-CN" b="0" i="1" smtClean="0">
                                        <a:latin typeface="Cambria Math" panose="02040503050406030204" pitchFamily="18" charset="0"/>
                                      </a:rPr>
                                      <m:t>12</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e>
                              <m:e>
                                <m:sSubSup>
                                  <m:sSubSupPr>
                                    <m:ctrlPr>
                                      <a:rPr lang="en-US" altLang="zh-CN" b="1" i="1">
                                        <a:latin typeface="Cambria Math" panose="02040503050406030204" pitchFamily="18" charset="0"/>
                                      </a:rPr>
                                    </m:ctrlPr>
                                  </m:sSubSupPr>
                                  <m:e>
                                    <m:r>
                                      <a:rPr lang="en-US" altLang="zh-CN" i="1">
                                        <a:latin typeface="Cambria Math" panose="02040503050406030204" pitchFamily="18" charset="0"/>
                                      </a:rPr>
                                      <m:t>𝑤</m:t>
                                    </m:r>
                                  </m:e>
                                  <m:sub>
                                    <m:r>
                                      <a:rPr lang="en-US" altLang="zh-CN" b="0" i="1" smtClean="0">
                                        <a:latin typeface="Cambria Math" panose="02040503050406030204" pitchFamily="18" charset="0"/>
                                      </a:rPr>
                                      <m:t>2</m:t>
                                    </m:r>
                                    <m:r>
                                      <a:rPr lang="en-US" altLang="zh-CN" i="1">
                                        <a:latin typeface="Cambria Math" panose="02040503050406030204" pitchFamily="18" charset="0"/>
                                      </a:rPr>
                                      <m:t>2</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e>
                              <m:e>
                                <m:r>
                                  <a:rPr lang="en-US" altLang="zh-CN" i="1">
                                    <a:latin typeface="Cambria Math" panose="02040503050406030204" pitchFamily="18" charset="0"/>
                                  </a:rPr>
                                  <m:t>⋮</m:t>
                                </m:r>
                              </m:e>
                              <m:e>
                                <m:sSubSup>
                                  <m:sSubSupPr>
                                    <m:ctrlPr>
                                      <a:rPr lang="en-US" altLang="zh-CN" b="1" i="1">
                                        <a:latin typeface="Cambria Math" panose="02040503050406030204" pitchFamily="18" charset="0"/>
                                      </a:rPr>
                                    </m:ctrlPr>
                                  </m:sSubSupPr>
                                  <m:e>
                                    <m:r>
                                      <a:rPr lang="en-US" altLang="zh-CN" i="1">
                                        <a:latin typeface="Cambria Math" panose="02040503050406030204" pitchFamily="18" charset="0"/>
                                      </a:rPr>
                                      <m:t>𝑤</m:t>
                                    </m:r>
                                  </m:e>
                                  <m:sub>
                                    <m:r>
                                      <a:rPr lang="en-US" altLang="zh-CN" b="0" i="1" smtClean="0">
                                        <a:latin typeface="Cambria Math" panose="02040503050406030204" pitchFamily="18" charset="0"/>
                                      </a:rPr>
                                      <m:t>𝐾</m:t>
                                    </m:r>
                                    <m:r>
                                      <a:rPr lang="en-US" altLang="zh-CN" b="0" i="1" smtClean="0">
                                        <a:latin typeface="Cambria Math" panose="02040503050406030204" pitchFamily="18" charset="0"/>
                                      </a:rPr>
                                      <m:t>2</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e>
                            </m:eqArr>
                            <m:eqArr>
                              <m:eqArrPr>
                                <m:ctrlPr>
                                  <a:rPr lang="en-US" altLang="zh-CN" i="1">
                                    <a:latin typeface="Cambria Math" panose="02040503050406030204" pitchFamily="18" charset="0"/>
                                  </a:rPr>
                                </m:ctrlPr>
                              </m:eqArrPr>
                              <m:e>
                                <m:r>
                                  <a:rPr lang="en-US" altLang="zh-CN" i="1" smtClean="0">
                                    <a:latin typeface="Cambria Math" panose="02040503050406030204" pitchFamily="18" charset="0"/>
                                  </a:rPr>
                                  <m:t>⋯</m:t>
                                </m:r>
                              </m:e>
                              <m:e>
                                <m:r>
                                  <a:rPr lang="en-US" altLang="zh-CN" b="1" i="1" smtClean="0">
                                    <a:latin typeface="Cambria Math" panose="02040503050406030204" pitchFamily="18" charset="0"/>
                                  </a:rPr>
                                  <m:t>⋯</m:t>
                                </m:r>
                              </m:e>
                              <m:e>
                                <m:r>
                                  <a:rPr lang="en-US" altLang="zh-CN" b="1" i="1" smtClean="0">
                                    <a:latin typeface="Cambria Math" panose="02040503050406030204" pitchFamily="18" charset="0"/>
                                  </a:rPr>
                                  <m:t>⋱</m:t>
                                </m:r>
                              </m:e>
                              <m:e>
                                <m:r>
                                  <a:rPr lang="en-US" altLang="zh-CN" i="1" smtClean="0">
                                    <a:latin typeface="Cambria Math" panose="02040503050406030204" pitchFamily="18" charset="0"/>
                                  </a:rPr>
                                  <m:t>⋯</m:t>
                                </m:r>
                              </m:e>
                            </m:eqArr>
                            <m:eqArr>
                              <m:eqArrPr>
                                <m:ctrlPr>
                                  <a:rPr lang="en-US" altLang="zh-CN" i="1">
                                    <a:latin typeface="Cambria Math" panose="02040503050406030204" pitchFamily="18" charset="0"/>
                                  </a:rPr>
                                </m:ctrlPr>
                              </m:eqArrPr>
                              <m:e>
                                <m:sSubSup>
                                  <m:sSubSupPr>
                                    <m:ctrlPr>
                                      <a:rPr lang="en-US" altLang="zh-CN" b="1" i="1">
                                        <a:latin typeface="Cambria Math" panose="02040503050406030204" pitchFamily="18" charset="0"/>
                                      </a:rPr>
                                    </m:ctrlPr>
                                  </m:sSubSupPr>
                                  <m:e>
                                    <m:r>
                                      <a:rPr lang="en-US" altLang="zh-CN" i="1">
                                        <a:latin typeface="Cambria Math" panose="02040503050406030204" pitchFamily="18" charset="0"/>
                                      </a:rPr>
                                      <m:t>𝑤</m:t>
                                    </m:r>
                                  </m:e>
                                  <m:sub>
                                    <m:r>
                                      <a:rPr lang="en-US" altLang="zh-CN" b="0" i="1" smtClean="0">
                                        <a:latin typeface="Cambria Math" panose="02040503050406030204" pitchFamily="18" charset="0"/>
                                      </a:rPr>
                                      <m:t>1</m:t>
                                    </m:r>
                                    <m:r>
                                      <a:rPr lang="en-US" altLang="zh-CN" b="0" i="1" smtClean="0">
                                        <a:latin typeface="Cambria Math" panose="02040503050406030204" pitchFamily="18" charset="0"/>
                                      </a:rPr>
                                      <m:t>𝑀</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e>
                              <m:e>
                                <m:sSubSup>
                                  <m:sSubSupPr>
                                    <m:ctrlPr>
                                      <a:rPr lang="en-US" altLang="zh-CN" b="1" i="1">
                                        <a:latin typeface="Cambria Math" panose="02040503050406030204" pitchFamily="18" charset="0"/>
                                      </a:rPr>
                                    </m:ctrlPr>
                                  </m:sSubSupPr>
                                  <m:e>
                                    <m:r>
                                      <a:rPr lang="en-US" altLang="zh-CN" i="1">
                                        <a:latin typeface="Cambria Math" panose="02040503050406030204" pitchFamily="18" charset="0"/>
                                      </a:rPr>
                                      <m:t>𝑤</m:t>
                                    </m:r>
                                  </m:e>
                                  <m:sub>
                                    <m:r>
                                      <a:rPr lang="en-US" altLang="zh-CN" b="0" i="1" smtClean="0">
                                        <a:latin typeface="Cambria Math" panose="02040503050406030204" pitchFamily="18" charset="0"/>
                                      </a:rPr>
                                      <m:t>2</m:t>
                                    </m:r>
                                    <m:r>
                                      <a:rPr lang="en-US" altLang="zh-CN" b="0" i="1" smtClean="0">
                                        <a:latin typeface="Cambria Math" panose="02040503050406030204" pitchFamily="18" charset="0"/>
                                      </a:rPr>
                                      <m:t>𝑀</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e>
                              <m:e>
                                <m:r>
                                  <a:rPr lang="en-US" altLang="zh-CN" i="1">
                                    <a:latin typeface="Cambria Math" panose="02040503050406030204" pitchFamily="18" charset="0"/>
                                  </a:rPr>
                                  <m:t>⋮</m:t>
                                </m:r>
                              </m:e>
                              <m:e>
                                <m:sSubSup>
                                  <m:sSubSupPr>
                                    <m:ctrlPr>
                                      <a:rPr lang="en-US" altLang="zh-CN" b="1" i="1">
                                        <a:latin typeface="Cambria Math" panose="02040503050406030204" pitchFamily="18" charset="0"/>
                                      </a:rPr>
                                    </m:ctrlPr>
                                  </m:sSubSupPr>
                                  <m:e>
                                    <m:r>
                                      <a:rPr lang="en-US" altLang="zh-CN" i="1">
                                        <a:latin typeface="Cambria Math" panose="02040503050406030204" pitchFamily="18" charset="0"/>
                                      </a:rPr>
                                      <m:t>𝑤</m:t>
                                    </m:r>
                                  </m:e>
                                  <m:sub>
                                    <m:r>
                                      <a:rPr lang="en-US" altLang="zh-CN" b="0" i="1" smtClean="0">
                                        <a:latin typeface="Cambria Math" panose="02040503050406030204" pitchFamily="18" charset="0"/>
                                      </a:rPr>
                                      <m:t>𝐾</m:t>
                                    </m:r>
                                    <m:r>
                                      <a:rPr lang="en-US" altLang="zh-CN" i="1">
                                        <a:latin typeface="Cambria Math" panose="02040503050406030204" pitchFamily="18" charset="0"/>
                                      </a:rPr>
                                      <m:t>𝑀</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e>
                            </m:eqArr>
                          </m:e>
                        </m:d>
                      </m:oMath>
                    </m:oMathPara>
                  </a14:m>
                  <a:endParaRPr lang="zh-CN" altLang="en-US" dirty="0"/>
                </a:p>
              </p:txBody>
            </p:sp>
          </mc:Choice>
          <mc:Fallback xmlns="">
            <p:sp>
              <p:nvSpPr>
                <p:cNvPr id="50" name="矩形 49">
                  <a:extLst>
                    <a:ext uri="{FF2B5EF4-FFF2-40B4-BE49-F238E27FC236}">
                      <a16:creationId xmlns:a16="http://schemas.microsoft.com/office/drawing/2014/main" id="{9D3A480A-1CA0-4C04-938E-DB609C17DD4A}"/>
                    </a:ext>
                  </a:extLst>
                </p:cNvPr>
                <p:cNvSpPr>
                  <a:spLocks noRot="1" noChangeAspect="1" noMove="1" noResize="1" noEditPoints="1" noAdjustHandles="1" noChangeArrowheads="1" noChangeShapeType="1" noTextEdit="1"/>
                </p:cNvSpPr>
                <p:nvPr/>
              </p:nvSpPr>
              <p:spPr>
                <a:xfrm>
                  <a:off x="3368089" y="3466503"/>
                  <a:ext cx="4083746" cy="1700145"/>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矩形 50">
                  <a:extLst>
                    <a:ext uri="{FF2B5EF4-FFF2-40B4-BE49-F238E27FC236}">
                      <a16:creationId xmlns:a16="http://schemas.microsoft.com/office/drawing/2014/main" id="{0B3602F2-9D58-4B55-8A35-DF9465939781}"/>
                    </a:ext>
                  </a:extLst>
                </p:cNvPr>
                <p:cNvSpPr/>
                <p:nvPr/>
              </p:nvSpPr>
              <p:spPr>
                <a:xfrm>
                  <a:off x="2443508" y="4974695"/>
                  <a:ext cx="84593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𝑀</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rPr>
                          <m:t>1</m:t>
                        </m:r>
                      </m:oMath>
                    </m:oMathPara>
                  </a14:m>
                  <a:endParaRPr lang="zh-CN" altLang="en-US" dirty="0"/>
                </a:p>
              </p:txBody>
            </p:sp>
          </mc:Choice>
          <mc:Fallback xmlns="">
            <p:sp>
              <p:nvSpPr>
                <p:cNvPr id="51" name="矩形 50">
                  <a:extLst>
                    <a:ext uri="{FF2B5EF4-FFF2-40B4-BE49-F238E27FC236}">
                      <a16:creationId xmlns:a16="http://schemas.microsoft.com/office/drawing/2014/main" id="{0B3602F2-9D58-4B55-8A35-DF9465939781}"/>
                    </a:ext>
                  </a:extLst>
                </p:cNvPr>
                <p:cNvSpPr>
                  <a:spLocks noRot="1" noChangeAspect="1" noMove="1" noResize="1" noEditPoints="1" noAdjustHandles="1" noChangeArrowheads="1" noChangeShapeType="1" noTextEdit="1"/>
                </p:cNvSpPr>
                <p:nvPr/>
              </p:nvSpPr>
              <p:spPr>
                <a:xfrm>
                  <a:off x="2443508" y="4974695"/>
                  <a:ext cx="845937" cy="369332"/>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矩形 51">
                  <a:extLst>
                    <a:ext uri="{FF2B5EF4-FFF2-40B4-BE49-F238E27FC236}">
                      <a16:creationId xmlns:a16="http://schemas.microsoft.com/office/drawing/2014/main" id="{A8F2F65C-3879-4EA8-88FB-14A00EC74D64}"/>
                    </a:ext>
                  </a:extLst>
                </p:cNvPr>
                <p:cNvSpPr/>
                <p:nvPr/>
              </p:nvSpPr>
              <p:spPr>
                <a:xfrm>
                  <a:off x="5933889" y="5025898"/>
                  <a:ext cx="88658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𝐾</m:t>
                        </m:r>
                        <m:r>
                          <a:rPr lang="en-US" altLang="zh-CN" b="0" i="1" smtClean="0">
                            <a:latin typeface="Cambria Math" panose="02040503050406030204" pitchFamily="18" charset="0"/>
                            <a:ea typeface="Cambria Math" panose="02040503050406030204" pitchFamily="18" charset="0"/>
                          </a:rPr>
                          <m:t>×</m:t>
                        </m:r>
                        <m:r>
                          <a:rPr lang="en-US" altLang="zh-CN" i="1">
                            <a:latin typeface="Cambria Math" panose="02040503050406030204" pitchFamily="18" charset="0"/>
                          </a:rPr>
                          <m:t>𝑀</m:t>
                        </m:r>
                      </m:oMath>
                    </m:oMathPara>
                  </a14:m>
                  <a:endParaRPr lang="zh-CN" altLang="en-US" dirty="0"/>
                </a:p>
              </p:txBody>
            </p:sp>
          </mc:Choice>
          <mc:Fallback xmlns="">
            <p:sp>
              <p:nvSpPr>
                <p:cNvPr id="52" name="矩形 51">
                  <a:extLst>
                    <a:ext uri="{FF2B5EF4-FFF2-40B4-BE49-F238E27FC236}">
                      <a16:creationId xmlns:a16="http://schemas.microsoft.com/office/drawing/2014/main" id="{A8F2F65C-3879-4EA8-88FB-14A00EC74D64}"/>
                    </a:ext>
                  </a:extLst>
                </p:cNvPr>
                <p:cNvSpPr>
                  <a:spLocks noRot="1" noChangeAspect="1" noMove="1" noResize="1" noEditPoints="1" noAdjustHandles="1" noChangeArrowheads="1" noChangeShapeType="1" noTextEdit="1"/>
                </p:cNvSpPr>
                <p:nvPr/>
              </p:nvSpPr>
              <p:spPr>
                <a:xfrm>
                  <a:off x="5933889" y="5025898"/>
                  <a:ext cx="886589" cy="369332"/>
                </a:xfrm>
                <a:prstGeom prst="rect">
                  <a:avLst/>
                </a:prstGeom>
                <a:blipFill>
                  <a:blip r:embed="rId6"/>
                  <a:stretch>
                    <a:fillRect/>
                  </a:stretch>
                </a:blipFill>
              </p:spPr>
              <p:txBody>
                <a:bodyPr/>
                <a:lstStyle/>
                <a:p>
                  <a:r>
                    <a:rPr lang="zh-CN" altLang="en-US">
                      <a:noFill/>
                    </a:rPr>
                    <a:t> </a:t>
                  </a:r>
                </a:p>
              </p:txBody>
            </p:sp>
          </mc:Fallback>
        </mc:AlternateContent>
      </p:grpSp>
      <p:grpSp>
        <p:nvGrpSpPr>
          <p:cNvPr id="13" name="组合 12">
            <a:extLst>
              <a:ext uri="{FF2B5EF4-FFF2-40B4-BE49-F238E27FC236}">
                <a16:creationId xmlns:a16="http://schemas.microsoft.com/office/drawing/2014/main" id="{D44853EB-A8FB-4F0B-9148-8524DA12FB08}"/>
              </a:ext>
            </a:extLst>
          </p:cNvPr>
          <p:cNvGrpSpPr/>
          <p:nvPr/>
        </p:nvGrpSpPr>
        <p:grpSpPr>
          <a:xfrm>
            <a:off x="961893" y="3656785"/>
            <a:ext cx="6732421" cy="1916278"/>
            <a:chOff x="1633398" y="1491476"/>
            <a:chExt cx="6732421" cy="1916278"/>
          </a:xfrm>
        </p:grpSpPr>
        <mc:AlternateContent xmlns:mc="http://schemas.openxmlformats.org/markup-compatibility/2006" xmlns:a14="http://schemas.microsoft.com/office/drawing/2010/main">
          <mc:Choice Requires="a14">
            <p:sp>
              <p:nvSpPr>
                <p:cNvPr id="30" name="矩形 29">
                  <a:extLst>
                    <a:ext uri="{FF2B5EF4-FFF2-40B4-BE49-F238E27FC236}">
                      <a16:creationId xmlns:a16="http://schemas.microsoft.com/office/drawing/2014/main" id="{46D8D909-34B8-4429-9156-2753DC14465C}"/>
                    </a:ext>
                  </a:extLst>
                </p:cNvPr>
                <p:cNvSpPr/>
                <p:nvPr/>
              </p:nvSpPr>
              <p:spPr>
                <a:xfrm>
                  <a:off x="1633398" y="1560488"/>
                  <a:ext cx="1773178" cy="15356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b="1" i="1" smtClean="0">
                                <a:latin typeface="Cambria Math" panose="02040503050406030204" pitchFamily="18" charset="0"/>
                              </a:rPr>
                            </m:ctrlPr>
                          </m:sSubSupPr>
                          <m:e>
                            <m:r>
                              <a:rPr lang="en-US" altLang="zh-CN" b="1">
                                <a:latin typeface="Cambria Math" panose="02040503050406030204" pitchFamily="18" charset="0"/>
                              </a:rPr>
                              <m:t>𝐰</m:t>
                            </m:r>
                          </m:e>
                          <m:sub>
                            <m:r>
                              <a:rPr lang="en-US" altLang="zh-CN" b="0" i="1" smtClean="0">
                                <a:latin typeface="Cambria Math" panose="02040503050406030204" pitchFamily="18" charset="0"/>
                              </a:rPr>
                              <m:t>𝑗𝑘</m:t>
                            </m:r>
                          </m:sub>
                          <m:sup>
                            <m:d>
                              <m:dPr>
                                <m:ctrlPr>
                                  <a:rPr lang="en-US" altLang="zh-CN" b="1" i="1" smtClean="0">
                                    <a:latin typeface="Cambria Math" panose="02040503050406030204" pitchFamily="18" charset="0"/>
                                  </a:rPr>
                                </m:ctrlPr>
                              </m:dPr>
                              <m:e>
                                <m:r>
                                  <a:rPr lang="en-US" altLang="zh-CN" b="0" i="1">
                                    <a:latin typeface="Cambria Math" panose="02040503050406030204" pitchFamily="18" charset="0"/>
                                  </a:rPr>
                                  <m:t>2</m:t>
                                </m:r>
                              </m:e>
                            </m:d>
                          </m:sup>
                        </m:sSubSup>
                        <m:r>
                          <a:rPr lang="en-US" altLang="zh-CN" b="1" i="0" smtClean="0">
                            <a:latin typeface="Cambria Math" panose="02040503050406030204" pitchFamily="18" charset="0"/>
                          </a:rPr>
                          <m:t>=</m:t>
                        </m:r>
                        <m:d>
                          <m:dPr>
                            <m:ctrlPr>
                              <a:rPr lang="en-US" altLang="zh-CN" b="1" i="1" smtClean="0">
                                <a:latin typeface="Cambria Math" panose="02040503050406030204" pitchFamily="18" charset="0"/>
                              </a:rPr>
                            </m:ctrlPr>
                          </m:dPr>
                          <m:e>
                            <m:eqArr>
                              <m:eqArrPr>
                                <m:ctrlPr>
                                  <a:rPr lang="en-US" altLang="zh-CN" i="1">
                                    <a:latin typeface="Cambria Math" panose="02040503050406030204" pitchFamily="18" charset="0"/>
                                  </a:rPr>
                                </m:ctrlPr>
                              </m:eqArrPr>
                              <m:e>
                                <m:sSubSup>
                                  <m:sSubSupPr>
                                    <m:ctrlPr>
                                      <a:rPr lang="en-US" altLang="zh-CN" b="1" i="1">
                                        <a:latin typeface="Cambria Math" panose="02040503050406030204" pitchFamily="18" charset="0"/>
                                      </a:rPr>
                                    </m:ctrlPr>
                                  </m:sSubSupPr>
                                  <m:e>
                                    <m:r>
                                      <a:rPr lang="en-US" altLang="zh-CN" b="0" i="1">
                                        <a:latin typeface="Cambria Math" panose="02040503050406030204" pitchFamily="18" charset="0"/>
                                      </a:rPr>
                                      <m:t>𝑤</m:t>
                                    </m:r>
                                  </m:e>
                                  <m:sub>
                                    <m:r>
                                      <a:rPr lang="en-US" altLang="zh-CN" b="0" i="1" smtClean="0">
                                        <a:latin typeface="Cambria Math" panose="02040503050406030204" pitchFamily="18" charset="0"/>
                                      </a:rPr>
                                      <m:t>𝑗</m:t>
                                    </m:r>
                                    <m:r>
                                      <a:rPr lang="en-US" altLang="zh-CN" b="0" i="1" smtClean="0">
                                        <a:latin typeface="Cambria Math" panose="02040503050406030204" pitchFamily="18" charset="0"/>
                                      </a:rPr>
                                      <m:t>1</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e>
                              <m:e>
                                <m:sSubSup>
                                  <m:sSubSupPr>
                                    <m:ctrlPr>
                                      <a:rPr lang="en-US" altLang="zh-CN" b="1" i="1" smtClean="0">
                                        <a:latin typeface="Cambria Math" panose="02040503050406030204" pitchFamily="18" charset="0"/>
                                      </a:rPr>
                                    </m:ctrlPr>
                                  </m:sSubSupPr>
                                  <m:e>
                                    <m:r>
                                      <a:rPr lang="en-US" altLang="zh-CN" b="0" i="1">
                                        <a:latin typeface="Cambria Math" panose="02040503050406030204" pitchFamily="18" charset="0"/>
                                      </a:rPr>
                                      <m:t>𝑤</m:t>
                                    </m:r>
                                  </m:e>
                                  <m:sub>
                                    <m:r>
                                      <a:rPr lang="en-US" altLang="zh-CN" b="0" i="1" smtClean="0">
                                        <a:latin typeface="Cambria Math" panose="02040503050406030204" pitchFamily="18" charset="0"/>
                                      </a:rPr>
                                      <m:t>𝑗</m:t>
                                    </m:r>
                                    <m:r>
                                      <a:rPr lang="en-US" altLang="zh-CN" b="0" i="1" smtClean="0">
                                        <a:latin typeface="Cambria Math" panose="02040503050406030204" pitchFamily="18" charset="0"/>
                                      </a:rPr>
                                      <m:t>2</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e>
                              <m:e>
                                <m:r>
                                  <a:rPr lang="en-US" altLang="zh-CN" i="1" smtClean="0">
                                    <a:latin typeface="Cambria Math" panose="02040503050406030204" pitchFamily="18" charset="0"/>
                                  </a:rPr>
                                  <m:t>⋮</m:t>
                                </m:r>
                              </m:e>
                              <m:e>
                                <m:sSubSup>
                                  <m:sSubSupPr>
                                    <m:ctrlPr>
                                      <a:rPr lang="en-US" altLang="zh-CN" b="1" i="1">
                                        <a:latin typeface="Cambria Math" panose="02040503050406030204" pitchFamily="18" charset="0"/>
                                      </a:rPr>
                                    </m:ctrlPr>
                                  </m:sSubSupPr>
                                  <m:e>
                                    <m:r>
                                      <a:rPr lang="en-US" altLang="zh-CN" b="0" i="1">
                                        <a:latin typeface="Cambria Math" panose="02040503050406030204" pitchFamily="18" charset="0"/>
                                      </a:rPr>
                                      <m:t>𝑤</m:t>
                                    </m:r>
                                  </m:e>
                                  <m:sub>
                                    <m:r>
                                      <a:rPr lang="en-US" altLang="zh-CN" b="0" i="1" smtClean="0">
                                        <a:latin typeface="Cambria Math" panose="02040503050406030204" pitchFamily="18" charset="0"/>
                                      </a:rPr>
                                      <m:t>𝑗𝐾</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e>
                            </m:eqArr>
                          </m:e>
                        </m:d>
                      </m:oMath>
                    </m:oMathPara>
                  </a14:m>
                  <a:endParaRPr lang="zh-CN" altLang="en-US" dirty="0"/>
                </a:p>
              </p:txBody>
            </p:sp>
          </mc:Choice>
          <mc:Fallback xmlns="">
            <p:sp>
              <p:nvSpPr>
                <p:cNvPr id="30" name="矩形 29">
                  <a:extLst>
                    <a:ext uri="{FF2B5EF4-FFF2-40B4-BE49-F238E27FC236}">
                      <a16:creationId xmlns:a16="http://schemas.microsoft.com/office/drawing/2014/main" id="{46D8D909-34B8-4429-9156-2753DC14465C}"/>
                    </a:ext>
                  </a:extLst>
                </p:cNvPr>
                <p:cNvSpPr>
                  <a:spLocks noRot="1" noChangeAspect="1" noMove="1" noResize="1" noEditPoints="1" noAdjustHandles="1" noChangeArrowheads="1" noChangeShapeType="1" noTextEdit="1"/>
                </p:cNvSpPr>
                <p:nvPr/>
              </p:nvSpPr>
              <p:spPr>
                <a:xfrm>
                  <a:off x="1633398" y="1560488"/>
                  <a:ext cx="1773178" cy="1535677"/>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矩形 31">
                  <a:extLst>
                    <a:ext uri="{FF2B5EF4-FFF2-40B4-BE49-F238E27FC236}">
                      <a16:creationId xmlns:a16="http://schemas.microsoft.com/office/drawing/2014/main" id="{F225EC0D-B3A1-4193-9429-ADE37BE2C445}"/>
                    </a:ext>
                  </a:extLst>
                </p:cNvPr>
                <p:cNvSpPr/>
                <p:nvPr/>
              </p:nvSpPr>
              <p:spPr>
                <a:xfrm>
                  <a:off x="5263175" y="1616390"/>
                  <a:ext cx="3102644" cy="142276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CN" b="1" i="1" smtClean="0">
                                <a:latin typeface="Cambria Math" panose="02040503050406030204" pitchFamily="18" charset="0"/>
                              </a:rPr>
                            </m:ctrlPr>
                          </m:sSupPr>
                          <m:e>
                            <m:sSubSup>
                              <m:sSubSupPr>
                                <m:ctrlPr>
                                  <a:rPr lang="en-US" altLang="zh-CN" b="1" i="1">
                                    <a:latin typeface="Cambria Math" panose="02040503050406030204" pitchFamily="18" charset="0"/>
                                  </a:rPr>
                                </m:ctrlPr>
                              </m:sSubSupPr>
                              <m:e>
                                <m:r>
                                  <a:rPr lang="en-US" altLang="zh-CN" b="1">
                                    <a:latin typeface="Cambria Math" panose="02040503050406030204" pitchFamily="18" charset="0"/>
                                  </a:rPr>
                                  <m:t>𝐖</m:t>
                                </m:r>
                              </m:e>
                              <m:sub>
                                <m:r>
                                  <a:rPr lang="en-US" altLang="zh-CN" i="1">
                                    <a:latin typeface="Cambria Math" panose="02040503050406030204" pitchFamily="18" charset="0"/>
                                  </a:rPr>
                                  <m:t>𝑗𝑘</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e>
                          <m:sup>
                            <m:r>
                              <a:rPr lang="en-US" altLang="zh-CN" b="0" i="1" smtClean="0">
                                <a:latin typeface="Cambria Math" panose="02040503050406030204" pitchFamily="18" charset="0"/>
                              </a:rPr>
                              <m:t>𝑇</m:t>
                            </m:r>
                          </m:sup>
                        </m:sSup>
                        <m:r>
                          <a:rPr lang="en-US" altLang="zh-CN" b="1" i="0" smtClean="0">
                            <a:latin typeface="Cambria Math" panose="02040503050406030204" pitchFamily="18" charset="0"/>
                          </a:rPr>
                          <m:t>=</m:t>
                        </m:r>
                        <m:d>
                          <m:dPr>
                            <m:ctrlPr>
                              <a:rPr lang="en-US" altLang="zh-CN" b="1" i="1" smtClean="0">
                                <a:latin typeface="Cambria Math" panose="02040503050406030204" pitchFamily="18" charset="0"/>
                              </a:rPr>
                            </m:ctrlPr>
                          </m:dPr>
                          <m:e>
                            <m:eqArr>
                              <m:eqArrPr>
                                <m:ctrlPr>
                                  <a:rPr lang="en-US" altLang="zh-CN" i="1">
                                    <a:latin typeface="Cambria Math" panose="02040503050406030204" pitchFamily="18" charset="0"/>
                                  </a:rPr>
                                </m:ctrlPr>
                              </m:eqArrPr>
                              <m:e>
                                <m:sSubSup>
                                  <m:sSubSupPr>
                                    <m:ctrlPr>
                                      <a:rPr lang="en-US" altLang="zh-CN" b="1" i="1">
                                        <a:latin typeface="Cambria Math" panose="02040503050406030204" pitchFamily="18" charset="0"/>
                                      </a:rPr>
                                    </m:ctrlPr>
                                  </m:sSubSupPr>
                                  <m:e>
                                    <m:r>
                                      <a:rPr lang="en-US" altLang="zh-CN" i="1">
                                        <a:latin typeface="Cambria Math" panose="02040503050406030204" pitchFamily="18" charset="0"/>
                                      </a:rPr>
                                      <m:t>𝑤</m:t>
                                    </m:r>
                                  </m:e>
                                  <m:sub>
                                    <m:r>
                                      <a:rPr lang="en-US" altLang="zh-CN" b="0" i="1" smtClean="0">
                                        <a:latin typeface="Cambria Math" panose="02040503050406030204" pitchFamily="18" charset="0"/>
                                      </a:rPr>
                                      <m:t>1</m:t>
                                    </m:r>
                                    <m:r>
                                      <a:rPr lang="en-US" altLang="zh-CN" i="1">
                                        <a:latin typeface="Cambria Math" panose="02040503050406030204" pitchFamily="18" charset="0"/>
                                      </a:rPr>
                                      <m:t>1</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e>
                              <m:e>
                                <m:sSubSup>
                                  <m:sSubSupPr>
                                    <m:ctrlPr>
                                      <a:rPr lang="en-US" altLang="zh-CN" b="1" i="1">
                                        <a:latin typeface="Cambria Math" panose="02040503050406030204" pitchFamily="18" charset="0"/>
                                      </a:rPr>
                                    </m:ctrlPr>
                                  </m:sSubSupPr>
                                  <m:e>
                                    <m:r>
                                      <a:rPr lang="en-US" altLang="zh-CN" i="1">
                                        <a:latin typeface="Cambria Math" panose="02040503050406030204" pitchFamily="18" charset="0"/>
                                      </a:rPr>
                                      <m:t>𝑤</m:t>
                                    </m:r>
                                  </m:e>
                                  <m:sub>
                                    <m:r>
                                      <a:rPr lang="en-US" altLang="zh-CN" b="0" i="1" smtClean="0">
                                        <a:latin typeface="Cambria Math" panose="02040503050406030204" pitchFamily="18" charset="0"/>
                                      </a:rPr>
                                      <m:t>21</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e>
                              <m:e>
                                <m:r>
                                  <a:rPr lang="en-US" altLang="zh-CN" i="1">
                                    <a:latin typeface="Cambria Math" panose="02040503050406030204" pitchFamily="18" charset="0"/>
                                  </a:rPr>
                                  <m:t>⋮</m:t>
                                </m:r>
                              </m:e>
                              <m:e>
                                <m:sSubSup>
                                  <m:sSubSupPr>
                                    <m:ctrlPr>
                                      <a:rPr lang="en-US" altLang="zh-CN" b="1" i="1">
                                        <a:latin typeface="Cambria Math" panose="02040503050406030204" pitchFamily="18" charset="0"/>
                                      </a:rPr>
                                    </m:ctrlPr>
                                  </m:sSubSupPr>
                                  <m:e>
                                    <m:r>
                                      <a:rPr lang="en-US" altLang="zh-CN" i="1">
                                        <a:latin typeface="Cambria Math" panose="02040503050406030204" pitchFamily="18" charset="0"/>
                                      </a:rPr>
                                      <m:t>𝑤</m:t>
                                    </m:r>
                                  </m:e>
                                  <m:sub>
                                    <m:r>
                                      <a:rPr lang="en-US" altLang="zh-CN" b="0" i="1" smtClean="0">
                                        <a:latin typeface="Cambria Math" panose="02040503050406030204" pitchFamily="18" charset="0"/>
                                      </a:rPr>
                                      <m:t>𝑀</m:t>
                                    </m:r>
                                    <m:r>
                                      <a:rPr lang="en-US" altLang="zh-CN" b="0" i="1" smtClean="0">
                                        <a:latin typeface="Cambria Math" panose="02040503050406030204" pitchFamily="18" charset="0"/>
                                      </a:rPr>
                                      <m:t>1</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e>
                            </m:eqArr>
                            <m:eqArr>
                              <m:eqArrPr>
                                <m:ctrlPr>
                                  <a:rPr lang="en-US" altLang="zh-CN" i="1">
                                    <a:latin typeface="Cambria Math" panose="02040503050406030204" pitchFamily="18" charset="0"/>
                                  </a:rPr>
                                </m:ctrlPr>
                              </m:eqArrPr>
                              <m:e>
                                <m:sSubSup>
                                  <m:sSubSupPr>
                                    <m:ctrlPr>
                                      <a:rPr lang="en-US" altLang="zh-CN" b="1" i="1">
                                        <a:latin typeface="Cambria Math" panose="02040503050406030204" pitchFamily="18" charset="0"/>
                                      </a:rPr>
                                    </m:ctrlPr>
                                  </m:sSubSupPr>
                                  <m:e>
                                    <m:r>
                                      <a:rPr lang="en-US" altLang="zh-CN" i="1">
                                        <a:latin typeface="Cambria Math" panose="02040503050406030204" pitchFamily="18" charset="0"/>
                                      </a:rPr>
                                      <m:t>𝑤</m:t>
                                    </m:r>
                                  </m:e>
                                  <m:sub>
                                    <m:r>
                                      <a:rPr lang="en-US" altLang="zh-CN" b="0" i="1" smtClean="0">
                                        <a:latin typeface="Cambria Math" panose="02040503050406030204" pitchFamily="18" charset="0"/>
                                      </a:rPr>
                                      <m:t>12</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e>
                              <m:e>
                                <m:sSubSup>
                                  <m:sSubSupPr>
                                    <m:ctrlPr>
                                      <a:rPr lang="en-US" altLang="zh-CN" b="1" i="1">
                                        <a:latin typeface="Cambria Math" panose="02040503050406030204" pitchFamily="18" charset="0"/>
                                      </a:rPr>
                                    </m:ctrlPr>
                                  </m:sSubSupPr>
                                  <m:e>
                                    <m:r>
                                      <a:rPr lang="en-US" altLang="zh-CN" i="1">
                                        <a:latin typeface="Cambria Math" panose="02040503050406030204" pitchFamily="18" charset="0"/>
                                      </a:rPr>
                                      <m:t>𝑤</m:t>
                                    </m:r>
                                  </m:e>
                                  <m:sub>
                                    <m:r>
                                      <a:rPr lang="en-US" altLang="zh-CN" b="0" i="1" smtClean="0">
                                        <a:latin typeface="Cambria Math" panose="02040503050406030204" pitchFamily="18" charset="0"/>
                                      </a:rPr>
                                      <m:t>2</m:t>
                                    </m:r>
                                    <m:r>
                                      <a:rPr lang="en-US" altLang="zh-CN" i="1">
                                        <a:latin typeface="Cambria Math" panose="02040503050406030204" pitchFamily="18" charset="0"/>
                                      </a:rPr>
                                      <m:t>2</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e>
                              <m:e>
                                <m:r>
                                  <a:rPr lang="en-US" altLang="zh-CN" i="1">
                                    <a:latin typeface="Cambria Math" panose="02040503050406030204" pitchFamily="18" charset="0"/>
                                  </a:rPr>
                                  <m:t>⋮</m:t>
                                </m:r>
                              </m:e>
                              <m:e>
                                <m:sSubSup>
                                  <m:sSubSupPr>
                                    <m:ctrlPr>
                                      <a:rPr lang="en-US" altLang="zh-CN" b="1" i="1">
                                        <a:latin typeface="Cambria Math" panose="02040503050406030204" pitchFamily="18" charset="0"/>
                                      </a:rPr>
                                    </m:ctrlPr>
                                  </m:sSubSupPr>
                                  <m:e>
                                    <m:r>
                                      <a:rPr lang="en-US" altLang="zh-CN" i="1">
                                        <a:latin typeface="Cambria Math" panose="02040503050406030204" pitchFamily="18" charset="0"/>
                                      </a:rPr>
                                      <m:t>𝑤</m:t>
                                    </m:r>
                                  </m:e>
                                  <m:sub>
                                    <m:r>
                                      <a:rPr lang="en-US" altLang="zh-CN" b="0" i="1" smtClean="0">
                                        <a:latin typeface="Cambria Math" panose="02040503050406030204" pitchFamily="18" charset="0"/>
                                      </a:rPr>
                                      <m:t>𝑀</m:t>
                                    </m:r>
                                    <m:r>
                                      <a:rPr lang="en-US" altLang="zh-CN" b="0" i="1" smtClean="0">
                                        <a:latin typeface="Cambria Math" panose="02040503050406030204" pitchFamily="18" charset="0"/>
                                      </a:rPr>
                                      <m:t>2</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e>
                            </m:eqArr>
                            <m:eqArr>
                              <m:eqArrPr>
                                <m:ctrlPr>
                                  <a:rPr lang="en-US" altLang="zh-CN" i="1">
                                    <a:latin typeface="Cambria Math" panose="02040503050406030204" pitchFamily="18" charset="0"/>
                                  </a:rPr>
                                </m:ctrlPr>
                              </m:eqArrPr>
                              <m:e>
                                <m:r>
                                  <a:rPr lang="en-US" altLang="zh-CN" i="1" smtClean="0">
                                    <a:latin typeface="Cambria Math" panose="02040503050406030204" pitchFamily="18" charset="0"/>
                                  </a:rPr>
                                  <m:t>⋯</m:t>
                                </m:r>
                              </m:e>
                              <m:e>
                                <m:r>
                                  <a:rPr lang="en-US" altLang="zh-CN" b="1" i="1" smtClean="0">
                                    <a:latin typeface="Cambria Math" panose="02040503050406030204" pitchFamily="18" charset="0"/>
                                  </a:rPr>
                                  <m:t>⋯</m:t>
                                </m:r>
                              </m:e>
                              <m:e>
                                <m:r>
                                  <a:rPr lang="en-US" altLang="zh-CN" b="1" i="1" smtClean="0">
                                    <a:latin typeface="Cambria Math" panose="02040503050406030204" pitchFamily="18" charset="0"/>
                                  </a:rPr>
                                  <m:t>⋱</m:t>
                                </m:r>
                              </m:e>
                              <m:e>
                                <m:r>
                                  <a:rPr lang="en-US" altLang="zh-CN" i="1" smtClean="0">
                                    <a:latin typeface="Cambria Math" panose="02040503050406030204" pitchFamily="18" charset="0"/>
                                  </a:rPr>
                                  <m:t>…</m:t>
                                </m:r>
                              </m:e>
                            </m:eqArr>
                            <m:eqArr>
                              <m:eqArrPr>
                                <m:ctrlPr>
                                  <a:rPr lang="en-US" altLang="zh-CN" i="1">
                                    <a:latin typeface="Cambria Math" panose="02040503050406030204" pitchFamily="18" charset="0"/>
                                  </a:rPr>
                                </m:ctrlPr>
                              </m:eqArrPr>
                              <m:e>
                                <m:sSubSup>
                                  <m:sSubSupPr>
                                    <m:ctrlPr>
                                      <a:rPr lang="en-US" altLang="zh-CN" b="1" i="1">
                                        <a:latin typeface="Cambria Math" panose="02040503050406030204" pitchFamily="18" charset="0"/>
                                      </a:rPr>
                                    </m:ctrlPr>
                                  </m:sSubSupPr>
                                  <m:e>
                                    <m:r>
                                      <a:rPr lang="en-US" altLang="zh-CN" i="1">
                                        <a:latin typeface="Cambria Math" panose="02040503050406030204" pitchFamily="18" charset="0"/>
                                      </a:rPr>
                                      <m:t>𝑤</m:t>
                                    </m:r>
                                  </m:e>
                                  <m:sub>
                                    <m:r>
                                      <a:rPr lang="en-US" altLang="zh-CN" b="0" i="1" smtClean="0">
                                        <a:latin typeface="Cambria Math" panose="02040503050406030204" pitchFamily="18" charset="0"/>
                                      </a:rPr>
                                      <m:t>1</m:t>
                                    </m:r>
                                    <m:r>
                                      <a:rPr lang="en-US" altLang="zh-CN" b="0" i="1" smtClean="0">
                                        <a:latin typeface="Cambria Math" panose="02040503050406030204" pitchFamily="18" charset="0"/>
                                      </a:rPr>
                                      <m:t>𝐾</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e>
                              <m:e>
                                <m:sSubSup>
                                  <m:sSubSupPr>
                                    <m:ctrlPr>
                                      <a:rPr lang="en-US" altLang="zh-CN" b="1" i="1">
                                        <a:latin typeface="Cambria Math" panose="02040503050406030204" pitchFamily="18" charset="0"/>
                                      </a:rPr>
                                    </m:ctrlPr>
                                  </m:sSubSupPr>
                                  <m:e>
                                    <m:r>
                                      <a:rPr lang="en-US" altLang="zh-CN" i="1">
                                        <a:latin typeface="Cambria Math" panose="02040503050406030204" pitchFamily="18" charset="0"/>
                                      </a:rPr>
                                      <m:t>𝑤</m:t>
                                    </m:r>
                                  </m:e>
                                  <m:sub>
                                    <m:r>
                                      <a:rPr lang="en-US" altLang="zh-CN" i="1">
                                        <a:latin typeface="Cambria Math" panose="02040503050406030204" pitchFamily="18" charset="0"/>
                                      </a:rPr>
                                      <m:t>2</m:t>
                                    </m:r>
                                    <m:r>
                                      <a:rPr lang="en-US" altLang="zh-CN" b="0" i="1" smtClean="0">
                                        <a:latin typeface="Cambria Math" panose="02040503050406030204" pitchFamily="18" charset="0"/>
                                      </a:rPr>
                                      <m:t>𝐾</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e>
                              <m:e>
                                <m:r>
                                  <a:rPr lang="en-US" altLang="zh-CN" i="1">
                                    <a:latin typeface="Cambria Math" panose="02040503050406030204" pitchFamily="18" charset="0"/>
                                  </a:rPr>
                                  <m:t>⋮</m:t>
                                </m:r>
                              </m:e>
                              <m:e>
                                <m:sSubSup>
                                  <m:sSubSupPr>
                                    <m:ctrlPr>
                                      <a:rPr lang="en-US" altLang="zh-CN" b="1" i="1">
                                        <a:latin typeface="Cambria Math" panose="02040503050406030204" pitchFamily="18" charset="0"/>
                                      </a:rPr>
                                    </m:ctrlPr>
                                  </m:sSubSupPr>
                                  <m:e>
                                    <m:r>
                                      <a:rPr lang="en-US" altLang="zh-CN" i="1">
                                        <a:latin typeface="Cambria Math" panose="02040503050406030204" pitchFamily="18" charset="0"/>
                                      </a:rPr>
                                      <m:t>𝑤</m:t>
                                    </m:r>
                                  </m:e>
                                  <m:sub>
                                    <m:r>
                                      <a:rPr lang="en-US" altLang="zh-CN" b="0" i="1" smtClean="0">
                                        <a:latin typeface="Cambria Math" panose="02040503050406030204" pitchFamily="18" charset="0"/>
                                      </a:rPr>
                                      <m:t>𝑀</m:t>
                                    </m:r>
                                    <m:r>
                                      <a:rPr lang="en-US" altLang="zh-CN" i="1">
                                        <a:latin typeface="Cambria Math" panose="02040503050406030204" pitchFamily="18" charset="0"/>
                                      </a:rPr>
                                      <m:t>𝐾</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e>
                            </m:eqArr>
                          </m:e>
                        </m:d>
                      </m:oMath>
                    </m:oMathPara>
                  </a14:m>
                  <a:endParaRPr lang="zh-CN" altLang="en-US" dirty="0"/>
                </a:p>
              </p:txBody>
            </p:sp>
          </mc:Choice>
          <mc:Fallback xmlns="">
            <p:sp>
              <p:nvSpPr>
                <p:cNvPr id="32" name="矩形 31">
                  <a:extLst>
                    <a:ext uri="{FF2B5EF4-FFF2-40B4-BE49-F238E27FC236}">
                      <a16:creationId xmlns:a16="http://schemas.microsoft.com/office/drawing/2014/main" id="{F225EC0D-B3A1-4193-9429-ADE37BE2C445}"/>
                    </a:ext>
                  </a:extLst>
                </p:cNvPr>
                <p:cNvSpPr>
                  <a:spLocks noRot="1" noChangeAspect="1" noMove="1" noResize="1" noEditPoints="1" noAdjustHandles="1" noChangeArrowheads="1" noChangeShapeType="1" noTextEdit="1"/>
                </p:cNvSpPr>
                <p:nvPr/>
              </p:nvSpPr>
              <p:spPr>
                <a:xfrm>
                  <a:off x="5263175" y="1616390"/>
                  <a:ext cx="3102644" cy="1422762"/>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6" name="矩形 85">
                  <a:extLst>
                    <a:ext uri="{FF2B5EF4-FFF2-40B4-BE49-F238E27FC236}">
                      <a16:creationId xmlns:a16="http://schemas.microsoft.com/office/drawing/2014/main" id="{7191FA31-0208-4579-A7F6-998D042D5D2E}"/>
                    </a:ext>
                  </a:extLst>
                </p:cNvPr>
                <p:cNvSpPr/>
                <p:nvPr/>
              </p:nvSpPr>
              <p:spPr>
                <a:xfrm>
                  <a:off x="2357345" y="3038422"/>
                  <a:ext cx="81201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Cambria Math" panose="02040503050406030204" pitchFamily="18" charset="0"/>
                          </a:rPr>
                          <m:t>𝐾</m:t>
                        </m:r>
                        <m:r>
                          <a:rPr lang="en-US" altLang="zh-CN" b="0" i="1" smtClean="0">
                            <a:latin typeface="Cambria Math" panose="02040503050406030204" pitchFamily="18" charset="0"/>
                            <a:ea typeface="Cambria Math" panose="02040503050406030204" pitchFamily="18" charset="0"/>
                          </a:rPr>
                          <m:t>×1</m:t>
                        </m:r>
                      </m:oMath>
                    </m:oMathPara>
                  </a14:m>
                  <a:endParaRPr lang="zh-CN" altLang="en-US" dirty="0"/>
                </a:p>
              </p:txBody>
            </p:sp>
          </mc:Choice>
          <mc:Fallback xmlns="">
            <p:sp>
              <p:nvSpPr>
                <p:cNvPr id="86" name="矩形 85">
                  <a:extLst>
                    <a:ext uri="{FF2B5EF4-FFF2-40B4-BE49-F238E27FC236}">
                      <a16:creationId xmlns:a16="http://schemas.microsoft.com/office/drawing/2014/main" id="{7191FA31-0208-4579-A7F6-998D042D5D2E}"/>
                    </a:ext>
                  </a:extLst>
                </p:cNvPr>
                <p:cNvSpPr>
                  <a:spLocks noRot="1" noChangeAspect="1" noMove="1" noResize="1" noEditPoints="1" noAdjustHandles="1" noChangeArrowheads="1" noChangeShapeType="1" noTextEdit="1"/>
                </p:cNvSpPr>
                <p:nvPr/>
              </p:nvSpPr>
              <p:spPr>
                <a:xfrm>
                  <a:off x="2357345" y="3038422"/>
                  <a:ext cx="812017" cy="369332"/>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矩形 52">
                  <a:extLst>
                    <a:ext uri="{FF2B5EF4-FFF2-40B4-BE49-F238E27FC236}">
                      <a16:creationId xmlns:a16="http://schemas.microsoft.com/office/drawing/2014/main" id="{44C01E1B-8D80-404D-A7C0-E80F853BB70C}"/>
                    </a:ext>
                  </a:extLst>
                </p:cNvPr>
                <p:cNvSpPr/>
                <p:nvPr/>
              </p:nvSpPr>
              <p:spPr>
                <a:xfrm>
                  <a:off x="3406576" y="1491476"/>
                  <a:ext cx="1941493" cy="162480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b="1" i="1" smtClean="0">
                                <a:latin typeface="Cambria Math" panose="02040503050406030204" pitchFamily="18" charset="0"/>
                              </a:rPr>
                            </m:ctrlPr>
                          </m:sSubSupPr>
                          <m:e>
                            <m:r>
                              <a:rPr lang="en-US" altLang="zh-CN" b="1" i="0" smtClean="0">
                                <a:latin typeface="Cambria Math" panose="02040503050406030204" pitchFamily="18" charset="0"/>
                              </a:rPr>
                              <m:t>𝐖</m:t>
                            </m:r>
                          </m:e>
                          <m:sub>
                            <m:r>
                              <a:rPr lang="en-US" altLang="zh-CN" i="1">
                                <a:latin typeface="Cambria Math" panose="02040503050406030204" pitchFamily="18" charset="0"/>
                              </a:rPr>
                              <m:t>𝑗𝑘</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r>
                          <a:rPr lang="en-US" altLang="zh-CN" b="1" i="0" smtClean="0">
                            <a:latin typeface="Cambria Math" panose="02040503050406030204" pitchFamily="18" charset="0"/>
                          </a:rPr>
                          <m:t>=</m:t>
                        </m:r>
                        <m:d>
                          <m:dPr>
                            <m:ctrlPr>
                              <a:rPr lang="en-US" altLang="zh-CN" b="1" i="1" smtClean="0">
                                <a:latin typeface="Cambria Math" panose="02040503050406030204" pitchFamily="18" charset="0"/>
                              </a:rPr>
                            </m:ctrlPr>
                          </m:dPr>
                          <m:e>
                            <m:eqArr>
                              <m:eqArrPr>
                                <m:ctrlPr>
                                  <a:rPr lang="en-US" altLang="zh-CN" i="1">
                                    <a:latin typeface="Cambria Math" panose="02040503050406030204" pitchFamily="18" charset="0"/>
                                  </a:rPr>
                                </m:ctrlPr>
                              </m:eqArrPr>
                              <m:e>
                                <m:sSup>
                                  <m:sSupPr>
                                    <m:ctrlPr>
                                      <a:rPr lang="en-US" altLang="zh-CN" i="1" smtClean="0">
                                        <a:latin typeface="Cambria Math" panose="02040503050406030204" pitchFamily="18" charset="0"/>
                                      </a:rPr>
                                    </m:ctrlPr>
                                  </m:sSupPr>
                                  <m:e>
                                    <m:sSubSup>
                                      <m:sSubSupPr>
                                        <m:ctrlPr>
                                          <a:rPr lang="en-US" altLang="zh-CN" b="1" i="1">
                                            <a:latin typeface="Cambria Math" panose="02040503050406030204" pitchFamily="18" charset="0"/>
                                          </a:rPr>
                                        </m:ctrlPr>
                                      </m:sSubSupPr>
                                      <m:e>
                                        <m:r>
                                          <a:rPr lang="en-US" altLang="zh-CN" b="1">
                                            <a:latin typeface="Cambria Math" panose="02040503050406030204" pitchFamily="18" charset="0"/>
                                          </a:rPr>
                                          <m:t>𝐰</m:t>
                                        </m:r>
                                      </m:e>
                                      <m:sub>
                                        <m:r>
                                          <a:rPr lang="en-US" altLang="zh-CN" b="0" i="1" smtClean="0">
                                            <a:latin typeface="Cambria Math" panose="02040503050406030204" pitchFamily="18" charset="0"/>
                                          </a:rPr>
                                          <m:t>1</m:t>
                                        </m:r>
                                        <m:r>
                                          <a:rPr lang="en-US" altLang="zh-CN" i="1">
                                            <a:latin typeface="Cambria Math" panose="02040503050406030204" pitchFamily="18" charset="0"/>
                                          </a:rPr>
                                          <m:t>𝑘</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e>
                                  <m:sup>
                                    <m:r>
                                      <a:rPr lang="en-US" altLang="zh-CN" b="0" i="1" smtClean="0">
                                        <a:latin typeface="Cambria Math" panose="02040503050406030204" pitchFamily="18" charset="0"/>
                                      </a:rPr>
                                      <m:t>𝑇</m:t>
                                    </m:r>
                                  </m:sup>
                                </m:sSup>
                              </m:e>
                              <m:e>
                                <m:sSup>
                                  <m:sSupPr>
                                    <m:ctrlPr>
                                      <a:rPr lang="en-US" altLang="zh-CN" i="1">
                                        <a:latin typeface="Cambria Math" panose="02040503050406030204" pitchFamily="18" charset="0"/>
                                      </a:rPr>
                                    </m:ctrlPr>
                                  </m:sSupPr>
                                  <m:e>
                                    <m:sSubSup>
                                      <m:sSubSupPr>
                                        <m:ctrlPr>
                                          <a:rPr lang="en-US" altLang="zh-CN" b="1" i="1">
                                            <a:latin typeface="Cambria Math" panose="02040503050406030204" pitchFamily="18" charset="0"/>
                                          </a:rPr>
                                        </m:ctrlPr>
                                      </m:sSubSupPr>
                                      <m:e>
                                        <m:r>
                                          <a:rPr lang="en-US" altLang="zh-CN" b="1">
                                            <a:latin typeface="Cambria Math" panose="02040503050406030204" pitchFamily="18" charset="0"/>
                                          </a:rPr>
                                          <m:t>𝐰</m:t>
                                        </m:r>
                                      </m:e>
                                      <m:sub>
                                        <m:r>
                                          <a:rPr lang="en-US" altLang="zh-CN" b="0" i="1" smtClean="0">
                                            <a:latin typeface="Cambria Math" panose="02040503050406030204" pitchFamily="18" charset="0"/>
                                          </a:rPr>
                                          <m:t>2</m:t>
                                        </m:r>
                                        <m:r>
                                          <a:rPr lang="en-US" altLang="zh-CN" b="0" i="1" smtClean="0">
                                            <a:latin typeface="Cambria Math" panose="02040503050406030204" pitchFamily="18" charset="0"/>
                                          </a:rPr>
                                          <m:t>𝑘</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e>
                                  <m:sup>
                                    <m:r>
                                      <a:rPr lang="en-US" altLang="zh-CN" i="1">
                                        <a:latin typeface="Cambria Math" panose="02040503050406030204" pitchFamily="18" charset="0"/>
                                      </a:rPr>
                                      <m:t>𝑇</m:t>
                                    </m:r>
                                  </m:sup>
                                </m:sSup>
                              </m:e>
                              <m:e>
                                <m:r>
                                  <a:rPr lang="en-US" altLang="zh-CN" i="1" smtClean="0">
                                    <a:latin typeface="Cambria Math" panose="02040503050406030204" pitchFamily="18" charset="0"/>
                                  </a:rPr>
                                  <m:t>⋮</m:t>
                                </m:r>
                              </m:e>
                              <m:e>
                                <m:sSup>
                                  <m:sSupPr>
                                    <m:ctrlPr>
                                      <a:rPr lang="en-US" altLang="zh-CN" i="1">
                                        <a:latin typeface="Cambria Math" panose="02040503050406030204" pitchFamily="18" charset="0"/>
                                      </a:rPr>
                                    </m:ctrlPr>
                                  </m:sSupPr>
                                  <m:e>
                                    <m:sSubSup>
                                      <m:sSubSupPr>
                                        <m:ctrlPr>
                                          <a:rPr lang="en-US" altLang="zh-CN" b="1" i="1">
                                            <a:latin typeface="Cambria Math" panose="02040503050406030204" pitchFamily="18" charset="0"/>
                                          </a:rPr>
                                        </m:ctrlPr>
                                      </m:sSubSupPr>
                                      <m:e>
                                        <m:r>
                                          <a:rPr lang="en-US" altLang="zh-CN" b="1">
                                            <a:latin typeface="Cambria Math" panose="02040503050406030204" pitchFamily="18" charset="0"/>
                                          </a:rPr>
                                          <m:t>𝐰</m:t>
                                        </m:r>
                                      </m:e>
                                      <m:sub>
                                        <m:r>
                                          <a:rPr lang="en-US" altLang="zh-CN" b="0" i="1" smtClean="0">
                                            <a:latin typeface="Cambria Math" panose="02040503050406030204" pitchFamily="18" charset="0"/>
                                          </a:rPr>
                                          <m:t>𝑀𝑘</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e>
                                  <m:sup>
                                    <m:r>
                                      <a:rPr lang="en-US" altLang="zh-CN" i="1">
                                        <a:latin typeface="Cambria Math" panose="02040503050406030204" pitchFamily="18" charset="0"/>
                                      </a:rPr>
                                      <m:t>𝑇</m:t>
                                    </m:r>
                                  </m:sup>
                                </m:sSup>
                              </m:e>
                            </m:eqArr>
                          </m:e>
                        </m:d>
                      </m:oMath>
                    </m:oMathPara>
                  </a14:m>
                  <a:endParaRPr lang="zh-CN" altLang="en-US" dirty="0"/>
                </a:p>
              </p:txBody>
            </p:sp>
          </mc:Choice>
          <mc:Fallback xmlns="">
            <p:sp>
              <p:nvSpPr>
                <p:cNvPr id="53" name="矩形 52">
                  <a:extLst>
                    <a:ext uri="{FF2B5EF4-FFF2-40B4-BE49-F238E27FC236}">
                      <a16:creationId xmlns:a16="http://schemas.microsoft.com/office/drawing/2014/main" id="{44C01E1B-8D80-404D-A7C0-E80F853BB70C}"/>
                    </a:ext>
                  </a:extLst>
                </p:cNvPr>
                <p:cNvSpPr>
                  <a:spLocks noRot="1" noChangeAspect="1" noMove="1" noResize="1" noEditPoints="1" noAdjustHandles="1" noChangeArrowheads="1" noChangeShapeType="1" noTextEdit="1"/>
                </p:cNvSpPr>
                <p:nvPr/>
              </p:nvSpPr>
              <p:spPr>
                <a:xfrm>
                  <a:off x="3406576" y="1491476"/>
                  <a:ext cx="1941493" cy="1624804"/>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1" name="矩形 90">
                  <a:extLst>
                    <a:ext uri="{FF2B5EF4-FFF2-40B4-BE49-F238E27FC236}">
                      <a16:creationId xmlns:a16="http://schemas.microsoft.com/office/drawing/2014/main" id="{A3D5BDC7-3B96-49FC-8A75-3B2023E67DFD}"/>
                    </a:ext>
                  </a:extLst>
                </p:cNvPr>
                <p:cNvSpPr/>
                <p:nvPr/>
              </p:nvSpPr>
              <p:spPr>
                <a:xfrm>
                  <a:off x="4300477" y="2996396"/>
                  <a:ext cx="92050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𝑀</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rPr>
                          <m:t>𝐾</m:t>
                        </m:r>
                      </m:oMath>
                    </m:oMathPara>
                  </a14:m>
                  <a:endParaRPr lang="zh-CN" altLang="en-US" dirty="0"/>
                </a:p>
              </p:txBody>
            </p:sp>
          </mc:Choice>
          <mc:Fallback xmlns="">
            <p:sp>
              <p:nvSpPr>
                <p:cNvPr id="91" name="矩形 90">
                  <a:extLst>
                    <a:ext uri="{FF2B5EF4-FFF2-40B4-BE49-F238E27FC236}">
                      <a16:creationId xmlns:a16="http://schemas.microsoft.com/office/drawing/2014/main" id="{A3D5BDC7-3B96-49FC-8A75-3B2023E67DFD}"/>
                    </a:ext>
                  </a:extLst>
                </p:cNvPr>
                <p:cNvSpPr>
                  <a:spLocks noRot="1" noChangeAspect="1" noMove="1" noResize="1" noEditPoints="1" noAdjustHandles="1" noChangeArrowheads="1" noChangeShapeType="1" noTextEdit="1"/>
                </p:cNvSpPr>
                <p:nvPr/>
              </p:nvSpPr>
              <p:spPr>
                <a:xfrm>
                  <a:off x="4300477" y="2996396"/>
                  <a:ext cx="920508" cy="369332"/>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2" name="矩形 91">
                  <a:extLst>
                    <a:ext uri="{FF2B5EF4-FFF2-40B4-BE49-F238E27FC236}">
                      <a16:creationId xmlns:a16="http://schemas.microsoft.com/office/drawing/2014/main" id="{4F1563FA-CACC-40B3-AC9C-5B61D0FD80AA}"/>
                    </a:ext>
                  </a:extLst>
                </p:cNvPr>
                <p:cNvSpPr/>
                <p:nvPr/>
              </p:nvSpPr>
              <p:spPr>
                <a:xfrm>
                  <a:off x="6758826" y="2981687"/>
                  <a:ext cx="88658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Cambria Math" panose="02040503050406030204" pitchFamily="18" charset="0"/>
                          </a:rPr>
                          <m:t>𝑀</m:t>
                        </m:r>
                        <m:r>
                          <a:rPr lang="en-US" altLang="zh-CN" b="0" i="1" smtClean="0">
                            <a:latin typeface="Cambria Math" panose="02040503050406030204" pitchFamily="18" charset="0"/>
                            <a:ea typeface="Cambria Math" panose="02040503050406030204" pitchFamily="18" charset="0"/>
                          </a:rPr>
                          <m:t>×</m:t>
                        </m:r>
                        <m:r>
                          <a:rPr lang="en-US" altLang="zh-CN" i="1">
                            <a:latin typeface="Cambria Math" panose="02040503050406030204" pitchFamily="18" charset="0"/>
                          </a:rPr>
                          <m:t>𝐾</m:t>
                        </m:r>
                      </m:oMath>
                    </m:oMathPara>
                  </a14:m>
                  <a:endParaRPr lang="zh-CN" altLang="en-US" dirty="0"/>
                </a:p>
              </p:txBody>
            </p:sp>
          </mc:Choice>
          <mc:Fallback xmlns="">
            <p:sp>
              <p:nvSpPr>
                <p:cNvPr id="92" name="矩形 91">
                  <a:extLst>
                    <a:ext uri="{FF2B5EF4-FFF2-40B4-BE49-F238E27FC236}">
                      <a16:creationId xmlns:a16="http://schemas.microsoft.com/office/drawing/2014/main" id="{4F1563FA-CACC-40B3-AC9C-5B61D0FD80AA}"/>
                    </a:ext>
                  </a:extLst>
                </p:cNvPr>
                <p:cNvSpPr>
                  <a:spLocks noRot="1" noChangeAspect="1" noMove="1" noResize="1" noEditPoints="1" noAdjustHandles="1" noChangeArrowheads="1" noChangeShapeType="1" noTextEdit="1"/>
                </p:cNvSpPr>
                <p:nvPr/>
              </p:nvSpPr>
              <p:spPr>
                <a:xfrm>
                  <a:off x="6758826" y="2981687"/>
                  <a:ext cx="886589" cy="369332"/>
                </a:xfrm>
                <a:prstGeom prst="rect">
                  <a:avLst/>
                </a:prstGeom>
                <a:blipFill>
                  <a:blip r:embed="rId12"/>
                  <a:stretch>
                    <a:fillRect/>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05AD953A-306F-461E-8767-945B939EDC82}"/>
                  </a:ext>
                </a:extLst>
              </p:cNvPr>
              <p:cNvSpPr/>
              <p:nvPr/>
            </p:nvSpPr>
            <p:spPr>
              <a:xfrm>
                <a:off x="645929" y="5915226"/>
                <a:ext cx="1628779" cy="52751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CN" b="1" i="1" smtClean="0">
                              <a:latin typeface="Cambria Math" panose="02040503050406030204" pitchFamily="18" charset="0"/>
                            </a:rPr>
                          </m:ctrlPr>
                        </m:sSupPr>
                        <m:e>
                          <m:sSubSup>
                            <m:sSubSupPr>
                              <m:ctrlPr>
                                <a:rPr lang="en-US" altLang="zh-CN" b="1" i="1">
                                  <a:latin typeface="Cambria Math" panose="02040503050406030204" pitchFamily="18" charset="0"/>
                                </a:rPr>
                              </m:ctrlPr>
                            </m:sSubSupPr>
                            <m:e>
                              <m:r>
                                <a:rPr lang="en-US" altLang="zh-CN" b="1">
                                  <a:latin typeface="Cambria Math" panose="02040503050406030204" pitchFamily="18" charset="0"/>
                                </a:rPr>
                                <m:t>𝐖</m:t>
                              </m:r>
                            </m:e>
                            <m:sub>
                              <m:r>
                                <a:rPr lang="en-US" altLang="zh-CN" i="1">
                                  <a:latin typeface="Cambria Math" panose="02040503050406030204" pitchFamily="18" charset="0"/>
                                </a:rPr>
                                <m:t>𝑗𝑘</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e>
                        <m:sup>
                          <m:r>
                            <a:rPr lang="en-US" altLang="zh-CN" i="1">
                              <a:latin typeface="Cambria Math" panose="02040503050406030204" pitchFamily="18" charset="0"/>
                            </a:rPr>
                            <m:t>𝑇</m:t>
                          </m:r>
                        </m:sup>
                      </m:sSup>
                      <m:r>
                        <a:rPr lang="en-US" altLang="zh-CN" b="1" i="1" smtClean="0">
                          <a:latin typeface="Cambria Math" panose="02040503050406030204" pitchFamily="18" charset="0"/>
                        </a:rPr>
                        <m:t>=</m:t>
                      </m:r>
                      <m:sSubSup>
                        <m:sSubSupPr>
                          <m:ctrlPr>
                            <a:rPr lang="en-US" altLang="zh-CN" b="1" i="1">
                              <a:latin typeface="Cambria Math" panose="02040503050406030204" pitchFamily="18" charset="0"/>
                            </a:rPr>
                          </m:ctrlPr>
                        </m:sSubSupPr>
                        <m:e>
                          <m:r>
                            <a:rPr lang="en-US" altLang="zh-CN" b="1">
                              <a:latin typeface="Cambria Math" panose="02040503050406030204" pitchFamily="18" charset="0"/>
                            </a:rPr>
                            <m:t>𝐖</m:t>
                          </m:r>
                        </m:e>
                        <m:sub>
                          <m:r>
                            <a:rPr lang="en-US" altLang="zh-CN" i="1">
                              <a:latin typeface="Cambria Math" panose="02040503050406030204" pitchFamily="18" charset="0"/>
                            </a:rPr>
                            <m:t>𝑘𝑗</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oMath>
                  </m:oMathPara>
                </a14:m>
                <a:endParaRPr lang="zh-CN" altLang="en-US" dirty="0"/>
              </a:p>
            </p:txBody>
          </p:sp>
        </mc:Choice>
        <mc:Fallback xmlns="">
          <p:sp>
            <p:nvSpPr>
              <p:cNvPr id="3" name="矩形 2">
                <a:extLst>
                  <a:ext uri="{FF2B5EF4-FFF2-40B4-BE49-F238E27FC236}">
                    <a16:creationId xmlns:a16="http://schemas.microsoft.com/office/drawing/2014/main" id="{05AD953A-306F-461E-8767-945B939EDC82}"/>
                  </a:ext>
                </a:extLst>
              </p:cNvPr>
              <p:cNvSpPr>
                <a:spLocks noRot="1" noChangeAspect="1" noMove="1" noResize="1" noEditPoints="1" noAdjustHandles="1" noChangeArrowheads="1" noChangeShapeType="1" noTextEdit="1"/>
              </p:cNvSpPr>
              <p:nvPr/>
            </p:nvSpPr>
            <p:spPr>
              <a:xfrm>
                <a:off x="645929" y="5915226"/>
                <a:ext cx="1628779" cy="527517"/>
              </a:xfrm>
              <a:prstGeom prst="rect">
                <a:avLst/>
              </a:prstGeom>
              <a:blipFill>
                <a:blip r:embed="rId13"/>
                <a:stretch>
                  <a:fillRect/>
                </a:stretch>
              </a:blipFill>
            </p:spPr>
            <p:txBody>
              <a:bodyPr/>
              <a:lstStyle/>
              <a:p>
                <a:r>
                  <a:rPr lang="zh-CN" altLang="en-US">
                    <a:noFill/>
                  </a:rPr>
                  <a:t> </a:t>
                </a:r>
              </a:p>
            </p:txBody>
          </p:sp>
        </mc:Fallback>
      </mc:AlternateContent>
      <p:sp>
        <p:nvSpPr>
          <p:cNvPr id="4" name="矩形 3">
            <a:extLst>
              <a:ext uri="{FF2B5EF4-FFF2-40B4-BE49-F238E27FC236}">
                <a16:creationId xmlns:a16="http://schemas.microsoft.com/office/drawing/2014/main" id="{37F26E5D-149D-4239-B56B-AF31F079B655}"/>
              </a:ext>
            </a:extLst>
          </p:cNvPr>
          <p:cNvSpPr/>
          <p:nvPr/>
        </p:nvSpPr>
        <p:spPr>
          <a:xfrm>
            <a:off x="4003790" y="5992466"/>
            <a:ext cx="8032968" cy="426142"/>
          </a:xfrm>
          <a:prstGeom prst="rect">
            <a:avLst/>
          </a:prstGeom>
        </p:spPr>
        <p:txBody>
          <a:bodyPr wrap="none">
            <a:spAutoFit/>
          </a:bodyPr>
          <a:lstStyle/>
          <a:p>
            <a:pPr>
              <a:lnSpc>
                <a:spcPct val="150000"/>
              </a:lnSpc>
            </a:pPr>
            <a:r>
              <a:rPr lang="zh-CN" altLang="en-US" dirty="0">
                <a:latin typeface="思源黑体 CN Bold" panose="020B0800000000000000" pitchFamily="34" charset="-122"/>
                <a:ea typeface="思源黑体 CN Bold" panose="020B0800000000000000" pitchFamily="34" charset="-122"/>
              </a:rPr>
              <a:t>不同的下标顺序，表示通过该权值的数据流动方向不同，但权值共享同一个。</a:t>
            </a:r>
            <a:endParaRPr lang="en-US" altLang="zh-CN" dirty="0">
              <a:latin typeface="思源黑体 CN Bold" panose="020B0800000000000000" pitchFamily="34" charset="-122"/>
              <a:ea typeface="思源黑体 CN Bold" panose="020B0800000000000000" pitchFamily="34" charset="-122"/>
            </a:endParaRPr>
          </a:p>
        </p:txBody>
      </p:sp>
      <mc:AlternateContent xmlns:mc="http://schemas.openxmlformats.org/markup-compatibility/2006" xmlns:a14="http://schemas.microsoft.com/office/drawing/2010/main">
        <mc:Choice Requires="a14">
          <p:sp>
            <p:nvSpPr>
              <p:cNvPr id="93" name="矩形 92">
                <a:extLst>
                  <a:ext uri="{FF2B5EF4-FFF2-40B4-BE49-F238E27FC236}">
                    <a16:creationId xmlns:a16="http://schemas.microsoft.com/office/drawing/2014/main" id="{D0269234-FCA5-4FF6-B5C4-DD081C12D615}"/>
                  </a:ext>
                </a:extLst>
              </p:cNvPr>
              <p:cNvSpPr/>
              <p:nvPr/>
            </p:nvSpPr>
            <p:spPr>
              <a:xfrm>
                <a:off x="8813808" y="3800558"/>
                <a:ext cx="3047886" cy="472694"/>
              </a:xfrm>
              <a:prstGeom prst="rect">
                <a:avLst/>
              </a:prstGeom>
              <a:ln>
                <a:solidFill>
                  <a:srgbClr val="FF0000"/>
                </a:solidFill>
              </a:ln>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CN" b="1" i="1" smtClean="0">
                              <a:latin typeface="Cambria Math" panose="02040503050406030204" pitchFamily="18" charset="0"/>
                            </a:rPr>
                          </m:ctrlPr>
                        </m:sSupPr>
                        <m:e>
                          <m:r>
                            <a:rPr lang="zh-CN" altLang="en-US" b="1">
                              <a:latin typeface="Cambria Math" panose="02040503050406030204" pitchFamily="18" charset="0"/>
                            </a:rPr>
                            <m:t>𝛅</m:t>
                          </m:r>
                        </m:e>
                        <m:sup>
                          <m:d>
                            <m:dPr>
                              <m:ctrlPr>
                                <a:rPr lang="en-US" altLang="zh-CN" i="1">
                                  <a:latin typeface="Cambria Math" panose="02040503050406030204" pitchFamily="18" charset="0"/>
                                </a:rPr>
                              </m:ctrlPr>
                            </m:dPr>
                            <m:e>
                              <m:r>
                                <a:rPr lang="en-US" altLang="zh-CN" b="0" i="1" smtClean="0">
                                  <a:latin typeface="Cambria Math" panose="02040503050406030204" pitchFamily="18" charset="0"/>
                                </a:rPr>
                                <m:t>𝐿</m:t>
                              </m:r>
                              <m:r>
                                <a:rPr lang="en-US" altLang="zh-CN" b="0" i="1" smtClean="0">
                                  <a:latin typeface="Cambria Math" panose="02040503050406030204" pitchFamily="18" charset="0"/>
                                </a:rPr>
                                <m:t>−1</m:t>
                              </m:r>
                            </m:e>
                          </m:d>
                        </m:sup>
                      </m:sSup>
                      <m:r>
                        <a:rPr lang="en-US" altLang="zh-CN" b="1" i="0" smtClean="0">
                          <a:latin typeface="Cambria Math" panose="02040503050406030204" pitchFamily="18" charset="0"/>
                        </a:rPr>
                        <m:t>=</m:t>
                      </m:r>
                      <m:d>
                        <m:dPr>
                          <m:ctrlPr>
                            <a:rPr lang="en-US" altLang="zh-CN" b="1" i="1">
                              <a:latin typeface="Cambria Math" panose="02040503050406030204" pitchFamily="18" charset="0"/>
                            </a:rPr>
                          </m:ctrlPr>
                        </m:dPr>
                        <m:e>
                          <m:sSup>
                            <m:sSupPr>
                              <m:ctrlPr>
                                <a:rPr lang="en-US" altLang="zh-CN" b="1" i="1">
                                  <a:latin typeface="Cambria Math" panose="02040503050406030204" pitchFamily="18" charset="0"/>
                                </a:rPr>
                              </m:ctrlPr>
                            </m:sSupPr>
                            <m:e>
                              <m:r>
                                <a:rPr lang="en-US" altLang="zh-CN" b="1">
                                  <a:latin typeface="Cambria Math" panose="02040503050406030204" pitchFamily="18" charset="0"/>
                                </a:rPr>
                                <m:t>𝐡</m:t>
                              </m:r>
                              <m:r>
                                <a:rPr lang="en-US" altLang="zh-CN" b="1" i="1">
                                  <a:latin typeface="Cambria Math" panose="02040503050406030204" pitchFamily="18" charset="0"/>
                                </a:rPr>
                                <m:t>′</m:t>
                              </m:r>
                            </m:e>
                            <m:sup>
                              <m:d>
                                <m:dPr>
                                  <m:ctrlPr>
                                    <a:rPr lang="en-US" altLang="zh-CN" i="1">
                                      <a:latin typeface="Cambria Math" panose="02040503050406030204" pitchFamily="18" charset="0"/>
                                    </a:rPr>
                                  </m:ctrlPr>
                                </m:dPr>
                                <m:e>
                                  <m:r>
                                    <a:rPr lang="en-US" altLang="zh-CN" b="0" i="1" smtClean="0">
                                      <a:latin typeface="Cambria Math" panose="02040503050406030204" pitchFamily="18" charset="0"/>
                                    </a:rPr>
                                    <m:t>𝐿</m:t>
                                  </m:r>
                                  <m:r>
                                    <a:rPr lang="en-US" altLang="zh-CN" b="0" i="1" smtClean="0">
                                      <a:latin typeface="Cambria Math" panose="02040503050406030204" pitchFamily="18" charset="0"/>
                                    </a:rPr>
                                    <m:t>−1</m:t>
                                  </m:r>
                                </m:e>
                              </m:d>
                            </m:sup>
                          </m:sSup>
                        </m:e>
                      </m:d>
                      <m:r>
                        <a:rPr lang="en-US" altLang="zh-CN" b="1" i="1">
                          <a:latin typeface="Cambria Math" panose="02040503050406030204" pitchFamily="18" charset="0"/>
                          <a:ea typeface="Cambria Math" panose="02040503050406030204" pitchFamily="18" charset="0"/>
                        </a:rPr>
                        <m:t>∙</m:t>
                      </m:r>
                      <m:sSubSup>
                        <m:sSubSupPr>
                          <m:ctrlPr>
                            <a:rPr lang="en-US" altLang="zh-CN" b="1" i="1">
                              <a:latin typeface="Cambria Math" panose="02040503050406030204" pitchFamily="18" charset="0"/>
                            </a:rPr>
                          </m:ctrlPr>
                        </m:sSubSupPr>
                        <m:e>
                          <m:r>
                            <a:rPr lang="en-US" altLang="zh-CN" b="1">
                              <a:latin typeface="Cambria Math" panose="02040503050406030204" pitchFamily="18" charset="0"/>
                            </a:rPr>
                            <m:t>𝐖</m:t>
                          </m:r>
                        </m:e>
                        <m:sub>
                          <m:r>
                            <a:rPr lang="en-US" altLang="zh-CN" i="1">
                              <a:latin typeface="Cambria Math" panose="02040503050406030204" pitchFamily="18" charset="0"/>
                            </a:rPr>
                            <m:t>𝑗𝑘</m:t>
                          </m:r>
                        </m:sub>
                        <m:sup>
                          <m:d>
                            <m:dPr>
                              <m:ctrlPr>
                                <a:rPr lang="en-US" altLang="zh-CN" b="1" i="1">
                                  <a:latin typeface="Cambria Math" panose="02040503050406030204" pitchFamily="18" charset="0"/>
                                </a:rPr>
                              </m:ctrlPr>
                            </m:dPr>
                            <m:e>
                              <m:r>
                                <a:rPr lang="en-US" altLang="zh-CN" b="0" i="1" smtClean="0">
                                  <a:latin typeface="Cambria Math" panose="02040503050406030204" pitchFamily="18" charset="0"/>
                                </a:rPr>
                                <m:t>𝐿</m:t>
                              </m:r>
                            </m:e>
                          </m:d>
                        </m:sup>
                      </m:sSubSup>
                      <m:sSup>
                        <m:sSupPr>
                          <m:ctrlPr>
                            <a:rPr lang="en-US" altLang="zh-CN" b="1" i="1">
                              <a:latin typeface="Cambria Math" panose="02040503050406030204" pitchFamily="18" charset="0"/>
                            </a:rPr>
                          </m:ctrlPr>
                        </m:sSupPr>
                        <m:e>
                          <m:r>
                            <a:rPr lang="zh-CN" altLang="en-US" b="1">
                              <a:latin typeface="Cambria Math" panose="02040503050406030204" pitchFamily="18" charset="0"/>
                            </a:rPr>
                            <m:t>𝛅</m:t>
                          </m:r>
                        </m:e>
                        <m:sup>
                          <m:d>
                            <m:dPr>
                              <m:ctrlPr>
                                <a:rPr lang="en-US" altLang="zh-CN" i="1">
                                  <a:latin typeface="Cambria Math" panose="02040503050406030204" pitchFamily="18" charset="0"/>
                                </a:rPr>
                              </m:ctrlPr>
                            </m:dPr>
                            <m:e>
                              <m:r>
                                <a:rPr lang="en-US" altLang="zh-CN" b="0" i="1" smtClean="0">
                                  <a:latin typeface="Cambria Math" panose="02040503050406030204" pitchFamily="18" charset="0"/>
                                </a:rPr>
                                <m:t>𝐿</m:t>
                              </m:r>
                            </m:e>
                          </m:d>
                        </m:sup>
                      </m:sSup>
                    </m:oMath>
                  </m:oMathPara>
                </a14:m>
                <a:endParaRPr lang="zh-CN" altLang="en-US" dirty="0"/>
              </a:p>
            </p:txBody>
          </p:sp>
        </mc:Choice>
        <mc:Fallback xmlns="">
          <p:sp>
            <p:nvSpPr>
              <p:cNvPr id="93" name="矩形 92">
                <a:extLst>
                  <a:ext uri="{FF2B5EF4-FFF2-40B4-BE49-F238E27FC236}">
                    <a16:creationId xmlns:a16="http://schemas.microsoft.com/office/drawing/2014/main" id="{D0269234-FCA5-4FF6-B5C4-DD081C12D615}"/>
                  </a:ext>
                </a:extLst>
              </p:cNvPr>
              <p:cNvSpPr>
                <a:spLocks noRot="1" noChangeAspect="1" noMove="1" noResize="1" noEditPoints="1" noAdjustHandles="1" noChangeArrowheads="1" noChangeShapeType="1" noTextEdit="1"/>
              </p:cNvSpPr>
              <p:nvPr/>
            </p:nvSpPr>
            <p:spPr>
              <a:xfrm>
                <a:off x="8813808" y="3800558"/>
                <a:ext cx="3047886" cy="472694"/>
              </a:xfrm>
              <a:prstGeom prst="rect">
                <a:avLst/>
              </a:prstGeom>
              <a:blipFill>
                <a:blip r:embed="rId14"/>
                <a:stretch>
                  <a:fillRect b="-5000"/>
                </a:stretch>
              </a:blipFill>
              <a:ln>
                <a:solidFill>
                  <a:srgbClr val="FF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4" name="矩形 93">
                <a:extLst>
                  <a:ext uri="{FF2B5EF4-FFF2-40B4-BE49-F238E27FC236}">
                    <a16:creationId xmlns:a16="http://schemas.microsoft.com/office/drawing/2014/main" id="{4A105F9B-D273-440C-86BC-62D69985975A}"/>
                  </a:ext>
                </a:extLst>
              </p:cNvPr>
              <p:cNvSpPr/>
              <p:nvPr/>
            </p:nvSpPr>
            <p:spPr>
              <a:xfrm>
                <a:off x="8924204" y="4199704"/>
                <a:ext cx="84593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𝑀</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rPr>
                        <m:t>1</m:t>
                      </m:r>
                    </m:oMath>
                  </m:oMathPara>
                </a14:m>
                <a:endParaRPr lang="zh-CN" altLang="en-US" dirty="0"/>
              </a:p>
            </p:txBody>
          </p:sp>
        </mc:Choice>
        <mc:Fallback xmlns="">
          <p:sp>
            <p:nvSpPr>
              <p:cNvPr id="94" name="矩形 93">
                <a:extLst>
                  <a:ext uri="{FF2B5EF4-FFF2-40B4-BE49-F238E27FC236}">
                    <a16:creationId xmlns:a16="http://schemas.microsoft.com/office/drawing/2014/main" id="{4A105F9B-D273-440C-86BC-62D69985975A}"/>
                  </a:ext>
                </a:extLst>
              </p:cNvPr>
              <p:cNvSpPr>
                <a:spLocks noRot="1" noChangeAspect="1" noMove="1" noResize="1" noEditPoints="1" noAdjustHandles="1" noChangeArrowheads="1" noChangeShapeType="1" noTextEdit="1"/>
              </p:cNvSpPr>
              <p:nvPr/>
            </p:nvSpPr>
            <p:spPr>
              <a:xfrm>
                <a:off x="8924204" y="4199704"/>
                <a:ext cx="845937" cy="369332"/>
              </a:xfrm>
              <a:prstGeom prst="rect">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5" name="矩形 94">
                <a:extLst>
                  <a:ext uri="{FF2B5EF4-FFF2-40B4-BE49-F238E27FC236}">
                    <a16:creationId xmlns:a16="http://schemas.microsoft.com/office/drawing/2014/main" id="{E5091D10-80FC-4079-AE2C-926026B07BD8}"/>
                  </a:ext>
                </a:extLst>
              </p:cNvPr>
              <p:cNvSpPr/>
              <p:nvPr/>
            </p:nvSpPr>
            <p:spPr>
              <a:xfrm>
                <a:off x="11230107" y="4199704"/>
                <a:ext cx="81201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𝐾</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rPr>
                        <m:t>1</m:t>
                      </m:r>
                    </m:oMath>
                  </m:oMathPara>
                </a14:m>
                <a:endParaRPr lang="zh-CN" altLang="en-US" dirty="0"/>
              </a:p>
            </p:txBody>
          </p:sp>
        </mc:Choice>
        <mc:Fallback xmlns="">
          <p:sp>
            <p:nvSpPr>
              <p:cNvPr id="95" name="矩形 94">
                <a:extLst>
                  <a:ext uri="{FF2B5EF4-FFF2-40B4-BE49-F238E27FC236}">
                    <a16:creationId xmlns:a16="http://schemas.microsoft.com/office/drawing/2014/main" id="{E5091D10-80FC-4079-AE2C-926026B07BD8}"/>
                  </a:ext>
                </a:extLst>
              </p:cNvPr>
              <p:cNvSpPr>
                <a:spLocks noRot="1" noChangeAspect="1" noMove="1" noResize="1" noEditPoints="1" noAdjustHandles="1" noChangeArrowheads="1" noChangeShapeType="1" noTextEdit="1"/>
              </p:cNvSpPr>
              <p:nvPr/>
            </p:nvSpPr>
            <p:spPr>
              <a:xfrm>
                <a:off x="11230107" y="4199704"/>
                <a:ext cx="812017" cy="369332"/>
              </a:xfrm>
              <a:prstGeom prst="rect">
                <a:avLst/>
              </a:prstGeom>
              <a:blipFill>
                <a:blip r:embed="rId1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6" name="矩形 95">
                <a:extLst>
                  <a:ext uri="{FF2B5EF4-FFF2-40B4-BE49-F238E27FC236}">
                    <a16:creationId xmlns:a16="http://schemas.microsoft.com/office/drawing/2014/main" id="{AE3869D7-5BE9-40E3-BB69-6420A11EFBE1}"/>
                  </a:ext>
                </a:extLst>
              </p:cNvPr>
              <p:cNvSpPr/>
              <p:nvPr/>
            </p:nvSpPr>
            <p:spPr>
              <a:xfrm>
                <a:off x="10522934" y="4199704"/>
                <a:ext cx="92050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𝑀</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rPr>
                        <m:t>𝐾</m:t>
                      </m:r>
                    </m:oMath>
                  </m:oMathPara>
                </a14:m>
                <a:endParaRPr lang="zh-CN" altLang="en-US" dirty="0"/>
              </a:p>
            </p:txBody>
          </p:sp>
        </mc:Choice>
        <mc:Fallback xmlns="">
          <p:sp>
            <p:nvSpPr>
              <p:cNvPr id="96" name="矩形 95">
                <a:extLst>
                  <a:ext uri="{FF2B5EF4-FFF2-40B4-BE49-F238E27FC236}">
                    <a16:creationId xmlns:a16="http://schemas.microsoft.com/office/drawing/2014/main" id="{AE3869D7-5BE9-40E3-BB69-6420A11EFBE1}"/>
                  </a:ext>
                </a:extLst>
              </p:cNvPr>
              <p:cNvSpPr>
                <a:spLocks noRot="1" noChangeAspect="1" noMove="1" noResize="1" noEditPoints="1" noAdjustHandles="1" noChangeArrowheads="1" noChangeShapeType="1" noTextEdit="1"/>
              </p:cNvSpPr>
              <p:nvPr/>
            </p:nvSpPr>
            <p:spPr>
              <a:xfrm>
                <a:off x="10522934" y="4199704"/>
                <a:ext cx="920508" cy="369332"/>
              </a:xfrm>
              <a:prstGeom prst="rect">
                <a:avLst/>
              </a:prstGeom>
              <a:blipFill>
                <a:blip r:embed="rId1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7" name="矩形 96">
                <a:extLst>
                  <a:ext uri="{FF2B5EF4-FFF2-40B4-BE49-F238E27FC236}">
                    <a16:creationId xmlns:a16="http://schemas.microsoft.com/office/drawing/2014/main" id="{8B2037FF-C779-4F0A-9AF0-9CAC854962A4}"/>
                  </a:ext>
                </a:extLst>
              </p:cNvPr>
              <p:cNvSpPr/>
              <p:nvPr/>
            </p:nvSpPr>
            <p:spPr>
              <a:xfrm>
                <a:off x="9050856" y="2146313"/>
                <a:ext cx="1987082" cy="472694"/>
              </a:xfrm>
              <a:prstGeom prst="rect">
                <a:avLst/>
              </a:prstGeom>
              <a:ln>
                <a:solidFill>
                  <a:srgbClr val="FF0000"/>
                </a:solidFill>
              </a:ln>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CN" b="1" i="1" smtClean="0">
                              <a:latin typeface="Cambria Math" panose="02040503050406030204" pitchFamily="18" charset="0"/>
                            </a:rPr>
                          </m:ctrlPr>
                        </m:sSupPr>
                        <m:e>
                          <m:r>
                            <a:rPr lang="en-US" altLang="zh-CN" b="1">
                              <a:latin typeface="Cambria Math" panose="02040503050406030204" pitchFamily="18" charset="0"/>
                            </a:rPr>
                            <m:t>𝐚</m:t>
                          </m:r>
                        </m:e>
                        <m:sup>
                          <m:d>
                            <m:dPr>
                              <m:ctrlPr>
                                <a:rPr lang="en-US" altLang="zh-CN" i="1">
                                  <a:latin typeface="Cambria Math" panose="02040503050406030204" pitchFamily="18" charset="0"/>
                                </a:rPr>
                              </m:ctrlPr>
                            </m:dPr>
                            <m:e>
                              <m:r>
                                <a:rPr lang="en-US" altLang="zh-CN" b="0" i="1" smtClean="0">
                                  <a:latin typeface="Cambria Math" panose="02040503050406030204" pitchFamily="18" charset="0"/>
                                </a:rPr>
                                <m:t>𝐿</m:t>
                              </m:r>
                            </m:e>
                          </m:d>
                        </m:sup>
                      </m:sSup>
                      <m:r>
                        <a:rPr lang="en-US" altLang="zh-CN" b="1" i="0" smtClean="0">
                          <a:latin typeface="Cambria Math" panose="02040503050406030204" pitchFamily="18" charset="0"/>
                        </a:rPr>
                        <m:t>=</m:t>
                      </m:r>
                      <m:sSubSup>
                        <m:sSubSupPr>
                          <m:ctrlPr>
                            <a:rPr lang="en-US" altLang="zh-CN" b="1" i="1">
                              <a:latin typeface="Cambria Math" panose="02040503050406030204" pitchFamily="18" charset="0"/>
                            </a:rPr>
                          </m:ctrlPr>
                        </m:sSubSupPr>
                        <m:e>
                          <m:r>
                            <a:rPr lang="en-US" altLang="zh-CN" b="1">
                              <a:latin typeface="Cambria Math" panose="02040503050406030204" pitchFamily="18" charset="0"/>
                            </a:rPr>
                            <m:t>𝐖</m:t>
                          </m:r>
                        </m:e>
                        <m:sub>
                          <m:r>
                            <a:rPr lang="en-US" altLang="zh-CN" i="1">
                              <a:latin typeface="Cambria Math" panose="02040503050406030204" pitchFamily="18" charset="0"/>
                            </a:rPr>
                            <m:t>𝑘𝑗</m:t>
                          </m:r>
                        </m:sub>
                        <m:sup>
                          <m:d>
                            <m:dPr>
                              <m:ctrlPr>
                                <a:rPr lang="en-US" altLang="zh-CN" b="1" i="1">
                                  <a:latin typeface="Cambria Math" panose="02040503050406030204" pitchFamily="18" charset="0"/>
                                </a:rPr>
                              </m:ctrlPr>
                            </m:dPr>
                            <m:e>
                              <m:r>
                                <a:rPr lang="en-US" altLang="zh-CN" b="0" i="1" smtClean="0">
                                  <a:latin typeface="Cambria Math" panose="02040503050406030204" pitchFamily="18" charset="0"/>
                                </a:rPr>
                                <m:t>𝐿</m:t>
                              </m:r>
                            </m:e>
                          </m:d>
                        </m:sup>
                      </m:sSubSup>
                      <m:sSup>
                        <m:sSupPr>
                          <m:ctrlPr>
                            <a:rPr lang="en-US" altLang="zh-CN" b="1" i="1">
                              <a:latin typeface="Cambria Math" panose="02040503050406030204" pitchFamily="18" charset="0"/>
                            </a:rPr>
                          </m:ctrlPr>
                        </m:sSupPr>
                        <m:e>
                          <m:r>
                            <a:rPr lang="en-US" altLang="zh-CN" b="1">
                              <a:latin typeface="Cambria Math" panose="02040503050406030204" pitchFamily="18" charset="0"/>
                            </a:rPr>
                            <m:t>𝐳</m:t>
                          </m:r>
                        </m:e>
                        <m:sup>
                          <m:d>
                            <m:dPr>
                              <m:ctrlPr>
                                <a:rPr lang="en-US" altLang="zh-CN" i="1">
                                  <a:latin typeface="Cambria Math" panose="02040503050406030204" pitchFamily="18" charset="0"/>
                                </a:rPr>
                              </m:ctrlPr>
                            </m:dPr>
                            <m:e>
                              <m:r>
                                <a:rPr lang="en-US" altLang="zh-CN" b="0" i="1" smtClean="0">
                                  <a:latin typeface="Cambria Math" panose="02040503050406030204" pitchFamily="18" charset="0"/>
                                </a:rPr>
                                <m:t>𝐿</m:t>
                              </m:r>
                              <m:r>
                                <a:rPr lang="en-US" altLang="zh-CN" b="0" i="1" smtClean="0">
                                  <a:latin typeface="Cambria Math" panose="02040503050406030204" pitchFamily="18" charset="0"/>
                                </a:rPr>
                                <m:t>−1</m:t>
                              </m:r>
                            </m:e>
                          </m:d>
                        </m:sup>
                      </m:sSup>
                    </m:oMath>
                  </m:oMathPara>
                </a14:m>
                <a:endParaRPr lang="zh-CN" altLang="en-US" dirty="0"/>
              </a:p>
            </p:txBody>
          </p:sp>
        </mc:Choice>
        <mc:Fallback xmlns="">
          <p:sp>
            <p:nvSpPr>
              <p:cNvPr id="97" name="矩形 96">
                <a:extLst>
                  <a:ext uri="{FF2B5EF4-FFF2-40B4-BE49-F238E27FC236}">
                    <a16:creationId xmlns:a16="http://schemas.microsoft.com/office/drawing/2014/main" id="{8B2037FF-C779-4F0A-9AF0-9CAC854962A4}"/>
                  </a:ext>
                </a:extLst>
              </p:cNvPr>
              <p:cNvSpPr>
                <a:spLocks noRot="1" noChangeAspect="1" noMove="1" noResize="1" noEditPoints="1" noAdjustHandles="1" noChangeArrowheads="1" noChangeShapeType="1" noTextEdit="1"/>
              </p:cNvSpPr>
              <p:nvPr/>
            </p:nvSpPr>
            <p:spPr>
              <a:xfrm>
                <a:off x="9050856" y="2146313"/>
                <a:ext cx="1987082" cy="472694"/>
              </a:xfrm>
              <a:prstGeom prst="rect">
                <a:avLst/>
              </a:prstGeom>
              <a:blipFill>
                <a:blip r:embed="rId18"/>
                <a:stretch>
                  <a:fillRect b="-5000"/>
                </a:stretch>
              </a:blipFill>
              <a:ln>
                <a:solidFill>
                  <a:srgbClr val="FF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CFE0155F-58E0-464E-B2AB-3E64D4A10493}"/>
                  </a:ext>
                </a:extLst>
              </p:cNvPr>
              <p:cNvSpPr/>
              <p:nvPr/>
            </p:nvSpPr>
            <p:spPr>
              <a:xfrm>
                <a:off x="9101657" y="2645672"/>
                <a:ext cx="2076338" cy="4101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CN" b="1" i="1" smtClean="0">
                              <a:latin typeface="Cambria Math" panose="02040503050406030204" pitchFamily="18" charset="0"/>
                            </a:rPr>
                          </m:ctrlPr>
                        </m:sSupPr>
                        <m:e>
                          <m:r>
                            <a:rPr lang="en-US" altLang="zh-CN" b="1" i="0" smtClean="0">
                              <a:latin typeface="Cambria Math" panose="02040503050406030204" pitchFamily="18" charset="0"/>
                            </a:rPr>
                            <m:t>𝐳</m:t>
                          </m:r>
                        </m:e>
                        <m:sup>
                          <m:d>
                            <m:dPr>
                              <m:ctrlPr>
                                <a:rPr lang="en-US" altLang="zh-CN" i="1">
                                  <a:latin typeface="Cambria Math" panose="02040503050406030204" pitchFamily="18" charset="0"/>
                                </a:rPr>
                              </m:ctrlPr>
                            </m:dPr>
                            <m:e>
                              <m:r>
                                <a:rPr lang="en-US" altLang="zh-CN" b="0" i="1" smtClean="0">
                                  <a:latin typeface="Cambria Math" panose="02040503050406030204" pitchFamily="18" charset="0"/>
                                </a:rPr>
                                <m:t>𝐿</m:t>
                              </m:r>
                              <m:r>
                                <a:rPr lang="en-US" altLang="zh-CN" b="0" i="1" smtClean="0">
                                  <a:latin typeface="Cambria Math" panose="02040503050406030204" pitchFamily="18" charset="0"/>
                                </a:rPr>
                                <m:t>−1</m:t>
                              </m:r>
                            </m:e>
                          </m:d>
                        </m:sup>
                      </m:sSup>
                      <m:r>
                        <a:rPr lang="en-US" altLang="zh-CN" b="1">
                          <a:latin typeface="Cambria Math" panose="02040503050406030204" pitchFamily="18" charset="0"/>
                        </a:rPr>
                        <m:t>=</m:t>
                      </m:r>
                      <m:r>
                        <a:rPr lang="en-US" altLang="zh-CN" b="1" i="0" smtClean="0">
                          <a:latin typeface="Cambria Math" panose="02040503050406030204" pitchFamily="18" charset="0"/>
                        </a:rPr>
                        <m:t>𝐡</m:t>
                      </m:r>
                      <m:d>
                        <m:dPr>
                          <m:ctrlPr>
                            <a:rPr lang="en-US" altLang="zh-CN" b="1" i="1" smtClean="0">
                              <a:latin typeface="Cambria Math" panose="02040503050406030204" pitchFamily="18" charset="0"/>
                            </a:rPr>
                          </m:ctrlPr>
                        </m:dPr>
                        <m:e>
                          <m:sSup>
                            <m:sSupPr>
                              <m:ctrlPr>
                                <a:rPr lang="en-US" altLang="zh-CN" b="1" i="1">
                                  <a:latin typeface="Cambria Math" panose="02040503050406030204" pitchFamily="18" charset="0"/>
                                </a:rPr>
                              </m:ctrlPr>
                            </m:sSupPr>
                            <m:e>
                              <m:r>
                                <a:rPr lang="en-US" altLang="zh-CN" b="1">
                                  <a:latin typeface="Cambria Math" panose="02040503050406030204" pitchFamily="18" charset="0"/>
                                </a:rPr>
                                <m:t>𝐚</m:t>
                              </m:r>
                            </m:e>
                            <m:sup>
                              <m:d>
                                <m:dPr>
                                  <m:ctrlPr>
                                    <a:rPr lang="en-US" altLang="zh-CN" i="1">
                                      <a:latin typeface="Cambria Math" panose="02040503050406030204" pitchFamily="18" charset="0"/>
                                    </a:rPr>
                                  </m:ctrlPr>
                                </m:dPr>
                                <m:e>
                                  <m:r>
                                    <a:rPr lang="en-US" altLang="zh-CN" b="0" i="1" smtClean="0">
                                      <a:latin typeface="Cambria Math" panose="02040503050406030204" pitchFamily="18" charset="0"/>
                                    </a:rPr>
                                    <m:t>𝐿</m:t>
                                  </m:r>
                                  <m:r>
                                    <a:rPr lang="en-US" altLang="zh-CN" b="0" i="1" smtClean="0">
                                      <a:latin typeface="Cambria Math" panose="02040503050406030204" pitchFamily="18" charset="0"/>
                                    </a:rPr>
                                    <m:t>−1</m:t>
                                  </m:r>
                                </m:e>
                              </m:d>
                            </m:sup>
                          </m:sSup>
                        </m:e>
                      </m:d>
                    </m:oMath>
                  </m:oMathPara>
                </a14:m>
                <a:endParaRPr lang="zh-CN" altLang="en-US" dirty="0"/>
              </a:p>
            </p:txBody>
          </p:sp>
        </mc:Choice>
        <mc:Fallback xmlns="">
          <p:sp>
            <p:nvSpPr>
              <p:cNvPr id="6" name="矩形 5">
                <a:extLst>
                  <a:ext uri="{FF2B5EF4-FFF2-40B4-BE49-F238E27FC236}">
                    <a16:creationId xmlns:a16="http://schemas.microsoft.com/office/drawing/2014/main" id="{CFE0155F-58E0-464E-B2AB-3E64D4A10493}"/>
                  </a:ext>
                </a:extLst>
              </p:cNvPr>
              <p:cNvSpPr>
                <a:spLocks noRot="1" noChangeAspect="1" noMove="1" noResize="1" noEditPoints="1" noAdjustHandles="1" noChangeArrowheads="1" noChangeShapeType="1" noTextEdit="1"/>
              </p:cNvSpPr>
              <p:nvPr/>
            </p:nvSpPr>
            <p:spPr>
              <a:xfrm>
                <a:off x="9101657" y="2645672"/>
                <a:ext cx="2076338" cy="410177"/>
              </a:xfrm>
              <a:prstGeom prst="rect">
                <a:avLst/>
              </a:prstGeom>
              <a:blipFill>
                <a:blip r:embed="rId1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F8170739-B55F-4EC2-9EAE-545FAA66925C}"/>
                  </a:ext>
                </a:extLst>
              </p:cNvPr>
              <p:cNvSpPr/>
              <p:nvPr/>
            </p:nvSpPr>
            <p:spPr>
              <a:xfrm>
                <a:off x="10510679" y="4556183"/>
                <a:ext cx="1485087" cy="78784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altLang="zh-CN" i="1" smtClean="0">
                              <a:latin typeface="Cambria Math" panose="02040503050406030204" pitchFamily="18" charset="0"/>
                            </a:rPr>
                          </m:ctrlPr>
                        </m:fPr>
                        <m:num>
                          <m:r>
                            <a:rPr lang="en-US" altLang="zh-CN" i="1">
                              <a:latin typeface="Cambria Math" panose="02040503050406030204" pitchFamily="18" charset="0"/>
                            </a:rPr>
                            <m:t>𝜕</m:t>
                          </m:r>
                          <m:r>
                            <a:rPr lang="en-US" altLang="zh-CN" i="1">
                              <a:latin typeface="Cambria Math" panose="02040503050406030204" pitchFamily="18" charset="0"/>
                            </a:rPr>
                            <m:t>𝐿</m:t>
                          </m:r>
                        </m:num>
                        <m:den>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i="1">
                                  <a:latin typeface="Cambria Math" panose="02040503050406030204" pitchFamily="18" charset="0"/>
                                </a:rPr>
                                <m:t>𝑗𝑖</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1</m:t>
                                  </m:r>
                                </m:e>
                              </m:d>
                            </m:sup>
                          </m:sSubSup>
                        </m:den>
                      </m:f>
                      <m:r>
                        <a:rPr lang="en-US" altLang="zh-CN" i="1">
                          <a:latin typeface="Cambria Math" panose="02040503050406030204" pitchFamily="18" charset="0"/>
                        </a:rPr>
                        <m:t>=</m:t>
                      </m:r>
                      <m:sSub>
                        <m:sSubPr>
                          <m:ctrlPr>
                            <a:rPr lang="en-US" altLang="zh-CN" b="1" i="1">
                              <a:solidFill>
                                <a:srgbClr val="FF0000"/>
                              </a:solidFill>
                              <a:latin typeface="Cambria Math" panose="02040503050406030204" pitchFamily="18" charset="0"/>
                            </a:rPr>
                          </m:ctrlPr>
                        </m:sSubPr>
                        <m:e>
                          <m:r>
                            <a:rPr lang="zh-CN" altLang="en-US" i="1">
                              <a:solidFill>
                                <a:srgbClr val="FF0000"/>
                              </a:solidFill>
                              <a:latin typeface="Cambria Math" panose="02040503050406030204" pitchFamily="18" charset="0"/>
                            </a:rPr>
                            <m:t>𝛿</m:t>
                          </m:r>
                        </m:e>
                        <m:sub>
                          <m:r>
                            <a:rPr lang="en-US" altLang="zh-CN" i="1">
                              <a:solidFill>
                                <a:srgbClr val="FF0000"/>
                              </a:solidFill>
                              <a:latin typeface="Cambria Math" panose="02040503050406030204" pitchFamily="18" charset="0"/>
                            </a:rPr>
                            <m:t>𝑗</m:t>
                          </m:r>
                        </m:sub>
                      </m:sSub>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𝑧</m:t>
                          </m:r>
                        </m:e>
                        <m:sub>
                          <m:r>
                            <a:rPr lang="en-US" altLang="zh-CN" i="1">
                              <a:latin typeface="Cambria Math" panose="02040503050406030204" pitchFamily="18" charset="0"/>
                            </a:rPr>
                            <m:t>𝑖</m:t>
                          </m:r>
                        </m:sub>
                      </m:sSub>
                    </m:oMath>
                  </m:oMathPara>
                </a14:m>
                <a:endParaRPr lang="zh-CN" altLang="en-US" dirty="0"/>
              </a:p>
            </p:txBody>
          </p:sp>
        </mc:Choice>
        <mc:Fallback xmlns="">
          <p:sp>
            <p:nvSpPr>
              <p:cNvPr id="8" name="矩形 7">
                <a:extLst>
                  <a:ext uri="{FF2B5EF4-FFF2-40B4-BE49-F238E27FC236}">
                    <a16:creationId xmlns:a16="http://schemas.microsoft.com/office/drawing/2014/main" id="{F8170739-B55F-4EC2-9EAE-545FAA66925C}"/>
                  </a:ext>
                </a:extLst>
              </p:cNvPr>
              <p:cNvSpPr>
                <a:spLocks noRot="1" noChangeAspect="1" noMove="1" noResize="1" noEditPoints="1" noAdjustHandles="1" noChangeArrowheads="1" noChangeShapeType="1" noTextEdit="1"/>
              </p:cNvSpPr>
              <p:nvPr/>
            </p:nvSpPr>
            <p:spPr>
              <a:xfrm>
                <a:off x="10510679" y="4556183"/>
                <a:ext cx="1485087" cy="787844"/>
              </a:xfrm>
              <a:prstGeom prst="rect">
                <a:avLst/>
              </a:prstGeom>
              <a:blipFill>
                <a:blip r:embed="rId21"/>
                <a:stretch>
                  <a:fillRect/>
                </a:stretch>
              </a:blipFill>
            </p:spPr>
            <p:txBody>
              <a:bodyPr/>
              <a:lstStyle/>
              <a:p>
                <a:r>
                  <a:rPr lang="zh-CN" altLang="en-US">
                    <a:noFill/>
                  </a:rPr>
                  <a:t> </a:t>
                </a:r>
              </a:p>
            </p:txBody>
          </p:sp>
        </mc:Fallback>
      </mc:AlternateContent>
      <p:sp>
        <p:nvSpPr>
          <p:cNvPr id="99" name="矩形 98">
            <a:extLst>
              <a:ext uri="{FF2B5EF4-FFF2-40B4-BE49-F238E27FC236}">
                <a16:creationId xmlns:a16="http://schemas.microsoft.com/office/drawing/2014/main" id="{D317E9DE-48B3-43CE-8EC9-09AB4BABD2DD}"/>
              </a:ext>
            </a:extLst>
          </p:cNvPr>
          <p:cNvSpPr/>
          <p:nvPr/>
        </p:nvSpPr>
        <p:spPr>
          <a:xfrm>
            <a:off x="8399045" y="1624941"/>
            <a:ext cx="3236784" cy="426142"/>
          </a:xfrm>
          <a:prstGeom prst="rect">
            <a:avLst/>
          </a:prstGeom>
        </p:spPr>
        <p:txBody>
          <a:bodyPr wrap="none">
            <a:spAutoFit/>
          </a:bodyPr>
          <a:lstStyle/>
          <a:p>
            <a:pPr>
              <a:lnSpc>
                <a:spcPct val="150000"/>
              </a:lnSpc>
            </a:pPr>
            <a:r>
              <a:rPr lang="zh-CN" altLang="en-US" dirty="0">
                <a:latin typeface="思源黑体 CN Bold" panose="020B0800000000000000" pitchFamily="34" charset="-122"/>
                <a:ea typeface="思源黑体 CN Bold" panose="020B0800000000000000" pitchFamily="34" charset="-122"/>
              </a:rPr>
              <a:t>计算线性组合和激活函数输出</a:t>
            </a:r>
            <a:endParaRPr lang="en-US" altLang="zh-CN" dirty="0">
              <a:latin typeface="思源黑体 CN Bold" panose="020B0800000000000000" pitchFamily="34" charset="-122"/>
              <a:ea typeface="思源黑体 CN Bold" panose="020B0800000000000000" pitchFamily="34" charset="-122"/>
            </a:endParaRPr>
          </a:p>
        </p:txBody>
      </p:sp>
      <p:grpSp>
        <p:nvGrpSpPr>
          <p:cNvPr id="15" name="组合 14">
            <a:extLst>
              <a:ext uri="{FF2B5EF4-FFF2-40B4-BE49-F238E27FC236}">
                <a16:creationId xmlns:a16="http://schemas.microsoft.com/office/drawing/2014/main" id="{AF15D53E-0E0F-418E-9FCF-5664BDD782F4}"/>
              </a:ext>
            </a:extLst>
          </p:cNvPr>
          <p:cNvGrpSpPr/>
          <p:nvPr/>
        </p:nvGrpSpPr>
        <p:grpSpPr>
          <a:xfrm>
            <a:off x="7615797" y="4307510"/>
            <a:ext cx="2730381" cy="1303102"/>
            <a:chOff x="7467657" y="4307510"/>
            <a:chExt cx="2730381" cy="1303102"/>
          </a:xfrm>
        </p:grpSpPr>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8874A59A-0791-4888-A621-CA5EF489A8A3}"/>
                    </a:ext>
                  </a:extLst>
                </p:cNvPr>
                <p:cNvSpPr/>
                <p:nvPr/>
              </p:nvSpPr>
              <p:spPr>
                <a:xfrm>
                  <a:off x="7482423" y="4630290"/>
                  <a:ext cx="2715615" cy="49571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zh-CN" altLang="en-US" b="0" i="0" smtClean="0">
                            <a:latin typeface="Cambria Math" panose="02040503050406030204" pitchFamily="18" charset="0"/>
                          </a:rPr>
                          <m:t>∇</m:t>
                        </m:r>
                        <m:sSubSup>
                          <m:sSubSupPr>
                            <m:ctrlPr>
                              <a:rPr lang="en-US" altLang="zh-CN" b="1" i="1">
                                <a:latin typeface="Cambria Math" panose="02040503050406030204" pitchFamily="18" charset="0"/>
                              </a:rPr>
                            </m:ctrlPr>
                          </m:sSubSupPr>
                          <m:e>
                            <m:r>
                              <a:rPr lang="en-US" altLang="zh-CN" b="1" i="0" smtClean="0">
                                <a:latin typeface="Cambria Math" panose="02040503050406030204" pitchFamily="18" charset="0"/>
                              </a:rPr>
                              <m:t>𝐖</m:t>
                            </m:r>
                          </m:e>
                          <m:sub>
                            <m:r>
                              <a:rPr lang="en-US" altLang="zh-CN" i="1">
                                <a:latin typeface="Cambria Math" panose="02040503050406030204" pitchFamily="18" charset="0"/>
                              </a:rPr>
                              <m:t>𝑗</m:t>
                            </m:r>
                            <m:r>
                              <a:rPr lang="en-US" altLang="zh-CN" b="0" i="1" smtClean="0">
                                <a:latin typeface="Cambria Math" panose="02040503050406030204" pitchFamily="18" charset="0"/>
                              </a:rPr>
                              <m:t>𝑖</m:t>
                            </m:r>
                          </m:sub>
                          <m:sup>
                            <m:d>
                              <m:dPr>
                                <m:ctrlPr>
                                  <a:rPr lang="en-US" altLang="zh-CN" b="1" i="1">
                                    <a:latin typeface="Cambria Math" panose="02040503050406030204" pitchFamily="18" charset="0"/>
                                  </a:rPr>
                                </m:ctrlPr>
                              </m:dPr>
                              <m:e>
                                <m:r>
                                  <a:rPr lang="en-US" altLang="zh-CN" b="0" i="1" smtClean="0">
                                    <a:latin typeface="Cambria Math" panose="02040503050406030204" pitchFamily="18" charset="0"/>
                                  </a:rPr>
                                  <m:t>𝐿</m:t>
                                </m:r>
                              </m:e>
                            </m:d>
                          </m:sup>
                        </m:sSubSup>
                        <m:r>
                          <a:rPr lang="en-US" altLang="zh-CN" b="1" i="1" smtClean="0">
                            <a:latin typeface="Cambria Math" panose="02040503050406030204" pitchFamily="18" charset="0"/>
                          </a:rPr>
                          <m:t>  </m:t>
                        </m:r>
                        <m:r>
                          <a:rPr lang="en-US" altLang="zh-CN" b="1">
                            <a:latin typeface="Cambria Math" panose="02040503050406030204" pitchFamily="18" charset="0"/>
                          </a:rPr>
                          <m:t>=</m:t>
                        </m:r>
                        <m:r>
                          <a:rPr lang="en-US" altLang="zh-CN" b="1" i="1" smtClean="0">
                            <a:latin typeface="Cambria Math" panose="02040503050406030204" pitchFamily="18" charset="0"/>
                          </a:rPr>
                          <m:t> </m:t>
                        </m:r>
                        <m:sSup>
                          <m:sSupPr>
                            <m:ctrlPr>
                              <a:rPr lang="en-US" altLang="zh-CN" b="1" i="1">
                                <a:latin typeface="Cambria Math" panose="02040503050406030204" pitchFamily="18" charset="0"/>
                              </a:rPr>
                            </m:ctrlPr>
                          </m:sSupPr>
                          <m:e>
                            <m:r>
                              <a:rPr lang="zh-CN" altLang="en-US" b="1">
                                <a:latin typeface="Cambria Math" panose="02040503050406030204" pitchFamily="18" charset="0"/>
                              </a:rPr>
                              <m:t>𝛅</m:t>
                            </m:r>
                          </m:e>
                          <m:sup>
                            <m:d>
                              <m:dPr>
                                <m:ctrlPr>
                                  <a:rPr lang="en-US" altLang="zh-CN" i="1">
                                    <a:latin typeface="Cambria Math" panose="02040503050406030204" pitchFamily="18" charset="0"/>
                                  </a:rPr>
                                </m:ctrlPr>
                              </m:dPr>
                              <m:e>
                                <m:r>
                                  <a:rPr lang="en-US" altLang="zh-CN" b="0" i="1" smtClean="0">
                                    <a:latin typeface="Cambria Math" panose="02040503050406030204" pitchFamily="18" charset="0"/>
                                  </a:rPr>
                                  <m:t>𝐿</m:t>
                                </m:r>
                              </m:e>
                            </m:d>
                          </m:sup>
                        </m:sSup>
                        <m:r>
                          <a:rPr lang="en-US" altLang="zh-CN" b="1" i="1" smtClean="0">
                            <a:latin typeface="Cambria Math" panose="02040503050406030204" pitchFamily="18" charset="0"/>
                          </a:rPr>
                          <m:t>  </m:t>
                        </m:r>
                        <m:sSup>
                          <m:sSupPr>
                            <m:ctrlPr>
                              <a:rPr lang="en-US" altLang="zh-CN" b="1" i="1" smtClean="0">
                                <a:latin typeface="Cambria Math" panose="02040503050406030204" pitchFamily="18" charset="0"/>
                              </a:rPr>
                            </m:ctrlPr>
                          </m:sSupPr>
                          <m:e>
                            <m:d>
                              <m:dPr>
                                <m:ctrlPr>
                                  <a:rPr lang="en-US" altLang="zh-CN" b="1" i="1" smtClean="0">
                                    <a:latin typeface="Cambria Math" panose="02040503050406030204" pitchFamily="18" charset="0"/>
                                  </a:rPr>
                                </m:ctrlPr>
                              </m:dPr>
                              <m:e>
                                <m:sSup>
                                  <m:sSupPr>
                                    <m:ctrlPr>
                                      <a:rPr lang="en-US" altLang="zh-CN" b="1" i="1">
                                        <a:latin typeface="Cambria Math" panose="02040503050406030204" pitchFamily="18" charset="0"/>
                                      </a:rPr>
                                    </m:ctrlPr>
                                  </m:sSupPr>
                                  <m:e>
                                    <m:r>
                                      <a:rPr lang="en-US" altLang="zh-CN" b="1">
                                        <a:latin typeface="Cambria Math" panose="02040503050406030204" pitchFamily="18" charset="0"/>
                                      </a:rPr>
                                      <m:t>𝐳</m:t>
                                    </m:r>
                                  </m:e>
                                  <m:sup>
                                    <m:d>
                                      <m:dPr>
                                        <m:ctrlPr>
                                          <a:rPr lang="en-US" altLang="zh-CN" i="1">
                                            <a:latin typeface="Cambria Math" panose="02040503050406030204" pitchFamily="18" charset="0"/>
                                          </a:rPr>
                                        </m:ctrlPr>
                                      </m:dPr>
                                      <m:e>
                                        <m:r>
                                          <a:rPr lang="en-US" altLang="zh-CN" b="0" i="1" smtClean="0">
                                            <a:latin typeface="Cambria Math" panose="02040503050406030204" pitchFamily="18" charset="0"/>
                                          </a:rPr>
                                          <m:t>𝐿</m:t>
                                        </m:r>
                                        <m:r>
                                          <a:rPr lang="en-US" altLang="zh-CN" b="0" i="1" smtClean="0">
                                            <a:latin typeface="Cambria Math" panose="02040503050406030204" pitchFamily="18" charset="0"/>
                                          </a:rPr>
                                          <m:t>−1</m:t>
                                        </m:r>
                                      </m:e>
                                    </m:d>
                                  </m:sup>
                                </m:sSup>
                              </m:e>
                            </m:d>
                          </m:e>
                          <m:sup>
                            <m:r>
                              <a:rPr lang="en-US" altLang="zh-CN" b="0" i="1" smtClean="0">
                                <a:latin typeface="Cambria Math" panose="02040503050406030204" pitchFamily="18" charset="0"/>
                              </a:rPr>
                              <m:t>𝑇</m:t>
                            </m:r>
                          </m:sup>
                        </m:sSup>
                      </m:oMath>
                    </m:oMathPara>
                  </a14:m>
                  <a:endParaRPr lang="zh-CN" altLang="en-US" dirty="0"/>
                </a:p>
              </p:txBody>
            </p:sp>
          </mc:Choice>
          <mc:Fallback xmlns="">
            <p:sp>
              <p:nvSpPr>
                <p:cNvPr id="7" name="矩形 6">
                  <a:extLst>
                    <a:ext uri="{FF2B5EF4-FFF2-40B4-BE49-F238E27FC236}">
                      <a16:creationId xmlns:a16="http://schemas.microsoft.com/office/drawing/2014/main" id="{8874A59A-0791-4888-A621-CA5EF489A8A3}"/>
                    </a:ext>
                  </a:extLst>
                </p:cNvPr>
                <p:cNvSpPr>
                  <a:spLocks noRot="1" noChangeAspect="1" noMove="1" noResize="1" noEditPoints="1" noAdjustHandles="1" noChangeArrowheads="1" noChangeShapeType="1" noTextEdit="1"/>
                </p:cNvSpPr>
                <p:nvPr/>
              </p:nvSpPr>
              <p:spPr>
                <a:xfrm>
                  <a:off x="7482423" y="4630290"/>
                  <a:ext cx="2715615" cy="495713"/>
                </a:xfrm>
                <a:prstGeom prst="rect">
                  <a:avLst/>
                </a:prstGeom>
                <a:blipFill>
                  <a:blip r:embed="rId22"/>
                  <a:stretch>
                    <a:fillRect b="-61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EAF9A2EB-88BD-4681-8899-0A2A84EEB866}"/>
                    </a:ext>
                  </a:extLst>
                </p:cNvPr>
                <p:cNvSpPr/>
                <p:nvPr/>
              </p:nvSpPr>
              <p:spPr>
                <a:xfrm>
                  <a:off x="7467657" y="4977781"/>
                  <a:ext cx="88472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Cambria Math" panose="02040503050406030204" pitchFamily="18" charset="0"/>
                          </a:rPr>
                          <m:t>𝑀</m:t>
                        </m:r>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rPr>
                          <m:t>𝐷</m:t>
                        </m:r>
                      </m:oMath>
                    </m:oMathPara>
                  </a14:m>
                  <a:endParaRPr lang="zh-CN" altLang="en-US" dirty="0"/>
                </a:p>
              </p:txBody>
            </p:sp>
          </mc:Choice>
          <mc:Fallback xmlns="">
            <p:sp>
              <p:nvSpPr>
                <p:cNvPr id="9" name="矩形 8">
                  <a:extLst>
                    <a:ext uri="{FF2B5EF4-FFF2-40B4-BE49-F238E27FC236}">
                      <a16:creationId xmlns:a16="http://schemas.microsoft.com/office/drawing/2014/main" id="{EAF9A2EB-88BD-4681-8899-0A2A84EEB866}"/>
                    </a:ext>
                  </a:extLst>
                </p:cNvPr>
                <p:cNvSpPr>
                  <a:spLocks noRot="1" noChangeAspect="1" noMove="1" noResize="1" noEditPoints="1" noAdjustHandles="1" noChangeArrowheads="1" noChangeShapeType="1" noTextEdit="1"/>
                </p:cNvSpPr>
                <p:nvPr/>
              </p:nvSpPr>
              <p:spPr>
                <a:xfrm>
                  <a:off x="7467657" y="4977781"/>
                  <a:ext cx="884729" cy="369332"/>
                </a:xfrm>
                <a:prstGeom prst="rect">
                  <a:avLst/>
                </a:prstGeom>
                <a:blipFill>
                  <a:blip r:embed="rId2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2565BBEB-3BF2-4A07-8A29-461BBAFE8A8E}"/>
                    </a:ext>
                  </a:extLst>
                </p:cNvPr>
                <p:cNvSpPr/>
                <p:nvPr/>
              </p:nvSpPr>
              <p:spPr>
                <a:xfrm>
                  <a:off x="8378825" y="4977781"/>
                  <a:ext cx="84593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𝑀</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rPr>
                          <m:t>1</m:t>
                        </m:r>
                      </m:oMath>
                    </m:oMathPara>
                  </a14:m>
                  <a:endParaRPr lang="zh-CN" altLang="en-US" dirty="0"/>
                </a:p>
              </p:txBody>
            </p:sp>
          </mc:Choice>
          <mc:Fallback xmlns="">
            <p:sp>
              <p:nvSpPr>
                <p:cNvPr id="10" name="矩形 9">
                  <a:extLst>
                    <a:ext uri="{FF2B5EF4-FFF2-40B4-BE49-F238E27FC236}">
                      <a16:creationId xmlns:a16="http://schemas.microsoft.com/office/drawing/2014/main" id="{2565BBEB-3BF2-4A07-8A29-461BBAFE8A8E}"/>
                    </a:ext>
                  </a:extLst>
                </p:cNvPr>
                <p:cNvSpPr>
                  <a:spLocks noRot="1" noChangeAspect="1" noMove="1" noResize="1" noEditPoints="1" noAdjustHandles="1" noChangeArrowheads="1" noChangeShapeType="1" noTextEdit="1"/>
                </p:cNvSpPr>
                <p:nvPr/>
              </p:nvSpPr>
              <p:spPr>
                <a:xfrm>
                  <a:off x="8378825" y="4977781"/>
                  <a:ext cx="845936" cy="369332"/>
                </a:xfrm>
                <a:prstGeom prst="rect">
                  <a:avLst/>
                </a:prstGeom>
                <a:blipFill>
                  <a:blip r:embed="rId2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8" name="矩形 97">
                  <a:extLst>
                    <a:ext uri="{FF2B5EF4-FFF2-40B4-BE49-F238E27FC236}">
                      <a16:creationId xmlns:a16="http://schemas.microsoft.com/office/drawing/2014/main" id="{AC8F6E87-9789-42A0-B828-F715A2638DDA}"/>
                    </a:ext>
                  </a:extLst>
                </p:cNvPr>
                <p:cNvSpPr/>
                <p:nvPr/>
              </p:nvSpPr>
              <p:spPr>
                <a:xfrm>
                  <a:off x="9144734" y="4977781"/>
                  <a:ext cx="81015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1</m:t>
                        </m:r>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rPr>
                          <m:t>𝐷</m:t>
                        </m:r>
                      </m:oMath>
                    </m:oMathPara>
                  </a14:m>
                  <a:endParaRPr lang="zh-CN" altLang="en-US" dirty="0"/>
                </a:p>
              </p:txBody>
            </p:sp>
          </mc:Choice>
          <mc:Fallback xmlns="">
            <p:sp>
              <p:nvSpPr>
                <p:cNvPr id="98" name="矩形 97">
                  <a:extLst>
                    <a:ext uri="{FF2B5EF4-FFF2-40B4-BE49-F238E27FC236}">
                      <a16:creationId xmlns:a16="http://schemas.microsoft.com/office/drawing/2014/main" id="{AC8F6E87-9789-42A0-B828-F715A2638DDA}"/>
                    </a:ext>
                  </a:extLst>
                </p:cNvPr>
                <p:cNvSpPr>
                  <a:spLocks noRot="1" noChangeAspect="1" noMove="1" noResize="1" noEditPoints="1" noAdjustHandles="1" noChangeArrowheads="1" noChangeShapeType="1" noTextEdit="1"/>
                </p:cNvSpPr>
                <p:nvPr/>
              </p:nvSpPr>
              <p:spPr>
                <a:xfrm>
                  <a:off x="9144734" y="4977781"/>
                  <a:ext cx="810157" cy="369332"/>
                </a:xfrm>
                <a:prstGeom prst="rect">
                  <a:avLst/>
                </a:prstGeom>
                <a:blipFill>
                  <a:blip r:embed="rId25"/>
                  <a:stretch>
                    <a:fillRect/>
                  </a:stretch>
                </a:blipFill>
              </p:spPr>
              <p:txBody>
                <a:bodyPr/>
                <a:lstStyle/>
                <a:p>
                  <a:r>
                    <a:rPr lang="zh-CN" altLang="en-US">
                      <a:noFill/>
                    </a:rPr>
                    <a:t> </a:t>
                  </a:r>
                </a:p>
              </p:txBody>
            </p:sp>
          </mc:Fallback>
        </mc:AlternateContent>
        <p:sp>
          <p:nvSpPr>
            <p:cNvPr id="100" name="矩形 99">
              <a:extLst>
                <a:ext uri="{FF2B5EF4-FFF2-40B4-BE49-F238E27FC236}">
                  <a16:creationId xmlns:a16="http://schemas.microsoft.com/office/drawing/2014/main" id="{BAA4C668-0EF7-4205-824E-73486AB7FE1A}"/>
                </a:ext>
              </a:extLst>
            </p:cNvPr>
            <p:cNvSpPr/>
            <p:nvPr/>
          </p:nvSpPr>
          <p:spPr>
            <a:xfrm>
              <a:off x="7576000" y="4307510"/>
              <a:ext cx="1338828" cy="426142"/>
            </a:xfrm>
            <a:prstGeom prst="rect">
              <a:avLst/>
            </a:prstGeom>
          </p:spPr>
          <p:txBody>
            <a:bodyPr wrap="none">
              <a:spAutoFit/>
            </a:bodyPr>
            <a:lstStyle/>
            <a:p>
              <a:pPr>
                <a:lnSpc>
                  <a:spcPct val="150000"/>
                </a:lnSpc>
              </a:pPr>
              <a:r>
                <a:rPr lang="zh-CN" altLang="en-US" dirty="0">
                  <a:latin typeface="思源黑体 CN Bold" panose="020B0800000000000000" pitchFamily="34" charset="-122"/>
                  <a:ea typeface="思源黑体 CN Bold" panose="020B0800000000000000" pitchFamily="34" charset="-122"/>
                </a:rPr>
                <a:t>再更新权值</a:t>
              </a:r>
              <a:endParaRPr lang="en-US" altLang="zh-CN" dirty="0">
                <a:latin typeface="思源黑体 CN Bold" panose="020B0800000000000000" pitchFamily="34" charset="-122"/>
                <a:ea typeface="思源黑体 CN Bold" panose="020B0800000000000000" pitchFamily="34" charset="-122"/>
              </a:endParaRPr>
            </a:p>
          </p:txBody>
        </p:sp>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A942F182-7801-4ED8-96D4-10E7BE26F897}"/>
                    </a:ext>
                  </a:extLst>
                </p:cNvPr>
                <p:cNvSpPr/>
                <p:nvPr/>
              </p:nvSpPr>
              <p:spPr>
                <a:xfrm>
                  <a:off x="9147531" y="5222685"/>
                  <a:ext cx="1042080" cy="38792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CN" b="1" i="1" smtClean="0">
                                <a:latin typeface="Cambria Math" panose="02040503050406030204" pitchFamily="18" charset="0"/>
                              </a:rPr>
                            </m:ctrlPr>
                          </m:sSupPr>
                          <m:e>
                            <m:r>
                              <a:rPr lang="en-US" altLang="zh-CN" b="1">
                                <a:latin typeface="Cambria Math" panose="02040503050406030204" pitchFamily="18" charset="0"/>
                              </a:rPr>
                              <m:t>𝐳</m:t>
                            </m:r>
                          </m:e>
                          <m:sup>
                            <m:d>
                              <m:dPr>
                                <m:ctrlPr>
                                  <a:rPr lang="en-US" altLang="zh-CN" i="1">
                                    <a:latin typeface="Cambria Math" panose="02040503050406030204" pitchFamily="18" charset="0"/>
                                  </a:rPr>
                                </m:ctrlPr>
                              </m:dPr>
                              <m:e>
                                <m:r>
                                  <a:rPr lang="en-US" altLang="zh-CN" b="0" i="1" smtClean="0">
                                    <a:latin typeface="Cambria Math" panose="02040503050406030204" pitchFamily="18" charset="0"/>
                                  </a:rPr>
                                  <m:t>0</m:t>
                                </m:r>
                              </m:e>
                            </m:d>
                          </m:sup>
                        </m:sSup>
                        <m:r>
                          <a:rPr lang="en-US" altLang="zh-CN" b="1" i="1">
                            <a:latin typeface="Cambria Math" panose="02040503050406030204" pitchFamily="18" charset="0"/>
                          </a:rPr>
                          <m:t>=</m:t>
                        </m:r>
                        <m:r>
                          <a:rPr lang="en-US" altLang="zh-CN" b="1" i="0" smtClean="0">
                            <a:latin typeface="Cambria Math" panose="02040503050406030204" pitchFamily="18" charset="0"/>
                          </a:rPr>
                          <m:t>𝐱</m:t>
                        </m:r>
                      </m:oMath>
                    </m:oMathPara>
                  </a14:m>
                  <a:endParaRPr lang="zh-CN" altLang="en-US" b="1" dirty="0"/>
                </a:p>
              </p:txBody>
            </p:sp>
          </mc:Choice>
          <mc:Fallback xmlns="">
            <p:sp>
              <p:nvSpPr>
                <p:cNvPr id="11" name="矩形 10">
                  <a:extLst>
                    <a:ext uri="{FF2B5EF4-FFF2-40B4-BE49-F238E27FC236}">
                      <a16:creationId xmlns:a16="http://schemas.microsoft.com/office/drawing/2014/main" id="{A942F182-7801-4ED8-96D4-10E7BE26F897}"/>
                    </a:ext>
                  </a:extLst>
                </p:cNvPr>
                <p:cNvSpPr>
                  <a:spLocks noRot="1" noChangeAspect="1" noMove="1" noResize="1" noEditPoints="1" noAdjustHandles="1" noChangeArrowheads="1" noChangeShapeType="1" noTextEdit="1"/>
                </p:cNvSpPr>
                <p:nvPr/>
              </p:nvSpPr>
              <p:spPr>
                <a:xfrm>
                  <a:off x="9147531" y="5222685"/>
                  <a:ext cx="1042080" cy="387927"/>
                </a:xfrm>
                <a:prstGeom prst="rect">
                  <a:avLst/>
                </a:prstGeom>
                <a:blipFill>
                  <a:blip r:embed="rId26"/>
                  <a:stretch>
                    <a:fillRect/>
                  </a:stretch>
                </a:blipFill>
              </p:spPr>
              <p:txBody>
                <a:bodyPr/>
                <a:lstStyle/>
                <a:p>
                  <a:r>
                    <a:rPr lang="zh-CN" altLang="en-US">
                      <a:noFill/>
                    </a:rPr>
                    <a:t> </a:t>
                  </a:r>
                </a:p>
              </p:txBody>
            </p:sp>
          </mc:Fallback>
        </mc:AlternateContent>
      </p:grpSp>
      <p:sp>
        <p:nvSpPr>
          <p:cNvPr id="5" name="矩形 4">
            <a:extLst>
              <a:ext uri="{FF2B5EF4-FFF2-40B4-BE49-F238E27FC236}">
                <a16:creationId xmlns:a16="http://schemas.microsoft.com/office/drawing/2014/main" id="{57941E6D-9469-4FF9-9397-57BD321B7F28}"/>
              </a:ext>
            </a:extLst>
          </p:cNvPr>
          <p:cNvSpPr/>
          <p:nvPr/>
        </p:nvSpPr>
        <p:spPr>
          <a:xfrm>
            <a:off x="556171" y="1550016"/>
            <a:ext cx="1107996" cy="369332"/>
          </a:xfrm>
          <a:prstGeom prst="rect">
            <a:avLst/>
          </a:prstGeom>
        </p:spPr>
        <p:txBody>
          <a:bodyPr wrap="none">
            <a:spAutoFit/>
          </a:bodyPr>
          <a:lstStyle/>
          <a:p>
            <a:r>
              <a:rPr lang="zh-CN" altLang="en-US" dirty="0">
                <a:latin typeface="思源黑体 CN Bold" panose="020B0800000000000000" pitchFamily="34" charset="-122"/>
                <a:ea typeface="思源黑体 CN Bold" panose="020B0800000000000000" pitchFamily="34" charset="-122"/>
              </a:rPr>
              <a:t>逐层前向</a:t>
            </a:r>
            <a:endParaRPr lang="zh-CN" altLang="en-US" dirty="0"/>
          </a:p>
        </p:txBody>
      </p:sp>
      <p:sp>
        <p:nvSpPr>
          <p:cNvPr id="31" name="矩形 30">
            <a:extLst>
              <a:ext uri="{FF2B5EF4-FFF2-40B4-BE49-F238E27FC236}">
                <a16:creationId xmlns:a16="http://schemas.microsoft.com/office/drawing/2014/main" id="{A3CCF80F-6747-4F5B-8F26-B827E4897EEE}"/>
              </a:ext>
            </a:extLst>
          </p:cNvPr>
          <p:cNvSpPr/>
          <p:nvPr/>
        </p:nvSpPr>
        <p:spPr>
          <a:xfrm>
            <a:off x="514297" y="3615892"/>
            <a:ext cx="1107996" cy="369332"/>
          </a:xfrm>
          <a:prstGeom prst="rect">
            <a:avLst/>
          </a:prstGeom>
        </p:spPr>
        <p:txBody>
          <a:bodyPr wrap="none">
            <a:spAutoFit/>
          </a:bodyPr>
          <a:lstStyle/>
          <a:p>
            <a:r>
              <a:rPr lang="zh-CN" altLang="en-US" dirty="0">
                <a:latin typeface="思源黑体 CN Bold" panose="020B0800000000000000" pitchFamily="34" charset="-122"/>
                <a:ea typeface="思源黑体 CN Bold" panose="020B0800000000000000" pitchFamily="34" charset="-122"/>
              </a:rPr>
              <a:t>逐层后向</a:t>
            </a:r>
            <a:endParaRPr lang="zh-CN" altLang="en-US" dirty="0"/>
          </a:p>
        </p:txBody>
      </p:sp>
      <p:cxnSp>
        <p:nvCxnSpPr>
          <p:cNvPr id="33" name="直接连接符 32">
            <a:extLst>
              <a:ext uri="{FF2B5EF4-FFF2-40B4-BE49-F238E27FC236}">
                <a16:creationId xmlns:a16="http://schemas.microsoft.com/office/drawing/2014/main" id="{D8597239-BA9D-4183-91FC-1E878BC4430F}"/>
              </a:ext>
            </a:extLst>
          </p:cNvPr>
          <p:cNvCxnSpPr/>
          <p:nvPr/>
        </p:nvCxnSpPr>
        <p:spPr>
          <a:xfrm>
            <a:off x="696000" y="3428203"/>
            <a:ext cx="108000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0E8E1666-EBBF-4F4E-AA9A-20323B1E4712}"/>
              </a:ext>
            </a:extLst>
          </p:cNvPr>
          <p:cNvCxnSpPr/>
          <p:nvPr/>
        </p:nvCxnSpPr>
        <p:spPr>
          <a:xfrm>
            <a:off x="696000" y="5654606"/>
            <a:ext cx="10800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3F19AAFD-0903-4A72-A753-3FFDB2491C61}"/>
              </a:ext>
            </a:extLst>
          </p:cNvPr>
          <p:cNvSpPr/>
          <p:nvPr/>
        </p:nvSpPr>
        <p:spPr>
          <a:xfrm>
            <a:off x="7569436" y="3355404"/>
            <a:ext cx="1800493" cy="426142"/>
          </a:xfrm>
          <a:prstGeom prst="rect">
            <a:avLst/>
          </a:prstGeom>
        </p:spPr>
        <p:txBody>
          <a:bodyPr wrap="none">
            <a:spAutoFit/>
          </a:bodyPr>
          <a:lstStyle/>
          <a:p>
            <a:pPr>
              <a:lnSpc>
                <a:spcPct val="150000"/>
              </a:lnSpc>
            </a:pPr>
            <a:r>
              <a:rPr lang="zh-CN" altLang="en-US" dirty="0">
                <a:latin typeface="思源黑体 CN Bold" panose="020B0800000000000000" pitchFamily="34" charset="-122"/>
                <a:ea typeface="思源黑体 CN Bold" panose="020B0800000000000000" pitchFamily="34" charset="-122"/>
              </a:rPr>
              <a:t>先传播所有误差</a:t>
            </a:r>
            <a:endParaRPr lang="en-US" altLang="zh-CN" dirty="0">
              <a:latin typeface="思源黑体 CN Bold" panose="020B0800000000000000" pitchFamily="34" charset="-122"/>
              <a:ea typeface="思源黑体 CN Bold" panose="020B0800000000000000" pitchFamily="34" charset="-122"/>
            </a:endParaRPr>
          </a:p>
        </p:txBody>
      </p:sp>
      <mc:AlternateContent xmlns:mc="http://schemas.openxmlformats.org/markup-compatibility/2006" xmlns:a14="http://schemas.microsoft.com/office/drawing/2010/main">
        <mc:Choice Requires="a14">
          <p:sp>
            <p:nvSpPr>
              <p:cNvPr id="36" name="矩形 35">
                <a:extLst>
                  <a:ext uri="{FF2B5EF4-FFF2-40B4-BE49-F238E27FC236}">
                    <a16:creationId xmlns:a16="http://schemas.microsoft.com/office/drawing/2014/main" id="{25468404-C435-4EBB-8347-0FAC8E864E27}"/>
                  </a:ext>
                </a:extLst>
              </p:cNvPr>
              <p:cNvSpPr/>
              <p:nvPr/>
            </p:nvSpPr>
            <p:spPr>
              <a:xfrm>
                <a:off x="2402403" y="5983552"/>
                <a:ext cx="1410963" cy="43505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b="1" i="1">
                              <a:latin typeface="Cambria Math" panose="02040503050406030204" pitchFamily="18" charset="0"/>
                            </a:rPr>
                          </m:ctrlPr>
                        </m:sSubSupPr>
                        <m:e>
                          <m:r>
                            <a:rPr lang="en-US" altLang="zh-CN" i="1">
                              <a:latin typeface="Cambria Math" panose="02040503050406030204" pitchFamily="18" charset="0"/>
                            </a:rPr>
                            <m:t>𝑤</m:t>
                          </m:r>
                        </m:e>
                        <m:sub>
                          <m:r>
                            <a:rPr lang="en-US" altLang="zh-CN" i="1">
                              <a:latin typeface="Cambria Math" panose="02040503050406030204" pitchFamily="18" charset="0"/>
                            </a:rPr>
                            <m:t>1</m:t>
                          </m:r>
                          <m:r>
                            <a:rPr lang="en-US" altLang="zh-CN" i="1">
                              <a:latin typeface="Cambria Math" panose="02040503050406030204" pitchFamily="18" charset="0"/>
                            </a:rPr>
                            <m:t>𝐾</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r>
                        <a:rPr lang="en-US" altLang="zh-CN" b="1" i="1" smtClean="0">
                          <a:latin typeface="Cambria Math" panose="02040503050406030204" pitchFamily="18" charset="0"/>
                        </a:rPr>
                        <m:t>=</m:t>
                      </m:r>
                      <m:sSubSup>
                        <m:sSubSupPr>
                          <m:ctrlPr>
                            <a:rPr lang="en-US" altLang="zh-CN" b="1" i="1">
                              <a:latin typeface="Cambria Math" panose="02040503050406030204" pitchFamily="18" charset="0"/>
                            </a:rPr>
                          </m:ctrlPr>
                        </m:sSubSupPr>
                        <m:e>
                          <m:r>
                            <a:rPr lang="en-US" altLang="zh-CN" i="1">
                              <a:latin typeface="Cambria Math" panose="02040503050406030204" pitchFamily="18" charset="0"/>
                            </a:rPr>
                            <m:t>𝑤</m:t>
                          </m:r>
                        </m:e>
                        <m:sub>
                          <m:r>
                            <a:rPr lang="en-US" altLang="zh-CN" i="1">
                              <a:latin typeface="Cambria Math" panose="02040503050406030204" pitchFamily="18" charset="0"/>
                            </a:rPr>
                            <m:t>𝐾</m:t>
                          </m:r>
                          <m:r>
                            <a:rPr lang="en-US" altLang="zh-CN" i="1">
                              <a:latin typeface="Cambria Math" panose="02040503050406030204" pitchFamily="18" charset="0"/>
                            </a:rPr>
                            <m:t>1</m:t>
                          </m:r>
                        </m:sub>
                        <m:sup>
                          <m:d>
                            <m:dPr>
                              <m:ctrlPr>
                                <a:rPr lang="en-US" altLang="zh-CN" b="1" i="1">
                                  <a:latin typeface="Cambria Math" panose="02040503050406030204" pitchFamily="18" charset="0"/>
                                </a:rPr>
                              </m:ctrlPr>
                            </m:dPr>
                            <m:e>
                              <m:r>
                                <a:rPr lang="en-US" altLang="zh-CN" i="1">
                                  <a:latin typeface="Cambria Math" panose="02040503050406030204" pitchFamily="18" charset="0"/>
                                </a:rPr>
                                <m:t>2</m:t>
                              </m:r>
                            </m:e>
                          </m:d>
                        </m:sup>
                      </m:sSubSup>
                    </m:oMath>
                  </m:oMathPara>
                </a14:m>
                <a:endParaRPr lang="zh-CN" altLang="en-US" dirty="0"/>
              </a:p>
            </p:txBody>
          </p:sp>
        </mc:Choice>
        <mc:Fallback xmlns="">
          <p:sp>
            <p:nvSpPr>
              <p:cNvPr id="36" name="矩形 35">
                <a:extLst>
                  <a:ext uri="{FF2B5EF4-FFF2-40B4-BE49-F238E27FC236}">
                    <a16:creationId xmlns:a16="http://schemas.microsoft.com/office/drawing/2014/main" id="{25468404-C435-4EBB-8347-0FAC8E864E27}"/>
                  </a:ext>
                </a:extLst>
              </p:cNvPr>
              <p:cNvSpPr>
                <a:spLocks noRot="1" noChangeAspect="1" noMove="1" noResize="1" noEditPoints="1" noAdjustHandles="1" noChangeArrowheads="1" noChangeShapeType="1" noTextEdit="1"/>
              </p:cNvSpPr>
              <p:nvPr/>
            </p:nvSpPr>
            <p:spPr>
              <a:xfrm>
                <a:off x="2402403" y="5983552"/>
                <a:ext cx="1410963" cy="435056"/>
              </a:xfrm>
              <a:prstGeom prst="rect">
                <a:avLst/>
              </a:prstGeom>
              <a:blipFill>
                <a:blip r:embed="rId27"/>
                <a:stretch>
                  <a:fillRect b="-28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矩形 39">
                <a:extLst>
                  <a:ext uri="{FF2B5EF4-FFF2-40B4-BE49-F238E27FC236}">
                    <a16:creationId xmlns:a16="http://schemas.microsoft.com/office/drawing/2014/main" id="{17956B0E-FD5C-4B77-8AC3-7481F4FA4DDD}"/>
                  </a:ext>
                </a:extLst>
              </p:cNvPr>
              <p:cNvSpPr/>
              <p:nvPr/>
            </p:nvSpPr>
            <p:spPr>
              <a:xfrm>
                <a:off x="9808162" y="4199704"/>
                <a:ext cx="84593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𝑀</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rPr>
                        <m:t>1</m:t>
                      </m:r>
                    </m:oMath>
                  </m:oMathPara>
                </a14:m>
                <a:endParaRPr lang="zh-CN" altLang="en-US" dirty="0"/>
              </a:p>
            </p:txBody>
          </p:sp>
        </mc:Choice>
        <mc:Fallback xmlns="">
          <p:sp>
            <p:nvSpPr>
              <p:cNvPr id="40" name="矩形 39">
                <a:extLst>
                  <a:ext uri="{FF2B5EF4-FFF2-40B4-BE49-F238E27FC236}">
                    <a16:creationId xmlns:a16="http://schemas.microsoft.com/office/drawing/2014/main" id="{17956B0E-FD5C-4B77-8AC3-7481F4FA4DDD}"/>
                  </a:ext>
                </a:extLst>
              </p:cNvPr>
              <p:cNvSpPr>
                <a:spLocks noRot="1" noChangeAspect="1" noMove="1" noResize="1" noEditPoints="1" noAdjustHandles="1" noChangeArrowheads="1" noChangeShapeType="1" noTextEdit="1"/>
              </p:cNvSpPr>
              <p:nvPr/>
            </p:nvSpPr>
            <p:spPr>
              <a:xfrm>
                <a:off x="9808162" y="4199704"/>
                <a:ext cx="845937" cy="369332"/>
              </a:xfrm>
              <a:prstGeom prst="rect">
                <a:avLst/>
              </a:prstGeom>
              <a:blipFill>
                <a:blip r:embed="rId28"/>
                <a:stretch>
                  <a:fillRect/>
                </a:stretch>
              </a:blipFill>
            </p:spPr>
            <p:txBody>
              <a:bodyPr/>
              <a:lstStyle/>
              <a:p>
                <a:r>
                  <a:rPr lang="zh-CN" altLang="en-US">
                    <a:noFill/>
                  </a:rPr>
                  <a:t> </a:t>
                </a:r>
              </a:p>
            </p:txBody>
          </p:sp>
        </mc:Fallback>
      </mc:AlternateContent>
      <p:sp>
        <p:nvSpPr>
          <p:cNvPr id="39" name="标题 1">
            <a:extLst>
              <a:ext uri="{FF2B5EF4-FFF2-40B4-BE49-F238E27FC236}">
                <a16:creationId xmlns:a16="http://schemas.microsoft.com/office/drawing/2014/main" id="{4BE672FA-DB6D-4B19-9FD1-A19718CA3BB4}"/>
              </a:ext>
            </a:extLst>
          </p:cNvPr>
          <p:cNvSpPr txBox="1">
            <a:spLocks/>
          </p:cNvSpPr>
          <p:nvPr/>
        </p:nvSpPr>
        <p:spPr>
          <a:xfrm>
            <a:off x="397111" y="174149"/>
            <a:ext cx="7743629" cy="52989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600" dirty="0">
                <a:latin typeface="思源黑体 CN Bold" panose="020B0800000000000000" pitchFamily="34" charset="-122"/>
                <a:ea typeface="思源黑体 CN Bold" panose="020B0800000000000000" pitchFamily="34" charset="-122"/>
              </a:rPr>
              <a:t>4 </a:t>
            </a:r>
            <a:r>
              <a:rPr lang="zh-CN" altLang="en-US" sz="3600" dirty="0">
                <a:latin typeface="思源黑体 CN Bold" panose="020B0800000000000000" pitchFamily="34" charset="-122"/>
                <a:ea typeface="思源黑体 CN Bold" panose="020B0800000000000000" pitchFamily="34" charset="-122"/>
              </a:rPr>
              <a:t>误差后向传播：</a:t>
            </a:r>
            <a:r>
              <a:rPr lang="zh-CN" altLang="en-US" sz="2800" dirty="0">
                <a:latin typeface="思源黑体 CN Bold" panose="020B0800000000000000" pitchFamily="34" charset="-122"/>
                <a:ea typeface="思源黑体 CN Bold" panose="020B0800000000000000" pitchFamily="34" charset="-122"/>
              </a:rPr>
              <a:t>矩阵形式</a:t>
            </a:r>
            <a:endParaRPr lang="zh-CN" altLang="en-US" sz="3600" dirty="0"/>
          </a:p>
        </p:txBody>
      </p:sp>
    </p:spTree>
    <p:extLst>
      <p:ext uri="{BB962C8B-B14F-4D97-AF65-F5344CB8AC3E}">
        <p14:creationId xmlns:p14="http://schemas.microsoft.com/office/powerpoint/2010/main" val="37597758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E9E05B-4CE1-49E1-A964-271224B4BD4A}"/>
              </a:ext>
            </a:extLst>
          </p:cNvPr>
          <p:cNvSpPr>
            <a:spLocks noGrp="1"/>
          </p:cNvSpPr>
          <p:nvPr>
            <p:ph type="title" idx="4294967295"/>
          </p:nvPr>
        </p:nvSpPr>
        <p:spPr>
          <a:xfrm>
            <a:off x="538190" y="195849"/>
            <a:ext cx="7043492" cy="378917"/>
          </a:xfrm>
        </p:spPr>
        <p:txBody>
          <a:bodyPr>
            <a:noAutofit/>
          </a:bodyPr>
          <a:lstStyle/>
          <a:p>
            <a:r>
              <a:rPr lang="en-US" altLang="zh-CN" sz="3600" dirty="0">
                <a:latin typeface="思源黑体 CN Bold" panose="020B0800000000000000" pitchFamily="34" charset="-122"/>
                <a:ea typeface="思源黑体 CN Bold" panose="020B0800000000000000" pitchFamily="34" charset="-122"/>
              </a:rPr>
              <a:t>4 </a:t>
            </a:r>
            <a:r>
              <a:rPr lang="zh-CN" altLang="en-US" sz="3600" dirty="0">
                <a:latin typeface="思源黑体 CN Bold" panose="020B0800000000000000" pitchFamily="34" charset="-122"/>
                <a:ea typeface="思源黑体 CN Bold" panose="020B0800000000000000" pitchFamily="34" charset="-122"/>
              </a:rPr>
              <a:t>误差后向传播：梯度检测</a:t>
            </a:r>
            <a:endParaRPr lang="zh-CN" altLang="en-US" sz="3600" dirty="0"/>
          </a:p>
        </p:txBody>
      </p:sp>
      <p:sp>
        <p:nvSpPr>
          <p:cNvPr id="3" name="内容占位符 2">
            <a:extLst>
              <a:ext uri="{FF2B5EF4-FFF2-40B4-BE49-F238E27FC236}">
                <a16:creationId xmlns:a16="http://schemas.microsoft.com/office/drawing/2014/main" id="{782995AE-E3FA-4F8B-8FE8-928C6FC84288}"/>
              </a:ext>
            </a:extLst>
          </p:cNvPr>
          <p:cNvSpPr>
            <a:spLocks noGrp="1"/>
          </p:cNvSpPr>
          <p:nvPr>
            <p:ph idx="4294967295"/>
          </p:nvPr>
        </p:nvSpPr>
        <p:spPr>
          <a:xfrm>
            <a:off x="718022" y="1083654"/>
            <a:ext cx="10515600" cy="2909843"/>
          </a:xfrm>
        </p:spPr>
        <p:txBody>
          <a:bodyPr>
            <a:normAutofit/>
          </a:bodyPr>
          <a:lstStyle/>
          <a:p>
            <a:pPr marL="457200" indent="-457200">
              <a:lnSpc>
                <a:spcPct val="150000"/>
              </a:lnSpc>
              <a:buFont typeface="+mj-lt"/>
              <a:buAutoNum type="arabicPeriod"/>
            </a:pPr>
            <a:r>
              <a:rPr lang="zh-CN" altLang="en-US" sz="2000" dirty="0">
                <a:latin typeface="思源黑体 CN Bold" panose="020B0800000000000000" pitchFamily="34" charset="-122"/>
                <a:ea typeface="思源黑体 CN Bold" panose="020B0800000000000000" pitchFamily="34" charset="-122"/>
              </a:rPr>
              <a:t>在后向传播的编程实现中，由于函数复杂度高，很容易出现梯度计算方面的微小错误。</a:t>
            </a:r>
            <a:endParaRPr lang="en-US" altLang="zh-CN" sz="2000" dirty="0">
              <a:latin typeface="思源黑体 CN Bold" panose="020B0800000000000000" pitchFamily="34" charset="-122"/>
              <a:ea typeface="思源黑体 CN Bold" panose="020B0800000000000000" pitchFamily="34" charset="-122"/>
            </a:endParaRPr>
          </a:p>
          <a:p>
            <a:pPr marL="457200" indent="-457200">
              <a:lnSpc>
                <a:spcPct val="150000"/>
              </a:lnSpc>
              <a:buFont typeface="+mj-lt"/>
              <a:buAutoNum type="arabicPeriod"/>
            </a:pPr>
            <a:r>
              <a:rPr lang="zh-CN" altLang="en-US" sz="2000" dirty="0">
                <a:latin typeface="思源黑体 CN Bold" panose="020B0800000000000000" pitchFamily="34" charset="-122"/>
                <a:ea typeface="思源黑体 CN Bold" panose="020B0800000000000000" pitchFamily="34" charset="-122"/>
              </a:rPr>
              <a:t>这些</a:t>
            </a:r>
            <a:r>
              <a:rPr lang="en-US" altLang="zh-CN" sz="2000" dirty="0">
                <a:latin typeface="思源黑体 CN Bold" panose="020B0800000000000000" pitchFamily="34" charset="-122"/>
                <a:ea typeface="思源黑体 CN Bold" panose="020B0800000000000000" pitchFamily="34" charset="-122"/>
              </a:rPr>
              <a:t>Bug</a:t>
            </a:r>
            <a:r>
              <a:rPr lang="zh-CN" altLang="en-US" sz="2000" dirty="0">
                <a:latin typeface="思源黑体 CN Bold" panose="020B0800000000000000" pitchFamily="34" charset="-122"/>
                <a:ea typeface="思源黑体 CN Bold" panose="020B0800000000000000" pitchFamily="34" charset="-122"/>
              </a:rPr>
              <a:t>不会影响运行，并且在迭代中，损失函数也在变小。</a:t>
            </a:r>
            <a:endParaRPr lang="en-US" altLang="zh-CN" sz="2000" dirty="0">
              <a:latin typeface="思源黑体 CN Bold" panose="020B0800000000000000" pitchFamily="34" charset="-122"/>
              <a:ea typeface="思源黑体 CN Bold" panose="020B0800000000000000" pitchFamily="34" charset="-122"/>
            </a:endParaRPr>
          </a:p>
          <a:p>
            <a:pPr marL="457200" indent="-457200">
              <a:lnSpc>
                <a:spcPct val="150000"/>
              </a:lnSpc>
              <a:buFont typeface="+mj-lt"/>
              <a:buAutoNum type="arabicPeriod"/>
            </a:pPr>
            <a:r>
              <a:rPr lang="zh-CN" altLang="en-US" sz="2000" dirty="0">
                <a:latin typeface="思源黑体 CN Bold" panose="020B0800000000000000" pitchFamily="34" charset="-122"/>
                <a:ea typeface="思源黑体 CN Bold" panose="020B0800000000000000" pitchFamily="34" charset="-122"/>
              </a:rPr>
              <a:t>但最终结果会远比无</a:t>
            </a:r>
            <a:r>
              <a:rPr lang="en-US" altLang="zh-CN" sz="2000" dirty="0">
                <a:latin typeface="思源黑体 CN Bold" panose="020B0800000000000000" pitchFamily="34" charset="-122"/>
                <a:ea typeface="思源黑体 CN Bold" panose="020B0800000000000000" pitchFamily="34" charset="-122"/>
              </a:rPr>
              <a:t>Bug</a:t>
            </a:r>
            <a:r>
              <a:rPr lang="zh-CN" altLang="en-US" sz="2000" dirty="0">
                <a:latin typeface="思源黑体 CN Bold" panose="020B0800000000000000" pitchFamily="34" charset="-122"/>
                <a:ea typeface="思源黑体 CN Bold" panose="020B0800000000000000" pitchFamily="34" charset="-122"/>
              </a:rPr>
              <a:t>的结果差（数量级）</a:t>
            </a:r>
            <a:endParaRPr lang="en-US" altLang="zh-CN" sz="2000" dirty="0">
              <a:latin typeface="思源黑体 CN Bold" panose="020B0800000000000000" pitchFamily="34" charset="-122"/>
              <a:ea typeface="思源黑体 CN Bold" panose="020B0800000000000000" pitchFamily="34" charset="-122"/>
            </a:endParaRPr>
          </a:p>
          <a:p>
            <a:pPr marL="457200" indent="-457200">
              <a:lnSpc>
                <a:spcPct val="150000"/>
              </a:lnSpc>
              <a:buFont typeface="+mj-lt"/>
              <a:buAutoNum type="arabicPeriod"/>
            </a:pPr>
            <a:r>
              <a:rPr lang="zh-CN" altLang="en-US" sz="2000" dirty="0">
                <a:latin typeface="思源黑体 CN Bold" panose="020B0800000000000000" pitchFamily="34" charset="-122"/>
                <a:ea typeface="思源黑体 CN Bold" panose="020B0800000000000000" pitchFamily="34" charset="-122"/>
              </a:rPr>
              <a:t>因此在计算梯度时，要以数值计算方式进行检验，梯度检测。</a:t>
            </a:r>
            <a:endParaRPr lang="en-US" altLang="zh-CN" sz="2000" dirty="0">
              <a:latin typeface="思源黑体 CN Bold" panose="020B0800000000000000" pitchFamily="34" charset="-122"/>
              <a:ea typeface="思源黑体 CN Bold" panose="020B0800000000000000" pitchFamily="34" charset="-122"/>
            </a:endParaRPr>
          </a:p>
          <a:p>
            <a:pPr marL="457200" indent="-457200">
              <a:lnSpc>
                <a:spcPct val="150000"/>
              </a:lnSpc>
              <a:buFont typeface="+mj-lt"/>
              <a:buAutoNum type="arabicPeriod"/>
            </a:pPr>
            <a:r>
              <a:rPr lang="zh-CN" altLang="en-US" sz="2000" dirty="0">
                <a:latin typeface="思源黑体 CN Bold" panose="020B0800000000000000" pitchFamily="34" charset="-122"/>
                <a:ea typeface="思源黑体 CN Bold" panose="020B0800000000000000" pitchFamily="34" charset="-122"/>
              </a:rPr>
              <a:t>注意：梯度检测的计算量非常大，一旦检测确认计算无误，应立即关闭梯度检测代码</a:t>
            </a:r>
            <a:endParaRPr lang="en-US" altLang="zh-CN" sz="2000" dirty="0">
              <a:latin typeface="思源黑体 CN Bold" panose="020B0800000000000000" pitchFamily="34" charset="-122"/>
              <a:ea typeface="思源黑体 CN Bold" panose="020B0800000000000000" pitchFamily="34" charset="-122"/>
            </a:endParaRPr>
          </a:p>
          <a:p>
            <a:endParaRPr lang="zh-CN" altLang="en-US" dirty="0"/>
          </a:p>
        </p:txBody>
      </p:sp>
      <p:pic>
        <p:nvPicPr>
          <p:cNvPr id="1026" name="Picture 2" descr="这里写图片描述">
            <a:extLst>
              <a:ext uri="{FF2B5EF4-FFF2-40B4-BE49-F238E27FC236}">
                <a16:creationId xmlns:a16="http://schemas.microsoft.com/office/drawing/2014/main" id="{6DF363AE-28B9-4F1C-B613-CB6E2238854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617" t="13211" r="13315" b="10713"/>
          <a:stretch/>
        </p:blipFill>
        <p:spPr bwMode="auto">
          <a:xfrm>
            <a:off x="3670239" y="4044581"/>
            <a:ext cx="4345103" cy="185434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 name="Rectangle 1">
                <a:extLst>
                  <a:ext uri="{FF2B5EF4-FFF2-40B4-BE49-F238E27FC236}">
                    <a16:creationId xmlns:a16="http://schemas.microsoft.com/office/drawing/2014/main" id="{A0CFA134-2926-4EE2-8A60-B02881EC3FAD}"/>
                  </a:ext>
                </a:extLst>
              </p:cNvPr>
              <p:cNvSpPr>
                <a:spLocks noChangeArrowheads="1"/>
              </p:cNvSpPr>
              <p:nvPr/>
            </p:nvSpPr>
            <p:spPr bwMode="auto">
              <a:xfrm>
                <a:off x="7995336" y="5581627"/>
                <a:ext cx="4076486" cy="338554"/>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kumimoji="0" lang="zh-CN" altLang="zh-CN" sz="1600" b="0" i="0" u="none" strike="noStrike" cap="none" normalizeH="0" baseline="0" dirty="0">
                    <a:ln>
                      <a:noFill/>
                    </a:ln>
                    <a:solidFill>
                      <a:srgbClr val="000000"/>
                    </a:solidFill>
                    <a:effectLst/>
                    <a:latin typeface="思源黑体 CN Bold" panose="020B0800000000000000" pitchFamily="34" charset="-122"/>
                    <a:ea typeface="思源黑体 CN Bold" panose="020B0800000000000000" pitchFamily="34" charset="-122"/>
                  </a:rPr>
                  <a:t>一般来说ε的值选</a:t>
                </a:r>
                <a14:m>
                  <m:oMath xmlns:m="http://schemas.openxmlformats.org/officeDocument/2006/math">
                    <m:sSup>
                      <m:sSupPr>
                        <m:ctrlPr>
                          <a:rPr kumimoji="0" lang="en-US" altLang="zh-CN" sz="1600" b="0" i="1" u="none" strike="noStrike" cap="none" normalizeH="0" baseline="0" dirty="0" smtClean="0">
                            <a:ln>
                              <a:noFill/>
                            </a:ln>
                            <a:solidFill>
                              <a:srgbClr val="000000"/>
                            </a:solidFill>
                            <a:effectLst/>
                            <a:latin typeface="Cambria Math" panose="02040503050406030204" pitchFamily="18" charset="0"/>
                          </a:rPr>
                        </m:ctrlPr>
                      </m:sSupPr>
                      <m:e>
                        <m:r>
                          <a:rPr lang="zh-CN" altLang="zh-CN" sz="1600" i="1" dirty="0">
                            <a:solidFill>
                              <a:srgbClr val="000000"/>
                            </a:solidFill>
                            <a:latin typeface="Cambria Math" panose="02040503050406030204" pitchFamily="18" charset="0"/>
                            <a:ea typeface="MathJax_Main"/>
                          </a:rPr>
                          <m:t>10</m:t>
                        </m:r>
                      </m:e>
                      <m:sup>
                        <m:r>
                          <a:rPr lang="zh-CN" altLang="zh-CN" sz="1600" i="1" dirty="0">
                            <a:solidFill>
                              <a:srgbClr val="000000"/>
                            </a:solidFill>
                            <a:latin typeface="Cambria Math" panose="02040503050406030204" pitchFamily="18" charset="0"/>
                            <a:ea typeface="MathJax_Main"/>
                          </a:rPr>
                          <m:t>−4</m:t>
                        </m:r>
                      </m:sup>
                    </m:sSup>
                  </m:oMath>
                </a14:m>
                <a:r>
                  <a:rPr kumimoji="0" lang="zh-CN" altLang="en-US" sz="1600" b="0" i="0" u="none" strike="noStrike" cap="none" normalizeH="0" baseline="0" dirty="0">
                    <a:ln>
                      <a:noFill/>
                    </a:ln>
                    <a:solidFill>
                      <a:srgbClr val="000000"/>
                    </a:solidFill>
                    <a:effectLst/>
                    <a:latin typeface="思源黑体 CN Bold" panose="020B0800000000000000" pitchFamily="34" charset="-122"/>
                    <a:ea typeface="思源黑体 CN Bold" panose="020B0800000000000000" pitchFamily="34" charset="-122"/>
                  </a:rPr>
                  <a:t>，</a:t>
                </a:r>
                <a:r>
                  <a:rPr kumimoji="0" lang="zh-CN" altLang="zh-CN" sz="1600" b="0" i="0" u="none" strike="noStrike" cap="none" normalizeH="0" baseline="0" dirty="0">
                    <a:ln>
                      <a:noFill/>
                    </a:ln>
                    <a:solidFill>
                      <a:srgbClr val="000000"/>
                    </a:solidFill>
                    <a:effectLst/>
                    <a:latin typeface="思源黑体 CN Bold" panose="020B0800000000000000" pitchFamily="34" charset="-122"/>
                    <a:ea typeface="思源黑体 CN Bold" panose="020B0800000000000000" pitchFamily="34" charset="-122"/>
                  </a:rPr>
                  <a:t>不是越小越好</a:t>
                </a:r>
                <a:r>
                  <a:rPr kumimoji="0" lang="zh-CN" altLang="zh-CN" sz="1600" b="0" i="0" u="none" strike="noStrike" cap="none" normalizeH="0" baseline="0" dirty="0">
                    <a:ln>
                      <a:noFill/>
                    </a:ln>
                    <a:solidFill>
                      <a:schemeClr val="tx1"/>
                    </a:solidFill>
                    <a:effectLst/>
                    <a:latin typeface="思源黑体 CN Bold" panose="020B0800000000000000" pitchFamily="34" charset="-122"/>
                    <a:ea typeface="思源黑体 CN Bold" panose="020B0800000000000000" pitchFamily="34" charset="-122"/>
                  </a:rPr>
                  <a:t> </a:t>
                </a:r>
              </a:p>
            </p:txBody>
          </p:sp>
        </mc:Choice>
        <mc:Fallback xmlns="">
          <p:sp>
            <p:nvSpPr>
              <p:cNvPr id="4" name="Rectangle 1">
                <a:extLst>
                  <a:ext uri="{FF2B5EF4-FFF2-40B4-BE49-F238E27FC236}">
                    <a16:creationId xmlns:a16="http://schemas.microsoft.com/office/drawing/2014/main" id="{A0CFA134-2926-4EE2-8A60-B02881EC3FAD}"/>
                  </a:ext>
                </a:extLst>
              </p:cNvPr>
              <p:cNvSpPr>
                <a:spLocks noRot="1" noChangeAspect="1" noMove="1" noResize="1" noEditPoints="1" noAdjustHandles="1" noChangeArrowheads="1" noChangeShapeType="1" noTextEdit="1"/>
              </p:cNvSpPr>
              <p:nvPr/>
            </p:nvSpPr>
            <p:spPr bwMode="auto">
              <a:xfrm>
                <a:off x="7995336" y="5581627"/>
                <a:ext cx="4076486" cy="338554"/>
              </a:xfrm>
              <a:prstGeom prst="rect">
                <a:avLst/>
              </a:prstGeom>
              <a:blipFill>
                <a:blip r:embed="rId3"/>
                <a:stretch>
                  <a:fillRect l="-898" t="-12727" b="-1636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extLst>
      <p:ext uri="{BB962C8B-B14F-4D97-AF65-F5344CB8AC3E}">
        <p14:creationId xmlns:p14="http://schemas.microsoft.com/office/powerpoint/2010/main" val="42873066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FFEE3C-4336-4E43-A5E7-2D0F7F4C306D}"/>
              </a:ext>
            </a:extLst>
          </p:cNvPr>
          <p:cNvSpPr>
            <a:spLocks noGrp="1"/>
          </p:cNvSpPr>
          <p:nvPr>
            <p:ph type="title" idx="4294967295"/>
          </p:nvPr>
        </p:nvSpPr>
        <p:spPr>
          <a:xfrm>
            <a:off x="449362" y="141079"/>
            <a:ext cx="6254496" cy="496388"/>
          </a:xfrm>
        </p:spPr>
        <p:txBody>
          <a:bodyPr>
            <a:normAutofit fontScale="90000"/>
          </a:bodyPr>
          <a:lstStyle/>
          <a:p>
            <a:r>
              <a:rPr lang="zh-CN" altLang="en-US" dirty="0">
                <a:latin typeface="思源黑体 CN Bold" panose="020B0800000000000000" pitchFamily="34" charset="-122"/>
                <a:ea typeface="思源黑体 CN Bold" panose="020B0800000000000000" pitchFamily="34" charset="-122"/>
              </a:rPr>
              <a:t>作业</a:t>
            </a:r>
          </a:p>
        </p:txBody>
      </p:sp>
      <p:sp>
        <p:nvSpPr>
          <p:cNvPr id="3" name="内容占位符 2">
            <a:extLst>
              <a:ext uri="{FF2B5EF4-FFF2-40B4-BE49-F238E27FC236}">
                <a16:creationId xmlns:a16="http://schemas.microsoft.com/office/drawing/2014/main" id="{B41D635A-A631-4413-8BFE-3224E46C9876}"/>
              </a:ext>
            </a:extLst>
          </p:cNvPr>
          <p:cNvSpPr>
            <a:spLocks noGrp="1"/>
          </p:cNvSpPr>
          <p:nvPr>
            <p:ph idx="4294967295"/>
          </p:nvPr>
        </p:nvSpPr>
        <p:spPr>
          <a:xfrm>
            <a:off x="629194" y="1133512"/>
            <a:ext cx="10515600" cy="4351338"/>
          </a:xfrm>
        </p:spPr>
        <p:txBody>
          <a:bodyPr>
            <a:normAutofit/>
          </a:bodyPr>
          <a:lstStyle/>
          <a:p>
            <a:pPr marL="0" indent="0">
              <a:lnSpc>
                <a:spcPct val="150000"/>
              </a:lnSpc>
              <a:buNone/>
            </a:pPr>
            <a:r>
              <a:rPr lang="en-US" altLang="zh-CN" sz="1800" dirty="0">
                <a:latin typeface="思源黑体 CN Bold" panose="020B0800000000000000" pitchFamily="34" charset="-122"/>
                <a:ea typeface="思源黑体 CN Bold" panose="020B0800000000000000" pitchFamily="34" charset="-122"/>
              </a:rPr>
              <a:t>MLP</a:t>
            </a:r>
            <a:r>
              <a:rPr lang="zh-CN" altLang="en-US" sz="1800" dirty="0">
                <a:latin typeface="思源黑体 CN Bold" panose="020B0800000000000000" pitchFamily="34" charset="-122"/>
                <a:ea typeface="思源黑体 CN Bold" panose="020B0800000000000000" pitchFamily="34" charset="-122"/>
              </a:rPr>
              <a:t>神经网络完成下列任务。</a:t>
            </a:r>
            <a:r>
              <a:rPr lang="zh-CN" altLang="en-US" sz="1800" dirty="0">
                <a:solidFill>
                  <a:srgbClr val="FF0000"/>
                </a:solidFill>
                <a:latin typeface="思源黑体 CN Bold" panose="020B0800000000000000" pitchFamily="34" charset="-122"/>
                <a:ea typeface="思源黑体 CN Bold" panose="020B0800000000000000" pitchFamily="34" charset="-122"/>
              </a:rPr>
              <a:t>要使用验证集，搜索最优超参数；暂不考虑正则化或只使用权值衰减策略。</a:t>
            </a:r>
            <a:endParaRPr lang="en-US" altLang="zh-CN" sz="1800" dirty="0">
              <a:solidFill>
                <a:srgbClr val="FF0000"/>
              </a:solidFill>
              <a:latin typeface="思源黑体 CN Bold" panose="020B0800000000000000" pitchFamily="34" charset="-122"/>
              <a:ea typeface="思源黑体 CN Bold" panose="020B0800000000000000" pitchFamily="34" charset="-122"/>
            </a:endParaRPr>
          </a:p>
          <a:p>
            <a:pPr lvl="1">
              <a:lnSpc>
                <a:spcPct val="150000"/>
              </a:lnSpc>
            </a:pPr>
            <a:r>
              <a:rPr lang="en-US" altLang="zh-CN" sz="1800" dirty="0">
                <a:latin typeface="思源黑体 CN Bold" panose="020B0800000000000000" pitchFamily="34" charset="-122"/>
                <a:ea typeface="思源黑体 CN Bold" panose="020B0800000000000000" pitchFamily="34" charset="-122"/>
              </a:rPr>
              <a:t>CIFAR-10</a:t>
            </a:r>
            <a:r>
              <a:rPr lang="zh-CN" altLang="en-US" sz="1800" dirty="0">
                <a:latin typeface="思源黑体 CN Bold" panose="020B0800000000000000" pitchFamily="34" charset="-122"/>
                <a:ea typeface="思源黑体 CN Bold" panose="020B0800000000000000" pitchFamily="34" charset="-122"/>
              </a:rPr>
              <a:t>，图像分类，特征为所有像素按顺序排列构成的向量，</a:t>
            </a:r>
            <a:r>
              <a:rPr lang="en-US" altLang="zh-CN" sz="1800" dirty="0">
                <a:latin typeface="思源黑体 CN Bold" panose="020B0800000000000000" pitchFamily="34" charset="-122"/>
                <a:ea typeface="思源黑体 CN Bold" panose="020B0800000000000000" pitchFamily="34" charset="-122"/>
              </a:rPr>
              <a:t> </a:t>
            </a:r>
            <a:r>
              <a:rPr lang="en-US" altLang="zh-CN" sz="1800" dirty="0" err="1">
                <a:latin typeface="思源黑体 CN Bold" panose="020B0800000000000000" pitchFamily="34" charset="-122"/>
                <a:ea typeface="思源黑体 CN Bold" panose="020B0800000000000000" pitchFamily="34" charset="-122"/>
              </a:rPr>
              <a:t>Pytorch</a:t>
            </a:r>
            <a:endParaRPr lang="en-US" altLang="zh-CN" sz="1800" dirty="0">
              <a:latin typeface="思源黑体 CN Bold" panose="020B0800000000000000" pitchFamily="34" charset="-122"/>
              <a:ea typeface="思源黑体 CN Bold" panose="020B0800000000000000" pitchFamily="34" charset="-122"/>
            </a:endParaRPr>
          </a:p>
        </p:txBody>
      </p:sp>
      <p:pic>
        <p:nvPicPr>
          <p:cNvPr id="5" name="Picture 4" descr="https://images2018.cnblogs.com/blog/1196151/201712/1196151-20171225161744462-2083152737.png">
            <a:extLst>
              <a:ext uri="{FF2B5EF4-FFF2-40B4-BE49-F238E27FC236}">
                <a16:creationId xmlns:a16="http://schemas.microsoft.com/office/drawing/2014/main" id="{73FFE075-BB44-4F9D-9244-01A4D761FBC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503"/>
          <a:stretch/>
        </p:blipFill>
        <p:spPr bwMode="auto">
          <a:xfrm>
            <a:off x="3308863" y="2341395"/>
            <a:ext cx="4056847" cy="309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52485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C4379"/>
        </a:solidFill>
        <a:effectLst/>
      </p:bgPr>
    </p:bg>
    <p:spTree>
      <p:nvGrpSpPr>
        <p:cNvPr id="1" name=""/>
        <p:cNvGrpSpPr/>
        <p:nvPr/>
      </p:nvGrpSpPr>
      <p:grpSpPr>
        <a:xfrm>
          <a:off x="0" y="0"/>
          <a:ext cx="0" cy="0"/>
          <a:chOff x="0" y="0"/>
          <a:chExt cx="0" cy="0"/>
        </a:xfrm>
      </p:grpSpPr>
      <p:pic>
        <p:nvPicPr>
          <p:cNvPr id="2052" name="Picture 4">
            <a:extLst>
              <a:ext uri="{FF2B5EF4-FFF2-40B4-BE49-F238E27FC236}">
                <a16:creationId xmlns:a16="http://schemas.microsoft.com/office/drawing/2014/main" id="{BC1B49AB-1887-4CED-820C-19F3F727D1CA}"/>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5706160" y="1992003"/>
            <a:ext cx="5012617" cy="3245852"/>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a:extLst>
              <a:ext uri="{FF2B5EF4-FFF2-40B4-BE49-F238E27FC236}">
                <a16:creationId xmlns:a16="http://schemas.microsoft.com/office/drawing/2014/main" id="{AEE3B876-CD25-4FFD-9BE8-4E7F5B5104ED}"/>
              </a:ext>
            </a:extLst>
          </p:cNvPr>
          <p:cNvSpPr txBox="1"/>
          <p:nvPr/>
        </p:nvSpPr>
        <p:spPr>
          <a:xfrm>
            <a:off x="3098098" y="3245597"/>
            <a:ext cx="6196196" cy="369332"/>
          </a:xfrm>
          <a:prstGeom prst="rect">
            <a:avLst/>
          </a:prstGeom>
          <a:noFill/>
        </p:spPr>
        <p:txBody>
          <a:bodyPr wrap="square">
            <a:spAutoFit/>
          </a:bodyPr>
          <a:lstStyle/>
          <a:p>
            <a:r>
              <a:rPr kumimoji="0" lang="zh-CN" altLang="en-US" sz="1800" b="1" i="0" u="none" strike="noStrike" kern="0" cap="none" spc="0" normalizeH="0" baseline="0" noProof="0" dirty="0">
                <a:ln>
                  <a:noFill/>
                </a:ln>
                <a:solidFill>
                  <a:srgbClr val="0C4379"/>
                </a:solidFill>
                <a:effectLst/>
                <a:uLnTx/>
                <a:uFillTx/>
                <a:latin typeface="Arial" panose="020B0604020202090204"/>
                <a:ea typeface="微软雅黑" panose="020B0503020204020204" pitchFamily="34" charset="-122"/>
                <a:cs typeface="+mn-cs"/>
                <a:sym typeface="+mn-lt"/>
              </a:rPr>
              <a:t>携手共创未</a:t>
            </a:r>
            <a:endParaRPr lang="zh-CN" altLang="en-US" dirty="0"/>
          </a:p>
        </p:txBody>
      </p:sp>
      <p:sp>
        <p:nvSpPr>
          <p:cNvPr id="10" name="矩形 9">
            <a:extLst>
              <a:ext uri="{FF2B5EF4-FFF2-40B4-BE49-F238E27FC236}">
                <a16:creationId xmlns:a16="http://schemas.microsoft.com/office/drawing/2014/main" id="{A45EEB38-AB87-421D-BD76-CC57927933C4}"/>
              </a:ext>
            </a:extLst>
          </p:cNvPr>
          <p:cNvSpPr/>
          <p:nvPr/>
        </p:nvSpPr>
        <p:spPr>
          <a:xfrm>
            <a:off x="1316748" y="2612683"/>
            <a:ext cx="4212013" cy="16326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kern="0" dirty="0">
                <a:solidFill>
                  <a:schemeClr val="bg1"/>
                </a:solidFill>
                <a:latin typeface="Arial" panose="020B0604020202090204"/>
                <a:ea typeface="微软雅黑" panose="020B0503020204020204" pitchFamily="34" charset="-122"/>
              </a:rPr>
              <a:t>感谢！</a:t>
            </a:r>
          </a:p>
        </p:txBody>
      </p:sp>
    </p:spTree>
    <p:extLst>
      <p:ext uri="{BB962C8B-B14F-4D97-AF65-F5344CB8AC3E}">
        <p14:creationId xmlns:p14="http://schemas.microsoft.com/office/powerpoint/2010/main" val="31921120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6A4149F5-D6BF-46AD-9E5A-1D24D5136263}"/>
                  </a:ext>
                </a:extLst>
              </p:cNvPr>
              <p:cNvSpPr>
                <a:spLocks noGrp="1"/>
              </p:cNvSpPr>
              <p:nvPr>
                <p:ph idx="4294967295"/>
              </p:nvPr>
            </p:nvSpPr>
            <p:spPr>
              <a:xfrm>
                <a:off x="785949" y="1303111"/>
                <a:ext cx="10515600" cy="4351338"/>
              </a:xfrm>
            </p:spPr>
            <p:txBody>
              <a:bodyPr>
                <a:normAutofit/>
              </a:bodyPr>
              <a:lstStyle/>
              <a:p>
                <a:pPr>
                  <a:lnSpc>
                    <a:spcPct val="150000"/>
                  </a:lnSpc>
                </a:pPr>
                <a:r>
                  <a:rPr lang="zh-CN" altLang="en-US" sz="2400" dirty="0">
                    <a:latin typeface="思源黑体 CN Bold" panose="020B0800000000000000" pitchFamily="34" charset="-122"/>
                    <a:ea typeface="思源黑体 CN Bold" panose="020B0800000000000000" pitchFamily="34" charset="-122"/>
                  </a:rPr>
                  <a:t>每个权重对应一次加法和一次乘法</a:t>
                </a:r>
                <a:endParaRPr lang="en-US" altLang="zh-CN" sz="2400" dirty="0">
                  <a:latin typeface="思源黑体 CN Bold" panose="020B0800000000000000" pitchFamily="34" charset="-122"/>
                  <a:ea typeface="思源黑体 CN Bold" panose="020B0800000000000000" pitchFamily="34" charset="-122"/>
                </a:endParaRPr>
              </a:p>
              <a:p>
                <a:pPr>
                  <a:lnSpc>
                    <a:spcPct val="150000"/>
                  </a:lnSpc>
                </a:pPr>
                <a:r>
                  <a:rPr lang="zh-CN" altLang="en-US" sz="2400" dirty="0">
                    <a:latin typeface="思源黑体 CN Bold" panose="020B0800000000000000" pitchFamily="34" charset="-122"/>
                    <a:ea typeface="思源黑体 CN Bold" panose="020B0800000000000000" pitchFamily="34" charset="-122"/>
                  </a:rPr>
                  <a:t>与权重相比，节点上的激活操作占比很小，可忽略</a:t>
                </a:r>
                <a:endParaRPr lang="en-US" altLang="zh-CN" sz="2400" dirty="0">
                  <a:latin typeface="思源黑体 CN Bold" panose="020B0800000000000000" pitchFamily="34" charset="-122"/>
                  <a:ea typeface="思源黑体 CN Bold" panose="020B0800000000000000" pitchFamily="34" charset="-122"/>
                </a:endParaRPr>
              </a:p>
              <a:p>
                <a:pPr>
                  <a:lnSpc>
                    <a:spcPct val="150000"/>
                  </a:lnSpc>
                </a:pPr>
                <a:r>
                  <a:rPr lang="zh-CN" altLang="en-US" sz="2400" dirty="0">
                    <a:latin typeface="思源黑体 CN Bold" panose="020B0800000000000000" pitchFamily="34" charset="-122"/>
                    <a:ea typeface="思源黑体 CN Bold" panose="020B0800000000000000" pitchFamily="34" charset="-122"/>
                  </a:rPr>
                  <a:t>总体算法复杂度</a:t>
                </a:r>
                <a:r>
                  <a:rPr lang="en-US" altLang="zh-CN" sz="2400" dirty="0"/>
                  <a:t> </a:t>
                </a:r>
                <a14:m>
                  <m:oMath xmlns:m="http://schemas.openxmlformats.org/officeDocument/2006/math">
                    <m:r>
                      <m:rPr>
                        <m:sty m:val="p"/>
                      </m:rPr>
                      <a:rPr lang="en-US" altLang="zh-CN" sz="2400" b="0" i="0" smtClean="0">
                        <a:latin typeface="Cambria Math" panose="02040503050406030204" pitchFamily="18" charset="0"/>
                      </a:rPr>
                      <m:t>O</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𝑊</m:t>
                        </m:r>
                      </m:e>
                    </m:d>
                  </m:oMath>
                </a14:m>
                <a:r>
                  <a:rPr lang="en-US" altLang="zh-CN" sz="2400" dirty="0">
                    <a:latin typeface="思源黑体 CN Bold" panose="020B0800000000000000" pitchFamily="34" charset="-122"/>
                    <a:ea typeface="思源黑体 CN Bold" panose="020B0800000000000000" pitchFamily="34" charset="-122"/>
                  </a:rPr>
                  <a:t>,</a:t>
                </a:r>
                <a:r>
                  <a:rPr lang="en-US" altLang="zh-CN" sz="2400" dirty="0"/>
                  <a:t> </a:t>
                </a:r>
                <a14:m>
                  <m:oMath xmlns:m="http://schemas.openxmlformats.org/officeDocument/2006/math">
                    <m:r>
                      <a:rPr lang="en-US" altLang="zh-CN" sz="2400" i="1">
                        <a:latin typeface="Cambria Math" panose="02040503050406030204" pitchFamily="18" charset="0"/>
                      </a:rPr>
                      <m:t>𝑊</m:t>
                    </m:r>
                  </m:oMath>
                </a14:m>
                <a:r>
                  <a:rPr lang="zh-CN" altLang="en-US" sz="2400" dirty="0">
                    <a:latin typeface="思源黑体 CN Bold" panose="020B0800000000000000" pitchFamily="34" charset="-122"/>
                    <a:ea typeface="思源黑体 CN Bold" panose="020B0800000000000000" pitchFamily="34" charset="-122"/>
                  </a:rPr>
                  <a:t>为权值参数总数</a:t>
                </a:r>
                <a:endParaRPr lang="en-US" altLang="zh-CN" sz="2400" dirty="0">
                  <a:latin typeface="思源黑体 CN Bold" panose="020B0800000000000000" pitchFamily="34" charset="-122"/>
                  <a:ea typeface="思源黑体 CN Bold" panose="020B0800000000000000" pitchFamily="34" charset="-122"/>
                </a:endParaRPr>
              </a:p>
              <a:p>
                <a:pPr>
                  <a:lnSpc>
                    <a:spcPct val="150000"/>
                  </a:lnSpc>
                </a:pPr>
                <a:r>
                  <a:rPr lang="zh-CN" altLang="en-US" sz="2400" dirty="0">
                    <a:latin typeface="思源黑体 CN Bold" panose="020B0800000000000000" pitchFamily="34" charset="-122"/>
                    <a:ea typeface="思源黑体 CN Bold" panose="020B0800000000000000" pitchFamily="34" charset="-122"/>
                  </a:rPr>
                  <a:t>后向传播与前向计算的复杂度相同</a:t>
                </a:r>
              </a:p>
            </p:txBody>
          </p:sp>
        </mc:Choice>
        <mc:Fallback>
          <p:sp>
            <p:nvSpPr>
              <p:cNvPr id="3" name="内容占位符 2">
                <a:extLst>
                  <a:ext uri="{FF2B5EF4-FFF2-40B4-BE49-F238E27FC236}">
                    <a16:creationId xmlns:a16="http://schemas.microsoft.com/office/drawing/2014/main" id="{6A4149F5-D6BF-46AD-9E5A-1D24D5136263}"/>
                  </a:ext>
                </a:extLst>
              </p:cNvPr>
              <p:cNvSpPr>
                <a:spLocks noGrp="1" noRot="1" noChangeAspect="1" noMove="1" noResize="1" noEditPoints="1" noAdjustHandles="1" noChangeArrowheads="1" noChangeShapeType="1" noTextEdit="1"/>
              </p:cNvSpPr>
              <p:nvPr>
                <p:ph idx="4294967295"/>
              </p:nvPr>
            </p:nvSpPr>
            <p:spPr>
              <a:xfrm>
                <a:off x="785949" y="1303111"/>
                <a:ext cx="10515600" cy="4351338"/>
              </a:xfrm>
              <a:blipFill>
                <a:blip r:embed="rId2"/>
                <a:stretch>
                  <a:fillRect l="-812"/>
                </a:stretch>
              </a:blipFill>
            </p:spPr>
            <p:txBody>
              <a:bodyPr/>
              <a:lstStyle/>
              <a:p>
                <a:r>
                  <a:rPr lang="zh-CN" altLang="en-US">
                    <a:noFill/>
                  </a:rPr>
                  <a:t> </a:t>
                </a:r>
              </a:p>
            </p:txBody>
          </p:sp>
        </mc:Fallback>
      </mc:AlternateContent>
      <p:sp>
        <p:nvSpPr>
          <p:cNvPr id="4" name="标题 1">
            <a:extLst>
              <a:ext uri="{FF2B5EF4-FFF2-40B4-BE49-F238E27FC236}">
                <a16:creationId xmlns:a16="http://schemas.microsoft.com/office/drawing/2014/main" id="{7729E2F4-ACD6-4331-815A-396D30153825}"/>
              </a:ext>
            </a:extLst>
          </p:cNvPr>
          <p:cNvSpPr txBox="1">
            <a:spLocks/>
          </p:cNvSpPr>
          <p:nvPr/>
        </p:nvSpPr>
        <p:spPr>
          <a:xfrm>
            <a:off x="386661" y="163499"/>
            <a:ext cx="6907638" cy="56258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600" dirty="0">
                <a:latin typeface="思源黑体 CN Bold" panose="020B0800000000000000" pitchFamily="34" charset="-122"/>
                <a:ea typeface="思源黑体 CN Bold" panose="020B0800000000000000" pitchFamily="34" charset="-122"/>
              </a:rPr>
              <a:t>4 </a:t>
            </a:r>
            <a:r>
              <a:rPr lang="zh-CN" altLang="en-US" sz="3600" dirty="0">
                <a:latin typeface="思源黑体 CN Bold" panose="020B0800000000000000" pitchFamily="34" charset="-122"/>
                <a:ea typeface="思源黑体 CN Bold" panose="020B0800000000000000" pitchFamily="34" charset="-122"/>
              </a:rPr>
              <a:t>误差后向传播：计算复杂度</a:t>
            </a:r>
            <a:endParaRPr lang="zh-CN" altLang="en-US" sz="3600" dirty="0"/>
          </a:p>
        </p:txBody>
      </p:sp>
    </p:spTree>
    <p:extLst>
      <p:ext uri="{BB962C8B-B14F-4D97-AF65-F5344CB8AC3E}">
        <p14:creationId xmlns:p14="http://schemas.microsoft.com/office/powerpoint/2010/main" val="397688467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zEwNTM5NzYwMDRjMzkwZTVkZjY2ODkwMGIxNGU0OTU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2482</TotalTime>
  <Words>4046</Words>
  <Application>Microsoft Office PowerPoint</Application>
  <PresentationFormat>宽屏</PresentationFormat>
  <Paragraphs>540</Paragraphs>
  <Slides>49</Slides>
  <Notes>19</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49</vt:i4>
      </vt:variant>
    </vt:vector>
  </HeadingPairs>
  <TitlesOfParts>
    <vt:vector size="64" baseType="lpstr">
      <vt:lpstr>阿里巴巴和七个小矮人</vt:lpstr>
      <vt:lpstr>等线</vt:lpstr>
      <vt:lpstr>等线 Light</vt:lpstr>
      <vt:lpstr>思源黑体 CN Bold</vt:lpstr>
      <vt:lpstr>Microsoft YaHei</vt:lpstr>
      <vt:lpstr>Microsoft YaHei</vt:lpstr>
      <vt:lpstr>Arial</vt:lpstr>
      <vt:lpstr>Broadway</vt:lpstr>
      <vt:lpstr>Cambria Math</vt:lpstr>
      <vt:lpstr>Georgia</vt:lpstr>
      <vt:lpstr>Impact</vt:lpstr>
      <vt:lpstr>Monaco</vt:lpstr>
      <vt:lpstr>Times New Roman</vt:lpstr>
      <vt:lpstr>Wingdings</vt:lpstr>
      <vt:lpstr>Office 主题​​</vt:lpstr>
      <vt:lpstr>PowerPoint 演示文稿</vt:lpstr>
      <vt:lpstr>PowerPoint 演示文稿</vt:lpstr>
      <vt:lpstr>PowerPoint 演示文稿</vt:lpstr>
      <vt:lpstr>1 神经网络的出发点：高维空间与线性可分</vt:lpstr>
      <vt:lpstr>PowerPoint 演示文稿</vt:lpstr>
      <vt:lpstr>1 神经网络的出发点：维数灾难</vt:lpstr>
      <vt:lpstr>1 神经网络的出发点：高维空间中数据的分布</vt:lpstr>
      <vt:lpstr>1 神经网络的出发点：高维空间中的低维流形</vt:lpstr>
      <vt:lpstr>1 神经网络的出发点：数据自适应基函数</vt:lpstr>
      <vt:lpstr>2 前馈神经网络函数</vt:lpstr>
      <vt:lpstr>2 前馈神经网络函数：基本结构</vt:lpstr>
      <vt:lpstr>2 前馈神经网络函数：基本结构</vt:lpstr>
      <vt:lpstr>2 前馈神经网络函数：隐含层激活函数</vt:lpstr>
      <vt:lpstr>2 前馈神经网络函数：激活函数</vt:lpstr>
      <vt:lpstr>2 前馈神经网络函数：激活函数</vt:lpstr>
      <vt:lpstr>2 前馈神经网络函数：输出层激活函数</vt:lpstr>
      <vt:lpstr>2 前馈神经网络函数：基本结构</vt:lpstr>
      <vt:lpstr>2 前馈神经网络函数：损失函数</vt:lpstr>
      <vt:lpstr>2 前馈神经网络函数：稀疏节点</vt:lpstr>
      <vt:lpstr>2 前馈神经网络函数：例子-回归</vt:lpstr>
      <vt:lpstr>2 前馈神经网络函数：例子-两类分类</vt:lpstr>
      <vt:lpstr>2 前馈神经网络函数：权值空间对称性/不可辨识性</vt:lpstr>
      <vt:lpstr>3 前馈神经网络的训练：线性模型损失函数</vt:lpstr>
      <vt:lpstr>PowerPoint 演示文稿</vt:lpstr>
      <vt:lpstr>3 前馈神经网络的训练：梯度和海森矩阵</vt:lpstr>
      <vt:lpstr>3 前馈神经网络的训练：全局极小与局部极小</vt:lpstr>
      <vt:lpstr>3 前馈神经网络的训练：极小值的判断</vt:lpstr>
      <vt:lpstr>3 前馈神经网络的训练：离线与在线方法</vt:lpstr>
      <vt:lpstr>3 前馈神经网络的训练：SGD不受冗余数据影响</vt:lpstr>
      <vt:lpstr>3 前馈神经网络的训练：SGD不受冗余数据影响</vt:lpstr>
      <vt:lpstr>3 前馈神经网络的训练：SGD可逃离局部极小</vt:lpstr>
      <vt:lpstr>4 误差后向传播</vt:lpstr>
      <vt:lpstr>PowerPoint 演示文稿</vt:lpstr>
      <vt:lpstr>PowerPoint 演示文稿</vt:lpstr>
      <vt:lpstr>PowerPoint 演示文稿</vt:lpstr>
      <vt:lpstr>4 误差后向传播：隐含层权值的梯度</vt:lpstr>
      <vt:lpstr>4 误差后向传播：隐含层权值的梯度</vt:lpstr>
      <vt:lpstr>4 误差后向传播：多个隐含层权值的梯度递归</vt:lpstr>
      <vt:lpstr>4 误差后向传播：多个隐含层权值的梯度递归</vt:lpstr>
      <vt:lpstr>4 误差后向传播：多个隐含层权值的梯度递归</vt:lpstr>
      <vt:lpstr>4 误差后向传播：流程图</vt:lpstr>
      <vt:lpstr>PowerPoint 演示文稿</vt:lpstr>
      <vt:lpstr>4 误差后向传播：数据前向计算矩阵形式</vt:lpstr>
      <vt:lpstr>PowerPoint 演示文稿</vt:lpstr>
      <vt:lpstr>PowerPoint 演示文稿</vt:lpstr>
      <vt:lpstr>4 误差后向传播：梯度检测</vt:lpstr>
      <vt:lpstr>作业</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Windows 用户</dc:creator>
  <cp:lastModifiedBy>shaoming zhang</cp:lastModifiedBy>
  <cp:revision>1482</cp:revision>
  <cp:lastPrinted>2024-06-12T15:31:32Z</cp:lastPrinted>
  <dcterms:created xsi:type="dcterms:W3CDTF">2024-06-12T15:31:32Z</dcterms:created>
  <dcterms:modified xsi:type="dcterms:W3CDTF">2025-10-10T05:38:30Z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CD1BC42A34C549CF40AF6366F719176F_43</vt:lpwstr>
  </property>
  <property fmtid="{D5CDD505-2E9C-101B-9397-08002B2CF9AE}" pid="3" name="KSOProductBuildVer">
    <vt:lpwstr>2052-6.7.1.8828</vt:lpwstr>
  </property>
</Properties>
</file>